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6181D"/>
                </a:solidFill>
                <a:latin typeface="Montserrat"/>
              </a:defRPr>
            </a:pPr>
            <a:r>
              <a:rPr sz="1100" b="0" i="0" u="none" strike="noStrike">
                <a:solidFill>
                  <a:srgbClr val="16181D"/>
                </a:solidFill>
                <a:latin typeface="Montserrat"/>
              </a:rPr>
              <a:t>Volume vs latency per scheme</a:t>
            </a:r>
          </a:p>
        </c:rich>
      </c:tx>
      <c:layout/>
      <c:overlay val="0"/>
    </c:title>
    <c:autoTitleDeleted val="0"/>
    <c:plotArea>
      <c:layout/>
      <c:barChart>
        <c:barDir val="col"/>
        <c:grouping val="clustered"/>
        <c:varyColors val="0"/>
        <c:ser>
          <c:idx val="0"/>
          <c:order val="0"/>
          <c:tx>
            <c:strRef>
              <c:f>Sheet1!$B$1</c:f>
              <c:strCache>
                <c:ptCount val="1"/>
                <c:pt idx="0">
                  <c:v>Volume</c:v>
                </c:pt>
              </c:strCache>
            </c:strRef>
          </c:tx>
          <c:spPr>
            <a:solidFill>
              <a:srgbClr val="D98A1F"/>
            </a:solidFill>
            <a:effectLst/>
          </c:spPr>
          <c:invertIfNegative val="0"/>
          <c:dLbls>
            <c:numFmt formatCode="#,##0" sourceLinked="0"/>
            <c:txPr>
              <a:bodyPr/>
              <a:lstStyle/>
              <a:p>
                <a:pPr>
                  <a:defRPr b="0" i="0" strike="noStrike" sz="850" u="none">
                    <a:solidFill>
                      <a:srgbClr val="16181D"/>
                    </a:solidFill>
                    <a:latin typeface="Arial"/>
                  </a:defRPr>
                </a:pPr>
              </a:p>
            </c:txPr>
            <c:showLegendKey val="0"/>
            <c:showVal val="1"/>
            <c:showCatName val="0"/>
            <c:showSerName val="0"/>
            <c:showPercent val="0"/>
            <c:showBubbleSize val="0"/>
            <c:showLeaderLines val="0"/>
          </c:dLbls>
          <c:cat>
            <c:multiLvlStrRef>
              <c:f>Sheet1!$A$2:$A$6</c:f>
              <c:multiLvlStrCache>
                <c:ptCount val="5"/>
                <c:lvl>
                  <c:pt idx="0">
                    <c:v>IO</c:v>
                  </c:pt>
                  <c:pt idx="1">
                    <c:v>CoT</c:v>
                  </c:pt>
                  <c:pt idx="2">
                    <c:v>CoT-SC</c:v>
                  </c:pt>
                  <c:pt idx="3">
                    <c:v>ToT</c:v>
                  </c:pt>
                  <c:pt idx="4">
                    <c:v>GoT</c:v>
                  </c:pt>
                </c:lvl>
              </c:multiLvlStrCache>
            </c:multiLvlStrRef>
          </c:cat>
          <c:val>
            <c:numRef>
              <c:f>Sheet1!$B$2:$B$6</c:f>
              <c:numCache>
                <c:formatCode>General</c:formatCode>
                <c:ptCount val="5"/>
                <c:pt idx="0">
                  <c:v>1</c:v>
                </c:pt>
                <c:pt idx="1">
                  <c:v>2</c:v>
                </c:pt>
                <c:pt idx="2">
                  <c:v>2</c:v>
                </c:pt>
                <c:pt idx="3">
                  <c:v>5.3</c:v>
                </c:pt>
                <c:pt idx="4">
                  <c:v>20</c:v>
                </c:pt>
              </c:numCache>
            </c:numRef>
          </c:val>
        </c:ser>
        <c:ser>
          <c:idx val="1"/>
          <c:order val="1"/>
          <c:tx>
            <c:strRef>
              <c:f>Sheet1!$C$1</c:f>
              <c:strCache>
                <c:ptCount val="1"/>
                <c:pt idx="0">
                  <c:v>Latency</c:v>
                </c:pt>
              </c:strCache>
            </c:strRef>
          </c:tx>
          <c:spPr>
            <a:solidFill>
              <a:srgbClr val="23408E"/>
            </a:solidFill>
            <a:effectLst/>
          </c:spPr>
          <c:invertIfNegative val="0"/>
          <c:dLbls>
            <c:numFmt formatCode="#,##0" sourceLinked="0"/>
            <c:txPr>
              <a:bodyPr/>
              <a:lstStyle/>
              <a:p>
                <a:pPr>
                  <a:defRPr b="0" i="0" strike="noStrike" sz="850" u="none">
                    <a:solidFill>
                      <a:srgbClr val="16181D"/>
                    </a:solidFill>
                    <a:latin typeface="Arial"/>
                  </a:defRPr>
                </a:pPr>
              </a:p>
            </c:txPr>
            <c:showLegendKey val="0"/>
            <c:showVal val="1"/>
            <c:showCatName val="0"/>
            <c:showSerName val="0"/>
            <c:showPercent val="0"/>
            <c:showBubbleSize val="0"/>
            <c:showLeaderLines val="0"/>
          </c:dLbls>
          <c:cat>
            <c:multiLvlStrRef>
              <c:f>Sheet1!$A$2:$A$6</c:f>
              <c:multiLvlStrCache>
                <c:ptCount val="5"/>
                <c:lvl>
                  <c:pt idx="0">
                    <c:v>IO</c:v>
                  </c:pt>
                  <c:pt idx="1">
                    <c:v>CoT</c:v>
                  </c:pt>
                  <c:pt idx="2">
                    <c:v>CoT-SC</c:v>
                  </c:pt>
                  <c:pt idx="3">
                    <c:v>ToT</c:v>
                  </c:pt>
                  <c:pt idx="4">
                    <c:v>GoT</c:v>
                  </c:pt>
                </c:lvl>
              </c:multiLvlStrCache>
            </c:multiLvlStrRef>
          </c:cat>
          <c:val>
            <c:numRef>
              <c:f>Sheet1!$C$2:$C$6</c:f>
              <c:numCache>
                <c:formatCode>General</c:formatCode>
                <c:ptCount val="5"/>
                <c:pt idx="0">
                  <c:v>1</c:v>
                </c:pt>
                <c:pt idx="1">
                  <c:v>2</c:v>
                </c:pt>
                <c:pt idx="2">
                  <c:v>2</c:v>
                </c:pt>
                <c:pt idx="3">
                  <c:v>5.3</c:v>
                </c:pt>
                <c:pt idx="4">
                  <c:v>9</c:v>
                </c:pt>
              </c:numCache>
            </c:numRef>
          </c:val>
        </c:ser>
        <c:dLbls>
          <c:numFmt formatCode="#,##0" sourceLinked="0"/>
          <c:txPr>
            <a:bodyPr/>
            <a:lstStyle/>
            <a:p>
              <a:pPr>
                <a:defRPr b="0" i="0" strike="noStrike" sz="850" u="none">
                  <a:solidFill>
                    <a:srgbClr val="16181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3697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DF0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369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6181D"/>
                </a:solidFill>
                <a:latin typeface="Montserrat"/>
              </a:defRPr>
            </a:pPr>
            <a:r>
              <a:rPr sz="1100" b="0" i="0" u="none" strike="noStrike">
                <a:solidFill>
                  <a:srgbClr val="16181D"/>
                </a:solidFill>
                <a:latin typeface="Montserrat"/>
              </a:rPr>
              <a:t>Mean error scope, 100 instances (lower is better)</a:t>
            </a:r>
          </a:p>
        </c:rich>
      </c:tx>
      <c:layout/>
      <c:overlay val="0"/>
    </c:title>
    <c:autoTitleDeleted val="0"/>
    <c:plotArea>
      <c:layout/>
      <c:barChart>
        <c:barDir val="col"/>
        <c:grouping val="clustered"/>
        <c:varyColors val="0"/>
        <c:ser>
          <c:idx val="0"/>
          <c:order val="0"/>
          <c:tx>
            <c:strRef>
              <c:f>Sheet1!$B$1</c:f>
              <c:strCache>
                <c:ptCount val="1"/>
                <c:pt idx="0">
                  <c:v>Error scope</c:v>
                </c:pt>
              </c:strCache>
            </c:strRef>
          </c:tx>
          <c:spPr>
            <a:solidFill>
              <a:srgbClr val="23408E"/>
            </a:solidFill>
            <a:effectLst/>
          </c:spPr>
          <c:invertIfNegative val="0"/>
          <c:dLbls>
            <c:numFmt formatCode="0.00" sourceLinked="0"/>
            <c:txPr>
              <a:bodyPr/>
              <a:lstStyle/>
              <a:p>
                <a:pPr>
                  <a:defRPr b="0" i="0" strike="noStrike" sz="950" u="none">
                    <a:solidFill>
                      <a:srgbClr val="16181D"/>
                    </a:solidFill>
                    <a:latin typeface="Arial"/>
                  </a:defRPr>
                </a:pPr>
              </a:p>
            </c:txPr>
            <c:showLegendKey val="0"/>
            <c:showVal val="1"/>
            <c:showCatName val="0"/>
            <c:showSerName val="0"/>
            <c:showPercent val="0"/>
            <c:showBubbleSize val="0"/>
            <c:showLeaderLines val="0"/>
          </c:dLbls>
          <c:dPt>
            <c:idx val="0"/>
            <c:invertIfNegative val="0"/>
            <c:bubble3D val="0"/>
            <c:spPr>
              <a:solidFill>
                <a:srgbClr val="23408E"/>
              </a:solidFill>
              <a:effectLst/>
            </c:spPr>
          </c:dPt>
          <c:dPt>
            <c:idx val="1"/>
            <c:invertIfNegative val="0"/>
            <c:bubble3D val="0"/>
            <c:spPr>
              <a:solidFill>
                <a:srgbClr val="23408E"/>
              </a:solidFill>
              <a:effectLst/>
            </c:spPr>
          </c:dPt>
          <c:dPt>
            <c:idx val="2"/>
            <c:invertIfNegative val="0"/>
            <c:bubble3D val="0"/>
            <c:spPr>
              <a:solidFill>
                <a:srgbClr val="23408E"/>
              </a:solidFill>
              <a:effectLst/>
            </c:spPr>
          </c:dPt>
          <c:dPt>
            <c:idx val="3"/>
            <c:invertIfNegative val="0"/>
            <c:bubble3D val="0"/>
            <c:spPr>
              <a:solidFill>
                <a:srgbClr val="0F7B6C"/>
              </a:solidFill>
              <a:effectLst/>
            </c:spPr>
          </c:dPt>
          <c:dPt>
            <c:idx val="4"/>
            <c:invertIfNegative val="0"/>
            <c:bubble3D val="0"/>
            <c:spPr>
              <a:solidFill>
                <a:srgbClr val="D98A1F"/>
              </a:solidFill>
              <a:effectLst/>
            </c:spPr>
          </c:dPt>
          <c:cat>
            <c:multiLvlStrRef>
              <c:f>Sheet1!$A$2:$A$6</c:f>
              <c:multiLvlStrCache>
                <c:ptCount val="5"/>
                <c:lvl>
                  <c:pt idx="0">
                    <c:v>IO</c:v>
                  </c:pt>
                  <c:pt idx="1">
                    <c:v>CoT</c:v>
                  </c:pt>
                  <c:pt idx="2">
                    <c:v>CoT-SC</c:v>
                  </c:pt>
                  <c:pt idx="3">
                    <c:v>ToT</c:v>
                  </c:pt>
                  <c:pt idx="4">
                    <c:v>GoT</c:v>
                  </c:pt>
                </c:lvl>
              </c:multiLvlStrCache>
            </c:multiLvlStrRef>
          </c:cat>
          <c:val>
            <c:numRef>
              <c:f>Sheet1!$B$2:$B$6</c:f>
              <c:numCache>
                <c:formatCode>General</c:formatCode>
                <c:ptCount val="5"/>
                <c:pt idx="0">
                  <c:v>9.83</c:v>
                </c:pt>
                <c:pt idx="1">
                  <c:v>10.34</c:v>
                </c:pt>
                <c:pt idx="2">
                  <c:v>8.17</c:v>
                </c:pt>
                <c:pt idx="3">
                  <c:v>7.45</c:v>
                </c:pt>
                <c:pt idx="4">
                  <c:v>8.28</c:v>
                </c:pt>
              </c:numCache>
            </c:numRef>
          </c:val>
        </c:ser>
        <c:dLbls>
          <c:numFmt formatCode="0.00" sourceLinked="0"/>
          <c:txPr>
            <a:bodyPr/>
            <a:lstStyle/>
            <a:p>
              <a:pPr>
                <a:defRPr b="0" i="0" strike="noStrike" sz="950" u="none">
                  <a:solidFill>
                    <a:srgbClr val="16181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3697A"/>
                </a:solidFill>
                <a:latin typeface="Arial"/>
              </a:defRPr>
            </a:pPr>
            <a:endParaRPr lang="en-US"/>
          </a:p>
        </c:txPr>
        <c:crossAx val="2094734552"/>
        <c:crosses val="autoZero"/>
        <c:auto val="1"/>
        <c:lblAlgn val="ctr"/>
        <c:noMultiLvlLbl val="1"/>
      </c:catAx>
      <c:valAx>
        <c:axId val="2094734552"/>
        <c:scaling>
          <c:orientation val="minMax"/>
          <c:max val="12"/>
        </c:scaling>
        <c:delete val="0"/>
        <c:axPos val="l"/>
        <c:majorGridlines>
          <c:spPr>
            <a:ln w="12700" cap="flat">
              <a:solidFill>
                <a:srgbClr val="EDF0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3697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 graphs make language models more accurate but far more expensive. Our aim is to shrink the graph without destroying the causal structure that makes it work. This review covers the replication that establishes the baseline, and the compression method it motivates.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(~60 sec)
A short word on why this problem is worth working on.
For the last two years, accuracy on hard tasks has increasingly been bought at inference time - by making the model generate more, rather than by making the model bigger. That shift is what makes this a cost problem. Every token the model generates is one forward pass through the whole network, so tokens are latency, energy and money all at once.
Graph of Thoughts is the most capable reasoning structure published, because it is the only one that can merge two separate lines of reasoning. It is also, in our measurements, the most expensive - fifteen times the cost of just asking the question directly. And a capability that nobody can afford to run is not really a capability.
So the project asks one question: how much of that graph is actually necessary?
We approach it in three phases, on the right. First replicate - rebuild Graph of Thoughts and all four baselines on a single engine so the comparison is fair. Second measure - establish what is actually true, and find where the cost accumulates. Those two are complete. Third, compress - which is where we are now.
---
TRANSITION: That gives us the problem statement.
CUE: the three-phase panel is the map for the whole talk - point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(~75 sec)
Language models spend identical computation on every token. They cannot think harder on a harder question, and once a token is sampled everything after it is conditioned on that choice. So asking directly gives an arbitrarily hard problem one token's worth of computation.
Structured prompting fixes that by generating intermediate thoughts - and Graph of Thoughts generates the most, because it can merge separate lines of reasoning.
The problem is what that costs. On the right are our measurements: 64-element sorting, Qwen2.5-7B, a hundred instances. Graph of Thoughts consumes seven thousand nine hundred tokens per instance against five hundred and twenty for direct prompting. Fifteen times. And three and a half times Tree of Thoughts.
That price would be acceptable if it bought accuracy. At this scale it does not - Tree of Thoughts scores eleven percent better for a third of the cost. So the most structurally capable scheme is currently the worst deal available.
And you cannot simply turn the cost down. We measured that too: cutting cost ninefold raises the error above the level you get with no reasoning structure at all. Uniform pruning removes useful and redundant computation at the same rate.
So our statement is: compress the reasoning graph - fewer vertices, and fewer tokens per vertex - while preserving the causal dependencies that carry information to the answer.
---
CUE: pause on the cost bars before reading the Statement.
IF ASKED why 15x is a problem: it is the barrier to anyone deploying this, and at 7B it does not even buy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(~45 sec)
Chain-of-Thought is the foundation. You add worked examples to the prompt showing intermediate steps, and the model imitates that - with no change to the weights at all. So this is purely inference-time, which is true of everything in this project.
The key insight is that the chain is not the model explaining itself afterwards. The chain IS the computation. A model does one forward pass per token, so a one-token answer gets one token's worth of thinking no matter how hard the question. Fifty reasoning tokens gets fifty forward passes.
And it works: GSM8K goes from eighteen percent to fifty-seven percent on PaLM-540B. That beat a fine-tuned model with a verifier, by prompting alone.
One caveat that matters for our results later. The ability is emergent. Below roughly ten billion parameters the chains are fluent but logically invalid, and accuracy can drop below direct prompting. We are running a 7B model, so we will come back to this.
The structural limitation is on the right. One path, each step with a single parent. Once a step is wrong, everything after it is conditioned on that error - there is no way to back out.
---
TRANSITION: That is what Tree of Thoughts addresses.
CUE: the emergence bullet is load-bearing - it explains CoT scoring below IO on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(~45 sec)
Tree of Thoughts turns reasoning into a search problem. It has three named components: a thought generator that produces k children, a state evaluator that scores them, and a search algorithm - typically breadth-first with a beam - that decides what to expand next. Those map one to one onto operations in our framework.
What it adds over self-consistency is local exploration. Self-consistency samples k complete chains and picks the best, but the branching happens only at the root - inside any one chain you are still committed. Tree of Thoughts branches at every level and can abandon a bad partial solution part-way.
Its limitation is structural. Every vertex has exactly one parent, so when the search discards a branch, whatever was good on that branch is lost permanently. There is no operation in a tree that combines two branches. And since only one root-to-leaf path reaches the answer, nearly everything the tree computes is thrown away.
One note on our own results, because it comes up later: Tree of Thoughts is the strongest baseline we measure - once its evaluator is able to reject a refinement that made the answer worse. We will come back to that clause.
---
TRANSITION: Graph of Thoughts removes the one-parent constraint.
IF ASKED why our ToT is stronger than the paper's: sorting admits an exact scorer, so our state evaluator is never wrong; theirs is typically another LLM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(~50 sec)
Graph of Thoughts models reasoning as a directed graph. Vertices are thoughts, and an edge means one thought's text was the direct input that produced another. So edges encode causality, not similarity - and that definition is what our whole method has to respect.
The contribution is aggregation: merging k thoughts into one. That creates a vertex with in-degree greater than one, and a tree cannot contain one by definition. So this is a structural result, not a design preference.
For sorting it runs merge sort with the model as the primitive - split into chunks, sort each chunk, then merge pairwise back up. Sorting sixteen numbers is reliable, and merging two sorted lists is reliable. Sorting sixty-four from scratch is not. So you only ever perform the reliable operations.
The theoretical result is volume N at latency log N. It is the only scheme where every computed thought keeps a causal path to the answer - a tree discards nearly all of what it computes.
And the reported gain was sixty-two percent over Tree of Thoughts on ChatGPT-3.5, with a thirty-one percent cost reduction. That is the claim we set out to test.
---
TRANSITION: And this is the object we want to compress.
CUE: point at the amber merge edges when saying 'in-degree greater than one'.
DO NOT oversell the 62% - we report on slide 12 that it does not reproduce.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(~50 sec)
The second literature is chain-of-thought compression - a large and very fast-moving field, most of it from the last eighteen months.
Four representative mechanisms. Chain of Draft caps each reasoning step to a few words and reports getting down to under eight percent of the original tokens with accuracy retained. TokenSkip prunes individual low-utility tokens and gives a controllable ratio. Coconut is the most radical - it feeds the hidden state straight back instead of decoding it, so the reasoning never becomes text at all. And token budgeting allocates an allowance per step by difficulty.
But notice what they all have in common. Every one of them shortens the CONTENT of a reasoning step. None of them reduces the NUMBER of steps - and they cannot, because a chain has no structure to remove. Every step was generated from the one before it.
A graph does have removable structure. Graph of Thoughts generates k candidate sortings per chunk and keeps one; it tries k aggregations and keeps one. Those are vertices that exist and do not survive.
So cost factorises: number of vertices, times tokens per vertex. Chain compression acts on the second factor. Graph coarsening acts on the first. They are orthogonal, so in principle the savings multiply - and that intersection is where this project sits.
---
TRANSITION: So our objectives follow from that.
BE HONEST: orthogonality is an assumption, not a result. It is listed as an open question.
IF ASKED about Coconut needing training: yes - that row is the most speculative, and a longer-term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(~45 sec)
Six objectives. The first three are replication and measurement. Reproduce Graph of Thoughts faithfully with all baselines on a single engine, so that any difference is attributable to structure alone. Verify the structural claims - volume, latency and aggregation count - which are model-independent and therefore settleable outright. And measure where the cost actually accumulates, because you cannot compress what you have not located.
The last three are the contribution. Apply chain-of-thought compression to the content of each vertex. Develop a causality-preserving coarsening operator to reduce the number of vertices. And evaluate the result against the Tree of Thoughts cost-quality frontier.
At mid-term the first four items on the right are complete - including a naive-compression study that was not in the original plan, came out of the cost measurement, and became a result in its own right.
Vertex compression is in progress. The coarsening operator and the final evaluation are ahead of us, and those are the harder half - I would not claim we are past halfway. What the completed work buys us is that we now know precisely what we are aiming at: a specific error at a specific token count.
---
IF ASKED whether it is achievable: the infrastructure is done, which was the bulk of the engineering. Vertex compression is measurable this week. The coarsening operator is the research risk, and we have scoped it to two tasks rather than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(~60 sec)
There are two graphs here, and keeping them apart matters. The Graph of Operations is the plan - vertices are operations, and you build it by hand before the run. The Graph Reasoning State is what actually gets produced - vertices are thoughts. Run one plan over a hundred inputs and you get one plan and a hundred state graphs.
The state graph is built by this single loop, in topological order. Topological is required rather than stylistic: with aggregation the plan is a DAG, so an operation can have two predecessors, and you cannot simply run them in the order they were written.
The rules are on the right. Generate makes k vertices from one input. Aggregate makes vertices that take an edge from EVERY input - that is the fan-in. Improve refines in place. And Score and KeepBest create nothing at all; they annotate and filter. So only three operations ever create a vertex, which is exactly the paper's three thought transformations.
The consequence is at the bottom. Aggregation gives a vertex in-degree greater than one, so the graph is not a tree. And an edge means one thought's text was literally the input that produced another - causality, not similarity. That is the constraint our coarsening operator has to respect: we cannot merge two vertices because they look alike.
---
SPARE 10 SEC: on 32 numbers the first merge level creates 20 vertices but 40 edges - two per vertex, because each merge draws from both inputs. The only point in the trace where edges outnumber vertices.
IF ASKED why topological: an operation cannot run before the thoughts it consumes exist, and written order does not guarantee that once the plan is a DAG.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(~60 sec)
All four tasks are synthetic with computed ground truth. That means no annotation - the correct sorting of a list is computable - and crucially no contamination, because randomly generated digits cannot have been in the training data. On a public benchmark you could never separate improved reasoning from memorisation. Difficulty is also a controlled variable: thirty-two, sixty-four, a hundred and twenty-eight.
And we run on the authors' own published CSV files, byte for byte. That removes differing random data as an explanation for any discrepancy between our numbers and theirs.
On models. The paper used ChatGPT-3.5, which is closed and now deprecated - nobody can reproduce its exact figures, including the authors. So we do not attempt to replicate the numbers. We replicate the claims, which are relative and testable on any model. We use Qwen2.5-7B, open weights, served with vLLM on an A6000, at identical temperature and sample counts.
The experimental design is the last line, and it is the one that matters. All five schemes share one controller, one backend, one prompt set and one scorer. So anything we measure is attributable to graph structure alone - not to one scheme happening to have better prompts than another.
---
TRANSITION: So - results.
IF ASKED if 7B is too small: the structural claims are model-independent and settle completely. And whether the quality claim generalises below GPT-3.5 scale is itself a question nobody had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between the amber and blue bars for GoT is the whole point of the paper: high volume at low latency. Every other scheme has the bars equal, because a chain or tree wastes what it computes.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honestly - a negative result that survives a corrected baseline is stronger evidence than a confirmation. It also sharpens the motivation: the graph is being paid for and, at this scale, is not 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panel is the useful diagnostic: cost is concentrated in aggregation, not in chunk sorting. That tells us where both compression axes should be aimed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(~60 sec)
Two problems changed our results, and both are worth reporting.
The first was a pipeline that failed silently. Our generation budget was thirty-two tokens short of what a sixty-four element answer needs. That truncated the output, which removed the closing bracket, which failed the parser, which emptied the ranking step - and the whole graph simply stopped executing, while still printing a complete table of plausible-looking numbers. Nothing raised an error. It cost us a full GPU run, and we only caught it because the volume and latency columns are structural and cannot change with model quality.
The second is more uncomfortable. Our own Tree of Thoughts baseline could not reject a refinement that made the answer worse, so it degraded at every level. That inflated Graph of Thoughts' apparent margin by about eighteen points - in the direction we were hoping for. We found it by auditing a result that suited us, and fixing it reversed the finding.
On the right are three we worked around rather than solved. The reference model is deprecated, so we redefined replication as the paper's relative claims. Our model is below the scale at which chain-of-thought is reliable. And the infrastructure is a shared GPU box with no scheduler and a proxy-gated network.
The common lesson is at the bottom: a benchmark that cannot distinguish a weak model from a harness that did not run is worse than no benchmark at all.
---
IF ASKED how you know the fix is right: the structural columns. A weak model gives bad answers, not a smaller graph. Tree of Thoughts was reporting 1.1 model calls against a plan specifying 3.
DO NOT skip challenge 2 - auditing a result that favoured us is the strongest methodological point we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run-length figure is measured with Qwen2.5's own tokenizer, not estimated. A 64-element list costs exactly 192 tokens - three per element, being the digit, the comma and the space. Run-length encoded it costs 50. That is 3.8x, losslessly, because the encoding is exact. It is chain-of-draft applied to a graph vertex.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question is the one a committee is most likely to press on, and we should be candid that we cannot yet answer it - the 7B result may be a scale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1 to 4 are the reasoning-structure lineage we replicated; 5 to 7 are the chain-compression methods we intend to transfer; 8 and 9 are the graph-reduction theory and the serving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02920" y="219456"/>
            <a:ext cx="2377440" cy="274320"/>
          </a:xfrm>
          <a:prstGeom prst="rect">
            <a:avLst/>
          </a:prstGeom>
          <a:noFill/>
          <a:ln/>
        </p:spPr>
        <p:txBody>
          <a:bodyPr wrap="square" lIns="0" tIns="0" rIns="0" bIns="0" rtlCol="0" anchor="ctr"/>
          <a:lstStyle/>
          <a:p>
            <a:pPr indent="0" marL="0">
              <a:buNone/>
            </a:pPr>
            <a:r>
              <a:rPr lang="en-US" sz="1400" b="1" spc="200" kern="0" dirty="0">
                <a:solidFill>
                  <a:srgbClr val="23408E"/>
                </a:solidFill>
                <a:latin typeface="Montserrat" pitchFamily="34" charset="0"/>
                <a:ea typeface="Montserrat" pitchFamily="34" charset="-122"/>
                <a:cs typeface="Montserrat" pitchFamily="34" charset="-120"/>
              </a:rPr>
              <a:t>IIT DELHI</a:t>
            </a:r>
            <a:endParaRPr lang="en-US" sz="1400" dirty="0"/>
          </a:p>
        </p:txBody>
      </p:sp>
      <p:sp>
        <p:nvSpPr>
          <p:cNvPr id="7" name="Text 5"/>
          <p:cNvSpPr txBox="1"/>
          <p:nvPr/>
        </p:nvSpPr>
        <p:spPr>
          <a:xfrm>
            <a:off x="502920" y="512064"/>
            <a:ext cx="3108960" cy="237744"/>
          </a:xfrm>
          <a:prstGeom prst="rect">
            <a:avLst/>
          </a:prstGeom>
          <a:noFill/>
          <a:ln/>
        </p:spPr>
        <p:txBody>
          <a:bodyPr wrap="square" lIns="0" tIns="0" rIns="0" bIns="0" rtlCol="0" anchor="ctr"/>
          <a:lstStyle/>
          <a:p>
            <a:pPr indent="0" marL="0">
              <a:buNone/>
            </a:pPr>
            <a:r>
              <a:rPr lang="en-US" sz="1000" dirty="0">
                <a:solidFill>
                  <a:srgbClr val="63697A"/>
                </a:solidFill>
                <a:latin typeface="Montserrat" pitchFamily="34" charset="0"/>
                <a:ea typeface="Montserrat" pitchFamily="34" charset="-122"/>
                <a:cs typeface="Montserrat" pitchFamily="34" charset="-120"/>
              </a:rPr>
              <a:t>Department of Electrical Engineering</a:t>
            </a:r>
            <a:endParaRPr lang="en-US" sz="1000" dirty="0"/>
          </a:p>
        </p:txBody>
      </p:sp>
      <p:sp>
        <p:nvSpPr>
          <p:cNvPr id="8" name="Shape 6"/>
          <p:cNvSpPr/>
          <p:nvPr/>
        </p:nvSpPr>
        <p:spPr>
          <a:xfrm>
            <a:off x="685800" y="1051560"/>
            <a:ext cx="10789920" cy="4526280"/>
          </a:xfrm>
          <a:prstGeom prst="roundRect">
            <a:avLst>
              <a:gd name="adj" fmla="val 1010"/>
            </a:avLst>
          </a:prstGeom>
          <a:solidFill>
            <a:srgbClr val="FFFFFF"/>
          </a:solidFill>
          <a:ln w="15240">
            <a:solidFill>
              <a:srgbClr val="16181D"/>
            </a:solidFill>
            <a:prstDash val="solid"/>
          </a:ln>
        </p:spPr>
      </p:sp>
      <p:sp>
        <p:nvSpPr>
          <p:cNvPr id="9" name="Text 7"/>
          <p:cNvSpPr txBox="1"/>
          <p:nvPr/>
        </p:nvSpPr>
        <p:spPr>
          <a:xfrm>
            <a:off x="1188720" y="1508760"/>
            <a:ext cx="9784080" cy="1371600"/>
          </a:xfrm>
          <a:prstGeom prst="rect">
            <a:avLst/>
          </a:prstGeom>
          <a:noFill/>
          <a:ln/>
        </p:spPr>
        <p:txBody>
          <a:bodyPr wrap="square" lIns="0" tIns="0" rIns="0" bIns="0" rtlCol="0" anchor="ctr"/>
          <a:lstStyle/>
          <a:p>
            <a:pPr algn="ctr" indent="0" marL="0">
              <a:lnSpc>
                <a:spcPct val="114000"/>
              </a:lnSpc>
              <a:buNone/>
            </a:pPr>
            <a:r>
              <a:rPr lang="en-US" sz="2900" b="1" dirty="0">
                <a:solidFill>
                  <a:srgbClr val="23408E"/>
                </a:solidFill>
                <a:latin typeface="Montserrat" pitchFamily="34" charset="0"/>
                <a:ea typeface="Montserrat" pitchFamily="34" charset="-122"/>
                <a:cs typeface="Montserrat" pitchFamily="34" charset="-120"/>
              </a:rPr>
              <a:t>Causality-Preserving Graph Coarsening</a:t>
            </a:r>
            <a:endParaRPr lang="en-US" sz="2900" dirty="0"/>
          </a:p>
          <a:p>
            <a:pPr algn="ctr" indent="0" marL="0">
              <a:lnSpc>
                <a:spcPct val="114000"/>
              </a:lnSpc>
              <a:buNone/>
            </a:pPr>
            <a:r>
              <a:rPr lang="en-US" sz="2900" b="1" dirty="0">
                <a:solidFill>
                  <a:srgbClr val="23408E"/>
                </a:solidFill>
                <a:latin typeface="Montserrat" pitchFamily="34" charset="0"/>
                <a:ea typeface="Montserrat" pitchFamily="34" charset="-122"/>
                <a:cs typeface="Montserrat" pitchFamily="34" charset="-120"/>
              </a:rPr>
              <a:t>for Efficient LLM Reasoning</a:t>
            </a:r>
            <a:endParaRPr lang="en-US" sz="2900" dirty="0"/>
          </a:p>
        </p:txBody>
      </p:sp>
      <p:sp>
        <p:nvSpPr>
          <p:cNvPr id="10" name="Text 8"/>
          <p:cNvSpPr txBox="1"/>
          <p:nvPr/>
        </p:nvSpPr>
        <p:spPr>
          <a:xfrm>
            <a:off x="1188720" y="2944368"/>
            <a:ext cx="9784080" cy="384048"/>
          </a:xfrm>
          <a:prstGeom prst="rect">
            <a:avLst/>
          </a:prstGeom>
          <a:noFill/>
          <a:ln/>
        </p:spPr>
        <p:txBody>
          <a:bodyPr wrap="square" lIns="0" tIns="0" rIns="0" bIns="0" rtlCol="0" anchor="ctr"/>
          <a:lstStyle/>
          <a:p>
            <a:pPr algn="ctr" indent="0" marL="0">
              <a:buNone/>
            </a:pPr>
            <a:r>
              <a:rPr lang="en-US" sz="1800" b="1" dirty="0">
                <a:solidFill>
                  <a:srgbClr val="16181D"/>
                </a:solidFill>
                <a:latin typeface="Montserrat" pitchFamily="34" charset="0"/>
                <a:ea typeface="Montserrat" pitchFamily="34" charset="-122"/>
                <a:cs typeface="Montserrat" pitchFamily="34" charset="-120"/>
              </a:rPr>
              <a:t>Mid Term Review</a:t>
            </a:r>
            <a:endParaRPr lang="en-US" sz="1800" dirty="0"/>
          </a:p>
        </p:txBody>
      </p:sp>
      <p:sp>
        <p:nvSpPr>
          <p:cNvPr id="11" name="Text 9"/>
          <p:cNvSpPr txBox="1"/>
          <p:nvPr/>
        </p:nvSpPr>
        <p:spPr>
          <a:xfrm>
            <a:off x="1188720" y="3657600"/>
            <a:ext cx="9784080" cy="292608"/>
          </a:xfrm>
          <a:prstGeom prst="rect">
            <a:avLst/>
          </a:prstGeom>
          <a:noFill/>
          <a:ln/>
        </p:spPr>
        <p:txBody>
          <a:bodyPr wrap="square" lIns="0" tIns="0" rIns="0" bIns="0" rtlCol="0" anchor="ctr"/>
          <a:lstStyle/>
          <a:p>
            <a:pPr algn="ctr" indent="0" marL="0">
              <a:buNone/>
            </a:pPr>
            <a:r>
              <a:rPr lang="en-US" sz="1300" dirty="0">
                <a:solidFill>
                  <a:srgbClr val="16181D"/>
                </a:solidFill>
                <a:latin typeface="Montserrat" pitchFamily="34" charset="0"/>
                <a:ea typeface="Montserrat" pitchFamily="34" charset="-122"/>
                <a:cs typeface="Montserrat" pitchFamily="34" charset="-120"/>
              </a:rPr>
              <a:t>Presented by  -  Prasoon Raj (2023EE10708),  Nikhil Bansal (2023EE10787)</a:t>
            </a:r>
            <a:endParaRPr lang="en-US" sz="1300" dirty="0"/>
          </a:p>
        </p:txBody>
      </p:sp>
      <p:sp>
        <p:nvSpPr>
          <p:cNvPr id="12" name="Text 10"/>
          <p:cNvSpPr txBox="1"/>
          <p:nvPr/>
        </p:nvSpPr>
        <p:spPr>
          <a:xfrm>
            <a:off x="1188720" y="4059936"/>
            <a:ext cx="9784080" cy="292608"/>
          </a:xfrm>
          <a:prstGeom prst="rect">
            <a:avLst/>
          </a:prstGeom>
          <a:noFill/>
          <a:ln/>
        </p:spPr>
        <p:txBody>
          <a:bodyPr wrap="square" lIns="0" tIns="0" rIns="0" bIns="0" rtlCol="0" anchor="ctr"/>
          <a:lstStyle/>
          <a:p>
            <a:pPr algn="ctr" indent="0" marL="0">
              <a:buNone/>
            </a:pPr>
            <a:r>
              <a:rPr lang="en-US" sz="1300" dirty="0">
                <a:solidFill>
                  <a:srgbClr val="16181D"/>
                </a:solidFill>
                <a:latin typeface="Montserrat" pitchFamily="34" charset="0"/>
                <a:ea typeface="Montserrat" pitchFamily="34" charset="-122"/>
                <a:cs typeface="Montserrat" pitchFamily="34" charset="-120"/>
              </a:rPr>
              <a:t>Guided by  -  Subhanu Halder (PhD Scholar)</a:t>
            </a:r>
            <a:endParaRPr lang="en-US" sz="1300" dirty="0"/>
          </a:p>
        </p:txBody>
      </p:sp>
      <p:sp>
        <p:nvSpPr>
          <p:cNvPr id="13" name="Text 11"/>
          <p:cNvSpPr txBox="1"/>
          <p:nvPr/>
        </p:nvSpPr>
        <p:spPr>
          <a:xfrm>
            <a:off x="1188720" y="4462272"/>
            <a:ext cx="9784080" cy="292608"/>
          </a:xfrm>
          <a:prstGeom prst="rect">
            <a:avLst/>
          </a:prstGeom>
          <a:noFill/>
          <a:ln/>
        </p:spPr>
        <p:txBody>
          <a:bodyPr wrap="square" lIns="0" tIns="0" rIns="0" bIns="0" rtlCol="0" anchor="ctr"/>
          <a:lstStyle/>
          <a:p>
            <a:pPr algn="ctr" indent="0" marL="0">
              <a:buNone/>
            </a:pPr>
            <a:r>
              <a:rPr lang="en-US" sz="1300" dirty="0">
                <a:solidFill>
                  <a:srgbClr val="16181D"/>
                </a:solidFill>
                <a:latin typeface="Montserrat" pitchFamily="34" charset="0"/>
                <a:ea typeface="Montserrat" pitchFamily="34" charset="-122"/>
                <a:cs typeface="Montserrat" pitchFamily="34" charset="-120"/>
              </a:rPr>
              <a:t>Supervisor  -  Prof. Sandeep Kumar</a:t>
            </a:r>
            <a:endParaRPr lang="en-US" sz="1300" dirty="0"/>
          </a:p>
        </p:txBody>
      </p:sp>
      <p:sp>
        <p:nvSpPr>
          <p:cNvPr id="14" name="Text 12"/>
          <p:cNvSpPr txBox="1"/>
          <p:nvPr/>
        </p:nvSpPr>
        <p:spPr>
          <a:xfrm>
            <a:off x="1188720" y="4983480"/>
            <a:ext cx="9784080" cy="274320"/>
          </a:xfrm>
          <a:prstGeom prst="rect">
            <a:avLst/>
          </a:prstGeom>
          <a:noFill/>
          <a:ln/>
        </p:spPr>
        <p:txBody>
          <a:bodyPr wrap="square" lIns="0" tIns="0" rIns="0" bIns="0" rtlCol="0" anchor="ctr"/>
          <a:lstStyle/>
          <a:p>
            <a:pPr algn="ctr" indent="0" marL="0">
              <a:buNone/>
            </a:pPr>
            <a:r>
              <a:rPr lang="en-US" sz="1100" dirty="0">
                <a:solidFill>
                  <a:srgbClr val="63697A"/>
                </a:solidFill>
                <a:latin typeface="Montserrat" pitchFamily="34" charset="0"/>
                <a:ea typeface="Montserrat" pitchFamily="34" charset="-122"/>
                <a:cs typeface="Montserrat" pitchFamily="34" charset="-120"/>
              </a:rPr>
              <a:t>Department of Electrical Engineering,  Indian Institute of Technology Delhi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Motivation</a:t>
            </a:r>
            <a:endParaRPr lang="en-US" sz="3000" dirty="0"/>
          </a:p>
        </p:txBody>
      </p:sp>
      <p:sp>
        <p:nvSpPr>
          <p:cNvPr id="7" name="Shape 5"/>
          <p:cNvSpPr/>
          <p:nvPr/>
        </p:nvSpPr>
        <p:spPr>
          <a:xfrm>
            <a:off x="621792" y="914400"/>
            <a:ext cx="37490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43159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667512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Why reasoning cost is now the binding constraint</a:t>
            </a:r>
            <a:endParaRPr lang="en-US" sz="1550" dirty="0"/>
          </a:p>
        </p:txBody>
      </p:sp>
      <p:sp>
        <p:nvSpPr>
          <p:cNvPr id="11" name="Text 9"/>
          <p:cNvSpPr txBox="1"/>
          <p:nvPr/>
        </p:nvSpPr>
        <p:spPr>
          <a:xfrm>
            <a:off x="685800" y="1627632"/>
            <a:ext cx="6675120" cy="2651760"/>
          </a:xfrm>
          <a:prstGeom prst="rect">
            <a:avLst/>
          </a:prstGeom>
          <a:noFill/>
          <a:ln/>
        </p:spPr>
        <p:txBody>
          <a:bodyPr wrap="square" lIns="0" tIns="0" rIns="0" bIns="0" rtlCol="0" anchor="ctr"/>
          <a:lstStyle/>
          <a:p>
            <a:pPr marL="127000" indent="-127000">
              <a:lnSpc>
                <a:spcPct val="104000"/>
              </a:lnSpc>
              <a:spcAft>
                <a:spcPts val="400"/>
              </a:spcAft>
              <a:buSzPct val="100000"/>
              <a:buChar char="•"/>
            </a:pPr>
            <a:r>
              <a:rPr lang="en-US" sz="1350" dirty="0">
                <a:solidFill>
                  <a:srgbClr val="16181D"/>
                </a:solidFill>
                <a:latin typeface="Montserrat" pitchFamily="34" charset="0"/>
                <a:ea typeface="Montserrat" pitchFamily="34" charset="-122"/>
                <a:cs typeface="Montserrat" pitchFamily="34" charset="-120"/>
              </a:rPr>
              <a:t>Accuracy on hard tasks is increasingly bought at inference time, by making the model generate more - not by making it larger.</a:t>
            </a:r>
            <a:endParaRPr lang="en-US" sz="1350" dirty="0"/>
          </a:p>
          <a:p>
            <a:pPr marL="127000" indent="-127000">
              <a:lnSpc>
                <a:spcPct val="104000"/>
              </a:lnSpc>
              <a:spcAft>
                <a:spcPts val="400"/>
              </a:spcAft>
              <a:buSzPct val="100000"/>
              <a:buChar char="•"/>
            </a:pPr>
            <a:r>
              <a:rPr lang="en-US" sz="1350" dirty="0">
                <a:solidFill>
                  <a:srgbClr val="16181D"/>
                </a:solidFill>
                <a:latin typeface="Montserrat" pitchFamily="34" charset="0"/>
                <a:ea typeface="Montserrat" pitchFamily="34" charset="-122"/>
                <a:cs typeface="Montserrat" pitchFamily="34" charset="-120"/>
              </a:rPr>
              <a:t>Every generated token is one forward pass through the network. Tokens are simultaneously latency, energy and money.</a:t>
            </a:r>
            <a:endParaRPr lang="en-US" sz="1350" dirty="0"/>
          </a:p>
          <a:p>
            <a:pPr marL="127000" indent="-127000">
              <a:lnSpc>
                <a:spcPct val="104000"/>
              </a:lnSpc>
              <a:spcAft>
                <a:spcPts val="400"/>
              </a:spcAft>
              <a:buSzPct val="100000"/>
              <a:buChar char="•"/>
            </a:pPr>
            <a:r>
              <a:rPr lang="en-US" sz="1350" dirty="0">
                <a:solidFill>
                  <a:srgbClr val="16181D"/>
                </a:solidFill>
                <a:latin typeface="Montserrat" pitchFamily="34" charset="0"/>
                <a:ea typeface="Montserrat" pitchFamily="34" charset="-122"/>
                <a:cs typeface="Montserrat" pitchFamily="34" charset="-120"/>
              </a:rPr>
              <a:t>Graph of Thoughts is the most capable reasoning structure published, because it can merge separate lines of reasoning.</a:t>
            </a:r>
            <a:endParaRPr lang="en-US" sz="1350" dirty="0"/>
          </a:p>
          <a:p>
            <a:pPr marL="127000" indent="-127000">
              <a:lnSpc>
                <a:spcPct val="104000"/>
              </a:lnSpc>
              <a:spcAft>
                <a:spcPts val="400"/>
              </a:spcAft>
              <a:buSzPct val="100000"/>
              <a:buChar char="•"/>
            </a:pPr>
            <a:r>
              <a:rPr lang="en-US" sz="1350" dirty="0">
                <a:solidFill>
                  <a:srgbClr val="16181D"/>
                </a:solidFill>
                <a:latin typeface="Montserrat" pitchFamily="34" charset="0"/>
                <a:ea typeface="Montserrat" pitchFamily="34" charset="-122"/>
                <a:cs typeface="Montserrat" pitchFamily="34" charset="-120"/>
              </a:rPr>
              <a:t>It is also the most expensive we measured - 15x direct prompting. A capability nobody can afford is not a capability.</a:t>
            </a:r>
            <a:endParaRPr lang="en-US" sz="1350" dirty="0"/>
          </a:p>
        </p:txBody>
      </p:sp>
      <p:sp>
        <p:nvSpPr>
          <p:cNvPr id="12" name="Shape 10"/>
          <p:cNvSpPr/>
          <p:nvPr/>
        </p:nvSpPr>
        <p:spPr>
          <a:xfrm>
            <a:off x="685800" y="4526280"/>
            <a:ext cx="6675120" cy="1234440"/>
          </a:xfrm>
          <a:prstGeom prst="roundRect">
            <a:avLst>
              <a:gd name="adj" fmla="val 3704"/>
            </a:avLst>
          </a:prstGeom>
          <a:solidFill>
            <a:srgbClr val="FDF3E3"/>
          </a:solidFill>
          <a:ln w="12700">
            <a:solidFill>
              <a:srgbClr val="D8DEEC"/>
            </a:solidFill>
            <a:prstDash val="solid"/>
          </a:ln>
        </p:spPr>
      </p:sp>
      <p:sp>
        <p:nvSpPr>
          <p:cNvPr id="13" name="Text 11"/>
          <p:cNvSpPr txBox="1"/>
          <p:nvPr/>
        </p:nvSpPr>
        <p:spPr>
          <a:xfrm>
            <a:off x="914400" y="4736592"/>
            <a:ext cx="6263640" cy="822960"/>
          </a:xfrm>
          <a:prstGeom prst="rect">
            <a:avLst/>
          </a:prstGeom>
          <a:noFill/>
          <a:ln/>
        </p:spPr>
        <p:txBody>
          <a:bodyPr wrap="square" lIns="0" tIns="0" rIns="0" bIns="0" rtlCol="0" anchor="ctr"/>
          <a:lstStyle/>
          <a:p>
            <a:pPr indent="0" marL="0">
              <a:buNone/>
            </a:pPr>
            <a:r>
              <a:rPr lang="en-US" sz="1400" b="1" dirty="0">
                <a:solidFill>
                  <a:srgbClr val="D98A1F"/>
                </a:solidFill>
                <a:latin typeface="Montserrat" pitchFamily="34" charset="0"/>
                <a:ea typeface="Montserrat" pitchFamily="34" charset="-122"/>
                <a:cs typeface="Montserrat" pitchFamily="34" charset="-120"/>
              </a:rPr>
              <a:t>This project asks a simple question: how much of that graph is actually necessary ?</a:t>
            </a:r>
            <a:endParaRPr lang="en-US" sz="1400" dirty="0"/>
          </a:p>
        </p:txBody>
      </p:sp>
      <p:sp>
        <p:nvSpPr>
          <p:cNvPr id="14" name="Shape 12"/>
          <p:cNvSpPr/>
          <p:nvPr/>
        </p:nvSpPr>
        <p:spPr>
          <a:xfrm>
            <a:off x="7726680" y="1188720"/>
            <a:ext cx="3794760" cy="4572000"/>
          </a:xfrm>
          <a:prstGeom prst="roundRect">
            <a:avLst>
              <a:gd name="adj" fmla="val 1205"/>
            </a:avLst>
          </a:prstGeom>
          <a:solidFill>
            <a:srgbClr val="F4F6FB"/>
          </a:solidFill>
          <a:ln w="12700">
            <a:solidFill>
              <a:srgbClr val="D8DEEC"/>
            </a:solidFill>
            <a:prstDash val="solid"/>
          </a:ln>
        </p:spPr>
      </p:sp>
      <p:sp>
        <p:nvSpPr>
          <p:cNvPr id="15" name="Text 13"/>
          <p:cNvSpPr txBox="1"/>
          <p:nvPr/>
        </p:nvSpPr>
        <p:spPr>
          <a:xfrm>
            <a:off x="8001000" y="1371600"/>
            <a:ext cx="3291840" cy="274320"/>
          </a:xfrm>
          <a:prstGeom prst="rect">
            <a:avLst/>
          </a:prstGeom>
          <a:noFill/>
          <a:ln/>
        </p:spPr>
        <p:txBody>
          <a:bodyPr wrap="square" lIns="0" tIns="0" rIns="0" bIns="0" rtlCol="0" anchor="ctr"/>
          <a:lstStyle/>
          <a:p>
            <a:pPr indent="0" marL="0">
              <a:buNone/>
            </a:pPr>
            <a:r>
              <a:rPr lang="en-US" sz="1300" b="1" dirty="0">
                <a:solidFill>
                  <a:srgbClr val="23408E"/>
                </a:solidFill>
                <a:latin typeface="Montserrat" pitchFamily="34" charset="0"/>
                <a:ea typeface="Montserrat" pitchFamily="34" charset="-122"/>
                <a:cs typeface="Montserrat" pitchFamily="34" charset="-120"/>
              </a:rPr>
              <a:t>The project in three phases</a:t>
            </a:r>
            <a:endParaRPr lang="en-US" sz="1300" dirty="0"/>
          </a:p>
        </p:txBody>
      </p:sp>
      <p:sp>
        <p:nvSpPr>
          <p:cNvPr id="16" name="Shape 14"/>
          <p:cNvSpPr/>
          <p:nvPr/>
        </p:nvSpPr>
        <p:spPr>
          <a:xfrm>
            <a:off x="8028432" y="1828800"/>
            <a:ext cx="365760" cy="365760"/>
          </a:xfrm>
          <a:prstGeom prst="ellipse">
            <a:avLst/>
          </a:prstGeom>
          <a:solidFill>
            <a:srgbClr val="0F7B6C"/>
          </a:solidFill>
          <a:ln w="12700">
            <a:solidFill>
              <a:srgbClr val="333333"/>
            </a:solidFill>
            <a:prstDash val="solid"/>
          </a:ln>
        </p:spPr>
      </p:sp>
      <p:sp>
        <p:nvSpPr>
          <p:cNvPr id="17" name="Text 15"/>
          <p:cNvSpPr txBox="1"/>
          <p:nvPr/>
        </p:nvSpPr>
        <p:spPr>
          <a:xfrm>
            <a:off x="8028432" y="1865376"/>
            <a:ext cx="36576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8" name="Text 16"/>
          <p:cNvSpPr txBox="1"/>
          <p:nvPr/>
        </p:nvSpPr>
        <p:spPr>
          <a:xfrm>
            <a:off x="8503920" y="1847088"/>
            <a:ext cx="1828800" cy="274320"/>
          </a:xfrm>
          <a:prstGeom prst="rect">
            <a:avLst/>
          </a:prstGeom>
          <a:noFill/>
          <a:ln/>
        </p:spPr>
        <p:txBody>
          <a:bodyPr wrap="square" lIns="0" tIns="0" rIns="0" bIns="0" rtlCol="0" anchor="ctr"/>
          <a:lstStyle/>
          <a:p>
            <a:pPr indent="0" marL="0">
              <a:buNone/>
            </a:pPr>
            <a:r>
              <a:rPr lang="en-US" sz="1250" b="1" dirty="0">
                <a:solidFill>
                  <a:srgbClr val="0F7B6C"/>
                </a:solidFill>
                <a:latin typeface="Montserrat" pitchFamily="34" charset="0"/>
                <a:ea typeface="Montserrat" pitchFamily="34" charset="-122"/>
                <a:cs typeface="Montserrat" pitchFamily="34" charset="-120"/>
              </a:rPr>
              <a:t>REPLICATE</a:t>
            </a:r>
            <a:endParaRPr lang="en-US" sz="1250" dirty="0"/>
          </a:p>
        </p:txBody>
      </p:sp>
      <p:sp>
        <p:nvSpPr>
          <p:cNvPr id="19" name="Text 17"/>
          <p:cNvSpPr txBox="1"/>
          <p:nvPr/>
        </p:nvSpPr>
        <p:spPr>
          <a:xfrm>
            <a:off x="10241280" y="1865376"/>
            <a:ext cx="1051560" cy="237744"/>
          </a:xfrm>
          <a:prstGeom prst="rect">
            <a:avLst/>
          </a:prstGeom>
          <a:noFill/>
          <a:ln/>
        </p:spPr>
        <p:txBody>
          <a:bodyPr wrap="square" lIns="0" tIns="0" rIns="0" bIns="0" rtlCol="0" anchor="ctr"/>
          <a:lstStyle/>
          <a:p>
            <a:pPr algn="r" indent="0" marL="0">
              <a:buNone/>
            </a:pPr>
            <a:r>
              <a:rPr lang="en-US" sz="1000" b="1" dirty="0">
                <a:solidFill>
                  <a:srgbClr val="0F7B6C"/>
                </a:solidFill>
                <a:latin typeface="Montserrat" pitchFamily="34" charset="0"/>
                <a:ea typeface="Montserrat" pitchFamily="34" charset="-122"/>
                <a:cs typeface="Montserrat" pitchFamily="34" charset="-120"/>
              </a:rPr>
              <a:t>done</a:t>
            </a:r>
            <a:endParaRPr lang="en-US" sz="1000" dirty="0"/>
          </a:p>
        </p:txBody>
      </p:sp>
      <p:sp>
        <p:nvSpPr>
          <p:cNvPr id="20" name="Text 18"/>
          <p:cNvSpPr txBox="1"/>
          <p:nvPr/>
        </p:nvSpPr>
        <p:spPr>
          <a:xfrm>
            <a:off x="8503920" y="2176272"/>
            <a:ext cx="2788920" cy="777240"/>
          </a:xfrm>
          <a:prstGeom prst="rect">
            <a:avLst/>
          </a:prstGeom>
          <a:noFill/>
          <a:ln/>
        </p:spPr>
        <p:txBody>
          <a:bodyPr wrap="square" lIns="0" tIns="0" rIns="0" bIns="0" rtlCol="0" anchor="ctr"/>
          <a:lstStyle/>
          <a:p>
            <a:pPr indent="0" marL="0">
              <a:buNone/>
            </a:pPr>
            <a:r>
              <a:rPr lang="en-US" sz="1100" dirty="0">
                <a:solidFill>
                  <a:srgbClr val="16181D"/>
                </a:solidFill>
                <a:latin typeface="Montserrat" pitchFamily="34" charset="0"/>
                <a:ea typeface="Montserrat" pitchFamily="34" charset="-122"/>
                <a:cs typeface="Montserrat" pitchFamily="34" charset="-120"/>
              </a:rPr>
              <a:t>Rebuild Graph of Thoughts and all four baselines on one engine, on open models</a:t>
            </a:r>
            <a:endParaRPr lang="en-US" sz="1100" dirty="0"/>
          </a:p>
        </p:txBody>
      </p:sp>
      <p:sp>
        <p:nvSpPr>
          <p:cNvPr id="21" name="Shape 19"/>
          <p:cNvSpPr/>
          <p:nvPr/>
        </p:nvSpPr>
        <p:spPr>
          <a:xfrm>
            <a:off x="8211312" y="2240280"/>
            <a:ext cx="0" cy="868680"/>
          </a:xfrm>
          <a:prstGeom prst="line">
            <a:avLst/>
          </a:prstGeom>
          <a:noFill/>
          <a:ln w="17780">
            <a:solidFill>
              <a:srgbClr val="C6CEE2"/>
            </a:solidFill>
            <a:prstDash val="solid"/>
          </a:ln>
        </p:spPr>
      </p:sp>
      <p:sp>
        <p:nvSpPr>
          <p:cNvPr id="22" name="Shape 20"/>
          <p:cNvSpPr/>
          <p:nvPr/>
        </p:nvSpPr>
        <p:spPr>
          <a:xfrm>
            <a:off x="8028432" y="3154680"/>
            <a:ext cx="365760" cy="365760"/>
          </a:xfrm>
          <a:prstGeom prst="ellipse">
            <a:avLst/>
          </a:prstGeom>
          <a:solidFill>
            <a:srgbClr val="0F7B6C"/>
          </a:solidFill>
          <a:ln w="12700">
            <a:solidFill>
              <a:srgbClr val="333333"/>
            </a:solidFill>
            <a:prstDash val="solid"/>
          </a:ln>
        </p:spPr>
      </p:sp>
      <p:sp>
        <p:nvSpPr>
          <p:cNvPr id="23" name="Text 21"/>
          <p:cNvSpPr txBox="1"/>
          <p:nvPr/>
        </p:nvSpPr>
        <p:spPr>
          <a:xfrm>
            <a:off x="8028432" y="3191256"/>
            <a:ext cx="36576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4" name="Text 22"/>
          <p:cNvSpPr txBox="1"/>
          <p:nvPr/>
        </p:nvSpPr>
        <p:spPr>
          <a:xfrm>
            <a:off x="8503920" y="3172968"/>
            <a:ext cx="1828800" cy="274320"/>
          </a:xfrm>
          <a:prstGeom prst="rect">
            <a:avLst/>
          </a:prstGeom>
          <a:noFill/>
          <a:ln/>
        </p:spPr>
        <p:txBody>
          <a:bodyPr wrap="square" lIns="0" tIns="0" rIns="0" bIns="0" rtlCol="0" anchor="ctr"/>
          <a:lstStyle/>
          <a:p>
            <a:pPr indent="0" marL="0">
              <a:buNone/>
            </a:pPr>
            <a:r>
              <a:rPr lang="en-US" sz="1250" b="1" dirty="0">
                <a:solidFill>
                  <a:srgbClr val="0F7B6C"/>
                </a:solidFill>
                <a:latin typeface="Montserrat" pitchFamily="34" charset="0"/>
                <a:ea typeface="Montserrat" pitchFamily="34" charset="-122"/>
                <a:cs typeface="Montserrat" pitchFamily="34" charset="-120"/>
              </a:rPr>
              <a:t>MEASURE</a:t>
            </a:r>
            <a:endParaRPr lang="en-US" sz="1250" dirty="0"/>
          </a:p>
        </p:txBody>
      </p:sp>
      <p:sp>
        <p:nvSpPr>
          <p:cNvPr id="25" name="Text 23"/>
          <p:cNvSpPr txBox="1"/>
          <p:nvPr/>
        </p:nvSpPr>
        <p:spPr>
          <a:xfrm>
            <a:off x="10241280" y="3191256"/>
            <a:ext cx="1051560" cy="237744"/>
          </a:xfrm>
          <a:prstGeom prst="rect">
            <a:avLst/>
          </a:prstGeom>
          <a:noFill/>
          <a:ln/>
        </p:spPr>
        <p:txBody>
          <a:bodyPr wrap="square" lIns="0" tIns="0" rIns="0" bIns="0" rtlCol="0" anchor="ctr"/>
          <a:lstStyle/>
          <a:p>
            <a:pPr algn="r" indent="0" marL="0">
              <a:buNone/>
            </a:pPr>
            <a:r>
              <a:rPr lang="en-US" sz="1000" b="1" dirty="0">
                <a:solidFill>
                  <a:srgbClr val="0F7B6C"/>
                </a:solidFill>
                <a:latin typeface="Montserrat" pitchFamily="34" charset="0"/>
                <a:ea typeface="Montserrat" pitchFamily="34" charset="-122"/>
                <a:cs typeface="Montserrat" pitchFamily="34" charset="-120"/>
              </a:rPr>
              <a:t>done</a:t>
            </a:r>
            <a:endParaRPr lang="en-US" sz="1000" dirty="0"/>
          </a:p>
        </p:txBody>
      </p:sp>
      <p:sp>
        <p:nvSpPr>
          <p:cNvPr id="26" name="Text 24"/>
          <p:cNvSpPr txBox="1"/>
          <p:nvPr/>
        </p:nvSpPr>
        <p:spPr>
          <a:xfrm>
            <a:off x="8503920" y="3502152"/>
            <a:ext cx="2788920" cy="777240"/>
          </a:xfrm>
          <a:prstGeom prst="rect">
            <a:avLst/>
          </a:prstGeom>
          <a:noFill/>
          <a:ln/>
        </p:spPr>
        <p:txBody>
          <a:bodyPr wrap="square" lIns="0" tIns="0" rIns="0" bIns="0" rtlCol="0" anchor="ctr"/>
          <a:lstStyle/>
          <a:p>
            <a:pPr indent="0" marL="0">
              <a:buNone/>
            </a:pPr>
            <a:r>
              <a:rPr lang="en-US" sz="1100" dirty="0">
                <a:solidFill>
                  <a:srgbClr val="16181D"/>
                </a:solidFill>
                <a:latin typeface="Montserrat" pitchFamily="34" charset="0"/>
                <a:ea typeface="Montserrat" pitchFamily="34" charset="-122"/>
                <a:cs typeface="Montserrat" pitchFamily="34" charset="-120"/>
              </a:rPr>
              <a:t>Establish what is true, and locate where the cost actually accumulates</a:t>
            </a:r>
            <a:endParaRPr lang="en-US" sz="1100" dirty="0"/>
          </a:p>
        </p:txBody>
      </p:sp>
      <p:sp>
        <p:nvSpPr>
          <p:cNvPr id="27" name="Shape 25"/>
          <p:cNvSpPr/>
          <p:nvPr/>
        </p:nvSpPr>
        <p:spPr>
          <a:xfrm>
            <a:off x="8211312" y="3566160"/>
            <a:ext cx="0" cy="868680"/>
          </a:xfrm>
          <a:prstGeom prst="line">
            <a:avLst/>
          </a:prstGeom>
          <a:noFill/>
          <a:ln w="17780">
            <a:solidFill>
              <a:srgbClr val="C6CEE2"/>
            </a:solidFill>
            <a:prstDash val="solid"/>
          </a:ln>
        </p:spPr>
      </p:sp>
      <p:sp>
        <p:nvSpPr>
          <p:cNvPr id="28" name="Shape 26"/>
          <p:cNvSpPr/>
          <p:nvPr/>
        </p:nvSpPr>
        <p:spPr>
          <a:xfrm>
            <a:off x="8028432" y="4480560"/>
            <a:ext cx="365760" cy="365760"/>
          </a:xfrm>
          <a:prstGeom prst="ellipse">
            <a:avLst/>
          </a:prstGeom>
          <a:solidFill>
            <a:srgbClr val="D98A1F"/>
          </a:solidFill>
          <a:ln w="12700">
            <a:solidFill>
              <a:srgbClr val="333333"/>
            </a:solidFill>
            <a:prstDash val="solid"/>
          </a:ln>
        </p:spPr>
      </p:sp>
      <p:sp>
        <p:nvSpPr>
          <p:cNvPr id="29" name="Text 27"/>
          <p:cNvSpPr txBox="1"/>
          <p:nvPr/>
        </p:nvSpPr>
        <p:spPr>
          <a:xfrm>
            <a:off x="8028432" y="4517136"/>
            <a:ext cx="36576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30" name="Text 28"/>
          <p:cNvSpPr txBox="1"/>
          <p:nvPr/>
        </p:nvSpPr>
        <p:spPr>
          <a:xfrm>
            <a:off x="8503920" y="4498848"/>
            <a:ext cx="1828800" cy="274320"/>
          </a:xfrm>
          <a:prstGeom prst="rect">
            <a:avLst/>
          </a:prstGeom>
          <a:noFill/>
          <a:ln/>
        </p:spPr>
        <p:txBody>
          <a:bodyPr wrap="square" lIns="0" tIns="0" rIns="0" bIns="0" rtlCol="0" anchor="ctr"/>
          <a:lstStyle/>
          <a:p>
            <a:pPr indent="0" marL="0">
              <a:buNone/>
            </a:pPr>
            <a:r>
              <a:rPr lang="en-US" sz="1250" b="1" dirty="0">
                <a:solidFill>
                  <a:srgbClr val="D98A1F"/>
                </a:solidFill>
                <a:latin typeface="Montserrat" pitchFamily="34" charset="0"/>
                <a:ea typeface="Montserrat" pitchFamily="34" charset="-122"/>
                <a:cs typeface="Montserrat" pitchFamily="34" charset="-120"/>
              </a:rPr>
              <a:t>COMPRESS</a:t>
            </a:r>
            <a:endParaRPr lang="en-US" sz="1250" dirty="0"/>
          </a:p>
        </p:txBody>
      </p:sp>
      <p:sp>
        <p:nvSpPr>
          <p:cNvPr id="31" name="Text 29"/>
          <p:cNvSpPr txBox="1"/>
          <p:nvPr/>
        </p:nvSpPr>
        <p:spPr>
          <a:xfrm>
            <a:off x="10241280" y="4517136"/>
            <a:ext cx="1051560" cy="237744"/>
          </a:xfrm>
          <a:prstGeom prst="rect">
            <a:avLst/>
          </a:prstGeom>
          <a:noFill/>
          <a:ln/>
        </p:spPr>
        <p:txBody>
          <a:bodyPr wrap="square" lIns="0" tIns="0" rIns="0" bIns="0" rtlCol="0" anchor="ctr"/>
          <a:lstStyle/>
          <a:p>
            <a:pPr algn="r" indent="0" marL="0">
              <a:buNone/>
            </a:pPr>
            <a:r>
              <a:rPr lang="en-US" sz="1000" b="1" dirty="0">
                <a:solidFill>
                  <a:srgbClr val="D98A1F"/>
                </a:solidFill>
                <a:latin typeface="Montserrat" pitchFamily="34" charset="0"/>
                <a:ea typeface="Montserrat" pitchFamily="34" charset="-122"/>
                <a:cs typeface="Montserrat" pitchFamily="34" charset="-120"/>
              </a:rPr>
              <a:t>current</a:t>
            </a:r>
            <a:endParaRPr lang="en-US" sz="1000" dirty="0"/>
          </a:p>
        </p:txBody>
      </p:sp>
      <p:sp>
        <p:nvSpPr>
          <p:cNvPr id="32" name="Text 30"/>
          <p:cNvSpPr txBox="1"/>
          <p:nvPr/>
        </p:nvSpPr>
        <p:spPr>
          <a:xfrm>
            <a:off x="8503920" y="4828032"/>
            <a:ext cx="2788920" cy="777240"/>
          </a:xfrm>
          <a:prstGeom prst="rect">
            <a:avLst/>
          </a:prstGeom>
          <a:noFill/>
          <a:ln/>
        </p:spPr>
        <p:txBody>
          <a:bodyPr wrap="square" lIns="0" tIns="0" rIns="0" bIns="0" rtlCol="0" anchor="ctr"/>
          <a:lstStyle/>
          <a:p>
            <a:pPr indent="0" marL="0">
              <a:buNone/>
            </a:pPr>
            <a:r>
              <a:rPr lang="en-US" sz="1100" dirty="0">
                <a:solidFill>
                  <a:srgbClr val="16181D"/>
                </a:solidFill>
                <a:latin typeface="Montserrat" pitchFamily="34" charset="0"/>
                <a:ea typeface="Montserrat" pitchFamily="34" charset="-122"/>
                <a:cs typeface="Montserrat" pitchFamily="34" charset="-120"/>
              </a:rPr>
              <a:t>Shrink the graph without breaking the causal paths that carry the answer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Problem Statement</a:t>
            </a:r>
            <a:endParaRPr lang="en-US" sz="3000" dirty="0"/>
          </a:p>
        </p:txBody>
      </p:sp>
      <p:sp>
        <p:nvSpPr>
          <p:cNvPr id="7" name="Shape 5"/>
          <p:cNvSpPr/>
          <p:nvPr/>
        </p:nvSpPr>
        <p:spPr>
          <a:xfrm>
            <a:off x="621792" y="914400"/>
            <a:ext cx="566928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623620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207008"/>
            <a:ext cx="676656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Why does LLM reasoning cost matter ?</a:t>
            </a:r>
            <a:endParaRPr lang="en-US" sz="1550" dirty="0"/>
          </a:p>
        </p:txBody>
      </p:sp>
      <p:sp>
        <p:nvSpPr>
          <p:cNvPr id="11" name="Text 9"/>
          <p:cNvSpPr txBox="1"/>
          <p:nvPr/>
        </p:nvSpPr>
        <p:spPr>
          <a:xfrm>
            <a:off x="685800" y="1627632"/>
            <a:ext cx="6766560" cy="2377440"/>
          </a:xfrm>
          <a:prstGeom prst="rect">
            <a:avLst/>
          </a:prstGeom>
          <a:noFill/>
          <a:ln/>
        </p:spPr>
        <p:txBody>
          <a:bodyPr wrap="square" lIns="0" tIns="0" rIns="0" bIns="0" rtlCol="0" anchor="ctr"/>
          <a:lstStyle/>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A language model spends identical computation on every token, and cannot allocate more effort to a harder question.</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Structured prompting - Chain, Tree and Graph of Thoughts - buys accuracy by generating many intermediate thoughts.</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Cost scales with the number of thoughts and the length of each. We measure Graph of Thoughts at 15x the tokens of direct prompting.</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Inference cost, not accuracy, is what currently blocks deployment of graph-structured reasoning.</a:t>
            </a:r>
            <a:endParaRPr lang="en-US" sz="1400" dirty="0"/>
          </a:p>
        </p:txBody>
      </p:sp>
      <p:sp>
        <p:nvSpPr>
          <p:cNvPr id="12" name="Text 10"/>
          <p:cNvSpPr txBox="1"/>
          <p:nvPr/>
        </p:nvSpPr>
        <p:spPr>
          <a:xfrm>
            <a:off x="685800" y="4206240"/>
            <a:ext cx="676656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Statement</a:t>
            </a:r>
            <a:endParaRPr lang="en-US" sz="1550" dirty="0"/>
          </a:p>
        </p:txBody>
      </p:sp>
      <p:sp>
        <p:nvSpPr>
          <p:cNvPr id="13" name="Text 11"/>
          <p:cNvSpPr txBox="1"/>
          <p:nvPr/>
        </p:nvSpPr>
        <p:spPr>
          <a:xfrm>
            <a:off x="685800" y="4617720"/>
            <a:ext cx="6766560" cy="1188720"/>
          </a:xfrm>
          <a:prstGeom prst="rect">
            <a:avLst/>
          </a:prstGeom>
          <a:noFill/>
          <a:ln/>
        </p:spPr>
        <p:txBody>
          <a:bodyPr wrap="square" lIns="0" tIns="0" rIns="0" bIns="0" rtlCol="0" anchor="ctr"/>
          <a:lstStyle/>
          <a:p>
            <a:pPr indent="0" marL="0">
              <a:lnSpc>
                <a:spcPct val="106000"/>
              </a:lnSpc>
              <a:buNone/>
            </a:pPr>
            <a:r>
              <a:rPr lang="en-US" sz="1200" dirty="0">
                <a:solidFill>
                  <a:srgbClr val="16181D"/>
                </a:solidFill>
                <a:latin typeface="Montserrat" pitchFamily="34" charset="0"/>
                <a:ea typeface="Montserrat" pitchFamily="34" charset="-122"/>
                <a:cs typeface="Montserrat" pitchFamily="34" charset="-120"/>
              </a:rPr>
              <a:t>To compress the reasoning graph of Graph of Thoughts - reducing both the number of vertices and the tokens per vertex - while preserving the causal dependencies that carry information to the final answer.</a:t>
            </a:r>
            <a:endParaRPr lang="en-US" sz="1200" dirty="0"/>
          </a:p>
        </p:txBody>
      </p:sp>
      <p:sp>
        <p:nvSpPr>
          <p:cNvPr id="14" name="Shape 12"/>
          <p:cNvSpPr/>
          <p:nvPr/>
        </p:nvSpPr>
        <p:spPr>
          <a:xfrm>
            <a:off x="7863840" y="1207008"/>
            <a:ext cx="3657600" cy="4297680"/>
          </a:xfrm>
          <a:prstGeom prst="roundRect">
            <a:avLst>
              <a:gd name="adj" fmla="val 1250"/>
            </a:avLst>
          </a:prstGeom>
          <a:solidFill>
            <a:srgbClr val="F4F6FB"/>
          </a:solidFill>
          <a:ln w="12700">
            <a:solidFill>
              <a:srgbClr val="D8DEEC"/>
            </a:solidFill>
            <a:prstDash val="solid"/>
          </a:ln>
        </p:spPr>
      </p:sp>
      <p:sp>
        <p:nvSpPr>
          <p:cNvPr id="15" name="Text 13"/>
          <p:cNvSpPr txBox="1"/>
          <p:nvPr/>
        </p:nvSpPr>
        <p:spPr>
          <a:xfrm>
            <a:off x="8092440" y="1353312"/>
            <a:ext cx="3200400" cy="274320"/>
          </a:xfrm>
          <a:prstGeom prst="rect">
            <a:avLst/>
          </a:prstGeom>
          <a:noFill/>
          <a:ln/>
        </p:spPr>
        <p:txBody>
          <a:bodyPr wrap="square" lIns="0" tIns="0" rIns="0" bIns="0" rtlCol="0" anchor="ctr"/>
          <a:lstStyle/>
          <a:p>
            <a:pPr indent="0" marL="0">
              <a:buNone/>
            </a:pPr>
            <a:r>
              <a:rPr lang="en-US" sz="1350" b="1" dirty="0">
                <a:solidFill>
                  <a:srgbClr val="23408E"/>
                </a:solidFill>
                <a:latin typeface="Montserrat" pitchFamily="34" charset="0"/>
                <a:ea typeface="Montserrat" pitchFamily="34" charset="-122"/>
                <a:cs typeface="Montserrat" pitchFamily="34" charset="-120"/>
              </a:rPr>
              <a:t>Measured cost per instance</a:t>
            </a:r>
            <a:endParaRPr lang="en-US" sz="1350" dirty="0"/>
          </a:p>
        </p:txBody>
      </p:sp>
      <p:sp>
        <p:nvSpPr>
          <p:cNvPr id="16" name="Text 14"/>
          <p:cNvSpPr txBox="1"/>
          <p:nvPr/>
        </p:nvSpPr>
        <p:spPr>
          <a:xfrm>
            <a:off x="8092440" y="1609344"/>
            <a:ext cx="3200400" cy="365760"/>
          </a:xfrm>
          <a:prstGeom prst="rect">
            <a:avLst/>
          </a:prstGeom>
          <a:noFill/>
          <a:ln/>
        </p:spPr>
        <p:txBody>
          <a:bodyPr wrap="square" lIns="0" tIns="0" rIns="0" bIns="0" rtlCol="0" anchor="ctr"/>
          <a:lstStyle/>
          <a:p>
            <a:pPr indent="0" marL="0">
              <a:buNone/>
            </a:pPr>
            <a:r>
              <a:rPr lang="en-US" sz="1000" dirty="0">
                <a:solidFill>
                  <a:srgbClr val="63697A"/>
                </a:solidFill>
                <a:latin typeface="Montserrat" pitchFamily="34" charset="0"/>
                <a:ea typeface="Montserrat" pitchFamily="34" charset="-122"/>
                <a:cs typeface="Montserrat" pitchFamily="34" charset="-120"/>
              </a:rPr>
              <a:t>64-element sorting, Qwen2.5-7B, 100 instances</a:t>
            </a:r>
            <a:endParaRPr lang="en-US" sz="1000" dirty="0"/>
          </a:p>
        </p:txBody>
      </p:sp>
      <p:sp>
        <p:nvSpPr>
          <p:cNvPr id="17" name="Text 15"/>
          <p:cNvSpPr txBox="1"/>
          <p:nvPr/>
        </p:nvSpPr>
        <p:spPr>
          <a:xfrm>
            <a:off x="8092440" y="2121408"/>
            <a:ext cx="777240" cy="237744"/>
          </a:xfrm>
          <a:prstGeom prst="rect">
            <a:avLst/>
          </a:prstGeom>
          <a:noFill/>
          <a:ln/>
        </p:spPr>
        <p:txBody>
          <a:bodyPr wrap="square" lIns="0" tIns="0" rIns="0" bIns="0" rtlCol="0" anchor="ctr"/>
          <a:lstStyle/>
          <a:p>
            <a:pPr indent="0" marL="0">
              <a:buNone/>
            </a:pPr>
            <a:r>
              <a:rPr lang="en-US" sz="1250" dirty="0">
                <a:solidFill>
                  <a:srgbClr val="16181D"/>
                </a:solidFill>
                <a:latin typeface="Montserrat" pitchFamily="34" charset="0"/>
                <a:ea typeface="Montserrat" pitchFamily="34" charset="-122"/>
                <a:cs typeface="Montserrat" pitchFamily="34" charset="-120"/>
              </a:rPr>
              <a:t>IO</a:t>
            </a:r>
            <a:endParaRPr lang="en-US" sz="1250" dirty="0"/>
          </a:p>
        </p:txBody>
      </p:sp>
      <p:sp>
        <p:nvSpPr>
          <p:cNvPr id="18" name="Shape 16"/>
          <p:cNvSpPr/>
          <p:nvPr/>
        </p:nvSpPr>
        <p:spPr>
          <a:xfrm>
            <a:off x="8887968" y="2103120"/>
            <a:ext cx="115973" cy="246888"/>
          </a:xfrm>
          <a:prstGeom prst="roundRect">
            <a:avLst>
              <a:gd name="adj" fmla="val 23654"/>
            </a:avLst>
          </a:prstGeom>
          <a:solidFill>
            <a:srgbClr val="23408E"/>
          </a:solidFill>
          <a:ln w="12700">
            <a:solidFill>
              <a:srgbClr val="333333"/>
            </a:solidFill>
            <a:prstDash val="solid"/>
          </a:ln>
        </p:spPr>
      </p:sp>
      <p:sp>
        <p:nvSpPr>
          <p:cNvPr id="19" name="Text 17"/>
          <p:cNvSpPr txBox="1"/>
          <p:nvPr/>
        </p:nvSpPr>
        <p:spPr>
          <a:xfrm>
            <a:off x="9058805" y="2121408"/>
            <a:ext cx="868680" cy="237744"/>
          </a:xfrm>
          <a:prstGeom prst="rect">
            <a:avLst/>
          </a:prstGeom>
          <a:noFill/>
          <a:ln/>
        </p:spPr>
        <p:txBody>
          <a:bodyPr wrap="square" lIns="0" tIns="0" rIns="0" bIns="0" rtlCol="0" anchor="ctr"/>
          <a:lstStyle/>
          <a:p>
            <a:pPr indent="0" marL="0">
              <a:buNone/>
            </a:pPr>
            <a:r>
              <a:rPr lang="en-US" sz="850" dirty="0">
                <a:solidFill>
                  <a:srgbClr val="63697A"/>
                </a:solidFill>
                <a:latin typeface="Montserrat" pitchFamily="34" charset="0"/>
                <a:ea typeface="Montserrat" pitchFamily="34" charset="-122"/>
                <a:cs typeface="Montserrat" pitchFamily="34" charset="-120"/>
              </a:rPr>
              <a:t>520</a:t>
            </a:r>
            <a:endParaRPr lang="en-US" sz="850" dirty="0"/>
          </a:p>
        </p:txBody>
      </p:sp>
      <p:sp>
        <p:nvSpPr>
          <p:cNvPr id="20" name="Text 18"/>
          <p:cNvSpPr txBox="1"/>
          <p:nvPr/>
        </p:nvSpPr>
        <p:spPr>
          <a:xfrm>
            <a:off x="8092440" y="2743200"/>
            <a:ext cx="777240" cy="237744"/>
          </a:xfrm>
          <a:prstGeom prst="rect">
            <a:avLst/>
          </a:prstGeom>
          <a:noFill/>
          <a:ln/>
        </p:spPr>
        <p:txBody>
          <a:bodyPr wrap="square" lIns="0" tIns="0" rIns="0" bIns="0" rtlCol="0" anchor="ctr"/>
          <a:lstStyle/>
          <a:p>
            <a:pPr indent="0" marL="0">
              <a:buNone/>
            </a:pPr>
            <a:r>
              <a:rPr lang="en-US" sz="1250" dirty="0">
                <a:solidFill>
                  <a:srgbClr val="16181D"/>
                </a:solidFill>
                <a:latin typeface="Montserrat" pitchFamily="34" charset="0"/>
                <a:ea typeface="Montserrat" pitchFamily="34" charset="-122"/>
                <a:cs typeface="Montserrat" pitchFamily="34" charset="-120"/>
              </a:rPr>
              <a:t>CoT</a:t>
            </a:r>
            <a:endParaRPr lang="en-US" sz="1250" dirty="0"/>
          </a:p>
        </p:txBody>
      </p:sp>
      <p:sp>
        <p:nvSpPr>
          <p:cNvPr id="21" name="Shape 19"/>
          <p:cNvSpPr/>
          <p:nvPr/>
        </p:nvSpPr>
        <p:spPr>
          <a:xfrm>
            <a:off x="8887968" y="2724912"/>
            <a:ext cx="260716" cy="246888"/>
          </a:xfrm>
          <a:prstGeom prst="roundRect">
            <a:avLst>
              <a:gd name="adj" fmla="val 11111"/>
            </a:avLst>
          </a:prstGeom>
          <a:solidFill>
            <a:srgbClr val="23408E"/>
          </a:solidFill>
          <a:ln w="12700">
            <a:solidFill>
              <a:srgbClr val="333333"/>
            </a:solidFill>
            <a:prstDash val="solid"/>
          </a:ln>
        </p:spPr>
      </p:sp>
      <p:sp>
        <p:nvSpPr>
          <p:cNvPr id="22" name="Text 20"/>
          <p:cNvSpPr txBox="1"/>
          <p:nvPr/>
        </p:nvSpPr>
        <p:spPr>
          <a:xfrm>
            <a:off x="9203548" y="2743200"/>
            <a:ext cx="868680" cy="237744"/>
          </a:xfrm>
          <a:prstGeom prst="rect">
            <a:avLst/>
          </a:prstGeom>
          <a:noFill/>
          <a:ln/>
        </p:spPr>
        <p:txBody>
          <a:bodyPr wrap="square" lIns="0" tIns="0" rIns="0" bIns="0" rtlCol="0" anchor="ctr"/>
          <a:lstStyle/>
          <a:p>
            <a:pPr indent="0" marL="0">
              <a:buNone/>
            </a:pPr>
            <a:r>
              <a:rPr lang="en-US" sz="850" dirty="0">
                <a:solidFill>
                  <a:srgbClr val="63697A"/>
                </a:solidFill>
                <a:latin typeface="Montserrat" pitchFamily="34" charset="0"/>
                <a:ea typeface="Montserrat" pitchFamily="34" charset="-122"/>
                <a:cs typeface="Montserrat" pitchFamily="34" charset="-120"/>
              </a:rPr>
              <a:t>1,169</a:t>
            </a:r>
            <a:endParaRPr lang="en-US" sz="850" dirty="0"/>
          </a:p>
        </p:txBody>
      </p:sp>
      <p:sp>
        <p:nvSpPr>
          <p:cNvPr id="23" name="Text 21"/>
          <p:cNvSpPr txBox="1"/>
          <p:nvPr/>
        </p:nvSpPr>
        <p:spPr>
          <a:xfrm>
            <a:off x="8092440" y="3364992"/>
            <a:ext cx="777240" cy="237744"/>
          </a:xfrm>
          <a:prstGeom prst="rect">
            <a:avLst/>
          </a:prstGeom>
          <a:noFill/>
          <a:ln/>
        </p:spPr>
        <p:txBody>
          <a:bodyPr wrap="square" lIns="0" tIns="0" rIns="0" bIns="0" rtlCol="0" anchor="ctr"/>
          <a:lstStyle/>
          <a:p>
            <a:pPr indent="0" marL="0">
              <a:buNone/>
            </a:pPr>
            <a:r>
              <a:rPr lang="en-US" sz="1250" dirty="0">
                <a:solidFill>
                  <a:srgbClr val="16181D"/>
                </a:solidFill>
                <a:latin typeface="Montserrat" pitchFamily="34" charset="0"/>
                <a:ea typeface="Montserrat" pitchFamily="34" charset="-122"/>
                <a:cs typeface="Montserrat" pitchFamily="34" charset="-120"/>
              </a:rPr>
              <a:t>CoT-SC</a:t>
            </a:r>
            <a:endParaRPr lang="en-US" sz="1250" dirty="0"/>
          </a:p>
        </p:txBody>
      </p:sp>
      <p:sp>
        <p:nvSpPr>
          <p:cNvPr id="24" name="Shape 22"/>
          <p:cNvSpPr/>
          <p:nvPr/>
        </p:nvSpPr>
        <p:spPr>
          <a:xfrm>
            <a:off x="8887968" y="3346704"/>
            <a:ext cx="197823" cy="246888"/>
          </a:xfrm>
          <a:prstGeom prst="roundRect">
            <a:avLst>
              <a:gd name="adj" fmla="val 13867"/>
            </a:avLst>
          </a:prstGeom>
          <a:solidFill>
            <a:srgbClr val="23408E"/>
          </a:solidFill>
          <a:ln w="12700">
            <a:solidFill>
              <a:srgbClr val="333333"/>
            </a:solidFill>
            <a:prstDash val="solid"/>
          </a:ln>
        </p:spPr>
      </p:sp>
      <p:sp>
        <p:nvSpPr>
          <p:cNvPr id="25" name="Text 23"/>
          <p:cNvSpPr txBox="1"/>
          <p:nvPr/>
        </p:nvSpPr>
        <p:spPr>
          <a:xfrm>
            <a:off x="9140655" y="3364992"/>
            <a:ext cx="868680" cy="237744"/>
          </a:xfrm>
          <a:prstGeom prst="rect">
            <a:avLst/>
          </a:prstGeom>
          <a:noFill/>
          <a:ln/>
        </p:spPr>
        <p:txBody>
          <a:bodyPr wrap="square" lIns="0" tIns="0" rIns="0" bIns="0" rtlCol="0" anchor="ctr"/>
          <a:lstStyle/>
          <a:p>
            <a:pPr indent="0" marL="0">
              <a:buNone/>
            </a:pPr>
            <a:r>
              <a:rPr lang="en-US" sz="850" dirty="0">
                <a:solidFill>
                  <a:srgbClr val="63697A"/>
                </a:solidFill>
                <a:latin typeface="Montserrat" pitchFamily="34" charset="0"/>
                <a:ea typeface="Montserrat" pitchFamily="34" charset="-122"/>
                <a:cs typeface="Montserrat" pitchFamily="34" charset="-120"/>
              </a:rPr>
              <a:t>887</a:t>
            </a:r>
            <a:endParaRPr lang="en-US" sz="850" dirty="0"/>
          </a:p>
        </p:txBody>
      </p:sp>
      <p:sp>
        <p:nvSpPr>
          <p:cNvPr id="26" name="Text 24"/>
          <p:cNvSpPr txBox="1"/>
          <p:nvPr/>
        </p:nvSpPr>
        <p:spPr>
          <a:xfrm>
            <a:off x="8092440" y="3986784"/>
            <a:ext cx="777240" cy="237744"/>
          </a:xfrm>
          <a:prstGeom prst="rect">
            <a:avLst/>
          </a:prstGeom>
          <a:noFill/>
          <a:ln/>
        </p:spPr>
        <p:txBody>
          <a:bodyPr wrap="square" lIns="0" tIns="0" rIns="0" bIns="0" rtlCol="0" anchor="ctr"/>
          <a:lstStyle/>
          <a:p>
            <a:pPr indent="0" marL="0">
              <a:buNone/>
            </a:pPr>
            <a:r>
              <a:rPr lang="en-US" sz="1250" dirty="0">
                <a:solidFill>
                  <a:srgbClr val="16181D"/>
                </a:solidFill>
                <a:latin typeface="Montserrat" pitchFamily="34" charset="0"/>
                <a:ea typeface="Montserrat" pitchFamily="34" charset="-122"/>
                <a:cs typeface="Montserrat" pitchFamily="34" charset="-120"/>
              </a:rPr>
              <a:t>ToT</a:t>
            </a:r>
            <a:endParaRPr lang="en-US" sz="1250" dirty="0"/>
          </a:p>
        </p:txBody>
      </p:sp>
      <p:sp>
        <p:nvSpPr>
          <p:cNvPr id="27" name="Shape 25"/>
          <p:cNvSpPr/>
          <p:nvPr/>
        </p:nvSpPr>
        <p:spPr>
          <a:xfrm>
            <a:off x="8887968" y="3968496"/>
            <a:ext cx="487308" cy="246888"/>
          </a:xfrm>
          <a:prstGeom prst="roundRect">
            <a:avLst>
              <a:gd name="adj" fmla="val 11111"/>
            </a:avLst>
          </a:prstGeom>
          <a:solidFill>
            <a:srgbClr val="23408E"/>
          </a:solidFill>
          <a:ln w="12700">
            <a:solidFill>
              <a:srgbClr val="333333"/>
            </a:solidFill>
            <a:prstDash val="solid"/>
          </a:ln>
        </p:spPr>
      </p:sp>
      <p:sp>
        <p:nvSpPr>
          <p:cNvPr id="28" name="Text 26"/>
          <p:cNvSpPr txBox="1"/>
          <p:nvPr/>
        </p:nvSpPr>
        <p:spPr>
          <a:xfrm>
            <a:off x="9430140" y="3986784"/>
            <a:ext cx="868680" cy="237744"/>
          </a:xfrm>
          <a:prstGeom prst="rect">
            <a:avLst/>
          </a:prstGeom>
          <a:noFill/>
          <a:ln/>
        </p:spPr>
        <p:txBody>
          <a:bodyPr wrap="square" lIns="0" tIns="0" rIns="0" bIns="0" rtlCol="0" anchor="ctr"/>
          <a:lstStyle/>
          <a:p>
            <a:pPr indent="0" marL="0">
              <a:buNone/>
            </a:pPr>
            <a:r>
              <a:rPr lang="en-US" sz="850" dirty="0">
                <a:solidFill>
                  <a:srgbClr val="63697A"/>
                </a:solidFill>
                <a:latin typeface="Montserrat" pitchFamily="34" charset="0"/>
                <a:ea typeface="Montserrat" pitchFamily="34" charset="-122"/>
                <a:cs typeface="Montserrat" pitchFamily="34" charset="-120"/>
              </a:rPr>
              <a:t>2,185</a:t>
            </a:r>
            <a:endParaRPr lang="en-US" sz="850" dirty="0"/>
          </a:p>
        </p:txBody>
      </p:sp>
      <p:sp>
        <p:nvSpPr>
          <p:cNvPr id="29" name="Text 27"/>
          <p:cNvSpPr txBox="1"/>
          <p:nvPr/>
        </p:nvSpPr>
        <p:spPr>
          <a:xfrm>
            <a:off x="8092440" y="4608576"/>
            <a:ext cx="777240" cy="237744"/>
          </a:xfrm>
          <a:prstGeom prst="rect">
            <a:avLst/>
          </a:prstGeom>
          <a:noFill/>
          <a:ln/>
        </p:spPr>
        <p:txBody>
          <a:bodyPr wrap="square" lIns="0" tIns="0" rIns="0" bIns="0" rtlCol="0" anchor="ctr"/>
          <a:lstStyle/>
          <a:p>
            <a:pPr indent="0" marL="0">
              <a:buNone/>
            </a:pPr>
            <a:r>
              <a:rPr lang="en-US" sz="1250" dirty="0">
                <a:solidFill>
                  <a:srgbClr val="16181D"/>
                </a:solidFill>
                <a:latin typeface="Montserrat" pitchFamily="34" charset="0"/>
                <a:ea typeface="Montserrat" pitchFamily="34" charset="-122"/>
                <a:cs typeface="Montserrat" pitchFamily="34" charset="-120"/>
              </a:rPr>
              <a:t>GoT</a:t>
            </a:r>
            <a:endParaRPr lang="en-US" sz="1250" dirty="0"/>
          </a:p>
        </p:txBody>
      </p:sp>
      <p:sp>
        <p:nvSpPr>
          <p:cNvPr id="30" name="Shape 28"/>
          <p:cNvSpPr/>
          <p:nvPr/>
        </p:nvSpPr>
        <p:spPr>
          <a:xfrm>
            <a:off x="8887968" y="4590288"/>
            <a:ext cx="1764123" cy="246888"/>
          </a:xfrm>
          <a:prstGeom prst="roundRect">
            <a:avLst>
              <a:gd name="adj" fmla="val 11111"/>
            </a:avLst>
          </a:prstGeom>
          <a:solidFill>
            <a:srgbClr val="D98A1F"/>
          </a:solidFill>
          <a:ln w="12700">
            <a:solidFill>
              <a:srgbClr val="333333"/>
            </a:solidFill>
            <a:prstDash val="solid"/>
          </a:ln>
        </p:spPr>
      </p:sp>
      <p:sp>
        <p:nvSpPr>
          <p:cNvPr id="31" name="Text 29"/>
          <p:cNvSpPr txBox="1"/>
          <p:nvPr/>
        </p:nvSpPr>
        <p:spPr>
          <a:xfrm>
            <a:off x="10706955" y="4608576"/>
            <a:ext cx="868680" cy="237744"/>
          </a:xfrm>
          <a:prstGeom prst="rect">
            <a:avLst/>
          </a:prstGeom>
          <a:noFill/>
          <a:ln/>
        </p:spPr>
        <p:txBody>
          <a:bodyPr wrap="square" lIns="0" tIns="0" rIns="0" bIns="0" rtlCol="0" anchor="ctr"/>
          <a:lstStyle/>
          <a:p>
            <a:pPr indent="0" marL="0">
              <a:buNone/>
            </a:pPr>
            <a:r>
              <a:rPr lang="en-US" sz="850" dirty="0">
                <a:solidFill>
                  <a:srgbClr val="D98A1F"/>
                </a:solidFill>
                <a:latin typeface="Montserrat" pitchFamily="34" charset="0"/>
                <a:ea typeface="Montserrat" pitchFamily="34" charset="-122"/>
                <a:cs typeface="Montserrat" pitchFamily="34" charset="-120"/>
              </a:rPr>
              <a:t>7,910</a:t>
            </a:r>
            <a:endParaRPr lang="en-US" sz="850" dirty="0"/>
          </a:p>
        </p:txBody>
      </p:sp>
      <p:sp>
        <p:nvSpPr>
          <p:cNvPr id="32" name="Text 30"/>
          <p:cNvSpPr txBox="1"/>
          <p:nvPr/>
        </p:nvSpPr>
        <p:spPr>
          <a:xfrm>
            <a:off x="8092440" y="5193792"/>
            <a:ext cx="3200400" cy="219456"/>
          </a:xfrm>
          <a:prstGeom prst="rect">
            <a:avLst/>
          </a:prstGeom>
          <a:noFill/>
          <a:ln/>
        </p:spPr>
        <p:txBody>
          <a:bodyPr wrap="square" lIns="0" tIns="0" rIns="0" bIns="0" rtlCol="0" anchor="ctr"/>
          <a:lstStyle/>
          <a:p>
            <a:pPr indent="0" marL="0">
              <a:buNone/>
            </a:pPr>
            <a:r>
              <a:rPr lang="en-US" sz="1000" i="1" dirty="0">
                <a:solidFill>
                  <a:srgbClr val="63697A"/>
                </a:solidFill>
                <a:latin typeface="Montserrat" pitchFamily="34" charset="0"/>
                <a:ea typeface="Montserrat" pitchFamily="34" charset="-122"/>
                <a:cs typeface="Montserrat" pitchFamily="34" charset="-120"/>
              </a:rPr>
              <a:t>mean tokens consumed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Study Summaries</a:t>
            </a:r>
            <a:endParaRPr lang="en-US" sz="3000" dirty="0"/>
          </a:p>
        </p:txBody>
      </p:sp>
      <p:sp>
        <p:nvSpPr>
          <p:cNvPr id="7" name="Shape 5"/>
          <p:cNvSpPr/>
          <p:nvPr/>
        </p:nvSpPr>
        <p:spPr>
          <a:xfrm>
            <a:off x="621792" y="914400"/>
            <a:ext cx="51206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56875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Paper 1 : Chain-of-Thought Prompting Elicits Reasoning in Large Language Models</a:t>
            </a:r>
            <a:endParaRPr lang="en-US" sz="1550" dirty="0"/>
          </a:p>
        </p:txBody>
      </p:sp>
      <p:sp>
        <p:nvSpPr>
          <p:cNvPr id="11" name="Text 9"/>
          <p:cNvSpPr txBox="1"/>
          <p:nvPr/>
        </p:nvSpPr>
        <p:spPr>
          <a:xfrm>
            <a:off x="685800" y="1499616"/>
            <a:ext cx="10058400" cy="256032"/>
          </a:xfrm>
          <a:prstGeom prst="rect">
            <a:avLst/>
          </a:prstGeom>
          <a:noFill/>
          <a:ln/>
        </p:spPr>
        <p:txBody>
          <a:bodyPr wrap="square" lIns="0" tIns="0" rIns="0" bIns="0" rtlCol="0" anchor="ctr"/>
          <a:lstStyle/>
          <a:p>
            <a:pPr indent="0" marL="0">
              <a:buNone/>
            </a:pPr>
            <a:r>
              <a:rPr lang="en-US" sz="1250" i="1" dirty="0">
                <a:solidFill>
                  <a:srgbClr val="63697A"/>
                </a:solidFill>
                <a:latin typeface="Montserrat" pitchFamily="34" charset="0"/>
                <a:ea typeface="Montserrat" pitchFamily="34" charset="-122"/>
                <a:cs typeface="Montserrat" pitchFamily="34" charset="-120"/>
              </a:rPr>
              <a:t>( Chain structure - intermediate steps written into the prompt )</a:t>
            </a:r>
            <a:endParaRPr lang="en-US" sz="1250" dirty="0"/>
          </a:p>
        </p:txBody>
      </p:sp>
      <p:sp>
        <p:nvSpPr>
          <p:cNvPr id="12" name="Text 10"/>
          <p:cNvSpPr txBox="1"/>
          <p:nvPr/>
        </p:nvSpPr>
        <p:spPr>
          <a:xfrm>
            <a:off x="685800" y="1920240"/>
            <a:ext cx="5943600" cy="2743200"/>
          </a:xfrm>
          <a:prstGeom prst="rect">
            <a:avLst/>
          </a:prstGeom>
          <a:noFill/>
          <a:ln/>
        </p:spPr>
        <p:txBody>
          <a:bodyPr wrap="square" lIns="0" tIns="0" rIns="0" bIns="0" rtlCol="0" anchor="ctr"/>
          <a:lstStyle/>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Intermediate reasoning steps are emitted before the answer, with no change to model weights.</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More tokens means more forward passes - the written chain IS the additional computation.</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GSM8K solve rate rises from 18% to 57% on PaLM-540B under chain-of-thought prompting.</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The ability is emergent: below roughly 10B parameters chains are fluent but logically invalid, and accuracy can fall below direct prompting.</a:t>
            </a:r>
            <a:endParaRPr lang="en-US" sz="1400" dirty="0"/>
          </a:p>
        </p:txBody>
      </p:sp>
      <p:sp>
        <p:nvSpPr>
          <p:cNvPr id="13" name="Shape 11"/>
          <p:cNvSpPr/>
          <p:nvPr/>
        </p:nvSpPr>
        <p:spPr>
          <a:xfrm>
            <a:off x="6949440" y="1920240"/>
            <a:ext cx="4572000" cy="3291840"/>
          </a:xfrm>
          <a:prstGeom prst="roundRect">
            <a:avLst>
              <a:gd name="adj" fmla="val 1389"/>
            </a:avLst>
          </a:prstGeom>
          <a:solidFill>
            <a:srgbClr val="F4F6FB"/>
          </a:solidFill>
          <a:ln w="12700">
            <a:solidFill>
              <a:srgbClr val="D8DEEC"/>
            </a:solidFill>
            <a:prstDash val="solid"/>
          </a:ln>
        </p:spPr>
      </p:sp>
      <p:sp>
        <p:nvSpPr>
          <p:cNvPr id="14" name="Text 12"/>
          <p:cNvSpPr txBox="1"/>
          <p:nvPr/>
        </p:nvSpPr>
        <p:spPr>
          <a:xfrm>
            <a:off x="7178040" y="2066544"/>
            <a:ext cx="4114800" cy="256032"/>
          </a:xfrm>
          <a:prstGeom prst="rect">
            <a:avLst/>
          </a:prstGeom>
          <a:noFill/>
          <a:ln/>
        </p:spPr>
        <p:txBody>
          <a:bodyPr wrap="square" lIns="0" tIns="0" rIns="0" bIns="0" rtlCol="0" anchor="ctr"/>
          <a:lstStyle/>
          <a:p>
            <a:pPr indent="0" marL="0">
              <a:buNone/>
            </a:pPr>
            <a:r>
              <a:rPr lang="en-US" sz="1350" b="1" dirty="0">
                <a:solidFill>
                  <a:srgbClr val="23408E"/>
                </a:solidFill>
                <a:latin typeface="Montserrat" pitchFamily="34" charset="0"/>
                <a:ea typeface="Montserrat" pitchFamily="34" charset="-122"/>
                <a:cs typeface="Montserrat" pitchFamily="34" charset="-120"/>
              </a:rPr>
              <a:t>Structure</a:t>
            </a:r>
            <a:endParaRPr lang="en-US" sz="1350" dirty="0"/>
          </a:p>
        </p:txBody>
      </p:sp>
      <p:sp>
        <p:nvSpPr>
          <p:cNvPr id="15" name="Shape 13"/>
          <p:cNvSpPr/>
          <p:nvPr/>
        </p:nvSpPr>
        <p:spPr>
          <a:xfrm>
            <a:off x="7635240" y="2487168"/>
            <a:ext cx="192024" cy="192024"/>
          </a:xfrm>
          <a:prstGeom prst="ellipse">
            <a:avLst/>
          </a:prstGeom>
          <a:solidFill>
            <a:srgbClr val="23408E"/>
          </a:solidFill>
          <a:ln w="12700">
            <a:solidFill>
              <a:srgbClr val="23408E"/>
            </a:solidFill>
            <a:prstDash val="solid"/>
          </a:ln>
        </p:spPr>
      </p:sp>
      <p:sp>
        <p:nvSpPr>
          <p:cNvPr id="16" name="Shape 14"/>
          <p:cNvSpPr/>
          <p:nvPr/>
        </p:nvSpPr>
        <p:spPr>
          <a:xfrm>
            <a:off x="7731252" y="2583180"/>
            <a:ext cx="0" cy="548640"/>
          </a:xfrm>
          <a:prstGeom prst="line">
            <a:avLst/>
          </a:prstGeom>
          <a:noFill/>
          <a:ln w="17780">
            <a:solidFill>
              <a:srgbClr val="23408E"/>
            </a:solidFill>
            <a:prstDash val="solid"/>
          </a:ln>
        </p:spPr>
      </p:sp>
      <p:sp>
        <p:nvSpPr>
          <p:cNvPr id="17" name="Shape 15"/>
          <p:cNvSpPr/>
          <p:nvPr/>
        </p:nvSpPr>
        <p:spPr>
          <a:xfrm>
            <a:off x="7635240" y="3035808"/>
            <a:ext cx="192024" cy="192024"/>
          </a:xfrm>
          <a:prstGeom prst="ellipse">
            <a:avLst/>
          </a:prstGeom>
          <a:solidFill>
            <a:srgbClr val="23408E"/>
          </a:solidFill>
          <a:ln w="12700">
            <a:solidFill>
              <a:srgbClr val="23408E"/>
            </a:solidFill>
            <a:prstDash val="solid"/>
          </a:ln>
        </p:spPr>
      </p:sp>
      <p:sp>
        <p:nvSpPr>
          <p:cNvPr id="18" name="Shape 16"/>
          <p:cNvSpPr/>
          <p:nvPr/>
        </p:nvSpPr>
        <p:spPr>
          <a:xfrm>
            <a:off x="7731252" y="3131820"/>
            <a:ext cx="0" cy="548640"/>
          </a:xfrm>
          <a:prstGeom prst="line">
            <a:avLst/>
          </a:prstGeom>
          <a:noFill/>
          <a:ln w="17780">
            <a:solidFill>
              <a:srgbClr val="23408E"/>
            </a:solidFill>
            <a:prstDash val="solid"/>
          </a:ln>
        </p:spPr>
      </p:sp>
      <p:sp>
        <p:nvSpPr>
          <p:cNvPr id="19" name="Shape 17"/>
          <p:cNvSpPr/>
          <p:nvPr/>
        </p:nvSpPr>
        <p:spPr>
          <a:xfrm>
            <a:off x="7635240" y="3584448"/>
            <a:ext cx="192024" cy="192024"/>
          </a:xfrm>
          <a:prstGeom prst="ellipse">
            <a:avLst/>
          </a:prstGeom>
          <a:solidFill>
            <a:srgbClr val="23408E"/>
          </a:solidFill>
          <a:ln w="12700">
            <a:solidFill>
              <a:srgbClr val="23408E"/>
            </a:solidFill>
            <a:prstDash val="solid"/>
          </a:ln>
        </p:spPr>
      </p:sp>
      <p:sp>
        <p:nvSpPr>
          <p:cNvPr id="20" name="Shape 18"/>
          <p:cNvSpPr/>
          <p:nvPr/>
        </p:nvSpPr>
        <p:spPr>
          <a:xfrm>
            <a:off x="7731252" y="3680460"/>
            <a:ext cx="0" cy="548640"/>
          </a:xfrm>
          <a:prstGeom prst="line">
            <a:avLst/>
          </a:prstGeom>
          <a:noFill/>
          <a:ln w="17780">
            <a:solidFill>
              <a:srgbClr val="23408E"/>
            </a:solidFill>
            <a:prstDash val="solid"/>
          </a:ln>
        </p:spPr>
      </p:sp>
      <p:sp>
        <p:nvSpPr>
          <p:cNvPr id="21" name="Shape 19"/>
          <p:cNvSpPr/>
          <p:nvPr/>
        </p:nvSpPr>
        <p:spPr>
          <a:xfrm>
            <a:off x="7635240" y="4133088"/>
            <a:ext cx="192024" cy="192024"/>
          </a:xfrm>
          <a:prstGeom prst="ellipse">
            <a:avLst/>
          </a:prstGeom>
          <a:solidFill>
            <a:srgbClr val="23408E"/>
          </a:solidFill>
          <a:ln w="12700">
            <a:solidFill>
              <a:srgbClr val="23408E"/>
            </a:solidFill>
            <a:prstDash val="solid"/>
          </a:ln>
        </p:spPr>
      </p:sp>
      <p:sp>
        <p:nvSpPr>
          <p:cNvPr id="22" name="Shape 20"/>
          <p:cNvSpPr/>
          <p:nvPr/>
        </p:nvSpPr>
        <p:spPr>
          <a:xfrm>
            <a:off x="7731252" y="4229100"/>
            <a:ext cx="0" cy="548640"/>
          </a:xfrm>
          <a:prstGeom prst="line">
            <a:avLst/>
          </a:prstGeom>
          <a:noFill/>
          <a:ln w="17780">
            <a:solidFill>
              <a:srgbClr val="23408E"/>
            </a:solidFill>
            <a:prstDash val="solid"/>
          </a:ln>
        </p:spPr>
      </p:sp>
      <p:sp>
        <p:nvSpPr>
          <p:cNvPr id="23" name="Shape 21"/>
          <p:cNvSpPr/>
          <p:nvPr/>
        </p:nvSpPr>
        <p:spPr>
          <a:xfrm>
            <a:off x="7635240" y="4681728"/>
            <a:ext cx="192024" cy="192024"/>
          </a:xfrm>
          <a:prstGeom prst="ellipse">
            <a:avLst/>
          </a:prstGeom>
          <a:solidFill>
            <a:srgbClr val="D98A1F"/>
          </a:solidFill>
          <a:ln w="12700">
            <a:solidFill>
              <a:srgbClr val="D98A1F"/>
            </a:solidFill>
            <a:prstDash val="solid"/>
          </a:ln>
        </p:spPr>
      </p:sp>
      <p:sp>
        <p:nvSpPr>
          <p:cNvPr id="24" name="Text 22"/>
          <p:cNvSpPr txBox="1"/>
          <p:nvPr/>
        </p:nvSpPr>
        <p:spPr>
          <a:xfrm>
            <a:off x="8028432" y="2468880"/>
            <a:ext cx="3108960" cy="237744"/>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input x</a:t>
            </a:r>
            <a:endParaRPr lang="en-US" sz="1000" dirty="0"/>
          </a:p>
        </p:txBody>
      </p:sp>
      <p:sp>
        <p:nvSpPr>
          <p:cNvPr id="25" name="Text 23"/>
          <p:cNvSpPr txBox="1"/>
          <p:nvPr/>
        </p:nvSpPr>
        <p:spPr>
          <a:xfrm>
            <a:off x="8028432" y="3017520"/>
            <a:ext cx="3108960" cy="237744"/>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thought z1</a:t>
            </a:r>
            <a:endParaRPr lang="en-US" sz="1000" dirty="0"/>
          </a:p>
        </p:txBody>
      </p:sp>
      <p:sp>
        <p:nvSpPr>
          <p:cNvPr id="26" name="Text 24"/>
          <p:cNvSpPr txBox="1"/>
          <p:nvPr/>
        </p:nvSpPr>
        <p:spPr>
          <a:xfrm>
            <a:off x="8028432" y="3566160"/>
            <a:ext cx="3108960" cy="237744"/>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thought z2</a:t>
            </a:r>
            <a:endParaRPr lang="en-US" sz="1000" dirty="0"/>
          </a:p>
        </p:txBody>
      </p:sp>
      <p:sp>
        <p:nvSpPr>
          <p:cNvPr id="27" name="Text 25"/>
          <p:cNvSpPr txBox="1"/>
          <p:nvPr/>
        </p:nvSpPr>
        <p:spPr>
          <a:xfrm>
            <a:off x="8028432" y="4114800"/>
            <a:ext cx="3108960" cy="237744"/>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thought z3</a:t>
            </a:r>
            <a:endParaRPr lang="en-US" sz="1000" dirty="0"/>
          </a:p>
        </p:txBody>
      </p:sp>
      <p:sp>
        <p:nvSpPr>
          <p:cNvPr id="28" name="Text 26"/>
          <p:cNvSpPr txBox="1"/>
          <p:nvPr/>
        </p:nvSpPr>
        <p:spPr>
          <a:xfrm>
            <a:off x="8028432" y="4663440"/>
            <a:ext cx="3108960" cy="237744"/>
          </a:xfrm>
          <a:prstGeom prst="rect">
            <a:avLst/>
          </a:prstGeom>
          <a:noFill/>
          <a:ln/>
        </p:spPr>
        <p:txBody>
          <a:bodyPr wrap="square" lIns="0" tIns="0" rIns="0" bIns="0" rtlCol="0" anchor="ctr"/>
          <a:lstStyle/>
          <a:p>
            <a:pPr indent="0" marL="0">
              <a:buNone/>
            </a:pPr>
            <a:r>
              <a:rPr lang="en-US" sz="1000" dirty="0">
                <a:solidFill>
                  <a:srgbClr val="D98A1F"/>
                </a:solidFill>
                <a:latin typeface="Montserrat" pitchFamily="34" charset="0"/>
                <a:ea typeface="Montserrat" pitchFamily="34" charset="-122"/>
                <a:cs typeface="Montserrat" pitchFamily="34" charset="-120"/>
              </a:rPr>
              <a:t>answer y</a:t>
            </a:r>
            <a:endParaRPr lang="en-US" sz="1000" dirty="0"/>
          </a:p>
        </p:txBody>
      </p:sp>
      <p:sp>
        <p:nvSpPr>
          <p:cNvPr id="29" name="Text 27"/>
          <p:cNvSpPr txBox="1"/>
          <p:nvPr/>
        </p:nvSpPr>
        <p:spPr>
          <a:xfrm>
            <a:off x="7178040" y="4800600"/>
            <a:ext cx="4114800" cy="274320"/>
          </a:xfrm>
          <a:prstGeom prst="rect">
            <a:avLst/>
          </a:prstGeom>
          <a:noFill/>
          <a:ln/>
        </p:spPr>
        <p:txBody>
          <a:bodyPr wrap="square" lIns="0" tIns="0" rIns="0" bIns="0" rtlCol="0" anchor="ctr"/>
          <a:lstStyle/>
          <a:p>
            <a:pPr indent="0" marL="0">
              <a:buNone/>
            </a:pPr>
            <a:r>
              <a:rPr lang="en-US" sz="950" i="1" dirty="0">
                <a:solidFill>
                  <a:srgbClr val="63697A"/>
                </a:solidFill>
                <a:latin typeface="Montserrat" pitchFamily="34" charset="0"/>
                <a:ea typeface="Montserrat" pitchFamily="34" charset="-122"/>
                <a:cs typeface="Montserrat" pitchFamily="34" charset="-120"/>
              </a:rPr>
              <a:t>A single path. A wrong step is unrecoverable.</a:t>
            </a:r>
            <a:endParaRPr lang="en-US" sz="950" dirty="0"/>
          </a:p>
        </p:txBody>
      </p:sp>
      <p:sp>
        <p:nvSpPr>
          <p:cNvPr id="30" name="Text 28"/>
          <p:cNvSpPr txBox="1"/>
          <p:nvPr/>
        </p:nvSpPr>
        <p:spPr>
          <a:xfrm>
            <a:off x="4206240" y="6217920"/>
            <a:ext cx="7498080" cy="274320"/>
          </a:xfrm>
          <a:prstGeom prst="rect">
            <a:avLst/>
          </a:prstGeom>
          <a:noFill/>
          <a:ln/>
        </p:spPr>
        <p:txBody>
          <a:bodyPr wrap="square" lIns="0" tIns="0" rIns="0" bIns="0" rtlCol="0" anchor="ctr"/>
          <a:lstStyle/>
          <a:p>
            <a:pPr algn="r" indent="0" marL="0">
              <a:buNone/>
            </a:pPr>
            <a:r>
              <a:rPr lang="en-US" sz="1050" i="1" dirty="0">
                <a:solidFill>
                  <a:srgbClr val="63697A"/>
                </a:solidFill>
                <a:latin typeface="Montserrat" pitchFamily="34" charset="0"/>
                <a:ea typeface="Montserrat" pitchFamily="34" charset="-122"/>
                <a:cs typeface="Montserrat" pitchFamily="34" charset="-120"/>
              </a:rPr>
              <a:t>Wei et al., NeurIPS 2022, arXiv:2201.11903</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Study Summaries</a:t>
            </a:r>
            <a:endParaRPr lang="en-US" sz="3000" dirty="0"/>
          </a:p>
        </p:txBody>
      </p:sp>
      <p:sp>
        <p:nvSpPr>
          <p:cNvPr id="7" name="Shape 5"/>
          <p:cNvSpPr/>
          <p:nvPr/>
        </p:nvSpPr>
        <p:spPr>
          <a:xfrm>
            <a:off x="621792" y="914400"/>
            <a:ext cx="51206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56875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Paper 2 : Tree of Thoughts - Deliberate Problem Solving with Large Language Models</a:t>
            </a:r>
            <a:endParaRPr lang="en-US" sz="1550" dirty="0"/>
          </a:p>
        </p:txBody>
      </p:sp>
      <p:sp>
        <p:nvSpPr>
          <p:cNvPr id="11" name="Text 9"/>
          <p:cNvSpPr txBox="1"/>
          <p:nvPr/>
        </p:nvSpPr>
        <p:spPr>
          <a:xfrm>
            <a:off x="685800" y="1499616"/>
            <a:ext cx="10058400" cy="256032"/>
          </a:xfrm>
          <a:prstGeom prst="rect">
            <a:avLst/>
          </a:prstGeom>
          <a:noFill/>
          <a:ln/>
        </p:spPr>
        <p:txBody>
          <a:bodyPr wrap="square" lIns="0" tIns="0" rIns="0" bIns="0" rtlCol="0" anchor="ctr"/>
          <a:lstStyle/>
          <a:p>
            <a:pPr indent="0" marL="0">
              <a:buNone/>
            </a:pPr>
            <a:r>
              <a:rPr lang="en-US" sz="1250" i="1" dirty="0">
                <a:solidFill>
                  <a:srgbClr val="63697A"/>
                </a:solidFill>
                <a:latin typeface="Montserrat" pitchFamily="34" charset="0"/>
                <a:ea typeface="Montserrat" pitchFamily="34" charset="-122"/>
                <a:cs typeface="Montserrat" pitchFamily="34" charset="-120"/>
              </a:rPr>
              <a:t>( Tree structure - branching, evaluation and backtracking )</a:t>
            </a:r>
            <a:endParaRPr lang="en-US" sz="1250" dirty="0"/>
          </a:p>
        </p:txBody>
      </p:sp>
      <p:sp>
        <p:nvSpPr>
          <p:cNvPr id="12" name="Text 10"/>
          <p:cNvSpPr txBox="1"/>
          <p:nvPr/>
        </p:nvSpPr>
        <p:spPr>
          <a:xfrm>
            <a:off x="685800" y="1920240"/>
            <a:ext cx="5943600" cy="2743200"/>
          </a:xfrm>
          <a:prstGeom prst="rect">
            <a:avLst/>
          </a:prstGeom>
          <a:noFill/>
          <a:ln/>
        </p:spPr>
        <p:txBody>
          <a:bodyPr wrap="square" lIns="0" tIns="0" rIns="0" bIns="0" rtlCol="0" anchor="ctr"/>
          <a:lstStyle/>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Three components: a thought generator producing k children, a state evaluator scoring them, and a search algorithm over the tree.</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Adds local exploration and backtracking, which Self-Consistency with CoT cannot do - its k chains never exchange information.</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Every vertex has exactly one parent, so information on a discarded branch is lost permanently.</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In our replication ToT is the strongest baseline, once its evaluator can reject a refinement that worsens the answer.</a:t>
            </a:r>
            <a:endParaRPr lang="en-US" sz="1400" dirty="0"/>
          </a:p>
        </p:txBody>
      </p:sp>
      <p:sp>
        <p:nvSpPr>
          <p:cNvPr id="13" name="Shape 11"/>
          <p:cNvSpPr/>
          <p:nvPr/>
        </p:nvSpPr>
        <p:spPr>
          <a:xfrm>
            <a:off x="6949440" y="1920240"/>
            <a:ext cx="4572000" cy="3291840"/>
          </a:xfrm>
          <a:prstGeom prst="roundRect">
            <a:avLst>
              <a:gd name="adj" fmla="val 1389"/>
            </a:avLst>
          </a:prstGeom>
          <a:solidFill>
            <a:srgbClr val="F4F6FB"/>
          </a:solidFill>
          <a:ln w="12700">
            <a:solidFill>
              <a:srgbClr val="D8DEEC"/>
            </a:solidFill>
            <a:prstDash val="solid"/>
          </a:ln>
        </p:spPr>
      </p:sp>
      <p:sp>
        <p:nvSpPr>
          <p:cNvPr id="14" name="Text 12"/>
          <p:cNvSpPr txBox="1"/>
          <p:nvPr/>
        </p:nvSpPr>
        <p:spPr>
          <a:xfrm>
            <a:off x="7178040" y="2066544"/>
            <a:ext cx="4114800" cy="256032"/>
          </a:xfrm>
          <a:prstGeom prst="rect">
            <a:avLst/>
          </a:prstGeom>
          <a:noFill/>
          <a:ln/>
        </p:spPr>
        <p:txBody>
          <a:bodyPr wrap="square" lIns="0" tIns="0" rIns="0" bIns="0" rtlCol="0" anchor="ctr"/>
          <a:lstStyle/>
          <a:p>
            <a:pPr indent="0" marL="0">
              <a:buNone/>
            </a:pPr>
            <a:r>
              <a:rPr lang="en-US" sz="1350" b="1" dirty="0">
                <a:solidFill>
                  <a:srgbClr val="23408E"/>
                </a:solidFill>
                <a:latin typeface="Montserrat" pitchFamily="34" charset="0"/>
                <a:ea typeface="Montserrat" pitchFamily="34" charset="-122"/>
                <a:cs typeface="Montserrat" pitchFamily="34" charset="-120"/>
              </a:rPr>
              <a:t>Structure</a:t>
            </a:r>
            <a:endParaRPr lang="en-US" sz="1350" dirty="0"/>
          </a:p>
        </p:txBody>
      </p:sp>
      <p:sp>
        <p:nvSpPr>
          <p:cNvPr id="15" name="Shape 13"/>
          <p:cNvSpPr/>
          <p:nvPr/>
        </p:nvSpPr>
        <p:spPr>
          <a:xfrm>
            <a:off x="9144000" y="2560320"/>
            <a:ext cx="173736" cy="173736"/>
          </a:xfrm>
          <a:prstGeom prst="ellipse">
            <a:avLst/>
          </a:prstGeom>
          <a:solidFill>
            <a:srgbClr val="23408E"/>
          </a:solidFill>
          <a:ln w="12700">
            <a:solidFill>
              <a:srgbClr val="23408E"/>
            </a:solidFill>
            <a:prstDash val="solid"/>
          </a:ln>
        </p:spPr>
      </p:sp>
      <p:sp>
        <p:nvSpPr>
          <p:cNvPr id="16" name="Shape 14"/>
          <p:cNvSpPr/>
          <p:nvPr/>
        </p:nvSpPr>
        <p:spPr>
          <a:xfrm flipV="1">
            <a:off x="8316468" y="2647188"/>
            <a:ext cx="914400" cy="731520"/>
          </a:xfrm>
          <a:prstGeom prst="line">
            <a:avLst/>
          </a:prstGeom>
          <a:noFill/>
          <a:ln w="16510">
            <a:solidFill>
              <a:srgbClr val="23408E"/>
            </a:solidFill>
            <a:prstDash val="solid"/>
          </a:ln>
        </p:spPr>
      </p:sp>
      <p:sp>
        <p:nvSpPr>
          <p:cNvPr id="17" name="Shape 15"/>
          <p:cNvSpPr/>
          <p:nvPr/>
        </p:nvSpPr>
        <p:spPr>
          <a:xfrm>
            <a:off x="8229600" y="3291840"/>
            <a:ext cx="173736" cy="173736"/>
          </a:xfrm>
          <a:prstGeom prst="ellipse">
            <a:avLst/>
          </a:prstGeom>
          <a:solidFill>
            <a:srgbClr val="23408E"/>
          </a:solidFill>
          <a:ln w="12700">
            <a:solidFill>
              <a:srgbClr val="23408E"/>
            </a:solidFill>
            <a:prstDash val="solid"/>
          </a:ln>
        </p:spPr>
      </p:sp>
      <p:sp>
        <p:nvSpPr>
          <p:cNvPr id="18" name="Shape 16"/>
          <p:cNvSpPr/>
          <p:nvPr/>
        </p:nvSpPr>
        <p:spPr>
          <a:xfrm flipV="1">
            <a:off x="8042148" y="3378708"/>
            <a:ext cx="274320" cy="731520"/>
          </a:xfrm>
          <a:prstGeom prst="line">
            <a:avLst/>
          </a:prstGeom>
          <a:noFill/>
          <a:ln w="16510">
            <a:solidFill>
              <a:srgbClr val="23408E"/>
            </a:solidFill>
            <a:prstDash val="solid"/>
          </a:ln>
        </p:spPr>
      </p:sp>
      <p:sp>
        <p:nvSpPr>
          <p:cNvPr id="19" name="Shape 17"/>
          <p:cNvSpPr/>
          <p:nvPr/>
        </p:nvSpPr>
        <p:spPr>
          <a:xfrm>
            <a:off x="7955280" y="4023360"/>
            <a:ext cx="173736" cy="173736"/>
          </a:xfrm>
          <a:prstGeom prst="ellipse">
            <a:avLst/>
          </a:prstGeom>
          <a:solidFill>
            <a:srgbClr val="B9C2D8"/>
          </a:solidFill>
          <a:ln w="12700">
            <a:solidFill>
              <a:srgbClr val="B9C2D8"/>
            </a:solidFill>
            <a:prstDash val="solid"/>
          </a:ln>
        </p:spPr>
      </p:sp>
      <p:sp>
        <p:nvSpPr>
          <p:cNvPr id="20" name="Shape 18"/>
          <p:cNvSpPr/>
          <p:nvPr/>
        </p:nvSpPr>
        <p:spPr>
          <a:xfrm>
            <a:off x="8316468" y="3378708"/>
            <a:ext cx="274320" cy="731520"/>
          </a:xfrm>
          <a:prstGeom prst="line">
            <a:avLst/>
          </a:prstGeom>
          <a:noFill/>
          <a:ln w="16510">
            <a:solidFill>
              <a:srgbClr val="23408E"/>
            </a:solidFill>
            <a:prstDash val="solid"/>
          </a:ln>
        </p:spPr>
      </p:sp>
      <p:sp>
        <p:nvSpPr>
          <p:cNvPr id="21" name="Shape 19"/>
          <p:cNvSpPr/>
          <p:nvPr/>
        </p:nvSpPr>
        <p:spPr>
          <a:xfrm>
            <a:off x="8503920" y="4023360"/>
            <a:ext cx="173736" cy="173736"/>
          </a:xfrm>
          <a:prstGeom prst="ellipse">
            <a:avLst/>
          </a:prstGeom>
          <a:solidFill>
            <a:srgbClr val="B9C2D8"/>
          </a:solidFill>
          <a:ln w="12700">
            <a:solidFill>
              <a:srgbClr val="B9C2D8"/>
            </a:solidFill>
            <a:prstDash val="solid"/>
          </a:ln>
        </p:spPr>
      </p:sp>
      <p:sp>
        <p:nvSpPr>
          <p:cNvPr id="22" name="Shape 20"/>
          <p:cNvSpPr/>
          <p:nvPr/>
        </p:nvSpPr>
        <p:spPr>
          <a:xfrm>
            <a:off x="9230868" y="2647188"/>
            <a:ext cx="0" cy="731520"/>
          </a:xfrm>
          <a:prstGeom prst="line">
            <a:avLst/>
          </a:prstGeom>
          <a:noFill/>
          <a:ln w="16510">
            <a:solidFill>
              <a:srgbClr val="23408E"/>
            </a:solidFill>
            <a:prstDash val="solid"/>
          </a:ln>
        </p:spPr>
      </p:sp>
      <p:sp>
        <p:nvSpPr>
          <p:cNvPr id="23" name="Shape 21"/>
          <p:cNvSpPr/>
          <p:nvPr/>
        </p:nvSpPr>
        <p:spPr>
          <a:xfrm>
            <a:off x="9144000" y="3291840"/>
            <a:ext cx="173736" cy="173736"/>
          </a:xfrm>
          <a:prstGeom prst="ellipse">
            <a:avLst/>
          </a:prstGeom>
          <a:solidFill>
            <a:srgbClr val="23408E"/>
          </a:solidFill>
          <a:ln w="12700">
            <a:solidFill>
              <a:srgbClr val="23408E"/>
            </a:solidFill>
            <a:prstDash val="solid"/>
          </a:ln>
        </p:spPr>
      </p:sp>
      <p:sp>
        <p:nvSpPr>
          <p:cNvPr id="24" name="Shape 22"/>
          <p:cNvSpPr/>
          <p:nvPr/>
        </p:nvSpPr>
        <p:spPr>
          <a:xfrm flipV="1">
            <a:off x="8956548" y="3378708"/>
            <a:ext cx="274320" cy="731520"/>
          </a:xfrm>
          <a:prstGeom prst="line">
            <a:avLst/>
          </a:prstGeom>
          <a:noFill/>
          <a:ln w="16510">
            <a:solidFill>
              <a:srgbClr val="23408E"/>
            </a:solidFill>
            <a:prstDash val="solid"/>
          </a:ln>
        </p:spPr>
      </p:sp>
      <p:sp>
        <p:nvSpPr>
          <p:cNvPr id="25" name="Shape 23"/>
          <p:cNvSpPr/>
          <p:nvPr/>
        </p:nvSpPr>
        <p:spPr>
          <a:xfrm>
            <a:off x="8869680" y="4023360"/>
            <a:ext cx="173736" cy="173736"/>
          </a:xfrm>
          <a:prstGeom prst="ellipse">
            <a:avLst/>
          </a:prstGeom>
          <a:solidFill>
            <a:srgbClr val="B9C2D8"/>
          </a:solidFill>
          <a:ln w="12700">
            <a:solidFill>
              <a:srgbClr val="B9C2D8"/>
            </a:solidFill>
            <a:prstDash val="solid"/>
          </a:ln>
        </p:spPr>
      </p:sp>
      <p:sp>
        <p:nvSpPr>
          <p:cNvPr id="26" name="Shape 24"/>
          <p:cNvSpPr/>
          <p:nvPr/>
        </p:nvSpPr>
        <p:spPr>
          <a:xfrm>
            <a:off x="9230868" y="3378708"/>
            <a:ext cx="274320" cy="731520"/>
          </a:xfrm>
          <a:prstGeom prst="line">
            <a:avLst/>
          </a:prstGeom>
          <a:noFill/>
          <a:ln w="16510">
            <a:solidFill>
              <a:srgbClr val="23408E"/>
            </a:solidFill>
            <a:prstDash val="solid"/>
          </a:ln>
        </p:spPr>
      </p:sp>
      <p:sp>
        <p:nvSpPr>
          <p:cNvPr id="27" name="Shape 25"/>
          <p:cNvSpPr/>
          <p:nvPr/>
        </p:nvSpPr>
        <p:spPr>
          <a:xfrm>
            <a:off x="9418320" y="4023360"/>
            <a:ext cx="173736" cy="173736"/>
          </a:xfrm>
          <a:prstGeom prst="ellipse">
            <a:avLst/>
          </a:prstGeom>
          <a:solidFill>
            <a:srgbClr val="D98A1F"/>
          </a:solidFill>
          <a:ln w="12700">
            <a:solidFill>
              <a:srgbClr val="D98A1F"/>
            </a:solidFill>
            <a:prstDash val="solid"/>
          </a:ln>
        </p:spPr>
      </p:sp>
      <p:sp>
        <p:nvSpPr>
          <p:cNvPr id="28" name="Shape 26"/>
          <p:cNvSpPr/>
          <p:nvPr/>
        </p:nvSpPr>
        <p:spPr>
          <a:xfrm>
            <a:off x="9230868" y="2647188"/>
            <a:ext cx="914400" cy="731520"/>
          </a:xfrm>
          <a:prstGeom prst="line">
            <a:avLst/>
          </a:prstGeom>
          <a:noFill/>
          <a:ln w="16510">
            <a:solidFill>
              <a:srgbClr val="23408E"/>
            </a:solidFill>
            <a:prstDash val="solid"/>
          </a:ln>
        </p:spPr>
      </p:sp>
      <p:sp>
        <p:nvSpPr>
          <p:cNvPr id="29" name="Shape 27"/>
          <p:cNvSpPr/>
          <p:nvPr/>
        </p:nvSpPr>
        <p:spPr>
          <a:xfrm>
            <a:off x="10058400" y="3291840"/>
            <a:ext cx="173736" cy="173736"/>
          </a:xfrm>
          <a:prstGeom prst="ellipse">
            <a:avLst/>
          </a:prstGeom>
          <a:solidFill>
            <a:srgbClr val="23408E"/>
          </a:solidFill>
          <a:ln w="12700">
            <a:solidFill>
              <a:srgbClr val="23408E"/>
            </a:solidFill>
            <a:prstDash val="solid"/>
          </a:ln>
        </p:spPr>
      </p:sp>
      <p:sp>
        <p:nvSpPr>
          <p:cNvPr id="30" name="Shape 28"/>
          <p:cNvSpPr/>
          <p:nvPr/>
        </p:nvSpPr>
        <p:spPr>
          <a:xfrm flipV="1">
            <a:off x="9870948" y="3378708"/>
            <a:ext cx="274320" cy="731520"/>
          </a:xfrm>
          <a:prstGeom prst="line">
            <a:avLst/>
          </a:prstGeom>
          <a:noFill/>
          <a:ln w="16510">
            <a:solidFill>
              <a:srgbClr val="23408E"/>
            </a:solidFill>
            <a:prstDash val="solid"/>
          </a:ln>
        </p:spPr>
      </p:sp>
      <p:sp>
        <p:nvSpPr>
          <p:cNvPr id="31" name="Shape 29"/>
          <p:cNvSpPr/>
          <p:nvPr/>
        </p:nvSpPr>
        <p:spPr>
          <a:xfrm>
            <a:off x="9784080" y="4023360"/>
            <a:ext cx="173736" cy="173736"/>
          </a:xfrm>
          <a:prstGeom prst="ellipse">
            <a:avLst/>
          </a:prstGeom>
          <a:solidFill>
            <a:srgbClr val="B9C2D8"/>
          </a:solidFill>
          <a:ln w="12700">
            <a:solidFill>
              <a:srgbClr val="B9C2D8"/>
            </a:solidFill>
            <a:prstDash val="solid"/>
          </a:ln>
        </p:spPr>
      </p:sp>
      <p:sp>
        <p:nvSpPr>
          <p:cNvPr id="32" name="Shape 30"/>
          <p:cNvSpPr/>
          <p:nvPr/>
        </p:nvSpPr>
        <p:spPr>
          <a:xfrm>
            <a:off x="10145268" y="3378708"/>
            <a:ext cx="274320" cy="731520"/>
          </a:xfrm>
          <a:prstGeom prst="line">
            <a:avLst/>
          </a:prstGeom>
          <a:noFill/>
          <a:ln w="16510">
            <a:solidFill>
              <a:srgbClr val="23408E"/>
            </a:solidFill>
            <a:prstDash val="solid"/>
          </a:ln>
        </p:spPr>
      </p:sp>
      <p:sp>
        <p:nvSpPr>
          <p:cNvPr id="33" name="Shape 31"/>
          <p:cNvSpPr/>
          <p:nvPr/>
        </p:nvSpPr>
        <p:spPr>
          <a:xfrm>
            <a:off x="10332720" y="4023360"/>
            <a:ext cx="173736" cy="173736"/>
          </a:xfrm>
          <a:prstGeom prst="ellipse">
            <a:avLst/>
          </a:prstGeom>
          <a:solidFill>
            <a:srgbClr val="B9C2D8"/>
          </a:solidFill>
          <a:ln w="12700">
            <a:solidFill>
              <a:srgbClr val="B9C2D8"/>
            </a:solidFill>
            <a:prstDash val="solid"/>
          </a:ln>
        </p:spPr>
      </p:sp>
      <p:sp>
        <p:nvSpPr>
          <p:cNvPr id="34" name="Text 32"/>
          <p:cNvSpPr txBox="1"/>
          <p:nvPr/>
        </p:nvSpPr>
        <p:spPr>
          <a:xfrm>
            <a:off x="7178040" y="4526280"/>
            <a:ext cx="4114800" cy="548640"/>
          </a:xfrm>
          <a:prstGeom prst="rect">
            <a:avLst/>
          </a:prstGeom>
          <a:noFill/>
          <a:ln/>
        </p:spPr>
        <p:txBody>
          <a:bodyPr wrap="square" lIns="0" tIns="0" rIns="0" bIns="0" rtlCol="0" anchor="ctr"/>
          <a:lstStyle/>
          <a:p>
            <a:pPr indent="0" marL="0">
              <a:buNone/>
            </a:pPr>
            <a:r>
              <a:rPr lang="en-US" sz="950" i="1" dirty="0">
                <a:solidFill>
                  <a:srgbClr val="63697A"/>
                </a:solidFill>
                <a:latin typeface="Montserrat" pitchFamily="34" charset="0"/>
                <a:ea typeface="Montserrat" pitchFamily="34" charset="-122"/>
                <a:cs typeface="Montserrat" pitchFamily="34" charset="-120"/>
              </a:rPr>
              <a:t>Only one root-to-leaf path reaches the answer; the remainder of the tree is discarded.</a:t>
            </a:r>
            <a:endParaRPr lang="en-US" sz="950" dirty="0"/>
          </a:p>
        </p:txBody>
      </p:sp>
      <p:sp>
        <p:nvSpPr>
          <p:cNvPr id="35" name="Text 33"/>
          <p:cNvSpPr txBox="1"/>
          <p:nvPr/>
        </p:nvSpPr>
        <p:spPr>
          <a:xfrm>
            <a:off x="4206240" y="6217920"/>
            <a:ext cx="7498080" cy="274320"/>
          </a:xfrm>
          <a:prstGeom prst="rect">
            <a:avLst/>
          </a:prstGeom>
          <a:noFill/>
          <a:ln/>
        </p:spPr>
        <p:txBody>
          <a:bodyPr wrap="square" lIns="0" tIns="0" rIns="0" bIns="0" rtlCol="0" anchor="ctr"/>
          <a:lstStyle/>
          <a:p>
            <a:pPr algn="r" indent="0" marL="0">
              <a:buNone/>
            </a:pPr>
            <a:r>
              <a:rPr lang="en-US" sz="1050" i="1" dirty="0">
                <a:solidFill>
                  <a:srgbClr val="63697A"/>
                </a:solidFill>
                <a:latin typeface="Montserrat" pitchFamily="34" charset="0"/>
                <a:ea typeface="Montserrat" pitchFamily="34" charset="-122"/>
                <a:cs typeface="Montserrat" pitchFamily="34" charset="-120"/>
              </a:rPr>
              <a:t>Yao et al., NeurIPS 2023, arXiv:2305.10601</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Study Summaries</a:t>
            </a:r>
            <a:endParaRPr lang="en-US" sz="3000" dirty="0"/>
          </a:p>
        </p:txBody>
      </p:sp>
      <p:sp>
        <p:nvSpPr>
          <p:cNvPr id="7" name="Shape 5"/>
          <p:cNvSpPr/>
          <p:nvPr/>
        </p:nvSpPr>
        <p:spPr>
          <a:xfrm>
            <a:off x="621792" y="914400"/>
            <a:ext cx="51206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56875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Paper 3 : Graph of Thoughts - Solving Elaborate Problems with Large Language Models</a:t>
            </a:r>
            <a:endParaRPr lang="en-US" sz="1550" dirty="0"/>
          </a:p>
        </p:txBody>
      </p:sp>
      <p:sp>
        <p:nvSpPr>
          <p:cNvPr id="11" name="Text 9"/>
          <p:cNvSpPr txBox="1"/>
          <p:nvPr/>
        </p:nvSpPr>
        <p:spPr>
          <a:xfrm>
            <a:off x="685800" y="1499616"/>
            <a:ext cx="10058400" cy="256032"/>
          </a:xfrm>
          <a:prstGeom prst="rect">
            <a:avLst/>
          </a:prstGeom>
          <a:noFill/>
          <a:ln/>
        </p:spPr>
        <p:txBody>
          <a:bodyPr wrap="square" lIns="0" tIns="0" rIns="0" bIns="0" rtlCol="0" anchor="ctr"/>
          <a:lstStyle/>
          <a:p>
            <a:pPr indent="0" marL="0">
              <a:buNone/>
            </a:pPr>
            <a:r>
              <a:rPr lang="en-US" sz="1100" i="1" dirty="0">
                <a:solidFill>
                  <a:srgbClr val="D98A1F"/>
                </a:solidFill>
                <a:latin typeface="Montserrat" pitchFamily="34" charset="0"/>
                <a:ea typeface="Montserrat" pitchFamily="34" charset="-122"/>
                <a:cs typeface="Montserrat" pitchFamily="34" charset="-120"/>
              </a:rPr>
              <a:t>( Graph structure - our baseline, and the object we compress )</a:t>
            </a:r>
            <a:endParaRPr lang="en-US" sz="1100" dirty="0"/>
          </a:p>
        </p:txBody>
      </p:sp>
      <p:sp>
        <p:nvSpPr>
          <p:cNvPr id="12" name="Text 10"/>
          <p:cNvSpPr txBox="1"/>
          <p:nvPr/>
        </p:nvSpPr>
        <p:spPr>
          <a:xfrm>
            <a:off x="685800" y="1920240"/>
            <a:ext cx="5943600" cy="2743200"/>
          </a:xfrm>
          <a:prstGeom prst="rect">
            <a:avLst/>
          </a:prstGeom>
          <a:noFill/>
          <a:ln/>
        </p:spPr>
        <p:txBody>
          <a:bodyPr wrap="square" lIns="0" tIns="0" rIns="0" bIns="0" rtlCol="0" anchor="ctr"/>
          <a:lstStyle/>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Reasoning is a directed graph: vertices are thoughts, and an edge (a,b) means a's text was the direct input that produced b.</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Aggregation merges k thoughts into one, creating a vertex of in-degree k &gt; 1 - which a tree cannot contain, by definition.</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Reported gains of 62% in sorting quality over ToT with a 31% cost reduction, on ChatGPT-3.5.</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Latency log-k N at volume N: the only scheme where every computed thought retains a causal path to the answer.</a:t>
            </a:r>
            <a:endParaRPr lang="en-US" sz="1400" dirty="0"/>
          </a:p>
        </p:txBody>
      </p:sp>
      <p:sp>
        <p:nvSpPr>
          <p:cNvPr id="13" name="Shape 11"/>
          <p:cNvSpPr/>
          <p:nvPr/>
        </p:nvSpPr>
        <p:spPr>
          <a:xfrm>
            <a:off x="6949440" y="1920240"/>
            <a:ext cx="4572000" cy="3383280"/>
          </a:xfrm>
          <a:prstGeom prst="roundRect">
            <a:avLst>
              <a:gd name="adj" fmla="val 1351"/>
            </a:avLst>
          </a:prstGeom>
          <a:solidFill>
            <a:srgbClr val="FDF3E3"/>
          </a:solidFill>
          <a:ln w="12700">
            <a:solidFill>
              <a:srgbClr val="D8DEEC"/>
            </a:solidFill>
            <a:prstDash val="solid"/>
          </a:ln>
        </p:spPr>
      </p:sp>
      <p:sp>
        <p:nvSpPr>
          <p:cNvPr id="14" name="Text 12"/>
          <p:cNvSpPr txBox="1"/>
          <p:nvPr/>
        </p:nvSpPr>
        <p:spPr>
          <a:xfrm>
            <a:off x="7178040" y="2066544"/>
            <a:ext cx="4114800" cy="256032"/>
          </a:xfrm>
          <a:prstGeom prst="rect">
            <a:avLst/>
          </a:prstGeom>
          <a:noFill/>
          <a:ln/>
        </p:spPr>
        <p:txBody>
          <a:bodyPr wrap="square" lIns="0" tIns="0" rIns="0" bIns="0" rtlCol="0" anchor="ctr"/>
          <a:lstStyle/>
          <a:p>
            <a:pPr indent="0" marL="0">
              <a:buNone/>
            </a:pPr>
            <a:r>
              <a:rPr lang="en-US" sz="1200" b="1" dirty="0">
                <a:solidFill>
                  <a:srgbClr val="D98A1F"/>
                </a:solidFill>
                <a:latin typeface="Montserrat" pitchFamily="34" charset="0"/>
                <a:ea typeface="Montserrat" pitchFamily="34" charset="-122"/>
                <a:cs typeface="Montserrat" pitchFamily="34" charset="-120"/>
              </a:rPr>
              <a:t>Structure - merge sort executed by an LLM</a:t>
            </a:r>
            <a:endParaRPr lang="en-US" sz="1200" dirty="0"/>
          </a:p>
        </p:txBody>
      </p:sp>
      <p:sp>
        <p:nvSpPr>
          <p:cNvPr id="15" name="Shape 13"/>
          <p:cNvSpPr/>
          <p:nvPr/>
        </p:nvSpPr>
        <p:spPr>
          <a:xfrm flipV="1">
            <a:off x="8174736" y="2642616"/>
            <a:ext cx="1097280" cy="594360"/>
          </a:xfrm>
          <a:prstGeom prst="line">
            <a:avLst/>
          </a:prstGeom>
          <a:noFill/>
          <a:ln w="13970">
            <a:solidFill>
              <a:srgbClr val="AEB6C9"/>
            </a:solidFill>
            <a:prstDash val="solid"/>
          </a:ln>
        </p:spPr>
      </p:sp>
      <p:sp>
        <p:nvSpPr>
          <p:cNvPr id="16" name="Shape 14"/>
          <p:cNvSpPr/>
          <p:nvPr/>
        </p:nvSpPr>
        <p:spPr>
          <a:xfrm flipV="1">
            <a:off x="8906256" y="2642616"/>
            <a:ext cx="365760" cy="594360"/>
          </a:xfrm>
          <a:prstGeom prst="line">
            <a:avLst/>
          </a:prstGeom>
          <a:noFill/>
          <a:ln w="13970">
            <a:solidFill>
              <a:srgbClr val="AEB6C9"/>
            </a:solidFill>
            <a:prstDash val="solid"/>
          </a:ln>
        </p:spPr>
      </p:sp>
      <p:sp>
        <p:nvSpPr>
          <p:cNvPr id="17" name="Shape 15"/>
          <p:cNvSpPr/>
          <p:nvPr/>
        </p:nvSpPr>
        <p:spPr>
          <a:xfrm>
            <a:off x="9272016" y="2642616"/>
            <a:ext cx="365760" cy="594360"/>
          </a:xfrm>
          <a:prstGeom prst="line">
            <a:avLst/>
          </a:prstGeom>
          <a:noFill/>
          <a:ln w="13970">
            <a:solidFill>
              <a:srgbClr val="AEB6C9"/>
            </a:solidFill>
            <a:prstDash val="solid"/>
          </a:ln>
        </p:spPr>
      </p:sp>
      <p:sp>
        <p:nvSpPr>
          <p:cNvPr id="18" name="Shape 16"/>
          <p:cNvSpPr/>
          <p:nvPr/>
        </p:nvSpPr>
        <p:spPr>
          <a:xfrm>
            <a:off x="9272016" y="2642616"/>
            <a:ext cx="1097280" cy="594360"/>
          </a:xfrm>
          <a:prstGeom prst="line">
            <a:avLst/>
          </a:prstGeom>
          <a:noFill/>
          <a:ln w="13970">
            <a:solidFill>
              <a:srgbClr val="AEB6C9"/>
            </a:solidFill>
            <a:prstDash val="solid"/>
          </a:ln>
        </p:spPr>
      </p:sp>
      <p:sp>
        <p:nvSpPr>
          <p:cNvPr id="19" name="Shape 17"/>
          <p:cNvSpPr/>
          <p:nvPr/>
        </p:nvSpPr>
        <p:spPr>
          <a:xfrm>
            <a:off x="8174736" y="3236976"/>
            <a:ext cx="365760" cy="685800"/>
          </a:xfrm>
          <a:prstGeom prst="line">
            <a:avLst/>
          </a:prstGeom>
          <a:noFill/>
          <a:ln w="21590">
            <a:solidFill>
              <a:srgbClr val="D98A1F"/>
            </a:solidFill>
            <a:prstDash val="solid"/>
          </a:ln>
        </p:spPr>
      </p:sp>
      <p:sp>
        <p:nvSpPr>
          <p:cNvPr id="20" name="Shape 18"/>
          <p:cNvSpPr/>
          <p:nvPr/>
        </p:nvSpPr>
        <p:spPr>
          <a:xfrm flipV="1">
            <a:off x="8540496" y="3236976"/>
            <a:ext cx="365760" cy="685800"/>
          </a:xfrm>
          <a:prstGeom prst="line">
            <a:avLst/>
          </a:prstGeom>
          <a:noFill/>
          <a:ln w="21590">
            <a:solidFill>
              <a:srgbClr val="D98A1F"/>
            </a:solidFill>
            <a:prstDash val="solid"/>
          </a:ln>
        </p:spPr>
      </p:sp>
      <p:sp>
        <p:nvSpPr>
          <p:cNvPr id="21" name="Shape 19"/>
          <p:cNvSpPr/>
          <p:nvPr/>
        </p:nvSpPr>
        <p:spPr>
          <a:xfrm>
            <a:off x="9637776" y="3236976"/>
            <a:ext cx="365760" cy="685800"/>
          </a:xfrm>
          <a:prstGeom prst="line">
            <a:avLst/>
          </a:prstGeom>
          <a:noFill/>
          <a:ln w="21590">
            <a:solidFill>
              <a:srgbClr val="D98A1F"/>
            </a:solidFill>
            <a:prstDash val="solid"/>
          </a:ln>
        </p:spPr>
      </p:sp>
      <p:sp>
        <p:nvSpPr>
          <p:cNvPr id="22" name="Shape 20"/>
          <p:cNvSpPr/>
          <p:nvPr/>
        </p:nvSpPr>
        <p:spPr>
          <a:xfrm flipV="1">
            <a:off x="10003536" y="3236976"/>
            <a:ext cx="365760" cy="685800"/>
          </a:xfrm>
          <a:prstGeom prst="line">
            <a:avLst/>
          </a:prstGeom>
          <a:noFill/>
          <a:ln w="21590">
            <a:solidFill>
              <a:srgbClr val="D98A1F"/>
            </a:solidFill>
            <a:prstDash val="solid"/>
          </a:ln>
        </p:spPr>
      </p:sp>
      <p:sp>
        <p:nvSpPr>
          <p:cNvPr id="23" name="Shape 21"/>
          <p:cNvSpPr/>
          <p:nvPr/>
        </p:nvSpPr>
        <p:spPr>
          <a:xfrm>
            <a:off x="8540496" y="3922776"/>
            <a:ext cx="731520" cy="685800"/>
          </a:xfrm>
          <a:prstGeom prst="line">
            <a:avLst/>
          </a:prstGeom>
          <a:noFill/>
          <a:ln w="21590">
            <a:solidFill>
              <a:srgbClr val="D98A1F"/>
            </a:solidFill>
            <a:prstDash val="solid"/>
          </a:ln>
        </p:spPr>
      </p:sp>
      <p:sp>
        <p:nvSpPr>
          <p:cNvPr id="24" name="Shape 22"/>
          <p:cNvSpPr/>
          <p:nvPr/>
        </p:nvSpPr>
        <p:spPr>
          <a:xfrm flipV="1">
            <a:off x="9272016" y="3922776"/>
            <a:ext cx="731520" cy="685800"/>
          </a:xfrm>
          <a:prstGeom prst="line">
            <a:avLst/>
          </a:prstGeom>
          <a:noFill/>
          <a:ln w="21590">
            <a:solidFill>
              <a:srgbClr val="D98A1F"/>
            </a:solidFill>
            <a:prstDash val="solid"/>
          </a:ln>
        </p:spPr>
      </p:sp>
      <p:sp>
        <p:nvSpPr>
          <p:cNvPr id="25" name="Shape 23"/>
          <p:cNvSpPr/>
          <p:nvPr/>
        </p:nvSpPr>
        <p:spPr>
          <a:xfrm>
            <a:off x="9189720" y="2560320"/>
            <a:ext cx="164592" cy="164592"/>
          </a:xfrm>
          <a:prstGeom prst="ellipse">
            <a:avLst/>
          </a:prstGeom>
          <a:solidFill>
            <a:srgbClr val="23408E"/>
          </a:solidFill>
          <a:ln w="12700">
            <a:solidFill>
              <a:srgbClr val="23408E"/>
            </a:solidFill>
            <a:prstDash val="solid"/>
          </a:ln>
        </p:spPr>
      </p:sp>
      <p:sp>
        <p:nvSpPr>
          <p:cNvPr id="26" name="Shape 24"/>
          <p:cNvSpPr/>
          <p:nvPr/>
        </p:nvSpPr>
        <p:spPr>
          <a:xfrm>
            <a:off x="8092440" y="3154680"/>
            <a:ext cx="164592" cy="164592"/>
          </a:xfrm>
          <a:prstGeom prst="ellipse">
            <a:avLst/>
          </a:prstGeom>
          <a:solidFill>
            <a:srgbClr val="23408E"/>
          </a:solidFill>
          <a:ln w="12700">
            <a:solidFill>
              <a:srgbClr val="23408E"/>
            </a:solidFill>
            <a:prstDash val="solid"/>
          </a:ln>
        </p:spPr>
      </p:sp>
      <p:sp>
        <p:nvSpPr>
          <p:cNvPr id="27" name="Shape 25"/>
          <p:cNvSpPr/>
          <p:nvPr/>
        </p:nvSpPr>
        <p:spPr>
          <a:xfrm>
            <a:off x="8823960" y="3154680"/>
            <a:ext cx="164592" cy="164592"/>
          </a:xfrm>
          <a:prstGeom prst="ellipse">
            <a:avLst/>
          </a:prstGeom>
          <a:solidFill>
            <a:srgbClr val="23408E"/>
          </a:solidFill>
          <a:ln w="12700">
            <a:solidFill>
              <a:srgbClr val="23408E"/>
            </a:solidFill>
            <a:prstDash val="solid"/>
          </a:ln>
        </p:spPr>
      </p:sp>
      <p:sp>
        <p:nvSpPr>
          <p:cNvPr id="28" name="Shape 26"/>
          <p:cNvSpPr/>
          <p:nvPr/>
        </p:nvSpPr>
        <p:spPr>
          <a:xfrm>
            <a:off x="9555480" y="3154680"/>
            <a:ext cx="164592" cy="164592"/>
          </a:xfrm>
          <a:prstGeom prst="ellipse">
            <a:avLst/>
          </a:prstGeom>
          <a:solidFill>
            <a:srgbClr val="23408E"/>
          </a:solidFill>
          <a:ln w="12700">
            <a:solidFill>
              <a:srgbClr val="23408E"/>
            </a:solidFill>
            <a:prstDash val="solid"/>
          </a:ln>
        </p:spPr>
      </p:sp>
      <p:sp>
        <p:nvSpPr>
          <p:cNvPr id="29" name="Shape 27"/>
          <p:cNvSpPr/>
          <p:nvPr/>
        </p:nvSpPr>
        <p:spPr>
          <a:xfrm>
            <a:off x="10287000" y="3154680"/>
            <a:ext cx="164592" cy="164592"/>
          </a:xfrm>
          <a:prstGeom prst="ellipse">
            <a:avLst/>
          </a:prstGeom>
          <a:solidFill>
            <a:srgbClr val="23408E"/>
          </a:solidFill>
          <a:ln w="12700">
            <a:solidFill>
              <a:srgbClr val="23408E"/>
            </a:solidFill>
            <a:prstDash val="solid"/>
          </a:ln>
        </p:spPr>
      </p:sp>
      <p:sp>
        <p:nvSpPr>
          <p:cNvPr id="30" name="Shape 28"/>
          <p:cNvSpPr/>
          <p:nvPr/>
        </p:nvSpPr>
        <p:spPr>
          <a:xfrm>
            <a:off x="8458200" y="3840480"/>
            <a:ext cx="164592" cy="164592"/>
          </a:xfrm>
          <a:prstGeom prst="ellipse">
            <a:avLst/>
          </a:prstGeom>
          <a:solidFill>
            <a:srgbClr val="D98A1F"/>
          </a:solidFill>
          <a:ln w="12700">
            <a:solidFill>
              <a:srgbClr val="D98A1F"/>
            </a:solidFill>
            <a:prstDash val="solid"/>
          </a:ln>
        </p:spPr>
      </p:sp>
      <p:sp>
        <p:nvSpPr>
          <p:cNvPr id="31" name="Shape 29"/>
          <p:cNvSpPr/>
          <p:nvPr/>
        </p:nvSpPr>
        <p:spPr>
          <a:xfrm>
            <a:off x="9921240" y="3840480"/>
            <a:ext cx="164592" cy="164592"/>
          </a:xfrm>
          <a:prstGeom prst="ellipse">
            <a:avLst/>
          </a:prstGeom>
          <a:solidFill>
            <a:srgbClr val="D98A1F"/>
          </a:solidFill>
          <a:ln w="12700">
            <a:solidFill>
              <a:srgbClr val="D98A1F"/>
            </a:solidFill>
            <a:prstDash val="solid"/>
          </a:ln>
        </p:spPr>
      </p:sp>
      <p:sp>
        <p:nvSpPr>
          <p:cNvPr id="32" name="Shape 30"/>
          <p:cNvSpPr/>
          <p:nvPr/>
        </p:nvSpPr>
        <p:spPr>
          <a:xfrm>
            <a:off x="9189720" y="4526280"/>
            <a:ext cx="164592" cy="164592"/>
          </a:xfrm>
          <a:prstGeom prst="ellipse">
            <a:avLst/>
          </a:prstGeom>
          <a:solidFill>
            <a:srgbClr val="D98A1F"/>
          </a:solidFill>
          <a:ln w="12700">
            <a:solidFill>
              <a:srgbClr val="D98A1F"/>
            </a:solidFill>
            <a:prstDash val="solid"/>
          </a:ln>
        </p:spPr>
      </p:sp>
      <p:sp>
        <p:nvSpPr>
          <p:cNvPr id="33" name="Text 31"/>
          <p:cNvSpPr txBox="1"/>
          <p:nvPr/>
        </p:nvSpPr>
        <p:spPr>
          <a:xfrm>
            <a:off x="7178040" y="4919472"/>
            <a:ext cx="4114800" cy="256032"/>
          </a:xfrm>
          <a:prstGeom prst="rect">
            <a:avLst/>
          </a:prstGeom>
          <a:noFill/>
          <a:ln/>
        </p:spPr>
        <p:txBody>
          <a:bodyPr wrap="square" lIns="0" tIns="0" rIns="0" bIns="0" rtlCol="0" anchor="ctr"/>
          <a:lstStyle/>
          <a:p>
            <a:pPr algn="ctr" indent="0" marL="0">
              <a:buNone/>
            </a:pPr>
            <a:r>
              <a:rPr lang="en-US" sz="1300" dirty="0">
                <a:solidFill>
                  <a:srgbClr val="16181D"/>
                </a:solidFill>
                <a:latin typeface="Montserrat" pitchFamily="34" charset="0"/>
                <a:ea typeface="Montserrat" pitchFamily="34" charset="-122"/>
                <a:cs typeface="Montserrat" pitchFamily="34" charset="-120"/>
              </a:rPr>
              <a:t>split  -&gt;  sort chunks  -&gt;  merge  -&gt;  merge</a:t>
            </a:r>
            <a:endParaRPr lang="en-US" sz="1300" dirty="0"/>
          </a:p>
        </p:txBody>
      </p:sp>
      <p:sp>
        <p:nvSpPr>
          <p:cNvPr id="34" name="Text 32"/>
          <p:cNvSpPr txBox="1"/>
          <p:nvPr/>
        </p:nvSpPr>
        <p:spPr>
          <a:xfrm>
            <a:off x="4206240" y="6217920"/>
            <a:ext cx="7498080" cy="274320"/>
          </a:xfrm>
          <a:prstGeom prst="rect">
            <a:avLst/>
          </a:prstGeom>
          <a:noFill/>
          <a:ln/>
        </p:spPr>
        <p:txBody>
          <a:bodyPr wrap="square" lIns="0" tIns="0" rIns="0" bIns="0" rtlCol="0" anchor="ctr"/>
          <a:lstStyle/>
          <a:p>
            <a:pPr algn="r" indent="0" marL="0">
              <a:buNone/>
            </a:pPr>
            <a:r>
              <a:rPr lang="en-US" sz="1050" i="1" dirty="0">
                <a:solidFill>
                  <a:srgbClr val="63697A"/>
                </a:solidFill>
                <a:latin typeface="Montserrat" pitchFamily="34" charset="0"/>
                <a:ea typeface="Montserrat" pitchFamily="34" charset="-122"/>
                <a:cs typeface="Montserrat" pitchFamily="34" charset="-120"/>
              </a:rPr>
              <a:t>Besta et al., AAAI 2024, arXiv:2308.09687</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Study Summaries</a:t>
            </a:r>
            <a:endParaRPr lang="en-US" sz="3000" dirty="0"/>
          </a:p>
        </p:txBody>
      </p:sp>
      <p:sp>
        <p:nvSpPr>
          <p:cNvPr id="7" name="Shape 5"/>
          <p:cNvSpPr/>
          <p:nvPr/>
        </p:nvSpPr>
        <p:spPr>
          <a:xfrm>
            <a:off x="621792" y="914400"/>
            <a:ext cx="51206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56875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Paper 4 : Compression of Chain-of-Thought Reasoning</a:t>
            </a:r>
            <a:endParaRPr lang="en-US" sz="1550" dirty="0"/>
          </a:p>
        </p:txBody>
      </p:sp>
      <p:sp>
        <p:nvSpPr>
          <p:cNvPr id="11" name="Text 9"/>
          <p:cNvSpPr txBox="1"/>
          <p:nvPr/>
        </p:nvSpPr>
        <p:spPr>
          <a:xfrm>
            <a:off x="685800" y="1499616"/>
            <a:ext cx="10058400" cy="256032"/>
          </a:xfrm>
          <a:prstGeom prst="rect">
            <a:avLst/>
          </a:prstGeom>
          <a:noFill/>
          <a:ln/>
        </p:spPr>
        <p:txBody>
          <a:bodyPr wrap="square" lIns="0" tIns="0" rIns="0" bIns="0" rtlCol="0" anchor="ctr"/>
          <a:lstStyle/>
          <a:p>
            <a:pPr indent="0" marL="0">
              <a:buNone/>
            </a:pPr>
            <a:r>
              <a:rPr lang="en-US" sz="1250" i="1" dirty="0">
                <a:solidFill>
                  <a:srgbClr val="63697A"/>
                </a:solidFill>
                <a:latin typeface="Montserrat" pitchFamily="34" charset="0"/>
                <a:ea typeface="Montserrat" pitchFamily="34" charset="-122"/>
                <a:cs typeface="Montserrat" pitchFamily="34" charset="-120"/>
              </a:rPr>
              <a:t>( The literature we borrow from - all of it operates on a single chain )</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1920240"/>
          <a:ext cx="6858000" cy="914400"/>
        </p:xfrm>
        <a:graphic>
          <a:graphicData uri="http://schemas.openxmlformats.org/drawingml/2006/table">
            <a:tbl>
              <a:tblPr/>
              <a:tblGrid>
                <a:gridCol w="1554480"/>
                <a:gridCol w="2651760"/>
                <a:gridCol w="2651760"/>
              </a:tblGrid>
              <a:tr h="512064">
                <a:tc>
                  <a:txBody>
                    <a:bodyPr/>
                    <a:lstStyle/>
                    <a:p>
                      <a:pPr indent="0" marL="0">
                        <a:buNone/>
                      </a:pPr>
                      <a:r>
                        <a:rPr lang="en-US" sz="1150" b="1" dirty="0">
                          <a:solidFill>
                            <a:srgbClr val="FFFFFF"/>
                          </a:solidFill>
                          <a:latin typeface="Montserrat" pitchFamily="34" charset="0"/>
                          <a:ea typeface="Montserrat" pitchFamily="34" charset="-122"/>
                          <a:cs typeface="Montserrat" pitchFamily="34" charset="-120"/>
                        </a:rPr>
                        <a:t>Method</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150" b="1" dirty="0">
                          <a:solidFill>
                            <a:srgbClr val="FFFFFF"/>
                          </a:solidFill>
                          <a:latin typeface="Montserrat" pitchFamily="34" charset="0"/>
                          <a:ea typeface="Montserrat" pitchFamily="34" charset="-122"/>
                          <a:cs typeface="Montserrat" pitchFamily="34" charset="-120"/>
                        </a:rPr>
                        <a:t>Mechanism</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150" b="1" dirty="0">
                          <a:solidFill>
                            <a:srgbClr val="FFFFFF"/>
                          </a:solidFill>
                          <a:latin typeface="Montserrat" pitchFamily="34" charset="0"/>
                          <a:ea typeface="Montserrat" pitchFamily="34" charset="-122"/>
                          <a:cs typeface="Montserrat" pitchFamily="34" charset="-120"/>
                        </a:rPr>
                        <a:t>Reported effect</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r>
              <a:tr h="512064">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Chain of Draft</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Cap each reasoning step to a few words</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~7.6% of CoT tokens, accuracy retained</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512064">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TokenSkip</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Prune low-utility tokens from the chain</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Controllable compression ratio</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512064">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Coconut</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Feed the hidden state back instead of decoding</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Reasoning without emitting text tokens</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512064">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Token budgeting</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Allocate a budget per step by difficulty</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Adaptive depth, less overthinking</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bl>
          </a:graphicData>
        </a:graphic>
      </p:graphicFrame>
      <p:sp>
        <p:nvSpPr>
          <p:cNvPr id="13" name="Text 10"/>
          <p:cNvSpPr txBox="1"/>
          <p:nvPr/>
        </p:nvSpPr>
        <p:spPr>
          <a:xfrm>
            <a:off x="685800" y="4343400"/>
            <a:ext cx="6858000" cy="1188720"/>
          </a:xfrm>
          <a:prstGeom prst="rect">
            <a:avLst/>
          </a:prstGeom>
          <a:noFill/>
          <a:ln/>
        </p:spPr>
        <p:txBody>
          <a:bodyPr wrap="square" lIns="0" tIns="0" rIns="0" bIns="0" rtlCol="0" anchor="ctr"/>
          <a:lstStyle/>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Every method above shortens the CONTENT of a reasoning step.</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None reduces the NUMBER of steps, because a chain has no structure to remove.</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A graph does - and that is the gap this project occupies.</a:t>
            </a:r>
            <a:endParaRPr lang="en-US" sz="1400" dirty="0"/>
          </a:p>
        </p:txBody>
      </p:sp>
      <p:sp>
        <p:nvSpPr>
          <p:cNvPr id="14" name="Shape 11"/>
          <p:cNvSpPr/>
          <p:nvPr/>
        </p:nvSpPr>
        <p:spPr>
          <a:xfrm>
            <a:off x="7863840" y="1920240"/>
            <a:ext cx="3657600" cy="3657600"/>
          </a:xfrm>
          <a:prstGeom prst="roundRect">
            <a:avLst>
              <a:gd name="adj" fmla="val 1250"/>
            </a:avLst>
          </a:prstGeom>
          <a:solidFill>
            <a:srgbClr val="F4F6FB"/>
          </a:solidFill>
          <a:ln w="12700">
            <a:solidFill>
              <a:srgbClr val="D8DEEC"/>
            </a:solidFill>
            <a:prstDash val="solid"/>
          </a:ln>
        </p:spPr>
      </p:sp>
      <p:sp>
        <p:nvSpPr>
          <p:cNvPr id="15" name="Text 12"/>
          <p:cNvSpPr txBox="1"/>
          <p:nvPr/>
        </p:nvSpPr>
        <p:spPr>
          <a:xfrm>
            <a:off x="8092440" y="2084832"/>
            <a:ext cx="3200400" cy="274320"/>
          </a:xfrm>
          <a:prstGeom prst="rect">
            <a:avLst/>
          </a:prstGeom>
          <a:noFill/>
          <a:ln/>
        </p:spPr>
        <p:txBody>
          <a:bodyPr wrap="square" lIns="0" tIns="0" rIns="0" bIns="0" rtlCol="0" anchor="ctr"/>
          <a:lstStyle/>
          <a:p>
            <a:pPr indent="0" marL="0">
              <a:buNone/>
            </a:pPr>
            <a:r>
              <a:rPr lang="en-US" sz="1350" b="1" dirty="0">
                <a:solidFill>
                  <a:srgbClr val="23408E"/>
                </a:solidFill>
                <a:latin typeface="Montserrat" pitchFamily="34" charset="0"/>
                <a:ea typeface="Montserrat" pitchFamily="34" charset="-122"/>
                <a:cs typeface="Montserrat" pitchFamily="34" charset="-120"/>
              </a:rPr>
              <a:t>Two independent factors</a:t>
            </a:r>
            <a:endParaRPr lang="en-US" sz="1350" dirty="0"/>
          </a:p>
        </p:txBody>
      </p:sp>
      <p:sp>
        <p:nvSpPr>
          <p:cNvPr id="16" name="Text 13"/>
          <p:cNvSpPr txBox="1"/>
          <p:nvPr/>
        </p:nvSpPr>
        <p:spPr>
          <a:xfrm>
            <a:off x="8092440" y="2450592"/>
            <a:ext cx="3200400" cy="310896"/>
          </a:xfrm>
          <a:prstGeom prst="rect">
            <a:avLst/>
          </a:prstGeom>
          <a:noFill/>
          <a:ln/>
        </p:spPr>
        <p:txBody>
          <a:bodyPr wrap="square" lIns="0" tIns="0" rIns="0" bIns="0" rtlCol="0" anchor="ctr"/>
          <a:lstStyle/>
          <a:p>
            <a:pPr indent="0" marL="0">
              <a:buNone/>
            </a:pPr>
            <a:r>
              <a:rPr lang="en-US" sz="1150" b="1" dirty="0">
                <a:solidFill>
                  <a:srgbClr val="D98A1F"/>
                </a:solidFill>
                <a:latin typeface="Montserrat" pitchFamily="34" charset="0"/>
                <a:ea typeface="Montserrat" pitchFamily="34" charset="-122"/>
                <a:cs typeface="Montserrat" pitchFamily="34" charset="-120"/>
              </a:rPr>
              <a:t>cost  =  |V|  x  tokens/vertex</a:t>
            </a:r>
            <a:endParaRPr lang="en-US" sz="1150" dirty="0"/>
          </a:p>
        </p:txBody>
      </p:sp>
      <p:sp>
        <p:nvSpPr>
          <p:cNvPr id="17" name="Shape 14"/>
          <p:cNvSpPr/>
          <p:nvPr/>
        </p:nvSpPr>
        <p:spPr>
          <a:xfrm>
            <a:off x="8641080" y="2779776"/>
            <a:ext cx="0" cy="777240"/>
          </a:xfrm>
          <a:prstGeom prst="line">
            <a:avLst/>
          </a:prstGeom>
          <a:noFill/>
          <a:ln w="20320">
            <a:solidFill>
              <a:srgbClr val="D98A1F"/>
            </a:solidFill>
            <a:prstDash val="solid"/>
          </a:ln>
        </p:spPr>
      </p:sp>
      <p:sp>
        <p:nvSpPr>
          <p:cNvPr id="18" name="Shape 15"/>
          <p:cNvSpPr/>
          <p:nvPr/>
        </p:nvSpPr>
        <p:spPr>
          <a:xfrm>
            <a:off x="10332720" y="2779776"/>
            <a:ext cx="0" cy="365760"/>
          </a:xfrm>
          <a:prstGeom prst="line">
            <a:avLst/>
          </a:prstGeom>
          <a:noFill/>
          <a:ln w="20320">
            <a:solidFill>
              <a:srgbClr val="0F7B6C"/>
            </a:solidFill>
            <a:prstDash val="solid"/>
          </a:ln>
        </p:spPr>
      </p:sp>
      <p:sp>
        <p:nvSpPr>
          <p:cNvPr id="19" name="Text 16"/>
          <p:cNvSpPr txBox="1"/>
          <p:nvPr/>
        </p:nvSpPr>
        <p:spPr>
          <a:xfrm>
            <a:off x="8092440" y="3584448"/>
            <a:ext cx="1737360" cy="548640"/>
          </a:xfrm>
          <a:prstGeom prst="rect">
            <a:avLst/>
          </a:prstGeom>
          <a:noFill/>
          <a:ln/>
        </p:spPr>
        <p:txBody>
          <a:bodyPr wrap="square" lIns="0" tIns="0" rIns="0" bIns="0" rtlCol="0" anchor="ctr"/>
          <a:lstStyle/>
          <a:p>
            <a:pPr indent="0" marL="0">
              <a:buNone/>
            </a:pPr>
            <a:r>
              <a:rPr lang="en-US" sz="950" dirty="0">
                <a:solidFill>
                  <a:srgbClr val="D98A1F"/>
                </a:solidFill>
                <a:latin typeface="Montserrat" pitchFamily="34" charset="0"/>
                <a:ea typeface="Montserrat" pitchFamily="34" charset="-122"/>
                <a:cs typeface="Montserrat" pitchFamily="34" charset="-120"/>
              </a:rPr>
              <a:t>Graph coarsening</a:t>
            </a:r>
            <a:endParaRPr lang="en-US" sz="950" dirty="0"/>
          </a:p>
          <a:p>
            <a:pPr indent="0" marL="0">
              <a:buNone/>
            </a:pPr>
            <a:r>
              <a:rPr lang="en-US" sz="950" dirty="0">
                <a:solidFill>
                  <a:srgbClr val="D98A1F"/>
                </a:solidFill>
                <a:latin typeface="Montserrat" pitchFamily="34" charset="0"/>
                <a:ea typeface="Montserrat" pitchFamily="34" charset="-122"/>
                <a:cs typeface="Montserrat" pitchFamily="34" charset="-120"/>
              </a:rPr>
              <a:t>acts on this factor</a:t>
            </a:r>
            <a:endParaRPr lang="en-US" sz="950" dirty="0"/>
          </a:p>
        </p:txBody>
      </p:sp>
      <p:sp>
        <p:nvSpPr>
          <p:cNvPr id="20" name="Text 17"/>
          <p:cNvSpPr txBox="1"/>
          <p:nvPr/>
        </p:nvSpPr>
        <p:spPr>
          <a:xfrm>
            <a:off x="9921240" y="3182112"/>
            <a:ext cx="1554480" cy="548640"/>
          </a:xfrm>
          <a:prstGeom prst="rect">
            <a:avLst/>
          </a:prstGeom>
          <a:noFill/>
          <a:ln/>
        </p:spPr>
        <p:txBody>
          <a:bodyPr wrap="square" lIns="0" tIns="0" rIns="0" bIns="0" rtlCol="0" anchor="ctr"/>
          <a:lstStyle/>
          <a:p>
            <a:pPr indent="0" marL="0">
              <a:buNone/>
            </a:pPr>
            <a:r>
              <a:rPr lang="en-US" sz="950" dirty="0">
                <a:solidFill>
                  <a:srgbClr val="0F7B6C"/>
                </a:solidFill>
                <a:latin typeface="Montserrat" pitchFamily="34" charset="0"/>
                <a:ea typeface="Montserrat" pitchFamily="34" charset="-122"/>
                <a:cs typeface="Montserrat" pitchFamily="34" charset="-120"/>
              </a:rPr>
              <a:t>Chain compression</a:t>
            </a:r>
            <a:endParaRPr lang="en-US" sz="950" dirty="0"/>
          </a:p>
          <a:p>
            <a:pPr indent="0" marL="0">
              <a:buNone/>
            </a:pPr>
            <a:r>
              <a:rPr lang="en-US" sz="950" dirty="0">
                <a:solidFill>
                  <a:srgbClr val="0F7B6C"/>
                </a:solidFill>
                <a:latin typeface="Montserrat" pitchFamily="34" charset="0"/>
                <a:ea typeface="Montserrat" pitchFamily="34" charset="-122"/>
                <a:cs typeface="Montserrat" pitchFamily="34" charset="-120"/>
              </a:rPr>
              <a:t>acts on this one</a:t>
            </a:r>
            <a:endParaRPr lang="en-US" sz="950" dirty="0"/>
          </a:p>
        </p:txBody>
      </p:sp>
      <p:sp>
        <p:nvSpPr>
          <p:cNvPr id="21" name="Text 18"/>
          <p:cNvSpPr txBox="1"/>
          <p:nvPr/>
        </p:nvSpPr>
        <p:spPr>
          <a:xfrm>
            <a:off x="8092440" y="4480560"/>
            <a:ext cx="3200400" cy="868680"/>
          </a:xfrm>
          <a:prstGeom prst="rect">
            <a:avLst/>
          </a:prstGeom>
          <a:noFill/>
          <a:ln/>
        </p:spPr>
        <p:txBody>
          <a:bodyPr wrap="square" lIns="0" tIns="0" rIns="0" bIns="0" rtlCol="0" anchor="ctr"/>
          <a:lstStyle/>
          <a:p>
            <a:pPr indent="0" marL="0">
              <a:buNone/>
            </a:pPr>
            <a:r>
              <a:rPr lang="en-US" sz="1050" b="1" dirty="0">
                <a:solidFill>
                  <a:srgbClr val="23408E"/>
                </a:solidFill>
                <a:latin typeface="Montserrat" pitchFamily="34" charset="0"/>
                <a:ea typeface="Montserrat" pitchFamily="34" charset="-122"/>
                <a:cs typeface="Montserrat" pitchFamily="34" charset="-120"/>
              </a:rPr>
              <a:t>The factors are orthogonal, so the two compressions compose and their savings multiply.</a:t>
            </a:r>
            <a:endParaRPr lang="en-US" sz="1050" dirty="0"/>
          </a:p>
        </p:txBody>
      </p:sp>
      <p:sp>
        <p:nvSpPr>
          <p:cNvPr id="22" name="Text 19"/>
          <p:cNvSpPr txBox="1"/>
          <p:nvPr/>
        </p:nvSpPr>
        <p:spPr>
          <a:xfrm>
            <a:off x="4206240" y="6217920"/>
            <a:ext cx="7498080" cy="274320"/>
          </a:xfrm>
          <a:prstGeom prst="rect">
            <a:avLst/>
          </a:prstGeom>
          <a:noFill/>
          <a:ln/>
        </p:spPr>
        <p:txBody>
          <a:bodyPr wrap="square" lIns="0" tIns="0" rIns="0" bIns="0" rtlCol="0" anchor="ctr"/>
          <a:lstStyle/>
          <a:p>
            <a:pPr algn="r" indent="0" marL="0">
              <a:buNone/>
            </a:pPr>
            <a:r>
              <a:rPr lang="en-US" sz="1050" i="1" dirty="0">
                <a:solidFill>
                  <a:srgbClr val="63697A"/>
                </a:solidFill>
                <a:latin typeface="Montserrat" pitchFamily="34" charset="0"/>
                <a:ea typeface="Montserrat" pitchFamily="34" charset="-122"/>
                <a:cs typeface="Montserrat" pitchFamily="34" charset="-120"/>
              </a:rPr>
              <a:t>Xu et al. arXiv:2502.18600  |  Xia et al. arXiv:2502.12067  |  Hao et al. arXiv:2412.06769</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Objectives &amp; Scope of Work</a:t>
            </a:r>
            <a:endParaRPr lang="en-US" sz="3000" dirty="0"/>
          </a:p>
        </p:txBody>
      </p:sp>
      <p:sp>
        <p:nvSpPr>
          <p:cNvPr id="7" name="Shape 5"/>
          <p:cNvSpPr/>
          <p:nvPr/>
        </p:nvSpPr>
        <p:spPr>
          <a:xfrm>
            <a:off x="621792" y="914400"/>
            <a:ext cx="60350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66019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822960" y="1371600"/>
            <a:ext cx="6675120" cy="3840480"/>
          </a:xfrm>
          <a:prstGeom prst="rect">
            <a:avLst/>
          </a:prstGeom>
          <a:noFill/>
          <a:ln/>
        </p:spPr>
        <p:txBody>
          <a:bodyPr wrap="square" lIns="0" tIns="0" rIns="0" bIns="0" rtlCol="0" anchor="ctr"/>
          <a:lstStyle/>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Faithful replication of Graph of Thoughts on open-weights models, with all four baselines on one engine</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Verification of the structural claims - volume, latency, aggregation count - independently of model quality</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Measurement of where the cost of a reasoning graph actually accumulates</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Application of chain-of-thought compression to the content of each vertex</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Development of a causality-preserving coarsening operator that reduces the number of vertices</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Evaluation of the compressed graph against the Tree of Thoughts cost-quality frontier</a:t>
            </a:r>
            <a:endParaRPr lang="en-US" sz="1400" dirty="0"/>
          </a:p>
        </p:txBody>
      </p:sp>
      <p:sp>
        <p:nvSpPr>
          <p:cNvPr id="11" name="Shape 9"/>
          <p:cNvSpPr/>
          <p:nvPr/>
        </p:nvSpPr>
        <p:spPr>
          <a:xfrm>
            <a:off x="7863840" y="1325880"/>
            <a:ext cx="3657600" cy="4206240"/>
          </a:xfrm>
          <a:prstGeom prst="roundRect">
            <a:avLst>
              <a:gd name="adj" fmla="val 1250"/>
            </a:avLst>
          </a:prstGeom>
          <a:solidFill>
            <a:srgbClr val="F4F6FB"/>
          </a:solidFill>
          <a:ln w="12700">
            <a:solidFill>
              <a:srgbClr val="D8DEEC"/>
            </a:solidFill>
            <a:prstDash val="solid"/>
          </a:ln>
        </p:spPr>
      </p:sp>
      <p:sp>
        <p:nvSpPr>
          <p:cNvPr id="12" name="Text 10"/>
          <p:cNvSpPr txBox="1"/>
          <p:nvPr/>
        </p:nvSpPr>
        <p:spPr>
          <a:xfrm>
            <a:off x="8092440" y="1490472"/>
            <a:ext cx="3200400" cy="274320"/>
          </a:xfrm>
          <a:prstGeom prst="rect">
            <a:avLst/>
          </a:prstGeom>
          <a:noFill/>
          <a:ln/>
        </p:spPr>
        <p:txBody>
          <a:bodyPr wrap="square" lIns="0" tIns="0" rIns="0" bIns="0" rtlCol="0" anchor="ctr"/>
          <a:lstStyle/>
          <a:p>
            <a:pPr indent="0" marL="0">
              <a:buNone/>
            </a:pPr>
            <a:r>
              <a:rPr lang="en-US" sz="1300" b="1" dirty="0">
                <a:solidFill>
                  <a:srgbClr val="23408E"/>
                </a:solidFill>
                <a:latin typeface="Montserrat" pitchFamily="34" charset="0"/>
                <a:ea typeface="Montserrat" pitchFamily="34" charset="-122"/>
                <a:cs typeface="Montserrat" pitchFamily="34" charset="-120"/>
              </a:rPr>
              <a:t>Status at mid-term</a:t>
            </a:r>
            <a:endParaRPr lang="en-US" sz="1300" dirty="0"/>
          </a:p>
        </p:txBody>
      </p:sp>
      <p:sp>
        <p:nvSpPr>
          <p:cNvPr id="13" name="Shape 11"/>
          <p:cNvSpPr/>
          <p:nvPr/>
        </p:nvSpPr>
        <p:spPr>
          <a:xfrm>
            <a:off x="8138160" y="1993392"/>
            <a:ext cx="118872" cy="118872"/>
          </a:xfrm>
          <a:prstGeom prst="ellipse">
            <a:avLst/>
          </a:prstGeom>
          <a:solidFill>
            <a:srgbClr val="0F7B6C"/>
          </a:solidFill>
          <a:ln w="12700">
            <a:solidFill>
              <a:srgbClr val="333333"/>
            </a:solidFill>
            <a:prstDash val="solid"/>
          </a:ln>
        </p:spPr>
      </p:sp>
      <p:sp>
        <p:nvSpPr>
          <p:cNvPr id="14" name="Text 12"/>
          <p:cNvSpPr txBox="1"/>
          <p:nvPr/>
        </p:nvSpPr>
        <p:spPr>
          <a:xfrm>
            <a:off x="8339328" y="1938528"/>
            <a:ext cx="2057400" cy="237744"/>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Replication framework</a:t>
            </a:r>
            <a:endParaRPr lang="en-US" sz="1300" dirty="0"/>
          </a:p>
        </p:txBody>
      </p:sp>
      <p:sp>
        <p:nvSpPr>
          <p:cNvPr id="15" name="Text 13"/>
          <p:cNvSpPr txBox="1"/>
          <p:nvPr/>
        </p:nvSpPr>
        <p:spPr>
          <a:xfrm>
            <a:off x="10332720" y="1938528"/>
            <a:ext cx="1005840" cy="237744"/>
          </a:xfrm>
          <a:prstGeom prst="rect">
            <a:avLst/>
          </a:prstGeom>
          <a:noFill/>
          <a:ln/>
        </p:spPr>
        <p:txBody>
          <a:bodyPr wrap="square" lIns="0" tIns="0" rIns="0" bIns="0" rtlCol="0" anchor="ctr"/>
          <a:lstStyle/>
          <a:p>
            <a:pPr algn="r" indent="0" marL="0">
              <a:buNone/>
            </a:pPr>
            <a:r>
              <a:rPr lang="en-US" sz="1000" b="1" dirty="0">
                <a:solidFill>
                  <a:srgbClr val="0F7B6C"/>
                </a:solidFill>
                <a:latin typeface="Montserrat" pitchFamily="34" charset="0"/>
                <a:ea typeface="Montserrat" pitchFamily="34" charset="-122"/>
                <a:cs typeface="Montserrat" pitchFamily="34" charset="-120"/>
              </a:rPr>
              <a:t>done</a:t>
            </a:r>
            <a:endParaRPr lang="en-US" sz="1000" dirty="0"/>
          </a:p>
        </p:txBody>
      </p:sp>
      <p:sp>
        <p:nvSpPr>
          <p:cNvPr id="16" name="Shape 14"/>
          <p:cNvSpPr/>
          <p:nvPr/>
        </p:nvSpPr>
        <p:spPr>
          <a:xfrm>
            <a:off x="8138160" y="2478024"/>
            <a:ext cx="118872" cy="118872"/>
          </a:xfrm>
          <a:prstGeom prst="ellipse">
            <a:avLst/>
          </a:prstGeom>
          <a:solidFill>
            <a:srgbClr val="0F7B6C"/>
          </a:solidFill>
          <a:ln w="12700">
            <a:solidFill>
              <a:srgbClr val="333333"/>
            </a:solidFill>
            <a:prstDash val="solid"/>
          </a:ln>
        </p:spPr>
      </p:sp>
      <p:sp>
        <p:nvSpPr>
          <p:cNvPr id="17" name="Text 15"/>
          <p:cNvSpPr txBox="1"/>
          <p:nvPr/>
        </p:nvSpPr>
        <p:spPr>
          <a:xfrm>
            <a:off x="8339328" y="2423160"/>
            <a:ext cx="2057400" cy="237744"/>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Structural verification</a:t>
            </a:r>
            <a:endParaRPr lang="en-US" sz="1300" dirty="0"/>
          </a:p>
        </p:txBody>
      </p:sp>
      <p:sp>
        <p:nvSpPr>
          <p:cNvPr id="18" name="Text 16"/>
          <p:cNvSpPr txBox="1"/>
          <p:nvPr/>
        </p:nvSpPr>
        <p:spPr>
          <a:xfrm>
            <a:off x="10332720" y="2423160"/>
            <a:ext cx="1005840" cy="237744"/>
          </a:xfrm>
          <a:prstGeom prst="rect">
            <a:avLst/>
          </a:prstGeom>
          <a:noFill/>
          <a:ln/>
        </p:spPr>
        <p:txBody>
          <a:bodyPr wrap="square" lIns="0" tIns="0" rIns="0" bIns="0" rtlCol="0" anchor="ctr"/>
          <a:lstStyle/>
          <a:p>
            <a:pPr algn="r" indent="0" marL="0">
              <a:buNone/>
            </a:pPr>
            <a:r>
              <a:rPr lang="en-US" sz="1000" b="1" dirty="0">
                <a:solidFill>
                  <a:srgbClr val="0F7B6C"/>
                </a:solidFill>
                <a:latin typeface="Montserrat" pitchFamily="34" charset="0"/>
                <a:ea typeface="Montserrat" pitchFamily="34" charset="-122"/>
                <a:cs typeface="Montserrat" pitchFamily="34" charset="-120"/>
              </a:rPr>
              <a:t>done</a:t>
            </a:r>
            <a:endParaRPr lang="en-US" sz="1000" dirty="0"/>
          </a:p>
        </p:txBody>
      </p:sp>
      <p:sp>
        <p:nvSpPr>
          <p:cNvPr id="19" name="Shape 17"/>
          <p:cNvSpPr/>
          <p:nvPr/>
        </p:nvSpPr>
        <p:spPr>
          <a:xfrm>
            <a:off x="8138160" y="2962656"/>
            <a:ext cx="118872" cy="118872"/>
          </a:xfrm>
          <a:prstGeom prst="ellipse">
            <a:avLst/>
          </a:prstGeom>
          <a:solidFill>
            <a:srgbClr val="0F7B6C"/>
          </a:solidFill>
          <a:ln w="12700">
            <a:solidFill>
              <a:srgbClr val="333333"/>
            </a:solidFill>
            <a:prstDash val="solid"/>
          </a:ln>
        </p:spPr>
      </p:sp>
      <p:sp>
        <p:nvSpPr>
          <p:cNvPr id="20" name="Text 18"/>
          <p:cNvSpPr txBox="1"/>
          <p:nvPr/>
        </p:nvSpPr>
        <p:spPr>
          <a:xfrm>
            <a:off x="8339328" y="2907792"/>
            <a:ext cx="2057400" cy="237744"/>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Cost characterisation</a:t>
            </a:r>
            <a:endParaRPr lang="en-US" sz="1300" dirty="0"/>
          </a:p>
        </p:txBody>
      </p:sp>
      <p:sp>
        <p:nvSpPr>
          <p:cNvPr id="21" name="Text 19"/>
          <p:cNvSpPr txBox="1"/>
          <p:nvPr/>
        </p:nvSpPr>
        <p:spPr>
          <a:xfrm>
            <a:off x="10332720" y="2907792"/>
            <a:ext cx="1005840" cy="237744"/>
          </a:xfrm>
          <a:prstGeom prst="rect">
            <a:avLst/>
          </a:prstGeom>
          <a:noFill/>
          <a:ln/>
        </p:spPr>
        <p:txBody>
          <a:bodyPr wrap="square" lIns="0" tIns="0" rIns="0" bIns="0" rtlCol="0" anchor="ctr"/>
          <a:lstStyle/>
          <a:p>
            <a:pPr algn="r" indent="0" marL="0">
              <a:buNone/>
            </a:pPr>
            <a:r>
              <a:rPr lang="en-US" sz="1000" b="1" dirty="0">
                <a:solidFill>
                  <a:srgbClr val="0F7B6C"/>
                </a:solidFill>
                <a:latin typeface="Montserrat" pitchFamily="34" charset="0"/>
                <a:ea typeface="Montserrat" pitchFamily="34" charset="-122"/>
                <a:cs typeface="Montserrat" pitchFamily="34" charset="-120"/>
              </a:rPr>
              <a:t>done</a:t>
            </a:r>
            <a:endParaRPr lang="en-US" sz="1000" dirty="0"/>
          </a:p>
        </p:txBody>
      </p:sp>
      <p:sp>
        <p:nvSpPr>
          <p:cNvPr id="22" name="Shape 20"/>
          <p:cNvSpPr/>
          <p:nvPr/>
        </p:nvSpPr>
        <p:spPr>
          <a:xfrm>
            <a:off x="8138160" y="3447288"/>
            <a:ext cx="118872" cy="118872"/>
          </a:xfrm>
          <a:prstGeom prst="ellipse">
            <a:avLst/>
          </a:prstGeom>
          <a:solidFill>
            <a:srgbClr val="0F7B6C"/>
          </a:solidFill>
          <a:ln w="12700">
            <a:solidFill>
              <a:srgbClr val="333333"/>
            </a:solidFill>
            <a:prstDash val="solid"/>
          </a:ln>
        </p:spPr>
      </p:sp>
      <p:sp>
        <p:nvSpPr>
          <p:cNvPr id="23" name="Text 21"/>
          <p:cNvSpPr txBox="1"/>
          <p:nvPr/>
        </p:nvSpPr>
        <p:spPr>
          <a:xfrm>
            <a:off x="8339328" y="3392424"/>
            <a:ext cx="2057400" cy="237744"/>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Naive-compression study</a:t>
            </a:r>
            <a:endParaRPr lang="en-US" sz="1300" dirty="0"/>
          </a:p>
        </p:txBody>
      </p:sp>
      <p:sp>
        <p:nvSpPr>
          <p:cNvPr id="24" name="Text 22"/>
          <p:cNvSpPr txBox="1"/>
          <p:nvPr/>
        </p:nvSpPr>
        <p:spPr>
          <a:xfrm>
            <a:off x="10332720" y="3392424"/>
            <a:ext cx="1005840" cy="237744"/>
          </a:xfrm>
          <a:prstGeom prst="rect">
            <a:avLst/>
          </a:prstGeom>
          <a:noFill/>
          <a:ln/>
        </p:spPr>
        <p:txBody>
          <a:bodyPr wrap="square" lIns="0" tIns="0" rIns="0" bIns="0" rtlCol="0" anchor="ctr"/>
          <a:lstStyle/>
          <a:p>
            <a:pPr algn="r" indent="0" marL="0">
              <a:buNone/>
            </a:pPr>
            <a:r>
              <a:rPr lang="en-US" sz="1000" b="1" dirty="0">
                <a:solidFill>
                  <a:srgbClr val="0F7B6C"/>
                </a:solidFill>
                <a:latin typeface="Montserrat" pitchFamily="34" charset="0"/>
                <a:ea typeface="Montserrat" pitchFamily="34" charset="-122"/>
                <a:cs typeface="Montserrat" pitchFamily="34" charset="-120"/>
              </a:rPr>
              <a:t>done</a:t>
            </a:r>
            <a:endParaRPr lang="en-US" sz="1000" dirty="0"/>
          </a:p>
        </p:txBody>
      </p:sp>
      <p:sp>
        <p:nvSpPr>
          <p:cNvPr id="25" name="Shape 23"/>
          <p:cNvSpPr/>
          <p:nvPr/>
        </p:nvSpPr>
        <p:spPr>
          <a:xfrm>
            <a:off x="8138160" y="3931920"/>
            <a:ext cx="118872" cy="118872"/>
          </a:xfrm>
          <a:prstGeom prst="ellipse">
            <a:avLst/>
          </a:prstGeom>
          <a:solidFill>
            <a:srgbClr val="D98A1F"/>
          </a:solidFill>
          <a:ln w="12700">
            <a:solidFill>
              <a:srgbClr val="333333"/>
            </a:solidFill>
            <a:prstDash val="solid"/>
          </a:ln>
        </p:spPr>
      </p:sp>
      <p:sp>
        <p:nvSpPr>
          <p:cNvPr id="26" name="Text 24"/>
          <p:cNvSpPr txBox="1"/>
          <p:nvPr/>
        </p:nvSpPr>
        <p:spPr>
          <a:xfrm>
            <a:off x="8339328" y="3877056"/>
            <a:ext cx="2057400" cy="237744"/>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Vertex compression</a:t>
            </a:r>
            <a:endParaRPr lang="en-US" sz="1300" dirty="0"/>
          </a:p>
        </p:txBody>
      </p:sp>
      <p:sp>
        <p:nvSpPr>
          <p:cNvPr id="27" name="Text 25"/>
          <p:cNvSpPr txBox="1"/>
          <p:nvPr/>
        </p:nvSpPr>
        <p:spPr>
          <a:xfrm>
            <a:off x="10332720" y="3877056"/>
            <a:ext cx="1005840" cy="237744"/>
          </a:xfrm>
          <a:prstGeom prst="rect">
            <a:avLst/>
          </a:prstGeom>
          <a:noFill/>
          <a:ln/>
        </p:spPr>
        <p:txBody>
          <a:bodyPr wrap="square" lIns="0" tIns="0" rIns="0" bIns="0" rtlCol="0" anchor="ctr"/>
          <a:lstStyle/>
          <a:p>
            <a:pPr algn="r" indent="0" marL="0">
              <a:buNone/>
            </a:pPr>
            <a:r>
              <a:rPr lang="en-US" sz="1000" b="1" dirty="0">
                <a:solidFill>
                  <a:srgbClr val="D98A1F"/>
                </a:solidFill>
                <a:latin typeface="Montserrat" pitchFamily="34" charset="0"/>
                <a:ea typeface="Montserrat" pitchFamily="34" charset="-122"/>
                <a:cs typeface="Montserrat" pitchFamily="34" charset="-120"/>
              </a:rPr>
              <a:t>in progress</a:t>
            </a:r>
            <a:endParaRPr lang="en-US" sz="1000" dirty="0"/>
          </a:p>
        </p:txBody>
      </p:sp>
      <p:sp>
        <p:nvSpPr>
          <p:cNvPr id="28" name="Shape 26"/>
          <p:cNvSpPr/>
          <p:nvPr/>
        </p:nvSpPr>
        <p:spPr>
          <a:xfrm>
            <a:off x="8138160" y="4416552"/>
            <a:ext cx="118872" cy="118872"/>
          </a:xfrm>
          <a:prstGeom prst="ellipse">
            <a:avLst/>
          </a:prstGeom>
          <a:solidFill>
            <a:srgbClr val="63697A"/>
          </a:solidFill>
          <a:ln w="12700">
            <a:solidFill>
              <a:srgbClr val="333333"/>
            </a:solidFill>
            <a:prstDash val="solid"/>
          </a:ln>
        </p:spPr>
      </p:sp>
      <p:sp>
        <p:nvSpPr>
          <p:cNvPr id="29" name="Text 27"/>
          <p:cNvSpPr txBox="1"/>
          <p:nvPr/>
        </p:nvSpPr>
        <p:spPr>
          <a:xfrm>
            <a:off x="8339328" y="4361688"/>
            <a:ext cx="2057400" cy="237744"/>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Coarsening operator</a:t>
            </a:r>
            <a:endParaRPr lang="en-US" sz="1300" dirty="0"/>
          </a:p>
        </p:txBody>
      </p:sp>
      <p:sp>
        <p:nvSpPr>
          <p:cNvPr id="30" name="Text 28"/>
          <p:cNvSpPr txBox="1"/>
          <p:nvPr/>
        </p:nvSpPr>
        <p:spPr>
          <a:xfrm>
            <a:off x="10332720" y="4361688"/>
            <a:ext cx="1005840" cy="237744"/>
          </a:xfrm>
          <a:prstGeom prst="rect">
            <a:avLst/>
          </a:prstGeom>
          <a:noFill/>
          <a:ln/>
        </p:spPr>
        <p:txBody>
          <a:bodyPr wrap="square" lIns="0" tIns="0" rIns="0" bIns="0" rtlCol="0" anchor="ctr"/>
          <a:lstStyle/>
          <a:p>
            <a:pPr algn="r" indent="0" marL="0">
              <a:buNone/>
            </a:pPr>
            <a:r>
              <a:rPr lang="en-US" sz="1000" b="1" dirty="0">
                <a:solidFill>
                  <a:srgbClr val="63697A"/>
                </a:solidFill>
                <a:latin typeface="Montserrat" pitchFamily="34" charset="0"/>
                <a:ea typeface="Montserrat" pitchFamily="34" charset="-122"/>
                <a:cs typeface="Montserrat" pitchFamily="34" charset="-120"/>
              </a:rPr>
              <a:t>planned</a:t>
            </a:r>
            <a:endParaRPr lang="en-US" sz="1000" dirty="0"/>
          </a:p>
        </p:txBody>
      </p:sp>
      <p:sp>
        <p:nvSpPr>
          <p:cNvPr id="31" name="Shape 29"/>
          <p:cNvSpPr/>
          <p:nvPr/>
        </p:nvSpPr>
        <p:spPr>
          <a:xfrm>
            <a:off x="8138160" y="4901184"/>
            <a:ext cx="118872" cy="118872"/>
          </a:xfrm>
          <a:prstGeom prst="ellipse">
            <a:avLst/>
          </a:prstGeom>
          <a:solidFill>
            <a:srgbClr val="63697A"/>
          </a:solidFill>
          <a:ln w="12700">
            <a:solidFill>
              <a:srgbClr val="333333"/>
            </a:solidFill>
            <a:prstDash val="solid"/>
          </a:ln>
        </p:spPr>
      </p:sp>
      <p:sp>
        <p:nvSpPr>
          <p:cNvPr id="32" name="Text 30"/>
          <p:cNvSpPr txBox="1"/>
          <p:nvPr/>
        </p:nvSpPr>
        <p:spPr>
          <a:xfrm>
            <a:off x="8339328" y="4846320"/>
            <a:ext cx="2057400" cy="237744"/>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Frontier evaluation</a:t>
            </a:r>
            <a:endParaRPr lang="en-US" sz="1300" dirty="0"/>
          </a:p>
        </p:txBody>
      </p:sp>
      <p:sp>
        <p:nvSpPr>
          <p:cNvPr id="33" name="Text 31"/>
          <p:cNvSpPr txBox="1"/>
          <p:nvPr/>
        </p:nvSpPr>
        <p:spPr>
          <a:xfrm>
            <a:off x="10332720" y="4846320"/>
            <a:ext cx="1005840" cy="237744"/>
          </a:xfrm>
          <a:prstGeom prst="rect">
            <a:avLst/>
          </a:prstGeom>
          <a:noFill/>
          <a:ln/>
        </p:spPr>
        <p:txBody>
          <a:bodyPr wrap="square" lIns="0" tIns="0" rIns="0" bIns="0" rtlCol="0" anchor="ctr"/>
          <a:lstStyle/>
          <a:p>
            <a:pPr algn="r" indent="0" marL="0">
              <a:buNone/>
            </a:pPr>
            <a:r>
              <a:rPr lang="en-US" sz="1000" b="1" dirty="0">
                <a:solidFill>
                  <a:srgbClr val="63697A"/>
                </a:solidFill>
                <a:latin typeface="Montserrat" pitchFamily="34" charset="0"/>
                <a:ea typeface="Montserrat" pitchFamily="34" charset="-122"/>
                <a:cs typeface="Montserrat" pitchFamily="34" charset="-120"/>
              </a:rPr>
              <a:t>planned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Methodology</a:t>
            </a:r>
            <a:endParaRPr lang="en-US" sz="3000" dirty="0"/>
          </a:p>
        </p:txBody>
      </p:sp>
      <p:sp>
        <p:nvSpPr>
          <p:cNvPr id="7" name="Shape 5"/>
          <p:cNvSpPr/>
          <p:nvPr/>
        </p:nvSpPr>
        <p:spPr>
          <a:xfrm>
            <a:off x="621792" y="914400"/>
            <a:ext cx="402336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459028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1) How the reasoning graph constructs its vertices and edges</a:t>
            </a:r>
            <a:endParaRPr lang="en-US" sz="1550" dirty="0"/>
          </a:p>
        </p:txBody>
      </p:sp>
      <p:sp>
        <p:nvSpPr>
          <p:cNvPr id="11" name="Shape 9"/>
          <p:cNvSpPr/>
          <p:nvPr/>
        </p:nvSpPr>
        <p:spPr>
          <a:xfrm>
            <a:off x="685800" y="1572768"/>
            <a:ext cx="5120640" cy="1828800"/>
          </a:xfrm>
          <a:prstGeom prst="roundRect">
            <a:avLst>
              <a:gd name="adj" fmla="val 2500"/>
            </a:avLst>
          </a:prstGeom>
          <a:solidFill>
            <a:srgbClr val="F4F6FB"/>
          </a:solidFill>
          <a:ln w="12700">
            <a:solidFill>
              <a:srgbClr val="D8DEEC"/>
            </a:solidFill>
            <a:prstDash val="solid"/>
          </a:ln>
        </p:spPr>
      </p:sp>
      <p:sp>
        <p:nvSpPr>
          <p:cNvPr id="12" name="Text 10"/>
          <p:cNvSpPr txBox="1"/>
          <p:nvPr/>
        </p:nvSpPr>
        <p:spPr>
          <a:xfrm>
            <a:off x="914400" y="1691640"/>
            <a:ext cx="4663440" cy="237744"/>
          </a:xfrm>
          <a:prstGeom prst="rect">
            <a:avLst/>
          </a:prstGeom>
          <a:noFill/>
          <a:ln/>
        </p:spPr>
        <p:txBody>
          <a:bodyPr wrap="square" lIns="0" tIns="0" rIns="0" bIns="0" rtlCol="0" anchor="ctr"/>
          <a:lstStyle/>
          <a:p>
            <a:pPr indent="0" marL="0">
              <a:buNone/>
            </a:pPr>
            <a:r>
              <a:rPr lang="en-US" sz="1000" b="1" dirty="0">
                <a:solidFill>
                  <a:srgbClr val="23408E"/>
                </a:solidFill>
                <a:latin typeface="Montserrat" pitchFamily="34" charset="0"/>
                <a:ea typeface="Montserrat" pitchFamily="34" charset="-122"/>
                <a:cs typeface="Montserrat" pitchFamily="34" charset="-120"/>
              </a:rPr>
              <a:t>Execution loop over the plan</a:t>
            </a:r>
            <a:endParaRPr lang="en-US" sz="1000" dirty="0"/>
          </a:p>
        </p:txBody>
      </p:sp>
      <p:sp>
        <p:nvSpPr>
          <p:cNvPr id="13" name="Text 11"/>
          <p:cNvSpPr txBox="1"/>
          <p:nvPr/>
        </p:nvSpPr>
        <p:spPr>
          <a:xfrm>
            <a:off x="914400" y="1975104"/>
            <a:ext cx="4663440" cy="1298448"/>
          </a:xfrm>
          <a:prstGeom prst="rect">
            <a:avLst/>
          </a:prstGeom>
          <a:noFill/>
          <a:ln/>
        </p:spPr>
        <p:txBody>
          <a:bodyPr wrap="square" lIns="0" tIns="0" rIns="0" bIns="0" rtlCol="0" anchor="ctr"/>
          <a:lstStyle/>
          <a:p>
            <a:pPr indent="0" marL="0">
              <a:buNone/>
            </a:pPr>
            <a:r>
              <a:rPr lang="en-US" sz="1300" dirty="0">
                <a:solidFill>
                  <a:srgbClr val="16181D"/>
                </a:solidFill>
                <a:latin typeface="Courier New" pitchFamily="34" charset="0"/>
                <a:ea typeface="Courier New" pitchFamily="34" charset="-122"/>
                <a:cs typeface="Courier New" pitchFamily="34" charset="-120"/>
              </a:rPr>
              <a:t>for op in TOPOLOGICAL-ORDER(GoO):</a:t>
            </a:r>
            <a:endParaRPr lang="en-US" sz="1300" dirty="0"/>
          </a:p>
          <a:p>
            <a:pPr indent="0" marL="0">
              <a:buNone/>
            </a:pPr>
            <a:r>
              <a:rPr lang="en-US" sz="1300" dirty="0">
                <a:solidFill>
                  <a:srgbClr val="16181D"/>
                </a:solidFill>
                <a:latin typeface="Courier New" pitchFamily="34" charset="0"/>
                <a:ea typeface="Courier New" pitchFamily="34" charset="-122"/>
                <a:cs typeface="Courier New" pitchFamily="34" charset="-120"/>
              </a:rPr>
              <a:t>   parents &lt;- thoughts of op.predecessors</a:t>
            </a:r>
            <a:endParaRPr lang="en-US" sz="1300" dirty="0"/>
          </a:p>
          <a:p>
            <a:pPr indent="0" marL="0">
              <a:buNone/>
            </a:pPr>
            <a:r>
              <a:rPr lang="en-US" sz="1300" dirty="0">
                <a:solidFill>
                  <a:srgbClr val="16181D"/>
                </a:solidFill>
                <a:latin typeface="Courier New" pitchFamily="34" charset="0"/>
                <a:ea typeface="Courier New" pitchFamily="34" charset="-122"/>
                <a:cs typeface="Courier New" pitchFamily="34" charset="-120"/>
              </a:rPr>
              <a:t>   for t in op.EXECUTE(parents):</a:t>
            </a:r>
            <a:endParaRPr lang="en-US" sz="1300" dirty="0"/>
          </a:p>
          <a:p>
            <a:pPr indent="0" marL="0">
              <a:buNone/>
            </a:pPr>
            <a:r>
              <a:rPr lang="en-US" sz="1300" dirty="0">
                <a:solidFill>
                  <a:srgbClr val="16181D"/>
                </a:solidFill>
                <a:latin typeface="Courier New" pitchFamily="34" charset="0"/>
                <a:ea typeface="Courier New" pitchFamily="34" charset="-122"/>
                <a:cs typeface="Courier New" pitchFamily="34" charset="-120"/>
              </a:rPr>
              <a:t>      V &lt;- V + { t }</a:t>
            </a:r>
            <a:endParaRPr lang="en-US" sz="1300" dirty="0"/>
          </a:p>
          <a:p>
            <a:pPr indent="0" marL="0">
              <a:buNone/>
            </a:pPr>
            <a:r>
              <a:rPr lang="en-US" sz="1300" dirty="0">
                <a:solidFill>
                  <a:srgbClr val="16181D"/>
                </a:solidFill>
                <a:latin typeface="Courier New" pitchFamily="34" charset="0"/>
                <a:ea typeface="Courier New" pitchFamily="34" charset="-122"/>
                <a:cs typeface="Courier New" pitchFamily="34" charset="-120"/>
              </a:rPr>
              <a:t>      for p in t.parents:</a:t>
            </a:r>
            <a:endParaRPr lang="en-US" sz="1300" dirty="0"/>
          </a:p>
          <a:p>
            <a:pPr indent="0" marL="0">
              <a:buNone/>
            </a:pPr>
            <a:r>
              <a:rPr lang="en-US" sz="1300" dirty="0">
                <a:solidFill>
                  <a:srgbClr val="16181D"/>
                </a:solidFill>
                <a:latin typeface="Courier New" pitchFamily="34" charset="0"/>
                <a:ea typeface="Courier New" pitchFamily="34" charset="-122"/>
                <a:cs typeface="Courier New" pitchFamily="34" charset="-120"/>
              </a:rPr>
              <a:t>         E &lt;- E + { (p, t) }</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172200" y="1572768"/>
          <a:ext cx="5303520" cy="914400"/>
        </p:xfrm>
        <a:graphic>
          <a:graphicData uri="http://schemas.openxmlformats.org/drawingml/2006/table">
            <a:tbl>
              <a:tblPr/>
              <a:tblGrid>
                <a:gridCol w="1600200"/>
                <a:gridCol w="1691640"/>
                <a:gridCol w="2011680"/>
              </a:tblGrid>
              <a:tr h="320040">
                <a:tc>
                  <a:txBody>
                    <a:bodyPr/>
                    <a:lstStyle/>
                    <a:p>
                      <a:pPr indent="0" marL="0">
                        <a:buNone/>
                      </a:pPr>
                      <a:r>
                        <a:rPr lang="en-US" sz="1150" b="1" dirty="0">
                          <a:solidFill>
                            <a:srgbClr val="FFFFFF"/>
                          </a:solidFill>
                          <a:latin typeface="Montserrat" pitchFamily="34" charset="0"/>
                          <a:ea typeface="Montserrat" pitchFamily="34" charset="-122"/>
                          <a:cs typeface="Montserrat" pitchFamily="34" charset="-120"/>
                        </a:rPr>
                        <a:t>Operation</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150" b="1" dirty="0">
                          <a:solidFill>
                            <a:srgbClr val="FFFFFF"/>
                          </a:solidFill>
                          <a:latin typeface="Montserrat" pitchFamily="34" charset="0"/>
                          <a:ea typeface="Montserrat" pitchFamily="34" charset="-122"/>
                          <a:cs typeface="Montserrat" pitchFamily="34" charset="-120"/>
                        </a:rPr>
                        <a:t>Vertices</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150" b="1" dirty="0">
                          <a:solidFill>
                            <a:srgbClr val="FFFFFF"/>
                          </a:solidFill>
                          <a:latin typeface="Montserrat" pitchFamily="34" charset="0"/>
                          <a:ea typeface="Montserrat" pitchFamily="34" charset="-122"/>
                          <a:cs typeface="Montserrat" pitchFamily="34" charset="-120"/>
                        </a:rPr>
                        <a:t>Edges</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r>
              <a:tr h="320040">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Generate (k)</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k per input</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input -&gt; each new</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20040">
                <a:tc>
                  <a:txBody>
                    <a:bodyPr/>
                    <a:lstStyle/>
                    <a:p>
                      <a:pPr indent="0" marL="0">
                        <a:buNone/>
                      </a:pPr>
                      <a:r>
                        <a:rPr lang="en-US" sz="1150" b="1" dirty="0">
                          <a:solidFill>
                            <a:srgbClr val="D98A1F"/>
                          </a:solidFill>
                          <a:latin typeface="Montserrat" pitchFamily="34" charset="0"/>
                          <a:ea typeface="Montserrat" pitchFamily="34" charset="-122"/>
                          <a:cs typeface="Montserrat" pitchFamily="34" charset="-120"/>
                        </a:rPr>
                        <a:t>Aggregate (k)</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1150" b="1" dirty="0">
                          <a:solidFill>
                            <a:srgbClr val="D98A1F"/>
                          </a:solidFill>
                          <a:latin typeface="Montserrat" pitchFamily="34" charset="0"/>
                          <a:ea typeface="Montserrat" pitchFamily="34" charset="-122"/>
                          <a:cs typeface="Montserrat" pitchFamily="34" charset="-120"/>
                        </a:rPr>
                        <a:t>k, from all inputs</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1150" b="1" dirty="0">
                          <a:solidFill>
                            <a:srgbClr val="D98A1F"/>
                          </a:solidFill>
                          <a:latin typeface="Montserrat" pitchFamily="34" charset="0"/>
                          <a:ea typeface="Montserrat" pitchFamily="34" charset="-122"/>
                          <a:cs typeface="Montserrat" pitchFamily="34" charset="-120"/>
                        </a:rPr>
                        <a:t>EVERY input -&gt; each new</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r>
              <a:tr h="320040">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Improve</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1 per input</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input -&gt; new</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20040">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Score</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none</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none</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320040">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KeepBest (n)</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none</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none</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bl>
          </a:graphicData>
        </a:graphic>
      </p:graphicFrame>
      <p:sp>
        <p:nvSpPr>
          <p:cNvPr id="15" name="Text 12"/>
          <p:cNvSpPr txBox="1"/>
          <p:nvPr/>
        </p:nvSpPr>
        <p:spPr>
          <a:xfrm>
            <a:off x="6172200" y="3566160"/>
            <a:ext cx="5303520" cy="274320"/>
          </a:xfrm>
          <a:prstGeom prst="rect">
            <a:avLst/>
          </a:prstGeom>
          <a:noFill/>
          <a:ln/>
        </p:spPr>
        <p:txBody>
          <a:bodyPr wrap="square" lIns="0" tIns="0" rIns="0" bIns="0" rtlCol="0" anchor="ctr"/>
          <a:lstStyle/>
          <a:p>
            <a:pPr indent="0" marL="0">
              <a:buNone/>
            </a:pPr>
            <a:r>
              <a:rPr lang="en-US" sz="950" i="1" dirty="0">
                <a:solidFill>
                  <a:srgbClr val="63697A"/>
                </a:solidFill>
                <a:latin typeface="Montserrat" pitchFamily="34" charset="0"/>
                <a:ea typeface="Montserrat" pitchFamily="34" charset="-122"/>
                <a:cs typeface="Montserrat" pitchFamily="34" charset="-120"/>
              </a:rPr>
              <a:t>Only Generate, Aggregate and Improve create vertices. Score and KeepBest annotate and filter.</a:t>
            </a:r>
            <a:endParaRPr lang="en-US" sz="950" dirty="0"/>
          </a:p>
        </p:txBody>
      </p:sp>
      <p:sp>
        <p:nvSpPr>
          <p:cNvPr id="16" name="Text 13"/>
          <p:cNvSpPr txBox="1"/>
          <p:nvPr/>
        </p:nvSpPr>
        <p:spPr>
          <a:xfrm>
            <a:off x="685800" y="3931920"/>
            <a:ext cx="1005840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2) The rule that defines the structure</a:t>
            </a:r>
            <a:endParaRPr lang="en-US" sz="1550" dirty="0"/>
          </a:p>
        </p:txBody>
      </p:sp>
      <p:sp>
        <p:nvSpPr>
          <p:cNvPr id="17" name="Shape 14"/>
          <p:cNvSpPr/>
          <p:nvPr/>
        </p:nvSpPr>
        <p:spPr>
          <a:xfrm>
            <a:off x="685800" y="4315968"/>
            <a:ext cx="5120640" cy="1737360"/>
          </a:xfrm>
          <a:prstGeom prst="roundRect">
            <a:avLst>
              <a:gd name="adj" fmla="val 2632"/>
            </a:avLst>
          </a:prstGeom>
          <a:solidFill>
            <a:srgbClr val="FDF3E3"/>
          </a:solidFill>
          <a:ln w="12700">
            <a:solidFill>
              <a:srgbClr val="D8DEEC"/>
            </a:solidFill>
            <a:prstDash val="solid"/>
          </a:ln>
        </p:spPr>
      </p:sp>
      <p:sp>
        <p:nvSpPr>
          <p:cNvPr id="18" name="Shape 15"/>
          <p:cNvSpPr/>
          <p:nvPr/>
        </p:nvSpPr>
        <p:spPr>
          <a:xfrm>
            <a:off x="1536192" y="4809744"/>
            <a:ext cx="640080" cy="658368"/>
          </a:xfrm>
          <a:prstGeom prst="line">
            <a:avLst/>
          </a:prstGeom>
          <a:noFill/>
          <a:ln w="21590">
            <a:solidFill>
              <a:srgbClr val="D98A1F"/>
            </a:solidFill>
            <a:prstDash val="solid"/>
          </a:ln>
        </p:spPr>
      </p:sp>
      <p:sp>
        <p:nvSpPr>
          <p:cNvPr id="19" name="Shape 16"/>
          <p:cNvSpPr/>
          <p:nvPr/>
        </p:nvSpPr>
        <p:spPr>
          <a:xfrm>
            <a:off x="1463040" y="4736592"/>
            <a:ext cx="146304" cy="146304"/>
          </a:xfrm>
          <a:prstGeom prst="ellipse">
            <a:avLst/>
          </a:prstGeom>
          <a:solidFill>
            <a:srgbClr val="23408E"/>
          </a:solidFill>
          <a:ln w="12700">
            <a:solidFill>
              <a:srgbClr val="23408E"/>
            </a:solidFill>
            <a:prstDash val="solid"/>
          </a:ln>
        </p:spPr>
      </p:sp>
      <p:sp>
        <p:nvSpPr>
          <p:cNvPr id="20" name="Shape 17"/>
          <p:cNvSpPr/>
          <p:nvPr/>
        </p:nvSpPr>
        <p:spPr>
          <a:xfrm>
            <a:off x="1965960" y="4809744"/>
            <a:ext cx="210312" cy="658368"/>
          </a:xfrm>
          <a:prstGeom prst="line">
            <a:avLst/>
          </a:prstGeom>
          <a:noFill/>
          <a:ln w="21590">
            <a:solidFill>
              <a:srgbClr val="D98A1F"/>
            </a:solidFill>
            <a:prstDash val="solid"/>
          </a:ln>
        </p:spPr>
      </p:sp>
      <p:sp>
        <p:nvSpPr>
          <p:cNvPr id="21" name="Shape 18"/>
          <p:cNvSpPr/>
          <p:nvPr/>
        </p:nvSpPr>
        <p:spPr>
          <a:xfrm>
            <a:off x="1892808" y="4736592"/>
            <a:ext cx="146304" cy="146304"/>
          </a:xfrm>
          <a:prstGeom prst="ellipse">
            <a:avLst/>
          </a:prstGeom>
          <a:solidFill>
            <a:srgbClr val="23408E"/>
          </a:solidFill>
          <a:ln w="12700">
            <a:solidFill>
              <a:srgbClr val="23408E"/>
            </a:solidFill>
            <a:prstDash val="solid"/>
          </a:ln>
        </p:spPr>
      </p:sp>
      <p:sp>
        <p:nvSpPr>
          <p:cNvPr id="22" name="Shape 19"/>
          <p:cNvSpPr/>
          <p:nvPr/>
        </p:nvSpPr>
        <p:spPr>
          <a:xfrm flipV="1">
            <a:off x="2176272" y="4809744"/>
            <a:ext cx="210312" cy="658368"/>
          </a:xfrm>
          <a:prstGeom prst="line">
            <a:avLst/>
          </a:prstGeom>
          <a:noFill/>
          <a:ln w="21590">
            <a:solidFill>
              <a:srgbClr val="D98A1F"/>
            </a:solidFill>
            <a:prstDash val="solid"/>
          </a:ln>
        </p:spPr>
      </p:sp>
      <p:sp>
        <p:nvSpPr>
          <p:cNvPr id="23" name="Shape 20"/>
          <p:cNvSpPr/>
          <p:nvPr/>
        </p:nvSpPr>
        <p:spPr>
          <a:xfrm>
            <a:off x="2313432" y="4736592"/>
            <a:ext cx="146304" cy="146304"/>
          </a:xfrm>
          <a:prstGeom prst="ellipse">
            <a:avLst/>
          </a:prstGeom>
          <a:solidFill>
            <a:srgbClr val="23408E"/>
          </a:solidFill>
          <a:ln w="12700">
            <a:solidFill>
              <a:srgbClr val="23408E"/>
            </a:solidFill>
            <a:prstDash val="solid"/>
          </a:ln>
        </p:spPr>
      </p:sp>
      <p:sp>
        <p:nvSpPr>
          <p:cNvPr id="24" name="Shape 21"/>
          <p:cNvSpPr/>
          <p:nvPr/>
        </p:nvSpPr>
        <p:spPr>
          <a:xfrm flipV="1">
            <a:off x="2176272" y="4809744"/>
            <a:ext cx="640080" cy="658368"/>
          </a:xfrm>
          <a:prstGeom prst="line">
            <a:avLst/>
          </a:prstGeom>
          <a:noFill/>
          <a:ln w="21590">
            <a:solidFill>
              <a:srgbClr val="D98A1F"/>
            </a:solidFill>
            <a:prstDash val="solid"/>
          </a:ln>
        </p:spPr>
      </p:sp>
      <p:sp>
        <p:nvSpPr>
          <p:cNvPr id="25" name="Shape 22"/>
          <p:cNvSpPr/>
          <p:nvPr/>
        </p:nvSpPr>
        <p:spPr>
          <a:xfrm>
            <a:off x="2743200" y="4736592"/>
            <a:ext cx="146304" cy="146304"/>
          </a:xfrm>
          <a:prstGeom prst="ellipse">
            <a:avLst/>
          </a:prstGeom>
          <a:solidFill>
            <a:srgbClr val="23408E"/>
          </a:solidFill>
          <a:ln w="12700">
            <a:solidFill>
              <a:srgbClr val="23408E"/>
            </a:solidFill>
            <a:prstDash val="solid"/>
          </a:ln>
        </p:spPr>
      </p:sp>
      <p:sp>
        <p:nvSpPr>
          <p:cNvPr id="26" name="Shape 23"/>
          <p:cNvSpPr/>
          <p:nvPr/>
        </p:nvSpPr>
        <p:spPr>
          <a:xfrm>
            <a:off x="2103120" y="5394960"/>
            <a:ext cx="173736" cy="173736"/>
          </a:xfrm>
          <a:prstGeom prst="ellipse">
            <a:avLst/>
          </a:prstGeom>
          <a:solidFill>
            <a:srgbClr val="D98A1F"/>
          </a:solidFill>
          <a:ln w="12700">
            <a:solidFill>
              <a:srgbClr val="D98A1F"/>
            </a:solidFill>
            <a:prstDash val="solid"/>
          </a:ln>
        </p:spPr>
      </p:sp>
      <p:sp>
        <p:nvSpPr>
          <p:cNvPr id="27" name="Text 24"/>
          <p:cNvSpPr txBox="1"/>
          <p:nvPr/>
        </p:nvSpPr>
        <p:spPr>
          <a:xfrm>
            <a:off x="2971800" y="4846320"/>
            <a:ext cx="2651760" cy="548640"/>
          </a:xfrm>
          <a:prstGeom prst="rect">
            <a:avLst/>
          </a:prstGeom>
          <a:noFill/>
          <a:ln/>
        </p:spPr>
        <p:txBody>
          <a:bodyPr wrap="square" lIns="0" tIns="0" rIns="0" bIns="0" rtlCol="0" anchor="ctr"/>
          <a:lstStyle/>
          <a:p>
            <a:pPr indent="0" marL="0">
              <a:buNone/>
            </a:pPr>
            <a:r>
              <a:rPr lang="en-US" sz="1050" b="1" dirty="0">
                <a:solidFill>
                  <a:srgbClr val="16181D"/>
                </a:solidFill>
                <a:latin typeface="Montserrat" pitchFamily="34" charset="0"/>
                <a:ea typeface="Montserrat" pitchFamily="34" charset="-122"/>
                <a:cs typeface="Montserrat" pitchFamily="34" charset="-120"/>
              </a:rPr>
              <a:t>in-degree 4 &gt; 1</a:t>
            </a:r>
            <a:endParaRPr lang="en-US" sz="1050" dirty="0"/>
          </a:p>
          <a:p>
            <a:pPr indent="0" marL="0">
              <a:buNone/>
            </a:pPr>
            <a:r>
              <a:rPr lang="en-US" sz="1050" b="1" dirty="0">
                <a:solidFill>
                  <a:srgbClr val="16181D"/>
                </a:solidFill>
                <a:latin typeface="Montserrat" pitchFamily="34" charset="0"/>
                <a:ea typeface="Montserrat" pitchFamily="34" charset="-122"/>
                <a:cs typeface="Montserrat" pitchFamily="34" charset="-120"/>
              </a:rPr>
              <a:t>so the graph is not a tree</a:t>
            </a:r>
            <a:endParaRPr lang="en-US" sz="1050" dirty="0"/>
          </a:p>
        </p:txBody>
      </p:sp>
      <p:sp>
        <p:nvSpPr>
          <p:cNvPr id="28" name="Shape 25"/>
          <p:cNvSpPr/>
          <p:nvPr/>
        </p:nvSpPr>
        <p:spPr>
          <a:xfrm>
            <a:off x="6172200" y="4315968"/>
            <a:ext cx="5303520" cy="1737360"/>
          </a:xfrm>
          <a:prstGeom prst="roundRect">
            <a:avLst>
              <a:gd name="adj" fmla="val 2632"/>
            </a:avLst>
          </a:prstGeom>
          <a:solidFill>
            <a:srgbClr val="F4F6FB"/>
          </a:solidFill>
          <a:ln w="12700">
            <a:solidFill>
              <a:srgbClr val="D8DEEC"/>
            </a:solidFill>
            <a:prstDash val="solid"/>
          </a:ln>
        </p:spPr>
      </p:sp>
      <p:sp>
        <p:nvSpPr>
          <p:cNvPr id="29" name="Text 26"/>
          <p:cNvSpPr txBox="1"/>
          <p:nvPr/>
        </p:nvSpPr>
        <p:spPr>
          <a:xfrm>
            <a:off x="6400800" y="4443984"/>
            <a:ext cx="4846320" cy="603504"/>
          </a:xfrm>
          <a:prstGeom prst="rect">
            <a:avLst/>
          </a:prstGeom>
          <a:noFill/>
          <a:ln/>
        </p:spPr>
        <p:txBody>
          <a:bodyPr wrap="square" lIns="0" tIns="0" rIns="0" bIns="0" rtlCol="0" anchor="ctr"/>
          <a:lstStyle/>
          <a:p>
            <a:pPr indent="0" marL="0">
              <a:buNone/>
            </a:pPr>
            <a:r>
              <a:rPr lang="en-US" sz="1350" b="1" dirty="0">
                <a:solidFill>
                  <a:srgbClr val="23408E"/>
                </a:solidFill>
                <a:latin typeface="Montserrat" pitchFamily="34" charset="0"/>
                <a:ea typeface="Montserrat" pitchFamily="34" charset="-122"/>
                <a:cs typeface="Montserrat" pitchFamily="34" charset="-120"/>
              </a:rPr>
              <a:t>An edge (a, b) means a's text was the input that produced b.</a:t>
            </a:r>
            <a:endParaRPr lang="en-US" sz="1350" dirty="0"/>
          </a:p>
        </p:txBody>
      </p:sp>
      <p:sp>
        <p:nvSpPr>
          <p:cNvPr id="30" name="Text 27"/>
          <p:cNvSpPr txBox="1"/>
          <p:nvPr/>
        </p:nvSpPr>
        <p:spPr>
          <a:xfrm>
            <a:off x="6400800" y="5102352"/>
            <a:ext cx="4846320" cy="868680"/>
          </a:xfrm>
          <a:prstGeom prst="rect">
            <a:avLst/>
          </a:prstGeom>
          <a:noFill/>
          <a:ln/>
        </p:spPr>
        <p:txBody>
          <a:bodyPr wrap="square" lIns="0" tIns="0" rIns="0" bIns="0" rtlCol="0" anchor="ctr"/>
          <a:lstStyle/>
          <a:p>
            <a:pPr indent="0" marL="0">
              <a:buNone/>
            </a:pPr>
            <a:r>
              <a:rPr lang="en-US" sz="1200" dirty="0">
                <a:solidFill>
                  <a:srgbClr val="16181D"/>
                </a:solidFill>
                <a:latin typeface="Montserrat" pitchFamily="34" charset="0"/>
                <a:ea typeface="Montserrat" pitchFamily="34" charset="-122"/>
                <a:cs typeface="Montserrat" pitchFamily="34" charset="-120"/>
              </a:rPr>
              <a:t>Edges encode causality, not similarity. A coarsening operator therefore cannot merge vertices because they resemble one another - it must preserve which thoughts can still reach the answer.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Methodology</a:t>
            </a:r>
            <a:endParaRPr lang="en-US" sz="3000" dirty="0"/>
          </a:p>
        </p:txBody>
      </p:sp>
      <p:sp>
        <p:nvSpPr>
          <p:cNvPr id="7" name="Shape 5"/>
          <p:cNvSpPr/>
          <p:nvPr/>
        </p:nvSpPr>
        <p:spPr>
          <a:xfrm>
            <a:off x="621792" y="914400"/>
            <a:ext cx="402336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459028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676656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3) Datasets - synthetic, with computed ground truth</a:t>
            </a:r>
            <a:endParaRPr lang="en-US" sz="15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6766560" cy="914400"/>
        </p:xfrm>
        <a:graphic>
          <a:graphicData uri="http://schemas.openxmlformats.org/drawingml/2006/table">
            <a:tbl>
              <a:tblPr/>
              <a:tblGrid>
                <a:gridCol w="1645920"/>
                <a:gridCol w="2423160"/>
                <a:gridCol w="1600200"/>
                <a:gridCol w="1097280"/>
              </a:tblGrid>
              <a:tr h="347472">
                <a:tc>
                  <a:txBody>
                    <a:bodyPr/>
                    <a:lstStyle/>
                    <a:p>
                      <a:pPr indent="0" marL="0">
                        <a:buNone/>
                      </a:pPr>
                      <a:r>
                        <a:rPr lang="en-US" sz="1150" b="1" dirty="0">
                          <a:solidFill>
                            <a:srgbClr val="FFFFFF"/>
                          </a:solidFill>
                          <a:latin typeface="Montserrat" pitchFamily="34" charset="0"/>
                          <a:ea typeface="Montserrat" pitchFamily="34" charset="-122"/>
                          <a:cs typeface="Montserrat" pitchFamily="34" charset="-120"/>
                        </a:rPr>
                        <a:t>Task</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150" b="1" dirty="0">
                          <a:solidFill>
                            <a:srgbClr val="FFFFFF"/>
                          </a:solidFill>
                          <a:latin typeface="Montserrat" pitchFamily="34" charset="0"/>
                          <a:ea typeface="Montserrat" pitchFamily="34" charset="-122"/>
                          <a:cs typeface="Montserrat" pitchFamily="34" charset="-120"/>
                        </a:rPr>
                        <a:t>Input</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150" b="1" dirty="0">
                          <a:solidFill>
                            <a:srgbClr val="FFFFFF"/>
                          </a:solidFill>
                          <a:latin typeface="Montserrat" pitchFamily="34" charset="0"/>
                          <a:ea typeface="Montserrat" pitchFamily="34" charset="-122"/>
                          <a:cs typeface="Montserrat" pitchFamily="34" charset="-120"/>
                        </a:rPr>
                        <a:t>Sizes</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150" b="1" dirty="0">
                          <a:solidFill>
                            <a:srgbClr val="FFFFFF"/>
                          </a:solidFill>
                          <a:latin typeface="Montserrat" pitchFamily="34" charset="0"/>
                          <a:ea typeface="Montserrat" pitchFamily="34" charset="-122"/>
                          <a:cs typeface="Montserrat" pitchFamily="34" charset="-120"/>
                        </a:rPr>
                        <a:t>Instances</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r>
              <a:tr h="347472">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Sorting</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digits 0-9 with duplicates</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32 / 64 / 128</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100</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47472">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Set intersection</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two sets, 25-75% overlap</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32 / 64 / 128</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100</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Keyword counting</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country mentions in text</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4 / 8 / 16 sentences</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47472">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Document merging</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overlapping NDA documents</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4 documents</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bl>
          </a:graphicData>
        </a:graphic>
      </p:graphicFrame>
      <p:sp>
        <p:nvSpPr>
          <p:cNvPr id="12" name="Text 9"/>
          <p:cNvSpPr txBox="1"/>
          <p:nvPr/>
        </p:nvSpPr>
        <p:spPr>
          <a:xfrm>
            <a:off x="685800" y="3291840"/>
            <a:ext cx="6766560" cy="411480"/>
          </a:xfrm>
          <a:prstGeom prst="rect">
            <a:avLst/>
          </a:prstGeom>
          <a:noFill/>
          <a:ln/>
        </p:spPr>
        <p:txBody>
          <a:bodyPr wrap="square" lIns="0" tIns="0" rIns="0" bIns="0" rtlCol="0" anchor="ctr"/>
          <a:lstStyle/>
          <a:p>
            <a:pPr indent="0" marL="0">
              <a:buNone/>
            </a:pPr>
            <a:r>
              <a:rPr lang="en-US" sz="1200" i="1" dirty="0">
                <a:solidFill>
                  <a:srgbClr val="63697A"/>
                </a:solidFill>
                <a:latin typeface="Montserrat" pitchFamily="34" charset="0"/>
                <a:ea typeface="Montserrat" pitchFamily="34" charset="-122"/>
                <a:cs typeface="Montserrat" pitchFamily="34" charset="-120"/>
              </a:rPr>
              <a:t>Run on the authors' own published CSV files, byte for byte - eliminating differing random data as an explanation for any discrepancy.</a:t>
            </a:r>
            <a:endParaRPr lang="en-US" sz="1200" dirty="0"/>
          </a:p>
        </p:txBody>
      </p:sp>
      <p:sp>
        <p:nvSpPr>
          <p:cNvPr id="13" name="Text 10"/>
          <p:cNvSpPr txBox="1"/>
          <p:nvPr/>
        </p:nvSpPr>
        <p:spPr>
          <a:xfrm>
            <a:off x="685800" y="3794760"/>
            <a:ext cx="676656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4) Models and infrastructure</a:t>
            </a:r>
            <a:endParaRPr lang="en-US" sz="155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85800" y="4160520"/>
          <a:ext cx="6766560" cy="914400"/>
        </p:xfrm>
        <a:graphic>
          <a:graphicData uri="http://schemas.openxmlformats.org/drawingml/2006/table">
            <a:tbl>
              <a:tblPr/>
              <a:tblGrid>
                <a:gridCol w="1234440"/>
                <a:gridCol w="2788920"/>
                <a:gridCol w="2743200"/>
              </a:tblGrid>
              <a:tr h="347472">
                <a:tc>
                  <a:txBody>
                    <a:bodyPr/>
                    <a:lstStyle/>
                    <a:p>
                      <a:pPr indent="0" marL="0">
                        <a:buNone/>
                      </a:pP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150" b="1" dirty="0">
                          <a:solidFill>
                            <a:srgbClr val="FFFFFF"/>
                          </a:solidFill>
                          <a:latin typeface="Montserrat" pitchFamily="34" charset="0"/>
                          <a:ea typeface="Montserrat" pitchFamily="34" charset="-122"/>
                          <a:cs typeface="Montserrat" pitchFamily="34" charset="-120"/>
                        </a:rPr>
                        <a:t>Original paper</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150" b="1" dirty="0">
                          <a:solidFill>
                            <a:srgbClr val="FFFFFF"/>
                          </a:solidFill>
                          <a:latin typeface="Montserrat" pitchFamily="34" charset="0"/>
                          <a:ea typeface="Montserrat" pitchFamily="34" charset="-122"/>
                          <a:cs typeface="Montserrat" pitchFamily="34" charset="-120"/>
                        </a:rPr>
                        <a:t>This work</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r>
              <a:tr h="347472">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Model</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ChatGPT-3.5 (closed API)</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Qwen2.5-7B-Instruct (open)</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47472">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Serving</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Vendor API</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vLLM on NVIDIA RTX A6000</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Sampling</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Temperature 1.0, 4k context</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Identical</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47472">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Samples</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100 per configuration</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100 per configuration</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bl>
          </a:graphicData>
        </a:graphic>
      </p:graphicFrame>
      <p:sp>
        <p:nvSpPr>
          <p:cNvPr id="15" name="Shape 11"/>
          <p:cNvSpPr/>
          <p:nvPr/>
        </p:nvSpPr>
        <p:spPr>
          <a:xfrm>
            <a:off x="7863840" y="1554480"/>
            <a:ext cx="3657600" cy="3977640"/>
          </a:xfrm>
          <a:prstGeom prst="roundRect">
            <a:avLst>
              <a:gd name="adj" fmla="val 1250"/>
            </a:avLst>
          </a:prstGeom>
          <a:solidFill>
            <a:srgbClr val="F4F6FB"/>
          </a:solidFill>
          <a:ln w="12700">
            <a:solidFill>
              <a:srgbClr val="D8DEEC"/>
            </a:solidFill>
            <a:prstDash val="solid"/>
          </a:ln>
        </p:spPr>
      </p:sp>
      <p:sp>
        <p:nvSpPr>
          <p:cNvPr id="16" name="Text 12"/>
          <p:cNvSpPr txBox="1"/>
          <p:nvPr/>
        </p:nvSpPr>
        <p:spPr>
          <a:xfrm>
            <a:off x="8092440" y="1719072"/>
            <a:ext cx="3200400" cy="274320"/>
          </a:xfrm>
          <a:prstGeom prst="rect">
            <a:avLst/>
          </a:prstGeom>
          <a:noFill/>
          <a:ln/>
        </p:spPr>
        <p:txBody>
          <a:bodyPr wrap="square" lIns="0" tIns="0" rIns="0" bIns="0" rtlCol="0" anchor="ctr"/>
          <a:lstStyle/>
          <a:p>
            <a:pPr indent="0" marL="0">
              <a:buNone/>
            </a:pPr>
            <a:r>
              <a:rPr lang="en-US" sz="1300" b="1" dirty="0">
                <a:solidFill>
                  <a:srgbClr val="23408E"/>
                </a:solidFill>
                <a:latin typeface="Montserrat" pitchFamily="34" charset="0"/>
                <a:ea typeface="Montserrat" pitchFamily="34" charset="-122"/>
                <a:cs typeface="Montserrat" pitchFamily="34" charset="-120"/>
              </a:rPr>
              <a:t>Experimental control</a:t>
            </a:r>
            <a:endParaRPr lang="en-US" sz="1300" dirty="0"/>
          </a:p>
        </p:txBody>
      </p:sp>
      <p:sp>
        <p:nvSpPr>
          <p:cNvPr id="17" name="Text 13"/>
          <p:cNvSpPr txBox="1"/>
          <p:nvPr/>
        </p:nvSpPr>
        <p:spPr>
          <a:xfrm>
            <a:off x="8092440" y="2066544"/>
            <a:ext cx="3200400" cy="713232"/>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All five schemes share one controller, one backend, one prompt set and one scorer.</a:t>
            </a:r>
            <a:endParaRPr lang="en-US" sz="1300" dirty="0"/>
          </a:p>
        </p:txBody>
      </p:sp>
      <p:sp>
        <p:nvSpPr>
          <p:cNvPr id="18" name="Text 14"/>
          <p:cNvSpPr txBox="1"/>
          <p:nvPr/>
        </p:nvSpPr>
        <p:spPr>
          <a:xfrm>
            <a:off x="8092440" y="2798064"/>
            <a:ext cx="3200400" cy="658368"/>
          </a:xfrm>
          <a:prstGeom prst="rect">
            <a:avLst/>
          </a:prstGeom>
          <a:noFill/>
          <a:ln/>
        </p:spPr>
        <p:txBody>
          <a:bodyPr wrap="square" lIns="0" tIns="0" rIns="0" bIns="0" rtlCol="0" anchor="ctr"/>
          <a:lstStyle/>
          <a:p>
            <a:pPr indent="0" marL="0">
              <a:buNone/>
            </a:pPr>
            <a:r>
              <a:rPr lang="en-US" sz="1200" b="1" dirty="0">
                <a:solidFill>
                  <a:srgbClr val="D98A1F"/>
                </a:solidFill>
                <a:latin typeface="Montserrat" pitchFamily="34" charset="0"/>
                <a:ea typeface="Montserrat" pitchFamily="34" charset="-122"/>
                <a:cs typeface="Montserrat" pitchFamily="34" charset="-120"/>
              </a:rPr>
              <a:t>Any measured difference is therefore attributable to graph structure alone.</a:t>
            </a:r>
            <a:endParaRPr lang="en-US" sz="1200" dirty="0"/>
          </a:p>
        </p:txBody>
      </p:sp>
      <p:sp>
        <p:nvSpPr>
          <p:cNvPr id="19" name="Text 15"/>
          <p:cNvSpPr txBox="1"/>
          <p:nvPr/>
        </p:nvSpPr>
        <p:spPr>
          <a:xfrm>
            <a:off x="8092440" y="3611880"/>
            <a:ext cx="868680" cy="384048"/>
          </a:xfrm>
          <a:prstGeom prst="rect">
            <a:avLst/>
          </a:prstGeom>
          <a:noFill/>
          <a:ln/>
        </p:spPr>
        <p:txBody>
          <a:bodyPr wrap="square" lIns="0" tIns="0" rIns="0" bIns="0" rtlCol="0" anchor="ctr"/>
          <a:lstStyle/>
          <a:p>
            <a:pPr indent="0" marL="0">
              <a:buNone/>
            </a:pPr>
            <a:r>
              <a:rPr lang="en-US" sz="2100" b="1" dirty="0">
                <a:solidFill>
                  <a:srgbClr val="23408E"/>
                </a:solidFill>
                <a:latin typeface="Montserrat" pitchFamily="34" charset="0"/>
                <a:ea typeface="Montserrat" pitchFamily="34" charset="-122"/>
                <a:cs typeface="Montserrat" pitchFamily="34" charset="-120"/>
              </a:rPr>
              <a:t>5</a:t>
            </a:r>
            <a:endParaRPr lang="en-US" sz="2100" dirty="0"/>
          </a:p>
        </p:txBody>
      </p:sp>
      <p:sp>
        <p:nvSpPr>
          <p:cNvPr id="20" name="Text 16"/>
          <p:cNvSpPr txBox="1"/>
          <p:nvPr/>
        </p:nvSpPr>
        <p:spPr>
          <a:xfrm>
            <a:off x="8961120" y="3703320"/>
            <a:ext cx="2331720" cy="274320"/>
          </a:xfrm>
          <a:prstGeom prst="rect">
            <a:avLst/>
          </a:prstGeom>
          <a:noFill/>
          <a:ln/>
        </p:spPr>
        <p:txBody>
          <a:bodyPr wrap="square" lIns="0" tIns="0" rIns="0" bIns="0" rtlCol="0" anchor="ctr"/>
          <a:lstStyle/>
          <a:p>
            <a:pPr indent="0" marL="0">
              <a:buNone/>
            </a:pPr>
            <a:r>
              <a:rPr lang="en-US" sz="1000" dirty="0">
                <a:solidFill>
                  <a:srgbClr val="63697A"/>
                </a:solidFill>
                <a:latin typeface="Montserrat" pitchFamily="34" charset="0"/>
                <a:ea typeface="Montserrat" pitchFamily="34" charset="-122"/>
                <a:cs typeface="Montserrat" pitchFamily="34" charset="-120"/>
              </a:rPr>
              <a:t>schemes on one engine</a:t>
            </a:r>
            <a:endParaRPr lang="en-US" sz="1000" dirty="0"/>
          </a:p>
        </p:txBody>
      </p:sp>
      <p:sp>
        <p:nvSpPr>
          <p:cNvPr id="21" name="Text 17"/>
          <p:cNvSpPr txBox="1"/>
          <p:nvPr/>
        </p:nvSpPr>
        <p:spPr>
          <a:xfrm>
            <a:off x="8092440" y="4233672"/>
            <a:ext cx="868680" cy="384048"/>
          </a:xfrm>
          <a:prstGeom prst="rect">
            <a:avLst/>
          </a:prstGeom>
          <a:noFill/>
          <a:ln/>
        </p:spPr>
        <p:txBody>
          <a:bodyPr wrap="square" lIns="0" tIns="0" rIns="0" bIns="0" rtlCol="0" anchor="ctr"/>
          <a:lstStyle/>
          <a:p>
            <a:pPr indent="0" marL="0">
              <a:buNone/>
            </a:pPr>
            <a:r>
              <a:rPr lang="en-US" sz="2100" b="1" dirty="0">
                <a:solidFill>
                  <a:srgbClr val="23408E"/>
                </a:solidFill>
                <a:latin typeface="Montserrat" pitchFamily="34" charset="0"/>
                <a:ea typeface="Montserrat" pitchFamily="34" charset="-122"/>
                <a:cs typeface="Montserrat" pitchFamily="34" charset="-120"/>
              </a:rPr>
              <a:t>4</a:t>
            </a:r>
            <a:endParaRPr lang="en-US" sz="2100" dirty="0"/>
          </a:p>
        </p:txBody>
      </p:sp>
      <p:sp>
        <p:nvSpPr>
          <p:cNvPr id="22" name="Text 18"/>
          <p:cNvSpPr txBox="1"/>
          <p:nvPr/>
        </p:nvSpPr>
        <p:spPr>
          <a:xfrm>
            <a:off x="8961120" y="4325112"/>
            <a:ext cx="2331720" cy="274320"/>
          </a:xfrm>
          <a:prstGeom prst="rect">
            <a:avLst/>
          </a:prstGeom>
          <a:noFill/>
          <a:ln/>
        </p:spPr>
        <p:txBody>
          <a:bodyPr wrap="square" lIns="0" tIns="0" rIns="0" bIns="0" rtlCol="0" anchor="ctr"/>
          <a:lstStyle/>
          <a:p>
            <a:pPr indent="0" marL="0">
              <a:buNone/>
            </a:pPr>
            <a:r>
              <a:rPr lang="en-US" sz="1000" dirty="0">
                <a:solidFill>
                  <a:srgbClr val="63697A"/>
                </a:solidFill>
                <a:latin typeface="Montserrat" pitchFamily="34" charset="0"/>
                <a:ea typeface="Montserrat" pitchFamily="34" charset="-122"/>
                <a:cs typeface="Montserrat" pitchFamily="34" charset="-120"/>
              </a:rPr>
              <a:t>interchangeable backends</a:t>
            </a:r>
            <a:endParaRPr lang="en-US" sz="1000" dirty="0"/>
          </a:p>
        </p:txBody>
      </p:sp>
      <p:sp>
        <p:nvSpPr>
          <p:cNvPr id="23" name="Text 19"/>
          <p:cNvSpPr txBox="1"/>
          <p:nvPr/>
        </p:nvSpPr>
        <p:spPr>
          <a:xfrm>
            <a:off x="8092440" y="4855464"/>
            <a:ext cx="868680" cy="384048"/>
          </a:xfrm>
          <a:prstGeom prst="rect">
            <a:avLst/>
          </a:prstGeom>
          <a:noFill/>
          <a:ln/>
        </p:spPr>
        <p:txBody>
          <a:bodyPr wrap="square" lIns="0" tIns="0" rIns="0" bIns="0" rtlCol="0" anchor="ctr"/>
          <a:lstStyle/>
          <a:p>
            <a:pPr indent="0" marL="0">
              <a:buNone/>
            </a:pPr>
            <a:r>
              <a:rPr lang="en-US" sz="2100" b="1" dirty="0">
                <a:solidFill>
                  <a:srgbClr val="23408E"/>
                </a:solidFill>
                <a:latin typeface="Montserrat" pitchFamily="34" charset="0"/>
                <a:ea typeface="Montserrat" pitchFamily="34" charset="-122"/>
                <a:cs typeface="Montserrat" pitchFamily="34" charset="-120"/>
              </a:rPr>
              <a:t>60</a:t>
            </a:r>
            <a:endParaRPr lang="en-US" sz="2100" dirty="0"/>
          </a:p>
        </p:txBody>
      </p:sp>
      <p:sp>
        <p:nvSpPr>
          <p:cNvPr id="24" name="Text 20"/>
          <p:cNvSpPr txBox="1"/>
          <p:nvPr/>
        </p:nvSpPr>
        <p:spPr>
          <a:xfrm>
            <a:off x="8961120" y="4946904"/>
            <a:ext cx="2331720" cy="274320"/>
          </a:xfrm>
          <a:prstGeom prst="rect">
            <a:avLst/>
          </a:prstGeom>
          <a:noFill/>
          <a:ln/>
        </p:spPr>
        <p:txBody>
          <a:bodyPr wrap="square" lIns="0" tIns="0" rIns="0" bIns="0" rtlCol="0" anchor="ctr"/>
          <a:lstStyle/>
          <a:p>
            <a:pPr indent="0" marL="0">
              <a:buNone/>
            </a:pPr>
            <a:r>
              <a:rPr lang="en-US" sz="1000" dirty="0">
                <a:solidFill>
                  <a:srgbClr val="63697A"/>
                </a:solidFill>
                <a:latin typeface="Montserrat" pitchFamily="34" charset="0"/>
                <a:ea typeface="Montserrat" pitchFamily="34" charset="-122"/>
                <a:cs typeface="Montserrat" pitchFamily="34" charset="-120"/>
              </a:rPr>
              <a:t>automated tests per run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Results &amp; Discussion</a:t>
            </a:r>
            <a:endParaRPr lang="en-US" sz="3000" dirty="0"/>
          </a:p>
        </p:txBody>
      </p:sp>
      <p:sp>
        <p:nvSpPr>
          <p:cNvPr id="7" name="Shape 5"/>
          <p:cNvSpPr/>
          <p:nvPr/>
        </p:nvSpPr>
        <p:spPr>
          <a:xfrm>
            <a:off x="621792" y="914400"/>
            <a:ext cx="60350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66019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Structural claims - model-independent, and reproduced exactly</a:t>
            </a:r>
            <a:endParaRPr lang="en-US" sz="15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572768"/>
          <a:ext cx="5669280" cy="914400"/>
        </p:xfrm>
        <a:graphic>
          <a:graphicData uri="http://schemas.openxmlformats.org/drawingml/2006/table">
            <a:tbl>
              <a:tblPr/>
              <a:tblGrid>
                <a:gridCol w="1463040"/>
                <a:gridCol w="1371600"/>
                <a:gridCol w="1371600"/>
                <a:gridCol w="1463040"/>
              </a:tblGrid>
              <a:tr h="365760">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Scheme</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Volume</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Latency</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Aggregations</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r>
              <a:tr h="365760">
                <a:tc>
                  <a:txBody>
                    <a:bodyPr/>
                    <a:lstStyle/>
                    <a:p>
                      <a:pPr indent="0" marL="0">
                        <a:buNone/>
                      </a:pPr>
                      <a:r>
                        <a:rPr lang="en-US" sz="1000" b="1" dirty="0">
                          <a:solidFill>
                            <a:srgbClr val="16181D"/>
                          </a:solidFill>
                          <a:latin typeface="Montserrat" pitchFamily="34" charset="0"/>
                          <a:ea typeface="Montserrat" pitchFamily="34" charset="-122"/>
                          <a:cs typeface="Montserrat" pitchFamily="34" charset="-120"/>
                        </a:rPr>
                        <a:t>IO</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1.0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1.0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65760">
                <a:tc>
                  <a:txBody>
                    <a:bodyPr/>
                    <a:lstStyle/>
                    <a:p>
                      <a:pPr indent="0" marL="0">
                        <a:buNone/>
                      </a:pPr>
                      <a:r>
                        <a:rPr lang="en-US" sz="1000" b="1" dirty="0">
                          <a:solidFill>
                            <a:srgbClr val="16181D"/>
                          </a:solidFill>
                          <a:latin typeface="Montserrat" pitchFamily="34" charset="0"/>
                          <a:ea typeface="Montserrat" pitchFamily="34" charset="-122"/>
                          <a:cs typeface="Montserrat" pitchFamily="34" charset="-120"/>
                        </a:rPr>
                        <a:t>CoT</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2.0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2.0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6181D"/>
                          </a:solidFill>
                          <a:latin typeface="Montserrat" pitchFamily="34" charset="0"/>
                          <a:ea typeface="Montserrat" pitchFamily="34" charset="-122"/>
                          <a:cs typeface="Montserrat" pitchFamily="34" charset="-120"/>
                        </a:rPr>
                        <a:t>CoT-SC</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2.0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2.0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65760">
                <a:tc>
                  <a:txBody>
                    <a:bodyPr/>
                    <a:lstStyle/>
                    <a:p>
                      <a:pPr indent="0" marL="0">
                        <a:buNone/>
                      </a:pPr>
                      <a:r>
                        <a:rPr lang="en-US" sz="1000" b="1" dirty="0">
                          <a:solidFill>
                            <a:srgbClr val="16181D"/>
                          </a:solidFill>
                          <a:latin typeface="Montserrat" pitchFamily="34" charset="0"/>
                          <a:ea typeface="Montserrat" pitchFamily="34" charset="-122"/>
                          <a:cs typeface="Montserrat" pitchFamily="34" charset="-120"/>
                        </a:rPr>
                        <a:t>ToT</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5.3</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5.3</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GoT</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20.0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9.0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15</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r>
            </a:tbl>
          </a:graphicData>
        </a:graphic>
      </p:graphicFrame>
      <p:sp>
        <p:nvSpPr>
          <p:cNvPr id="12" name="Text 9"/>
          <p:cNvSpPr txBox="1"/>
          <p:nvPr/>
        </p:nvSpPr>
        <p:spPr>
          <a:xfrm>
            <a:off x="685800" y="3931920"/>
            <a:ext cx="5669280" cy="1143000"/>
          </a:xfrm>
          <a:prstGeom prst="rect">
            <a:avLst/>
          </a:prstGeom>
          <a:noFill/>
          <a:ln/>
        </p:spPr>
        <p:txBody>
          <a:bodyPr wrap="square" lIns="0" tIns="0" rIns="0" bIns="0" rtlCol="0" anchor="ctr"/>
          <a:lstStyle/>
          <a:p>
            <a:pPr indent="0" marL="0">
              <a:lnSpc>
                <a:spcPct val="106000"/>
              </a:lnSpc>
              <a:buNone/>
            </a:pPr>
            <a:r>
              <a:rPr lang="en-US" sz="1050" dirty="0">
                <a:solidFill>
                  <a:srgbClr val="16181D"/>
                </a:solidFill>
                <a:latin typeface="Montserrat" pitchFamily="34" charset="0"/>
                <a:ea typeface="Montserrat" pitchFamily="34" charset="-122"/>
                <a:cs typeface="Montserrat" pitchFamily="34" charset="-120"/>
              </a:rPr>
              <a:t>Volume is the number of prior thoughts with a causal path to the final answer; latency is the count of sequential model calls. Both are properties of the graph, so they cannot vary with model quality - a deviation here would indicate a defect, not a finding.</a:t>
            </a:r>
            <a:endParaRPr lang="en-US" sz="1050" dirty="0"/>
          </a:p>
        </p:txBody>
      </p:sp>
      <p:sp>
        <p:nvSpPr>
          <p:cNvPr id="13" name="Shape 10"/>
          <p:cNvSpPr/>
          <p:nvPr/>
        </p:nvSpPr>
        <p:spPr>
          <a:xfrm>
            <a:off x="685800" y="5212080"/>
            <a:ext cx="5669280" cy="868680"/>
          </a:xfrm>
          <a:prstGeom prst="roundRect">
            <a:avLst>
              <a:gd name="adj" fmla="val 5263"/>
            </a:avLst>
          </a:prstGeom>
          <a:solidFill>
            <a:srgbClr val="E8F4F1"/>
          </a:solidFill>
          <a:ln w="12700">
            <a:solidFill>
              <a:srgbClr val="D8DEEC"/>
            </a:solidFill>
            <a:prstDash val="solid"/>
          </a:ln>
        </p:spPr>
      </p:sp>
      <p:sp>
        <p:nvSpPr>
          <p:cNvPr id="14" name="Text 11"/>
          <p:cNvSpPr txBox="1"/>
          <p:nvPr/>
        </p:nvSpPr>
        <p:spPr>
          <a:xfrm>
            <a:off x="914400" y="5358384"/>
            <a:ext cx="5212080" cy="585216"/>
          </a:xfrm>
          <a:prstGeom prst="rect">
            <a:avLst/>
          </a:prstGeom>
          <a:noFill/>
          <a:ln/>
        </p:spPr>
        <p:txBody>
          <a:bodyPr wrap="square" lIns="0" tIns="0" rIns="0" bIns="0" rtlCol="0" anchor="ctr"/>
          <a:lstStyle/>
          <a:p>
            <a:pPr indent="0" marL="0">
              <a:buNone/>
            </a:pPr>
            <a:r>
              <a:rPr lang="en-US" sz="1300" b="1" dirty="0">
                <a:solidFill>
                  <a:srgbClr val="0F7B6C"/>
                </a:solidFill>
                <a:latin typeface="Montserrat" pitchFamily="34" charset="0"/>
                <a:ea typeface="Montserrat" pitchFamily="34" charset="-122"/>
                <a:cs typeface="Montserrat" pitchFamily="34" charset="-120"/>
              </a:rPr>
              <a:t>Graph of Thoughts is the only scheme that aggregates - measured, not assumed. Every other scheme reports exactly zero.</a:t>
            </a:r>
            <a:endParaRPr lang="en-US" sz="1300" dirty="0"/>
          </a:p>
        </p:txBody>
      </p:sp>
      <p:graphicFrame>
        <p:nvGraphicFramePr>
          <p:cNvPr id="15" name="Chart 0" descr=""/>
          <p:cNvGraphicFramePr/>
          <p:nvPr/>
        </p:nvGraphicFramePr>
        <p:xfrm>
          <a:off x="6675120" y="1572768"/>
          <a:ext cx="484632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Results &amp; Discussion</a:t>
            </a:r>
            <a:endParaRPr lang="en-US" sz="3000" dirty="0"/>
          </a:p>
        </p:txBody>
      </p:sp>
      <p:sp>
        <p:nvSpPr>
          <p:cNvPr id="7" name="Shape 5"/>
          <p:cNvSpPr/>
          <p:nvPr/>
        </p:nvSpPr>
        <p:spPr>
          <a:xfrm>
            <a:off x="621792" y="914400"/>
            <a:ext cx="60350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66019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Quality - the paper's claim does not reproduce at 7B</a:t>
            </a:r>
            <a:endParaRPr lang="en-US" sz="1550" dirty="0"/>
          </a:p>
        </p:txBody>
      </p:sp>
      <p:graphicFrame>
        <p:nvGraphicFramePr>
          <p:cNvPr id="11" name="Chart 0" descr=""/>
          <p:cNvGraphicFramePr/>
          <p:nvPr/>
        </p:nvGraphicFramePr>
        <p:xfrm>
          <a:off x="685800" y="1572768"/>
          <a:ext cx="5760720" cy="342900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685800" y="5138928"/>
            <a:ext cx="5760720" cy="457200"/>
          </a:xfrm>
          <a:prstGeom prst="rect">
            <a:avLst/>
          </a:prstGeom>
          <a:noFill/>
          <a:ln/>
        </p:spPr>
        <p:txBody>
          <a:bodyPr wrap="square" lIns="0" tIns="0" rIns="0" bIns="0" rtlCol="0" anchor="ctr"/>
          <a:lstStyle/>
          <a:p>
            <a:pPr indent="0" marL="0">
              <a:lnSpc>
                <a:spcPct val="106000"/>
              </a:lnSpc>
              <a:buNone/>
            </a:pPr>
            <a:r>
              <a:rPr lang="en-US" sz="1000" dirty="0">
                <a:solidFill>
                  <a:srgbClr val="63697A"/>
                </a:solidFill>
                <a:latin typeface="Montserrat" pitchFamily="34" charset="0"/>
                <a:ea typeface="Montserrat" pitchFamily="34" charset="-122"/>
                <a:cs typeface="Montserrat" pitchFamily="34" charset="-120"/>
              </a:rPr>
              <a:t>Parse-failure rate was 0.0% for every scheme, so the pipeline is sound and the ordering is meaningful.</a:t>
            </a:r>
            <a:endParaRPr lang="en-US" sz="1000" dirty="0"/>
          </a:p>
        </p:txBody>
      </p:sp>
      <p:sp>
        <p:nvSpPr>
          <p:cNvPr id="13" name="Shape 10"/>
          <p:cNvSpPr/>
          <p:nvPr/>
        </p:nvSpPr>
        <p:spPr>
          <a:xfrm>
            <a:off x="6766560" y="1572768"/>
            <a:ext cx="4754880" cy="1371600"/>
          </a:xfrm>
          <a:prstGeom prst="roundRect">
            <a:avLst>
              <a:gd name="adj" fmla="val 3333"/>
            </a:avLst>
          </a:prstGeom>
          <a:solidFill>
            <a:srgbClr val="E8F4F1"/>
          </a:solidFill>
          <a:ln w="12700">
            <a:solidFill>
              <a:srgbClr val="D8DEEC"/>
            </a:solidFill>
            <a:prstDash val="solid"/>
          </a:ln>
        </p:spPr>
      </p:sp>
      <p:sp>
        <p:nvSpPr>
          <p:cNvPr id="14" name="Text 11"/>
          <p:cNvSpPr txBox="1"/>
          <p:nvPr/>
        </p:nvSpPr>
        <p:spPr>
          <a:xfrm>
            <a:off x="6995160" y="1709928"/>
            <a:ext cx="4297680" cy="256032"/>
          </a:xfrm>
          <a:prstGeom prst="rect">
            <a:avLst/>
          </a:prstGeom>
          <a:noFill/>
          <a:ln/>
        </p:spPr>
        <p:txBody>
          <a:bodyPr wrap="square" lIns="0" tIns="0" rIns="0" bIns="0" rtlCol="0" anchor="ctr"/>
          <a:lstStyle/>
          <a:p>
            <a:pPr indent="0" marL="0">
              <a:buNone/>
            </a:pPr>
            <a:r>
              <a:rPr lang="en-US" sz="1300" b="1" dirty="0">
                <a:solidFill>
                  <a:srgbClr val="0F7B6C"/>
                </a:solidFill>
                <a:latin typeface="Montserrat" pitchFamily="34" charset="0"/>
                <a:ea typeface="Montserrat" pitchFamily="34" charset="-122"/>
                <a:cs typeface="Montserrat" pitchFamily="34" charset="-120"/>
              </a:rPr>
              <a:t>Structure does help</a:t>
            </a:r>
            <a:endParaRPr lang="en-US" sz="1300" dirty="0"/>
          </a:p>
        </p:txBody>
      </p:sp>
      <p:sp>
        <p:nvSpPr>
          <p:cNvPr id="15" name="Text 12"/>
          <p:cNvSpPr txBox="1"/>
          <p:nvPr/>
        </p:nvSpPr>
        <p:spPr>
          <a:xfrm>
            <a:off x="6995160" y="2002536"/>
            <a:ext cx="4297680" cy="822960"/>
          </a:xfrm>
          <a:prstGeom prst="rect">
            <a:avLst/>
          </a:prstGeom>
          <a:noFill/>
          <a:ln/>
        </p:spPr>
        <p:txBody>
          <a:bodyPr wrap="square" lIns="0" tIns="0" rIns="0" bIns="0" rtlCol="0" anchor="ctr"/>
          <a:lstStyle/>
          <a:p>
            <a:pPr indent="0" marL="0">
              <a:buNone/>
            </a:pPr>
            <a:r>
              <a:rPr lang="en-US" sz="1250" dirty="0">
                <a:solidFill>
                  <a:srgbClr val="16181D"/>
                </a:solidFill>
                <a:latin typeface="Montserrat" pitchFamily="34" charset="0"/>
                <a:ea typeface="Montserrat" pitchFamily="34" charset="-122"/>
                <a:cs typeface="Montserrat" pitchFamily="34" charset="-120"/>
              </a:rPr>
              <a:t>Graph of Thoughts improves on direct prompting by 15.8%, and all structural claims hold exactly.</a:t>
            </a:r>
            <a:endParaRPr lang="en-US" sz="1250" dirty="0"/>
          </a:p>
        </p:txBody>
      </p:sp>
      <p:sp>
        <p:nvSpPr>
          <p:cNvPr id="16" name="Shape 13"/>
          <p:cNvSpPr/>
          <p:nvPr/>
        </p:nvSpPr>
        <p:spPr>
          <a:xfrm>
            <a:off x="6766560" y="3090672"/>
            <a:ext cx="4754880" cy="1463040"/>
          </a:xfrm>
          <a:prstGeom prst="roundRect">
            <a:avLst>
              <a:gd name="adj" fmla="val 3125"/>
            </a:avLst>
          </a:prstGeom>
          <a:solidFill>
            <a:srgbClr val="FBEBE9"/>
          </a:solidFill>
          <a:ln w="12700">
            <a:solidFill>
              <a:srgbClr val="D8DEEC"/>
            </a:solidFill>
            <a:prstDash val="solid"/>
          </a:ln>
        </p:spPr>
      </p:sp>
      <p:sp>
        <p:nvSpPr>
          <p:cNvPr id="17" name="Text 14"/>
          <p:cNvSpPr txBox="1"/>
          <p:nvPr/>
        </p:nvSpPr>
        <p:spPr>
          <a:xfrm>
            <a:off x="6995160" y="3227832"/>
            <a:ext cx="4297680" cy="256032"/>
          </a:xfrm>
          <a:prstGeom prst="rect">
            <a:avLst/>
          </a:prstGeom>
          <a:noFill/>
          <a:ln/>
        </p:spPr>
        <p:txBody>
          <a:bodyPr wrap="square" lIns="0" tIns="0" rIns="0" bIns="0" rtlCol="0" anchor="ctr"/>
          <a:lstStyle/>
          <a:p>
            <a:pPr indent="0" marL="0">
              <a:buNone/>
            </a:pPr>
            <a:r>
              <a:rPr lang="en-US" sz="1300" b="1" dirty="0">
                <a:solidFill>
                  <a:srgbClr val="C0392B"/>
                </a:solidFill>
                <a:latin typeface="Montserrat" pitchFamily="34" charset="0"/>
                <a:ea typeface="Montserrat" pitchFamily="34" charset="-122"/>
                <a:cs typeface="Montserrat" pitchFamily="34" charset="-120"/>
              </a:rPr>
              <a:t>But Tree of Thoughts wins here</a:t>
            </a:r>
            <a:endParaRPr lang="en-US" sz="1300" dirty="0"/>
          </a:p>
        </p:txBody>
      </p:sp>
      <p:sp>
        <p:nvSpPr>
          <p:cNvPr id="18" name="Text 15"/>
          <p:cNvSpPr txBox="1"/>
          <p:nvPr/>
        </p:nvSpPr>
        <p:spPr>
          <a:xfrm>
            <a:off x="6995160" y="3520440"/>
            <a:ext cx="4297680" cy="530352"/>
          </a:xfrm>
          <a:prstGeom prst="rect">
            <a:avLst/>
          </a:prstGeom>
          <a:noFill/>
          <a:ln/>
        </p:spPr>
        <p:txBody>
          <a:bodyPr wrap="square" lIns="0" tIns="0" rIns="0" bIns="0" rtlCol="0" anchor="ctr"/>
          <a:lstStyle/>
          <a:p>
            <a:pPr indent="0" marL="0">
              <a:buNone/>
            </a:pPr>
            <a:r>
              <a:rPr lang="en-US" sz="1250" dirty="0">
                <a:solidFill>
                  <a:srgbClr val="16181D"/>
                </a:solidFill>
                <a:latin typeface="Montserrat" pitchFamily="34" charset="0"/>
                <a:ea typeface="Montserrat" pitchFamily="34" charset="-122"/>
                <a:cs typeface="Montserrat" pitchFamily="34" charset="-120"/>
              </a:rPr>
              <a:t>ToT reaches 11.1% lower error than GoT while consuming 3.6x fewer tokens.</a:t>
            </a:r>
            <a:endParaRPr lang="en-US" sz="1250" dirty="0"/>
          </a:p>
        </p:txBody>
      </p:sp>
      <p:sp>
        <p:nvSpPr>
          <p:cNvPr id="19" name="Text 16"/>
          <p:cNvSpPr txBox="1"/>
          <p:nvPr/>
        </p:nvSpPr>
        <p:spPr>
          <a:xfrm>
            <a:off x="6995160" y="4023360"/>
            <a:ext cx="4297680" cy="502920"/>
          </a:xfrm>
          <a:prstGeom prst="rect">
            <a:avLst/>
          </a:prstGeom>
          <a:noFill/>
          <a:ln/>
        </p:spPr>
        <p:txBody>
          <a:bodyPr wrap="square" lIns="0" tIns="0" rIns="0" bIns="0" rtlCol="0" anchor="ctr"/>
          <a:lstStyle/>
          <a:p>
            <a:pPr indent="0" marL="0">
              <a:buNone/>
            </a:pPr>
            <a:r>
              <a:rPr lang="en-US" sz="1050" i="1" dirty="0">
                <a:solidFill>
                  <a:srgbClr val="63697A"/>
                </a:solidFill>
                <a:latin typeface="Montserrat" pitchFamily="34" charset="0"/>
                <a:ea typeface="Montserrat" pitchFamily="34" charset="-122"/>
                <a:cs typeface="Montserrat" pitchFamily="34" charset="-120"/>
              </a:rPr>
              <a:t>Likely causes: an exact scorer makes ToT's monotone refinement very strong, and at 7B each of GoT's 15 merges is an opportunity to fail.</a:t>
            </a:r>
            <a:endParaRPr lang="en-US" sz="1050" dirty="0"/>
          </a:p>
        </p:txBody>
      </p:sp>
      <p:sp>
        <p:nvSpPr>
          <p:cNvPr id="20" name="Shape 17"/>
          <p:cNvSpPr/>
          <p:nvPr/>
        </p:nvSpPr>
        <p:spPr>
          <a:xfrm>
            <a:off x="6766560" y="4700016"/>
            <a:ext cx="4754880" cy="1371600"/>
          </a:xfrm>
          <a:prstGeom prst="roundRect">
            <a:avLst>
              <a:gd name="adj" fmla="val 3333"/>
            </a:avLst>
          </a:prstGeom>
          <a:solidFill>
            <a:srgbClr val="F4F6FB"/>
          </a:solidFill>
          <a:ln w="12700">
            <a:solidFill>
              <a:srgbClr val="D8DEEC"/>
            </a:solidFill>
            <a:prstDash val="solid"/>
          </a:ln>
        </p:spPr>
      </p:sp>
      <p:sp>
        <p:nvSpPr>
          <p:cNvPr id="21" name="Text 18"/>
          <p:cNvSpPr txBox="1"/>
          <p:nvPr/>
        </p:nvSpPr>
        <p:spPr>
          <a:xfrm>
            <a:off x="6995160" y="4837176"/>
            <a:ext cx="4297680" cy="256032"/>
          </a:xfrm>
          <a:prstGeom prst="rect">
            <a:avLst/>
          </a:prstGeom>
          <a:noFill/>
          <a:ln/>
        </p:spPr>
        <p:txBody>
          <a:bodyPr wrap="square" lIns="0" tIns="0" rIns="0" bIns="0" rtlCol="0" anchor="ctr"/>
          <a:lstStyle/>
          <a:p>
            <a:pPr indent="0" marL="0">
              <a:buNone/>
            </a:pPr>
            <a:r>
              <a:rPr lang="en-US" sz="1300" b="1" dirty="0">
                <a:solidFill>
                  <a:srgbClr val="23408E"/>
                </a:solidFill>
                <a:latin typeface="Montserrat" pitchFamily="34" charset="0"/>
                <a:ea typeface="Montserrat" pitchFamily="34" charset="-122"/>
                <a:cs typeface="Montserrat" pitchFamily="34" charset="-120"/>
              </a:rPr>
              <a:t>A note on baselines</a:t>
            </a:r>
            <a:endParaRPr lang="en-US" sz="1300" dirty="0"/>
          </a:p>
        </p:txBody>
      </p:sp>
      <p:sp>
        <p:nvSpPr>
          <p:cNvPr id="22" name="Text 19"/>
          <p:cNvSpPr txBox="1"/>
          <p:nvPr/>
        </p:nvSpPr>
        <p:spPr>
          <a:xfrm>
            <a:off x="6995160" y="5120640"/>
            <a:ext cx="4297680" cy="868680"/>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An earlier run showed GoT ahead by 17.8%. That margin was an artefact of our own ToT implementation being unable to reject a refinement that worsened the answer. Correcting it reversed the result.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Results &amp; Discussion</a:t>
            </a:r>
            <a:endParaRPr lang="en-US" sz="3000" dirty="0"/>
          </a:p>
        </p:txBody>
      </p:sp>
      <p:sp>
        <p:nvSpPr>
          <p:cNvPr id="7" name="Shape 5"/>
          <p:cNvSpPr/>
          <p:nvPr/>
        </p:nvSpPr>
        <p:spPr>
          <a:xfrm>
            <a:off x="621792" y="914400"/>
            <a:ext cx="60350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66019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Cost, and why naive compression fails</a:t>
            </a:r>
            <a:endParaRPr lang="en-US" sz="15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572768"/>
          <a:ext cx="5760720" cy="914400"/>
        </p:xfrm>
        <a:graphic>
          <a:graphicData uri="http://schemas.openxmlformats.org/drawingml/2006/table">
            <a:tbl>
              <a:tblPr/>
              <a:tblGrid>
                <a:gridCol w="1920240"/>
                <a:gridCol w="1371600"/>
                <a:gridCol w="1234440"/>
                <a:gridCol w="1234440"/>
              </a:tblGrid>
              <a:tr h="384048">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Configuration</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Tokens</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Volume</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Error</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r>
              <a:tr h="384048">
                <a:tc>
                  <a:txBody>
                    <a:bodyPr/>
                    <a:lstStyle/>
                    <a:p>
                      <a:pPr indent="0" marL="0">
                        <a:buNone/>
                      </a:pPr>
                      <a:r>
                        <a:rPr lang="en-US" sz="1000" b="1" dirty="0">
                          <a:solidFill>
                            <a:srgbClr val="16181D"/>
                          </a:solidFill>
                          <a:latin typeface="Montserrat" pitchFamily="34" charset="0"/>
                          <a:ea typeface="Montserrat" pitchFamily="34" charset="-122"/>
                          <a:cs typeface="Montserrat" pitchFamily="34" charset="-120"/>
                        </a:rPr>
                        <a:t>8 chunks</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14,384</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39.9</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2.88</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84048">
                <a:tc>
                  <a:txBody>
                    <a:bodyPr/>
                    <a:lstStyle/>
                    <a:p>
                      <a:pPr indent="0" marL="0">
                        <a:buNone/>
                      </a:pPr>
                      <a:r>
                        <a:rPr lang="en-US" sz="1000" b="1" dirty="0">
                          <a:solidFill>
                            <a:srgbClr val="16181D"/>
                          </a:solidFill>
                          <a:latin typeface="Montserrat" pitchFamily="34" charset="0"/>
                          <a:ea typeface="Montserrat" pitchFamily="34" charset="-122"/>
                          <a:cs typeface="Montserrat" pitchFamily="34" charset="-120"/>
                        </a:rPr>
                        <a:t>4 chunks (paper)</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8,565</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19.9</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3.20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6181D"/>
                          </a:solidFill>
                          <a:latin typeface="Montserrat" pitchFamily="34" charset="0"/>
                          <a:ea typeface="Montserrat" pitchFamily="34" charset="-122"/>
                          <a:cs typeface="Montserrat" pitchFamily="34" charset="-120"/>
                        </a:rPr>
                        <a:t>2 chunks</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5,163</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9.9</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3.38</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84048">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stripped down</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950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8.0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10.50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r>
            </a:tbl>
          </a:graphicData>
        </a:graphic>
      </p:graphicFrame>
      <p:sp>
        <p:nvSpPr>
          <p:cNvPr id="12" name="Shape 9"/>
          <p:cNvSpPr/>
          <p:nvPr/>
        </p:nvSpPr>
        <p:spPr>
          <a:xfrm>
            <a:off x="685800" y="3520440"/>
            <a:ext cx="5760720" cy="1005840"/>
          </a:xfrm>
          <a:prstGeom prst="roundRect">
            <a:avLst>
              <a:gd name="adj" fmla="val 4545"/>
            </a:avLst>
          </a:prstGeom>
          <a:solidFill>
            <a:srgbClr val="FBEBE9"/>
          </a:solidFill>
          <a:ln w="12700">
            <a:solidFill>
              <a:srgbClr val="D8DEEC"/>
            </a:solidFill>
            <a:prstDash val="solid"/>
          </a:ln>
        </p:spPr>
      </p:sp>
      <p:sp>
        <p:nvSpPr>
          <p:cNvPr id="13" name="Text 10"/>
          <p:cNvSpPr txBox="1"/>
          <p:nvPr/>
        </p:nvSpPr>
        <p:spPr>
          <a:xfrm>
            <a:off x="914400" y="3675888"/>
            <a:ext cx="5303520" cy="731520"/>
          </a:xfrm>
          <a:prstGeom prst="rect">
            <a:avLst/>
          </a:prstGeom>
          <a:noFill/>
          <a:ln/>
        </p:spPr>
        <p:txBody>
          <a:bodyPr wrap="square" lIns="0" tIns="0" rIns="0" bIns="0" rtlCol="0" anchor="ctr"/>
          <a:lstStyle/>
          <a:p>
            <a:pPr indent="0" marL="0">
              <a:buNone/>
            </a:pPr>
            <a:r>
              <a:rPr lang="en-US" sz="1300" b="1" dirty="0">
                <a:solidFill>
                  <a:srgbClr val="C0392B"/>
                </a:solidFill>
                <a:latin typeface="Montserrat" pitchFamily="34" charset="0"/>
                <a:ea typeface="Montserrat" pitchFamily="34" charset="-122"/>
                <a:cs typeface="Montserrat" pitchFamily="34" charset="-120"/>
              </a:rPr>
              <a:t>Reducing cost ninefold raises the error to 10.50 - worse than using no reasoning structure at all, where direct prompting scores 9.83.</a:t>
            </a:r>
            <a:endParaRPr lang="en-US" sz="1300" dirty="0"/>
          </a:p>
        </p:txBody>
      </p:sp>
      <p:sp>
        <p:nvSpPr>
          <p:cNvPr id="14" name="Text 11"/>
          <p:cNvSpPr txBox="1"/>
          <p:nvPr/>
        </p:nvSpPr>
        <p:spPr>
          <a:xfrm>
            <a:off x="685800" y="4663440"/>
            <a:ext cx="5760720" cy="1188720"/>
          </a:xfrm>
          <a:prstGeom prst="rect">
            <a:avLst/>
          </a:prstGeom>
          <a:noFill/>
          <a:ln/>
        </p:spPr>
        <p:txBody>
          <a:bodyPr wrap="square" lIns="0" tIns="0" rIns="0" bIns="0" rtlCol="0" anchor="ctr"/>
          <a:lstStyle/>
          <a:p>
            <a:pPr indent="0" marL="0">
              <a:lnSpc>
                <a:spcPct val="106000"/>
              </a:lnSpc>
              <a:buNone/>
            </a:pPr>
            <a:r>
              <a:rPr lang="en-US" sz="1050" dirty="0">
                <a:solidFill>
                  <a:srgbClr val="16181D"/>
                </a:solidFill>
                <a:latin typeface="Montserrat" pitchFamily="34" charset="0"/>
                <a:ea typeface="Montserrat" pitchFamily="34" charset="-122"/>
                <a:cs typeface="Montserrat" pitchFamily="34" charset="-120"/>
              </a:rPr>
              <a:t>Uniform pruning is structure-blind: lowering k or the chunk count removes useful and redundant computation at the same rate. Cost and quality stay coupled, so no setting of the existing knobs reaches the Tree of Thoughts frontier.</a:t>
            </a:r>
            <a:endParaRPr lang="en-US" sz="1050" dirty="0"/>
          </a:p>
        </p:txBody>
      </p:sp>
      <p:sp>
        <p:nvSpPr>
          <p:cNvPr id="15" name="Shape 12"/>
          <p:cNvSpPr/>
          <p:nvPr/>
        </p:nvSpPr>
        <p:spPr>
          <a:xfrm>
            <a:off x="6766560" y="1572768"/>
            <a:ext cx="4754880" cy="4297680"/>
          </a:xfrm>
          <a:prstGeom prst="roundRect">
            <a:avLst>
              <a:gd name="adj" fmla="val 1064"/>
            </a:avLst>
          </a:prstGeom>
          <a:solidFill>
            <a:srgbClr val="F4F6FB"/>
          </a:solidFill>
          <a:ln w="12700">
            <a:solidFill>
              <a:srgbClr val="D8DEEC"/>
            </a:solidFill>
            <a:prstDash val="solid"/>
          </a:ln>
        </p:spPr>
      </p:sp>
      <p:sp>
        <p:nvSpPr>
          <p:cNvPr id="16" name="Text 13"/>
          <p:cNvSpPr txBox="1"/>
          <p:nvPr/>
        </p:nvSpPr>
        <p:spPr>
          <a:xfrm>
            <a:off x="6995160" y="1737360"/>
            <a:ext cx="4297680" cy="274320"/>
          </a:xfrm>
          <a:prstGeom prst="rect">
            <a:avLst/>
          </a:prstGeom>
          <a:noFill/>
          <a:ln/>
        </p:spPr>
        <p:txBody>
          <a:bodyPr wrap="square" lIns="0" tIns="0" rIns="0" bIns="0" rtlCol="0" anchor="ctr"/>
          <a:lstStyle/>
          <a:p>
            <a:pPr indent="0" marL="0">
              <a:buNone/>
            </a:pPr>
            <a:r>
              <a:rPr lang="en-US" sz="1300" b="1" dirty="0">
                <a:solidFill>
                  <a:srgbClr val="23408E"/>
                </a:solidFill>
                <a:latin typeface="Montserrat" pitchFamily="34" charset="0"/>
                <a:ea typeface="Montserrat" pitchFamily="34" charset="-122"/>
                <a:cs typeface="Montserrat" pitchFamily="34" charset="-120"/>
              </a:rPr>
              <a:t>Where the cost accumulates</a:t>
            </a:r>
            <a:endParaRPr lang="en-US" sz="1300" dirty="0"/>
          </a:p>
        </p:txBody>
      </p:sp>
      <p:sp>
        <p:nvSpPr>
          <p:cNvPr id="17" name="Text 14"/>
          <p:cNvSpPr txBox="1"/>
          <p:nvPr/>
        </p:nvSpPr>
        <p:spPr>
          <a:xfrm>
            <a:off x="6995160" y="2212848"/>
            <a:ext cx="1691640" cy="237744"/>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Chunk sorting</a:t>
            </a:r>
            <a:endParaRPr lang="en-US" sz="1300" dirty="0"/>
          </a:p>
        </p:txBody>
      </p:sp>
      <p:sp>
        <p:nvSpPr>
          <p:cNvPr id="18" name="Shape 15"/>
          <p:cNvSpPr/>
          <p:nvPr/>
        </p:nvSpPr>
        <p:spPr>
          <a:xfrm>
            <a:off x="8732520" y="2212848"/>
            <a:ext cx="939089" cy="237744"/>
          </a:xfrm>
          <a:prstGeom prst="roundRect">
            <a:avLst>
              <a:gd name="adj" fmla="val 11538"/>
            </a:avLst>
          </a:prstGeom>
          <a:solidFill>
            <a:srgbClr val="23408E"/>
          </a:solidFill>
          <a:ln w="12700">
            <a:solidFill>
              <a:srgbClr val="333333"/>
            </a:solidFill>
            <a:prstDash val="solid"/>
          </a:ln>
        </p:spPr>
      </p:sp>
      <p:sp>
        <p:nvSpPr>
          <p:cNvPr id="19" name="Text 16"/>
          <p:cNvSpPr txBox="1"/>
          <p:nvPr/>
        </p:nvSpPr>
        <p:spPr>
          <a:xfrm>
            <a:off x="9726473" y="2212848"/>
            <a:ext cx="777240" cy="237744"/>
          </a:xfrm>
          <a:prstGeom prst="rect">
            <a:avLst/>
          </a:prstGeom>
          <a:noFill/>
          <a:ln/>
        </p:spPr>
        <p:txBody>
          <a:bodyPr wrap="square" lIns="0" tIns="0" rIns="0" bIns="0" rtlCol="0" anchor="ctr"/>
          <a:lstStyle/>
          <a:p>
            <a:pPr indent="0" marL="0">
              <a:buNone/>
            </a:pPr>
            <a:r>
              <a:rPr lang="en-US" sz="1000" dirty="0">
                <a:solidFill>
                  <a:srgbClr val="63697A"/>
                </a:solidFill>
                <a:latin typeface="Montserrat" pitchFamily="34" charset="0"/>
                <a:ea typeface="Montserrat" pitchFamily="34" charset="-122"/>
                <a:cs typeface="Montserrat" pitchFamily="34" charset="-120"/>
              </a:rPr>
              <a:t>1580</a:t>
            </a:r>
            <a:endParaRPr lang="en-US" sz="1000" dirty="0"/>
          </a:p>
        </p:txBody>
      </p:sp>
      <p:sp>
        <p:nvSpPr>
          <p:cNvPr id="20" name="Text 17"/>
          <p:cNvSpPr txBox="1"/>
          <p:nvPr/>
        </p:nvSpPr>
        <p:spPr>
          <a:xfrm>
            <a:off x="6995160" y="2898648"/>
            <a:ext cx="1691640" cy="237744"/>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Merge level 1</a:t>
            </a:r>
            <a:endParaRPr lang="en-US" sz="1300" dirty="0"/>
          </a:p>
        </p:txBody>
      </p:sp>
      <p:sp>
        <p:nvSpPr>
          <p:cNvPr id="21" name="Shape 18"/>
          <p:cNvSpPr/>
          <p:nvPr/>
        </p:nvSpPr>
        <p:spPr>
          <a:xfrm>
            <a:off x="8732520" y="2898648"/>
            <a:ext cx="1717700" cy="237744"/>
          </a:xfrm>
          <a:prstGeom prst="roundRect">
            <a:avLst>
              <a:gd name="adj" fmla="val 11538"/>
            </a:avLst>
          </a:prstGeom>
          <a:solidFill>
            <a:srgbClr val="D98A1F"/>
          </a:solidFill>
          <a:ln w="12700">
            <a:solidFill>
              <a:srgbClr val="333333"/>
            </a:solidFill>
            <a:prstDash val="solid"/>
          </a:ln>
        </p:spPr>
      </p:sp>
      <p:sp>
        <p:nvSpPr>
          <p:cNvPr id="22" name="Text 19"/>
          <p:cNvSpPr txBox="1"/>
          <p:nvPr/>
        </p:nvSpPr>
        <p:spPr>
          <a:xfrm>
            <a:off x="10505084" y="2898648"/>
            <a:ext cx="777240" cy="237744"/>
          </a:xfrm>
          <a:prstGeom prst="rect">
            <a:avLst/>
          </a:prstGeom>
          <a:noFill/>
          <a:ln/>
        </p:spPr>
        <p:txBody>
          <a:bodyPr wrap="square" lIns="0" tIns="0" rIns="0" bIns="0" rtlCol="0" anchor="ctr"/>
          <a:lstStyle/>
          <a:p>
            <a:pPr indent="0" marL="0">
              <a:buNone/>
            </a:pPr>
            <a:r>
              <a:rPr lang="en-US" sz="1000" dirty="0">
                <a:solidFill>
                  <a:srgbClr val="63697A"/>
                </a:solidFill>
                <a:latin typeface="Montserrat" pitchFamily="34" charset="0"/>
                <a:ea typeface="Montserrat" pitchFamily="34" charset="-122"/>
                <a:cs typeface="Montserrat" pitchFamily="34" charset="-120"/>
              </a:rPr>
              <a:t>2890</a:t>
            </a:r>
            <a:endParaRPr lang="en-US" sz="1000" dirty="0"/>
          </a:p>
        </p:txBody>
      </p:sp>
      <p:sp>
        <p:nvSpPr>
          <p:cNvPr id="23" name="Text 20"/>
          <p:cNvSpPr txBox="1"/>
          <p:nvPr/>
        </p:nvSpPr>
        <p:spPr>
          <a:xfrm>
            <a:off x="6995160" y="3584448"/>
            <a:ext cx="1691640" cy="237744"/>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Merge level 2</a:t>
            </a:r>
            <a:endParaRPr lang="en-US" sz="1300" dirty="0"/>
          </a:p>
        </p:txBody>
      </p:sp>
      <p:sp>
        <p:nvSpPr>
          <p:cNvPr id="24" name="Shape 21"/>
          <p:cNvSpPr/>
          <p:nvPr/>
        </p:nvSpPr>
        <p:spPr>
          <a:xfrm>
            <a:off x="8732520" y="3584448"/>
            <a:ext cx="1313536" cy="237744"/>
          </a:xfrm>
          <a:prstGeom prst="roundRect">
            <a:avLst>
              <a:gd name="adj" fmla="val 11538"/>
            </a:avLst>
          </a:prstGeom>
          <a:solidFill>
            <a:srgbClr val="D98A1F"/>
          </a:solidFill>
          <a:ln w="12700">
            <a:solidFill>
              <a:srgbClr val="333333"/>
            </a:solidFill>
            <a:prstDash val="solid"/>
          </a:ln>
        </p:spPr>
      </p:sp>
      <p:sp>
        <p:nvSpPr>
          <p:cNvPr id="25" name="Text 22"/>
          <p:cNvSpPr txBox="1"/>
          <p:nvPr/>
        </p:nvSpPr>
        <p:spPr>
          <a:xfrm>
            <a:off x="10100920" y="3584448"/>
            <a:ext cx="777240" cy="237744"/>
          </a:xfrm>
          <a:prstGeom prst="rect">
            <a:avLst/>
          </a:prstGeom>
          <a:noFill/>
          <a:ln/>
        </p:spPr>
        <p:txBody>
          <a:bodyPr wrap="square" lIns="0" tIns="0" rIns="0" bIns="0" rtlCol="0" anchor="ctr"/>
          <a:lstStyle/>
          <a:p>
            <a:pPr indent="0" marL="0">
              <a:buNone/>
            </a:pPr>
            <a:r>
              <a:rPr lang="en-US" sz="1000" dirty="0">
                <a:solidFill>
                  <a:srgbClr val="63697A"/>
                </a:solidFill>
                <a:latin typeface="Montserrat" pitchFamily="34" charset="0"/>
                <a:ea typeface="Montserrat" pitchFamily="34" charset="-122"/>
                <a:cs typeface="Montserrat" pitchFamily="34" charset="-120"/>
              </a:rPr>
              <a:t>2210</a:t>
            </a:r>
            <a:endParaRPr lang="en-US" sz="1000" dirty="0"/>
          </a:p>
        </p:txBody>
      </p:sp>
      <p:sp>
        <p:nvSpPr>
          <p:cNvPr id="26" name="Text 23"/>
          <p:cNvSpPr txBox="1"/>
          <p:nvPr/>
        </p:nvSpPr>
        <p:spPr>
          <a:xfrm>
            <a:off x="6995160" y="4270248"/>
            <a:ext cx="1691640" cy="237744"/>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Final refinement</a:t>
            </a:r>
            <a:endParaRPr lang="en-US" sz="1300" dirty="0"/>
          </a:p>
        </p:txBody>
      </p:sp>
      <p:sp>
        <p:nvSpPr>
          <p:cNvPr id="27" name="Shape 24"/>
          <p:cNvSpPr/>
          <p:nvPr/>
        </p:nvSpPr>
        <p:spPr>
          <a:xfrm>
            <a:off x="8732520" y="4270248"/>
            <a:ext cx="731063" cy="237744"/>
          </a:xfrm>
          <a:prstGeom prst="roundRect">
            <a:avLst>
              <a:gd name="adj" fmla="val 11538"/>
            </a:avLst>
          </a:prstGeom>
          <a:solidFill>
            <a:srgbClr val="23408E"/>
          </a:solidFill>
          <a:ln w="12700">
            <a:solidFill>
              <a:srgbClr val="333333"/>
            </a:solidFill>
            <a:prstDash val="solid"/>
          </a:ln>
        </p:spPr>
      </p:sp>
      <p:sp>
        <p:nvSpPr>
          <p:cNvPr id="28" name="Text 25"/>
          <p:cNvSpPr txBox="1"/>
          <p:nvPr/>
        </p:nvSpPr>
        <p:spPr>
          <a:xfrm>
            <a:off x="9518447" y="4270248"/>
            <a:ext cx="777240" cy="237744"/>
          </a:xfrm>
          <a:prstGeom prst="rect">
            <a:avLst/>
          </a:prstGeom>
          <a:noFill/>
          <a:ln/>
        </p:spPr>
        <p:txBody>
          <a:bodyPr wrap="square" lIns="0" tIns="0" rIns="0" bIns="0" rtlCol="0" anchor="ctr"/>
          <a:lstStyle/>
          <a:p>
            <a:pPr indent="0" marL="0">
              <a:buNone/>
            </a:pPr>
            <a:r>
              <a:rPr lang="en-US" sz="1000" dirty="0">
                <a:solidFill>
                  <a:srgbClr val="63697A"/>
                </a:solidFill>
                <a:latin typeface="Montserrat" pitchFamily="34" charset="0"/>
                <a:ea typeface="Montserrat" pitchFamily="34" charset="-122"/>
                <a:cs typeface="Montserrat" pitchFamily="34" charset="-120"/>
              </a:rPr>
              <a:t>1230</a:t>
            </a:r>
            <a:endParaRPr lang="en-US" sz="1000" dirty="0"/>
          </a:p>
        </p:txBody>
      </p:sp>
      <p:sp>
        <p:nvSpPr>
          <p:cNvPr id="29" name="Text 26"/>
          <p:cNvSpPr txBox="1"/>
          <p:nvPr/>
        </p:nvSpPr>
        <p:spPr>
          <a:xfrm>
            <a:off x="6995160" y="5029200"/>
            <a:ext cx="4297680" cy="731520"/>
          </a:xfrm>
          <a:prstGeom prst="rect">
            <a:avLst/>
          </a:prstGeom>
          <a:noFill/>
          <a:ln/>
        </p:spPr>
        <p:txBody>
          <a:bodyPr wrap="square" lIns="0" tIns="0" rIns="0" bIns="0" rtlCol="0" anchor="ctr"/>
          <a:lstStyle/>
          <a:p>
            <a:pPr indent="0" marL="0">
              <a:buNone/>
            </a:pPr>
            <a:r>
              <a:rPr lang="en-US" sz="1250" b="1" dirty="0">
                <a:solidFill>
                  <a:srgbClr val="D98A1F"/>
                </a:solidFill>
                <a:latin typeface="Montserrat" pitchFamily="34" charset="0"/>
                <a:ea typeface="Montserrat" pitchFamily="34" charset="-122"/>
                <a:cs typeface="Montserrat" pitchFamily="34" charset="-120"/>
              </a:rPr>
              <a:t>Aggregation consumes roughly 65% of the budget - each merge emits a full-length list, and there are fifteen of them.</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Challenges Faced</a:t>
            </a:r>
            <a:endParaRPr lang="en-US" sz="3000" dirty="0"/>
          </a:p>
        </p:txBody>
      </p:sp>
      <p:sp>
        <p:nvSpPr>
          <p:cNvPr id="7" name="Shape 5"/>
          <p:cNvSpPr/>
          <p:nvPr/>
        </p:nvSpPr>
        <p:spPr>
          <a:xfrm>
            <a:off x="621792" y="914400"/>
            <a:ext cx="539496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596188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Two that changed the results, and three we worked around</a:t>
            </a:r>
            <a:endParaRPr lang="en-US" sz="1550" dirty="0"/>
          </a:p>
        </p:txBody>
      </p:sp>
      <p:sp>
        <p:nvSpPr>
          <p:cNvPr id="11" name="Shape 9"/>
          <p:cNvSpPr/>
          <p:nvPr/>
        </p:nvSpPr>
        <p:spPr>
          <a:xfrm>
            <a:off x="685800" y="1600200"/>
            <a:ext cx="5303520" cy="1965960"/>
          </a:xfrm>
          <a:prstGeom prst="roundRect">
            <a:avLst>
              <a:gd name="adj" fmla="val 2326"/>
            </a:avLst>
          </a:prstGeom>
          <a:solidFill>
            <a:srgbClr val="FBEBE9"/>
          </a:solidFill>
          <a:ln w="12700">
            <a:solidFill>
              <a:srgbClr val="D8DEEC"/>
            </a:solidFill>
            <a:prstDash val="solid"/>
          </a:ln>
        </p:spPr>
      </p:sp>
      <p:sp>
        <p:nvSpPr>
          <p:cNvPr id="12" name="Text 10"/>
          <p:cNvSpPr txBox="1"/>
          <p:nvPr/>
        </p:nvSpPr>
        <p:spPr>
          <a:xfrm>
            <a:off x="914400" y="1755648"/>
            <a:ext cx="4846320" cy="274320"/>
          </a:xfrm>
          <a:prstGeom prst="rect">
            <a:avLst/>
          </a:prstGeom>
          <a:noFill/>
          <a:ln/>
        </p:spPr>
        <p:txBody>
          <a:bodyPr wrap="square" lIns="0" tIns="0" rIns="0" bIns="0" rtlCol="0" anchor="ctr"/>
          <a:lstStyle/>
          <a:p>
            <a:pPr indent="0" marL="0">
              <a:buNone/>
            </a:pPr>
            <a:r>
              <a:rPr lang="en-US" sz="1300" b="1" dirty="0">
                <a:solidFill>
                  <a:srgbClr val="C0392B"/>
                </a:solidFill>
                <a:latin typeface="Montserrat" pitchFamily="34" charset="0"/>
                <a:ea typeface="Montserrat" pitchFamily="34" charset="-122"/>
                <a:cs typeface="Montserrat" pitchFamily="34" charset="-120"/>
              </a:rPr>
              <a:t>1.  A pipeline that failed silently</a:t>
            </a:r>
            <a:endParaRPr lang="en-US" sz="1300" dirty="0"/>
          </a:p>
        </p:txBody>
      </p:sp>
      <p:sp>
        <p:nvSpPr>
          <p:cNvPr id="13" name="Text 11"/>
          <p:cNvSpPr txBox="1"/>
          <p:nvPr/>
        </p:nvSpPr>
        <p:spPr>
          <a:xfrm>
            <a:off x="914400" y="2084832"/>
            <a:ext cx="4846320" cy="1051560"/>
          </a:xfrm>
          <a:prstGeom prst="rect">
            <a:avLst/>
          </a:prstGeom>
          <a:noFill/>
          <a:ln/>
        </p:spPr>
        <p:txBody>
          <a:bodyPr wrap="square" lIns="0" tIns="0" rIns="0" bIns="0" rtlCol="0" anchor="ctr"/>
          <a:lstStyle/>
          <a:p>
            <a:pPr indent="0" marL="0">
              <a:buNone/>
            </a:pPr>
            <a:r>
              <a:rPr lang="en-US" sz="1150" dirty="0">
                <a:solidFill>
                  <a:srgbClr val="16181D"/>
                </a:solidFill>
                <a:latin typeface="Montserrat" pitchFamily="34" charset="0"/>
                <a:ea typeface="Montserrat" pitchFamily="34" charset="-122"/>
                <a:cs typeface="Montserrat" pitchFamily="34" charset="-120"/>
              </a:rPr>
              <a:t>A generation budget 32 tokens short truncated the answer, which removed the closing bracket, which failed the parser, which emptied the ranking step - and the graph stopped executing while still printing a full table of plausible numbers.</a:t>
            </a:r>
            <a:endParaRPr lang="en-US" sz="1150" dirty="0"/>
          </a:p>
        </p:txBody>
      </p:sp>
      <p:sp>
        <p:nvSpPr>
          <p:cNvPr id="14" name="Text 12"/>
          <p:cNvSpPr txBox="1"/>
          <p:nvPr/>
        </p:nvSpPr>
        <p:spPr>
          <a:xfrm>
            <a:off x="914400" y="3182112"/>
            <a:ext cx="4846320" cy="292608"/>
          </a:xfrm>
          <a:prstGeom prst="rect">
            <a:avLst/>
          </a:prstGeom>
          <a:noFill/>
          <a:ln/>
        </p:spPr>
        <p:txBody>
          <a:bodyPr wrap="square" lIns="0" tIns="0" rIns="0" bIns="0" rtlCol="0" anchor="ctr"/>
          <a:lstStyle/>
          <a:p>
            <a:pPr indent="0" marL="0">
              <a:buNone/>
            </a:pPr>
            <a:r>
              <a:rPr lang="en-US" sz="1100" i="1" dirty="0">
                <a:solidFill>
                  <a:srgbClr val="63697A"/>
                </a:solidFill>
                <a:latin typeface="Montserrat" pitchFamily="34" charset="0"/>
                <a:ea typeface="Montserrat" pitchFamily="34" charset="-122"/>
                <a:cs typeface="Montserrat" pitchFamily="34" charset="-120"/>
              </a:rPr>
              <a:t>Cost one GPU run. Now guarded by a parse-rate check that fails loudly.</a:t>
            </a:r>
            <a:endParaRPr lang="en-US" sz="1100" dirty="0"/>
          </a:p>
        </p:txBody>
      </p:sp>
      <p:sp>
        <p:nvSpPr>
          <p:cNvPr id="15" name="Shape 13"/>
          <p:cNvSpPr/>
          <p:nvPr/>
        </p:nvSpPr>
        <p:spPr>
          <a:xfrm>
            <a:off x="685800" y="3703320"/>
            <a:ext cx="5303520" cy="1965960"/>
          </a:xfrm>
          <a:prstGeom prst="roundRect">
            <a:avLst>
              <a:gd name="adj" fmla="val 2326"/>
            </a:avLst>
          </a:prstGeom>
          <a:solidFill>
            <a:srgbClr val="FBEBE9"/>
          </a:solidFill>
          <a:ln w="12700">
            <a:solidFill>
              <a:srgbClr val="D8DEEC"/>
            </a:solidFill>
            <a:prstDash val="solid"/>
          </a:ln>
        </p:spPr>
      </p:sp>
      <p:sp>
        <p:nvSpPr>
          <p:cNvPr id="16" name="Text 14"/>
          <p:cNvSpPr txBox="1"/>
          <p:nvPr/>
        </p:nvSpPr>
        <p:spPr>
          <a:xfrm>
            <a:off x="914400" y="3858768"/>
            <a:ext cx="4846320" cy="274320"/>
          </a:xfrm>
          <a:prstGeom prst="rect">
            <a:avLst/>
          </a:prstGeom>
          <a:noFill/>
          <a:ln/>
        </p:spPr>
        <p:txBody>
          <a:bodyPr wrap="square" lIns="0" tIns="0" rIns="0" bIns="0" rtlCol="0" anchor="ctr"/>
          <a:lstStyle/>
          <a:p>
            <a:pPr indent="0" marL="0">
              <a:buNone/>
            </a:pPr>
            <a:r>
              <a:rPr lang="en-US" sz="1300" b="1" dirty="0">
                <a:solidFill>
                  <a:srgbClr val="C0392B"/>
                </a:solidFill>
                <a:latin typeface="Montserrat" pitchFamily="34" charset="0"/>
                <a:ea typeface="Montserrat" pitchFamily="34" charset="-122"/>
                <a:cs typeface="Montserrat" pitchFamily="34" charset="-120"/>
              </a:rPr>
              <a:t>2.  Our own baseline was handicapped</a:t>
            </a:r>
            <a:endParaRPr lang="en-US" sz="1300" dirty="0"/>
          </a:p>
        </p:txBody>
      </p:sp>
      <p:sp>
        <p:nvSpPr>
          <p:cNvPr id="17" name="Text 15"/>
          <p:cNvSpPr txBox="1"/>
          <p:nvPr/>
        </p:nvSpPr>
        <p:spPr>
          <a:xfrm>
            <a:off x="914400" y="4187952"/>
            <a:ext cx="4846320" cy="960120"/>
          </a:xfrm>
          <a:prstGeom prst="rect">
            <a:avLst/>
          </a:prstGeom>
          <a:noFill/>
          <a:ln/>
        </p:spPr>
        <p:txBody>
          <a:bodyPr wrap="square" lIns="0" tIns="0" rIns="0" bIns="0" rtlCol="0" anchor="ctr"/>
          <a:lstStyle/>
          <a:p>
            <a:pPr indent="0" marL="0">
              <a:buNone/>
            </a:pPr>
            <a:r>
              <a:rPr lang="en-US" sz="1150" dirty="0">
                <a:solidFill>
                  <a:srgbClr val="16181D"/>
                </a:solidFill>
                <a:latin typeface="Montserrat" pitchFamily="34" charset="0"/>
                <a:ea typeface="Montserrat" pitchFamily="34" charset="-122"/>
                <a:cs typeface="Montserrat" pitchFamily="34" charset="-120"/>
              </a:rPr>
              <a:t>Tree of Thoughts could not reject a refinement that made the answer worse, so it walked downhill at every level. That inflated Graph of Thoughts' apparent margin by roughly 18 points, in our favour.</a:t>
            </a:r>
            <a:endParaRPr lang="en-US" sz="1150" dirty="0"/>
          </a:p>
        </p:txBody>
      </p:sp>
      <p:sp>
        <p:nvSpPr>
          <p:cNvPr id="18" name="Text 16"/>
          <p:cNvSpPr txBox="1"/>
          <p:nvPr/>
        </p:nvSpPr>
        <p:spPr>
          <a:xfrm>
            <a:off x="914400" y="5230368"/>
            <a:ext cx="4846320" cy="320040"/>
          </a:xfrm>
          <a:prstGeom prst="rect">
            <a:avLst/>
          </a:prstGeom>
          <a:noFill/>
          <a:ln/>
        </p:spPr>
        <p:txBody>
          <a:bodyPr wrap="square" lIns="0" tIns="0" rIns="0" bIns="0" rtlCol="0" anchor="ctr"/>
          <a:lstStyle/>
          <a:p>
            <a:pPr indent="0" marL="0">
              <a:buNone/>
            </a:pPr>
            <a:r>
              <a:rPr lang="en-US" sz="1100" i="1" dirty="0">
                <a:solidFill>
                  <a:srgbClr val="63697A"/>
                </a:solidFill>
                <a:latin typeface="Montserrat" pitchFamily="34" charset="0"/>
                <a:ea typeface="Montserrat" pitchFamily="34" charset="-122"/>
                <a:cs typeface="Montserrat" pitchFamily="34" charset="-120"/>
              </a:rPr>
              <a:t>Found by auditing a result that suited us. Fixing it reversed the finding.</a:t>
            </a:r>
            <a:endParaRPr lang="en-US" sz="1100" dirty="0"/>
          </a:p>
        </p:txBody>
      </p:sp>
      <p:sp>
        <p:nvSpPr>
          <p:cNvPr id="19" name="Shape 17"/>
          <p:cNvSpPr/>
          <p:nvPr/>
        </p:nvSpPr>
        <p:spPr>
          <a:xfrm>
            <a:off x="6263640" y="1600200"/>
            <a:ext cx="5212080" cy="4069080"/>
          </a:xfrm>
          <a:prstGeom prst="roundRect">
            <a:avLst>
              <a:gd name="adj" fmla="val 1124"/>
            </a:avLst>
          </a:prstGeom>
          <a:solidFill>
            <a:srgbClr val="F4F6FB"/>
          </a:solidFill>
          <a:ln w="12700">
            <a:solidFill>
              <a:srgbClr val="D8DEEC"/>
            </a:solidFill>
            <a:prstDash val="solid"/>
          </a:ln>
        </p:spPr>
      </p:sp>
      <p:sp>
        <p:nvSpPr>
          <p:cNvPr id="20" name="Text 18"/>
          <p:cNvSpPr txBox="1"/>
          <p:nvPr/>
        </p:nvSpPr>
        <p:spPr>
          <a:xfrm>
            <a:off x="6492240" y="1764792"/>
            <a:ext cx="4754880" cy="274320"/>
          </a:xfrm>
          <a:prstGeom prst="rect">
            <a:avLst/>
          </a:prstGeom>
          <a:noFill/>
          <a:ln/>
        </p:spPr>
        <p:txBody>
          <a:bodyPr wrap="square" lIns="0" tIns="0" rIns="0" bIns="0" rtlCol="0" anchor="ctr"/>
          <a:lstStyle/>
          <a:p>
            <a:pPr indent="0" marL="0">
              <a:buNone/>
            </a:pPr>
            <a:r>
              <a:rPr lang="en-US" sz="1300" b="1" dirty="0">
                <a:solidFill>
                  <a:srgbClr val="23408E"/>
                </a:solidFill>
                <a:latin typeface="Montserrat" pitchFamily="34" charset="0"/>
                <a:ea typeface="Montserrat" pitchFamily="34" charset="-122"/>
                <a:cs typeface="Montserrat" pitchFamily="34" charset="-120"/>
              </a:rPr>
              <a:t>Worked around</a:t>
            </a:r>
            <a:endParaRPr lang="en-US" sz="1300" dirty="0"/>
          </a:p>
        </p:txBody>
      </p:sp>
      <p:sp>
        <p:nvSpPr>
          <p:cNvPr id="21" name="Shape 19"/>
          <p:cNvSpPr/>
          <p:nvPr/>
        </p:nvSpPr>
        <p:spPr>
          <a:xfrm>
            <a:off x="6510528" y="2194560"/>
            <a:ext cx="128016" cy="128016"/>
          </a:xfrm>
          <a:prstGeom prst="ellipse">
            <a:avLst/>
          </a:prstGeom>
          <a:solidFill>
            <a:srgbClr val="D98A1F"/>
          </a:solidFill>
          <a:ln w="12700">
            <a:solidFill>
              <a:srgbClr val="333333"/>
            </a:solidFill>
            <a:prstDash val="solid"/>
          </a:ln>
        </p:spPr>
      </p:sp>
      <p:sp>
        <p:nvSpPr>
          <p:cNvPr id="22" name="Text 20"/>
          <p:cNvSpPr txBox="1"/>
          <p:nvPr/>
        </p:nvSpPr>
        <p:spPr>
          <a:xfrm>
            <a:off x="6784848" y="2148840"/>
            <a:ext cx="4480560" cy="274320"/>
          </a:xfrm>
          <a:prstGeom prst="rect">
            <a:avLst/>
          </a:prstGeom>
          <a:noFill/>
          <a:ln/>
        </p:spPr>
        <p:txBody>
          <a:bodyPr wrap="square" lIns="0" tIns="0" rIns="0" bIns="0" rtlCol="0" anchor="ctr"/>
          <a:lstStyle/>
          <a:p>
            <a:pPr indent="0" marL="0">
              <a:buNone/>
            </a:pPr>
            <a:r>
              <a:rPr lang="en-US" sz="1200" b="1" dirty="0">
                <a:solidFill>
                  <a:srgbClr val="16181D"/>
                </a:solidFill>
                <a:latin typeface="Montserrat" pitchFamily="34" charset="0"/>
                <a:ea typeface="Montserrat" pitchFamily="34" charset="-122"/>
                <a:cs typeface="Montserrat" pitchFamily="34" charset="-120"/>
              </a:rPr>
              <a:t>The reference model no longer exists</a:t>
            </a:r>
            <a:endParaRPr lang="en-US" sz="1200" dirty="0"/>
          </a:p>
        </p:txBody>
      </p:sp>
      <p:sp>
        <p:nvSpPr>
          <p:cNvPr id="23" name="Text 21"/>
          <p:cNvSpPr txBox="1"/>
          <p:nvPr/>
        </p:nvSpPr>
        <p:spPr>
          <a:xfrm>
            <a:off x="6784848" y="2441448"/>
            <a:ext cx="4480560" cy="822960"/>
          </a:xfrm>
          <a:prstGeom prst="rect">
            <a:avLst/>
          </a:prstGeom>
          <a:noFill/>
          <a:ln/>
        </p:spPr>
        <p:txBody>
          <a:bodyPr wrap="square" lIns="0" tIns="0" rIns="0" bIns="0" rtlCol="0" anchor="ctr"/>
          <a:lstStyle/>
          <a:p>
            <a:pPr indent="0" marL="0">
              <a:buNone/>
            </a:pPr>
            <a:r>
              <a:rPr lang="en-US" sz="1050" dirty="0">
                <a:solidFill>
                  <a:srgbClr val="63697A"/>
                </a:solidFill>
                <a:latin typeface="Montserrat" pitchFamily="34" charset="0"/>
                <a:ea typeface="Montserrat" pitchFamily="34" charset="-122"/>
                <a:cs typeface="Montserrat" pitchFamily="34" charset="-120"/>
              </a:rPr>
              <a:t>ChatGPT-3.5 is deprecated, so exact reproduction is impossible - for anyone, including the authors. We redefined the target as the paper's relative claims rather than its digits.</a:t>
            </a:r>
            <a:endParaRPr lang="en-US" sz="1050" dirty="0"/>
          </a:p>
        </p:txBody>
      </p:sp>
      <p:sp>
        <p:nvSpPr>
          <p:cNvPr id="24" name="Shape 22"/>
          <p:cNvSpPr/>
          <p:nvPr/>
        </p:nvSpPr>
        <p:spPr>
          <a:xfrm>
            <a:off x="6510528" y="3401568"/>
            <a:ext cx="128016" cy="128016"/>
          </a:xfrm>
          <a:prstGeom prst="ellipse">
            <a:avLst/>
          </a:prstGeom>
          <a:solidFill>
            <a:srgbClr val="D98A1F"/>
          </a:solidFill>
          <a:ln w="12700">
            <a:solidFill>
              <a:srgbClr val="333333"/>
            </a:solidFill>
            <a:prstDash val="solid"/>
          </a:ln>
        </p:spPr>
      </p:sp>
      <p:sp>
        <p:nvSpPr>
          <p:cNvPr id="25" name="Text 23"/>
          <p:cNvSpPr txBox="1"/>
          <p:nvPr/>
        </p:nvSpPr>
        <p:spPr>
          <a:xfrm>
            <a:off x="6784848" y="3355848"/>
            <a:ext cx="4480560" cy="274320"/>
          </a:xfrm>
          <a:prstGeom prst="rect">
            <a:avLst/>
          </a:prstGeom>
          <a:noFill/>
          <a:ln/>
        </p:spPr>
        <p:txBody>
          <a:bodyPr wrap="square" lIns="0" tIns="0" rIns="0" bIns="0" rtlCol="0" anchor="ctr"/>
          <a:lstStyle/>
          <a:p>
            <a:pPr indent="0" marL="0">
              <a:buNone/>
            </a:pPr>
            <a:r>
              <a:rPr lang="en-US" sz="1200" b="1" dirty="0">
                <a:solidFill>
                  <a:srgbClr val="16181D"/>
                </a:solidFill>
                <a:latin typeface="Montserrat" pitchFamily="34" charset="0"/>
                <a:ea typeface="Montserrat" pitchFamily="34" charset="-122"/>
                <a:cs typeface="Montserrat" pitchFamily="34" charset="-120"/>
              </a:rPr>
              <a:t>Our model sits below the scale threshold</a:t>
            </a:r>
            <a:endParaRPr lang="en-US" sz="1200" dirty="0"/>
          </a:p>
        </p:txBody>
      </p:sp>
      <p:sp>
        <p:nvSpPr>
          <p:cNvPr id="26" name="Text 24"/>
          <p:cNvSpPr txBox="1"/>
          <p:nvPr/>
        </p:nvSpPr>
        <p:spPr>
          <a:xfrm>
            <a:off x="6784848" y="3648456"/>
            <a:ext cx="4480560" cy="822960"/>
          </a:xfrm>
          <a:prstGeom prst="rect">
            <a:avLst/>
          </a:prstGeom>
          <a:noFill/>
          <a:ln/>
        </p:spPr>
        <p:txBody>
          <a:bodyPr wrap="square" lIns="0" tIns="0" rIns="0" bIns="0" rtlCol="0" anchor="ctr"/>
          <a:lstStyle/>
          <a:p>
            <a:pPr indent="0" marL="0">
              <a:buNone/>
            </a:pPr>
            <a:r>
              <a:rPr lang="en-US" sz="1050" dirty="0">
                <a:solidFill>
                  <a:srgbClr val="63697A"/>
                </a:solidFill>
                <a:latin typeface="Montserrat" pitchFamily="34" charset="0"/>
                <a:ea typeface="Montserrat" pitchFamily="34" charset="-122"/>
                <a:cs typeface="Montserrat" pitchFamily="34" charset="-120"/>
              </a:rPr>
              <a:t>Chain-of-thought is reliable above roughly 10B parameters; we run 7B. Structural claims are unaffected, but absolute quality is not comparable to the paper.</a:t>
            </a:r>
            <a:endParaRPr lang="en-US" sz="1050" dirty="0"/>
          </a:p>
        </p:txBody>
      </p:sp>
      <p:sp>
        <p:nvSpPr>
          <p:cNvPr id="27" name="Shape 25"/>
          <p:cNvSpPr/>
          <p:nvPr/>
        </p:nvSpPr>
        <p:spPr>
          <a:xfrm>
            <a:off x="6510528" y="4608576"/>
            <a:ext cx="128016" cy="128016"/>
          </a:xfrm>
          <a:prstGeom prst="ellipse">
            <a:avLst/>
          </a:prstGeom>
          <a:solidFill>
            <a:srgbClr val="D98A1F"/>
          </a:solidFill>
          <a:ln w="12700">
            <a:solidFill>
              <a:srgbClr val="333333"/>
            </a:solidFill>
            <a:prstDash val="solid"/>
          </a:ln>
        </p:spPr>
      </p:sp>
      <p:sp>
        <p:nvSpPr>
          <p:cNvPr id="28" name="Text 26"/>
          <p:cNvSpPr txBox="1"/>
          <p:nvPr/>
        </p:nvSpPr>
        <p:spPr>
          <a:xfrm>
            <a:off x="6784848" y="4562856"/>
            <a:ext cx="4480560" cy="274320"/>
          </a:xfrm>
          <a:prstGeom prst="rect">
            <a:avLst/>
          </a:prstGeom>
          <a:noFill/>
          <a:ln/>
        </p:spPr>
        <p:txBody>
          <a:bodyPr wrap="square" lIns="0" tIns="0" rIns="0" bIns="0" rtlCol="0" anchor="ctr"/>
          <a:lstStyle/>
          <a:p>
            <a:pPr indent="0" marL="0">
              <a:buNone/>
            </a:pPr>
            <a:r>
              <a:rPr lang="en-US" sz="1200" b="1" dirty="0">
                <a:solidFill>
                  <a:srgbClr val="16181D"/>
                </a:solidFill>
                <a:latin typeface="Montserrat" pitchFamily="34" charset="0"/>
                <a:ea typeface="Montserrat" pitchFamily="34" charset="-122"/>
                <a:cs typeface="Montserrat" pitchFamily="34" charset="-120"/>
              </a:rPr>
              <a:t>Shared, unscheduled infrastructure</a:t>
            </a:r>
            <a:endParaRPr lang="en-US" sz="1200" dirty="0"/>
          </a:p>
        </p:txBody>
      </p:sp>
      <p:sp>
        <p:nvSpPr>
          <p:cNvPr id="29" name="Text 27"/>
          <p:cNvSpPr txBox="1"/>
          <p:nvPr/>
        </p:nvSpPr>
        <p:spPr>
          <a:xfrm>
            <a:off x="6784848" y="4855464"/>
            <a:ext cx="4480560" cy="822960"/>
          </a:xfrm>
          <a:prstGeom prst="rect">
            <a:avLst/>
          </a:prstGeom>
          <a:noFill/>
          <a:ln/>
        </p:spPr>
        <p:txBody>
          <a:bodyPr wrap="square" lIns="0" tIns="0" rIns="0" bIns="0" rtlCol="0" anchor="ctr"/>
          <a:lstStyle/>
          <a:p>
            <a:pPr indent="0" marL="0">
              <a:buNone/>
            </a:pPr>
            <a:r>
              <a:rPr lang="en-US" sz="1050" dirty="0">
                <a:solidFill>
                  <a:srgbClr val="63697A"/>
                </a:solidFill>
                <a:latin typeface="Montserrat" pitchFamily="34" charset="0"/>
                <a:ea typeface="Montserrat" pitchFamily="34" charset="-122"/>
                <a:cs typeface="Montserrat" pitchFamily="34" charset="-120"/>
              </a:rPr>
              <a:t>A GPU server with no job scheduler, a proxy-gated network and a full disk. Runs are detached so they survive disconnection, and the environment is verified before any GPU time is spent.</a:t>
            </a:r>
            <a:endParaRPr lang="en-US" sz="1050" dirty="0"/>
          </a:p>
        </p:txBody>
      </p:sp>
      <p:sp>
        <p:nvSpPr>
          <p:cNvPr id="30" name="Shape 28"/>
          <p:cNvSpPr/>
          <p:nvPr/>
        </p:nvSpPr>
        <p:spPr>
          <a:xfrm>
            <a:off x="685800" y="5806440"/>
            <a:ext cx="10789920" cy="640080"/>
          </a:xfrm>
          <a:prstGeom prst="roundRect">
            <a:avLst>
              <a:gd name="adj" fmla="val 7143"/>
            </a:avLst>
          </a:prstGeom>
          <a:solidFill>
            <a:srgbClr val="E8F4F1"/>
          </a:solidFill>
          <a:ln w="12700">
            <a:solidFill>
              <a:srgbClr val="D8DEEC"/>
            </a:solidFill>
            <a:prstDash val="solid"/>
          </a:ln>
        </p:spPr>
      </p:sp>
      <p:sp>
        <p:nvSpPr>
          <p:cNvPr id="31" name="Text 29"/>
          <p:cNvSpPr txBox="1"/>
          <p:nvPr/>
        </p:nvSpPr>
        <p:spPr>
          <a:xfrm>
            <a:off x="914400" y="5925312"/>
            <a:ext cx="10378440" cy="411480"/>
          </a:xfrm>
          <a:prstGeom prst="rect">
            <a:avLst/>
          </a:prstGeom>
          <a:noFill/>
          <a:ln/>
        </p:spPr>
        <p:txBody>
          <a:bodyPr wrap="square" lIns="0" tIns="0" rIns="0" bIns="0" rtlCol="0" anchor="ctr"/>
          <a:lstStyle/>
          <a:p>
            <a:pPr indent="0" marL="0">
              <a:buNone/>
            </a:pPr>
            <a:r>
              <a:rPr lang="en-US" sz="1150" b="1" dirty="0">
                <a:solidFill>
                  <a:srgbClr val="0F7B6C"/>
                </a:solidFill>
                <a:latin typeface="Montserrat" pitchFamily="34" charset="0"/>
                <a:ea typeface="Montserrat" pitchFamily="34" charset="-122"/>
                <a:cs typeface="Montserrat" pitchFamily="34" charset="-120"/>
              </a:rPr>
              <a:t>The common lesson: a benchmark that cannot distinguish a weak model from a harness that did not run is worse than no benchmark, because it produces numbers you might publish.</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Proposed Approach</a:t>
            </a:r>
            <a:endParaRPr lang="en-US" sz="3000" dirty="0"/>
          </a:p>
        </p:txBody>
      </p:sp>
      <p:sp>
        <p:nvSpPr>
          <p:cNvPr id="7" name="Shape 5"/>
          <p:cNvSpPr/>
          <p:nvPr/>
        </p:nvSpPr>
        <p:spPr>
          <a:xfrm>
            <a:off x="621792" y="914400"/>
            <a:ext cx="566928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623620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550" b="1" dirty="0">
                <a:solidFill>
                  <a:srgbClr val="23408E"/>
                </a:solidFill>
                <a:latin typeface="Montserrat" pitchFamily="34" charset="0"/>
                <a:ea typeface="Montserrat" pitchFamily="34" charset="-122"/>
                <a:cs typeface="Montserrat" pitchFamily="34" charset="-120"/>
              </a:rPr>
              <a:t>Transferring chain compression to a reasoning graph</a:t>
            </a:r>
            <a:endParaRPr lang="en-US" sz="15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1572768"/>
          <a:ext cx="6949440" cy="914400"/>
        </p:xfrm>
        <a:graphic>
          <a:graphicData uri="http://schemas.openxmlformats.org/drawingml/2006/table">
            <a:tbl>
              <a:tblPr/>
              <a:tblGrid>
                <a:gridCol w="1554480"/>
                <a:gridCol w="3154680"/>
                <a:gridCol w="2240280"/>
              </a:tblGrid>
              <a:tr h="676656">
                <a:tc>
                  <a:txBody>
                    <a:bodyPr/>
                    <a:lstStyle/>
                    <a:p>
                      <a:pPr indent="0" marL="0">
                        <a:buNone/>
                      </a:pPr>
                      <a:r>
                        <a:rPr lang="en-US" sz="1150" b="1" dirty="0">
                          <a:solidFill>
                            <a:srgbClr val="FFFFFF"/>
                          </a:solidFill>
                          <a:latin typeface="Montserrat" pitchFamily="34" charset="0"/>
                          <a:ea typeface="Montserrat" pitchFamily="34" charset="-122"/>
                          <a:cs typeface="Montserrat" pitchFamily="34" charset="-120"/>
                        </a:rPr>
                        <a:t>Chain technique</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150" b="1" dirty="0">
                          <a:solidFill>
                            <a:srgbClr val="FFFFFF"/>
                          </a:solidFill>
                          <a:latin typeface="Montserrat" pitchFamily="34" charset="0"/>
                          <a:ea typeface="Montserrat" pitchFamily="34" charset="-122"/>
                          <a:cs typeface="Montserrat" pitchFamily="34" charset="-120"/>
                        </a:rPr>
                        <a:t>Graph analogue we propose</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150" b="1" dirty="0">
                          <a:solidFill>
                            <a:srgbClr val="FFFFFF"/>
                          </a:solidFill>
                          <a:latin typeface="Montserrat" pitchFamily="34" charset="0"/>
                          <a:ea typeface="Montserrat" pitchFamily="34" charset="-122"/>
                          <a:cs typeface="Montserrat" pitchFamily="34" charset="-120"/>
                        </a:rPr>
                        <a:t>Expected effect</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r>
              <a:tr h="676656">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Chain of Draft</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Encode each vertex compactly - a sorted chunk as run-length pairs rather than a literal list</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Lossless here; 3.8x fewer tokens per vertex (measured)</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676656">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TokenSkip</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Ablate each vertex; drop those whose removal does not change the answer</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Reduces |V| directly</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Coconut</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Aggregate in latent space - merge hidden states without decoding to text</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Removes decode cost at the 15 merge steps</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676656">
                <a:tc>
                  <a:txBody>
                    <a:bodyPr/>
                    <a:lstStyle/>
                    <a:p>
                      <a:pPr indent="0" marL="0">
                        <a:buNone/>
                      </a:pPr>
                      <a:r>
                        <a:rPr lang="en-US" sz="1150" b="1" dirty="0">
                          <a:solidFill>
                            <a:srgbClr val="16181D"/>
                          </a:solidFill>
                          <a:latin typeface="Montserrat" pitchFamily="34" charset="0"/>
                          <a:ea typeface="Montserrat" pitchFamily="34" charset="-122"/>
                          <a:cs typeface="Montserrat" pitchFamily="34" charset="-120"/>
                        </a:rPr>
                        <a:t>Token budgeting</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Allocate k per vertex by measured difficulty rather than uniformly</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150" dirty="0">
                          <a:solidFill>
                            <a:srgbClr val="16181D"/>
                          </a:solidFill>
                          <a:latin typeface="Montserrat" pitchFamily="34" charset="0"/>
                          <a:ea typeface="Montserrat" pitchFamily="34" charset="-122"/>
                          <a:cs typeface="Montserrat" pitchFamily="34" charset="-120"/>
                        </a:rPr>
                        <a:t>Spend where errors concentrate</a:t>
                      </a:r>
                      <a:endParaRPr lang="en-US" sz="11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bl>
          </a:graphicData>
        </a:graphic>
      </p:graphicFrame>
      <p:sp>
        <p:nvSpPr>
          <p:cNvPr id="12" name="Shape 9"/>
          <p:cNvSpPr/>
          <p:nvPr/>
        </p:nvSpPr>
        <p:spPr>
          <a:xfrm>
            <a:off x="685800" y="4434840"/>
            <a:ext cx="6949440" cy="1005840"/>
          </a:xfrm>
          <a:prstGeom prst="roundRect">
            <a:avLst>
              <a:gd name="adj" fmla="val 4545"/>
            </a:avLst>
          </a:prstGeom>
          <a:solidFill>
            <a:srgbClr val="FDF3E3"/>
          </a:solidFill>
          <a:ln w="12700">
            <a:solidFill>
              <a:srgbClr val="D8DEEC"/>
            </a:solidFill>
            <a:prstDash val="solid"/>
          </a:ln>
        </p:spPr>
      </p:sp>
      <p:sp>
        <p:nvSpPr>
          <p:cNvPr id="13" name="Text 10"/>
          <p:cNvSpPr txBox="1"/>
          <p:nvPr/>
        </p:nvSpPr>
        <p:spPr>
          <a:xfrm>
            <a:off x="914400" y="4590288"/>
            <a:ext cx="6492240" cy="731520"/>
          </a:xfrm>
          <a:prstGeom prst="rect">
            <a:avLst/>
          </a:prstGeom>
          <a:noFill/>
          <a:ln/>
        </p:spPr>
        <p:txBody>
          <a:bodyPr wrap="square" lIns="0" tIns="0" rIns="0" bIns="0" rtlCol="0" anchor="ctr"/>
          <a:lstStyle/>
          <a:p>
            <a:pPr indent="0" marL="0">
              <a:buNone/>
            </a:pPr>
            <a:r>
              <a:rPr lang="en-US" sz="1000" b="1" dirty="0">
                <a:solidFill>
                  <a:srgbClr val="16181D"/>
                </a:solidFill>
                <a:latin typeface="Montserrat" pitchFamily="34" charset="0"/>
                <a:ea typeface="Montserrat" pitchFamily="34" charset="-122"/>
                <a:cs typeface="Montserrat" pitchFamily="34" charset="-120"/>
              </a:rPr>
              <a:t>The causality constraint decides which of these are safe: an edge means one thought was literally the input that produced another, so every vertex on a path to the answer must retain one.</a:t>
            </a:r>
            <a:endParaRPr lang="en-US" sz="1000" dirty="0"/>
          </a:p>
        </p:txBody>
      </p:sp>
      <p:sp>
        <p:nvSpPr>
          <p:cNvPr id="14" name="Shape 11"/>
          <p:cNvSpPr/>
          <p:nvPr/>
        </p:nvSpPr>
        <p:spPr>
          <a:xfrm>
            <a:off x="7909560" y="1572768"/>
            <a:ext cx="3611880" cy="3867912"/>
          </a:xfrm>
          <a:prstGeom prst="roundRect">
            <a:avLst>
              <a:gd name="adj" fmla="val 1266"/>
            </a:avLst>
          </a:prstGeom>
          <a:solidFill>
            <a:srgbClr val="F4F6FB"/>
          </a:solidFill>
          <a:ln w="12700">
            <a:solidFill>
              <a:srgbClr val="D8DEEC"/>
            </a:solidFill>
            <a:prstDash val="solid"/>
          </a:ln>
        </p:spPr>
      </p:sp>
      <p:sp>
        <p:nvSpPr>
          <p:cNvPr id="15" name="Text 12"/>
          <p:cNvSpPr txBox="1"/>
          <p:nvPr/>
        </p:nvSpPr>
        <p:spPr>
          <a:xfrm>
            <a:off x="8138160" y="1737360"/>
            <a:ext cx="3154680" cy="256032"/>
          </a:xfrm>
          <a:prstGeom prst="rect">
            <a:avLst/>
          </a:prstGeom>
          <a:noFill/>
          <a:ln/>
        </p:spPr>
        <p:txBody>
          <a:bodyPr wrap="square" lIns="0" tIns="0" rIns="0" bIns="0" rtlCol="0" anchor="ctr"/>
          <a:lstStyle/>
          <a:p>
            <a:pPr indent="0" marL="0">
              <a:buNone/>
            </a:pPr>
            <a:r>
              <a:rPr lang="en-US" sz="1300" b="1" dirty="0">
                <a:solidFill>
                  <a:srgbClr val="23408E"/>
                </a:solidFill>
                <a:latin typeface="Montserrat" pitchFamily="34" charset="0"/>
                <a:ea typeface="Montserrat" pitchFamily="34" charset="-122"/>
                <a:cs typeface="Montserrat" pitchFamily="34" charset="-120"/>
              </a:rPr>
              <a:t>Pipeline</a:t>
            </a:r>
            <a:endParaRPr lang="en-US" sz="1300" dirty="0"/>
          </a:p>
        </p:txBody>
      </p:sp>
      <p:sp>
        <p:nvSpPr>
          <p:cNvPr id="16" name="Shape 13"/>
          <p:cNvSpPr/>
          <p:nvPr/>
        </p:nvSpPr>
        <p:spPr>
          <a:xfrm>
            <a:off x="8138160" y="2121408"/>
            <a:ext cx="265176" cy="265176"/>
          </a:xfrm>
          <a:prstGeom prst="ellipse">
            <a:avLst/>
          </a:prstGeom>
          <a:solidFill>
            <a:srgbClr val="23408E"/>
          </a:solidFill>
          <a:ln w="12700">
            <a:solidFill>
              <a:srgbClr val="333333"/>
            </a:solidFill>
            <a:prstDash val="solid"/>
          </a:ln>
        </p:spPr>
      </p:sp>
      <p:sp>
        <p:nvSpPr>
          <p:cNvPr id="17" name="Text 14"/>
          <p:cNvSpPr txBox="1"/>
          <p:nvPr/>
        </p:nvSpPr>
        <p:spPr>
          <a:xfrm>
            <a:off x="8138160" y="2148840"/>
            <a:ext cx="265176" cy="219456"/>
          </a:xfrm>
          <a:prstGeom prst="rect">
            <a:avLst/>
          </a:prstGeom>
          <a:noFill/>
          <a:ln/>
        </p:spPr>
        <p:txBody>
          <a:bodyPr wrap="square" lIns="0" tIns="0" rIns="0" bIns="0" rtlCol="0" anchor="ct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1</a:t>
            </a:r>
            <a:endParaRPr lang="en-US" sz="1050" dirty="0"/>
          </a:p>
        </p:txBody>
      </p:sp>
      <p:sp>
        <p:nvSpPr>
          <p:cNvPr id="18" name="Text 15"/>
          <p:cNvSpPr txBox="1"/>
          <p:nvPr/>
        </p:nvSpPr>
        <p:spPr>
          <a:xfrm>
            <a:off x="8503920" y="2103120"/>
            <a:ext cx="2788920" cy="566928"/>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Instrument: per-vertex token cost and marginal contribution</a:t>
            </a:r>
            <a:endParaRPr lang="en-US" sz="1300" dirty="0"/>
          </a:p>
        </p:txBody>
      </p:sp>
      <p:sp>
        <p:nvSpPr>
          <p:cNvPr id="19" name="Shape 16"/>
          <p:cNvSpPr/>
          <p:nvPr/>
        </p:nvSpPr>
        <p:spPr>
          <a:xfrm>
            <a:off x="8138160" y="2761488"/>
            <a:ext cx="265176" cy="265176"/>
          </a:xfrm>
          <a:prstGeom prst="ellipse">
            <a:avLst/>
          </a:prstGeom>
          <a:solidFill>
            <a:srgbClr val="23408E"/>
          </a:solidFill>
          <a:ln w="12700">
            <a:solidFill>
              <a:srgbClr val="333333"/>
            </a:solidFill>
            <a:prstDash val="solid"/>
          </a:ln>
        </p:spPr>
      </p:sp>
      <p:sp>
        <p:nvSpPr>
          <p:cNvPr id="20" name="Text 17"/>
          <p:cNvSpPr txBox="1"/>
          <p:nvPr/>
        </p:nvSpPr>
        <p:spPr>
          <a:xfrm>
            <a:off x="8138160" y="2788920"/>
            <a:ext cx="265176" cy="219456"/>
          </a:xfrm>
          <a:prstGeom prst="rect">
            <a:avLst/>
          </a:prstGeom>
          <a:noFill/>
          <a:ln/>
        </p:spPr>
        <p:txBody>
          <a:bodyPr wrap="square" lIns="0" tIns="0" rIns="0" bIns="0" rtlCol="0" anchor="ct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2</a:t>
            </a:r>
            <a:endParaRPr lang="en-US" sz="1050" dirty="0"/>
          </a:p>
        </p:txBody>
      </p:sp>
      <p:sp>
        <p:nvSpPr>
          <p:cNvPr id="21" name="Text 18"/>
          <p:cNvSpPr txBox="1"/>
          <p:nvPr/>
        </p:nvSpPr>
        <p:spPr>
          <a:xfrm>
            <a:off x="8503920" y="2743200"/>
            <a:ext cx="2788920" cy="566928"/>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Compress vertex content with a compact encoding</a:t>
            </a:r>
            <a:endParaRPr lang="en-US" sz="1300" dirty="0"/>
          </a:p>
        </p:txBody>
      </p:sp>
      <p:sp>
        <p:nvSpPr>
          <p:cNvPr id="22" name="Shape 19"/>
          <p:cNvSpPr/>
          <p:nvPr/>
        </p:nvSpPr>
        <p:spPr>
          <a:xfrm>
            <a:off x="8138160" y="3401568"/>
            <a:ext cx="265176" cy="265176"/>
          </a:xfrm>
          <a:prstGeom prst="ellipse">
            <a:avLst/>
          </a:prstGeom>
          <a:solidFill>
            <a:srgbClr val="D98A1F"/>
          </a:solidFill>
          <a:ln w="12700">
            <a:solidFill>
              <a:srgbClr val="333333"/>
            </a:solidFill>
            <a:prstDash val="solid"/>
          </a:ln>
        </p:spPr>
      </p:sp>
      <p:sp>
        <p:nvSpPr>
          <p:cNvPr id="23" name="Text 20"/>
          <p:cNvSpPr txBox="1"/>
          <p:nvPr/>
        </p:nvSpPr>
        <p:spPr>
          <a:xfrm>
            <a:off x="8138160" y="3429000"/>
            <a:ext cx="265176" cy="219456"/>
          </a:xfrm>
          <a:prstGeom prst="rect">
            <a:avLst/>
          </a:prstGeom>
          <a:noFill/>
          <a:ln/>
        </p:spPr>
        <p:txBody>
          <a:bodyPr wrap="square" lIns="0" tIns="0" rIns="0" bIns="0" rtlCol="0" anchor="ct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3</a:t>
            </a:r>
            <a:endParaRPr lang="en-US" sz="1050" dirty="0"/>
          </a:p>
        </p:txBody>
      </p:sp>
      <p:sp>
        <p:nvSpPr>
          <p:cNvPr id="24" name="Text 21"/>
          <p:cNvSpPr txBox="1"/>
          <p:nvPr/>
        </p:nvSpPr>
        <p:spPr>
          <a:xfrm>
            <a:off x="8503920" y="3383280"/>
            <a:ext cx="2788920" cy="566928"/>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Coarsen: merge or drop low-contribution vertices</a:t>
            </a:r>
            <a:endParaRPr lang="en-US" sz="1300" dirty="0"/>
          </a:p>
        </p:txBody>
      </p:sp>
      <p:sp>
        <p:nvSpPr>
          <p:cNvPr id="25" name="Shape 22"/>
          <p:cNvSpPr/>
          <p:nvPr/>
        </p:nvSpPr>
        <p:spPr>
          <a:xfrm>
            <a:off x="8138160" y="4041648"/>
            <a:ext cx="265176" cy="265176"/>
          </a:xfrm>
          <a:prstGeom prst="ellipse">
            <a:avLst/>
          </a:prstGeom>
          <a:solidFill>
            <a:srgbClr val="D98A1F"/>
          </a:solidFill>
          <a:ln w="12700">
            <a:solidFill>
              <a:srgbClr val="333333"/>
            </a:solidFill>
            <a:prstDash val="solid"/>
          </a:ln>
        </p:spPr>
      </p:sp>
      <p:sp>
        <p:nvSpPr>
          <p:cNvPr id="26" name="Text 23"/>
          <p:cNvSpPr txBox="1"/>
          <p:nvPr/>
        </p:nvSpPr>
        <p:spPr>
          <a:xfrm>
            <a:off x="8138160" y="4069080"/>
            <a:ext cx="265176" cy="219456"/>
          </a:xfrm>
          <a:prstGeom prst="rect">
            <a:avLst/>
          </a:prstGeom>
          <a:noFill/>
          <a:ln/>
        </p:spPr>
        <p:txBody>
          <a:bodyPr wrap="square" lIns="0" tIns="0" rIns="0" bIns="0" rtlCol="0" anchor="ct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4</a:t>
            </a:r>
            <a:endParaRPr lang="en-US" sz="1050" dirty="0"/>
          </a:p>
        </p:txBody>
      </p:sp>
      <p:sp>
        <p:nvSpPr>
          <p:cNvPr id="27" name="Text 24"/>
          <p:cNvSpPr txBox="1"/>
          <p:nvPr/>
        </p:nvSpPr>
        <p:spPr>
          <a:xfrm>
            <a:off x="8503920" y="4023360"/>
            <a:ext cx="2788920" cy="566928"/>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Verify reachability to the final thought is preserved</a:t>
            </a:r>
            <a:endParaRPr lang="en-US" sz="1300" dirty="0"/>
          </a:p>
        </p:txBody>
      </p:sp>
      <p:sp>
        <p:nvSpPr>
          <p:cNvPr id="28" name="Shape 25"/>
          <p:cNvSpPr/>
          <p:nvPr/>
        </p:nvSpPr>
        <p:spPr>
          <a:xfrm>
            <a:off x="8138160" y="4681728"/>
            <a:ext cx="265176" cy="265176"/>
          </a:xfrm>
          <a:prstGeom prst="ellipse">
            <a:avLst/>
          </a:prstGeom>
          <a:solidFill>
            <a:srgbClr val="D98A1F"/>
          </a:solidFill>
          <a:ln w="12700">
            <a:solidFill>
              <a:srgbClr val="333333"/>
            </a:solidFill>
            <a:prstDash val="solid"/>
          </a:ln>
        </p:spPr>
      </p:sp>
      <p:sp>
        <p:nvSpPr>
          <p:cNvPr id="29" name="Text 26"/>
          <p:cNvSpPr txBox="1"/>
          <p:nvPr/>
        </p:nvSpPr>
        <p:spPr>
          <a:xfrm>
            <a:off x="8138160" y="4709160"/>
            <a:ext cx="265176" cy="219456"/>
          </a:xfrm>
          <a:prstGeom prst="rect">
            <a:avLst/>
          </a:prstGeom>
          <a:noFill/>
          <a:ln/>
        </p:spPr>
        <p:txBody>
          <a:bodyPr wrap="square" lIns="0" tIns="0" rIns="0" bIns="0" rtlCol="0" anchor="ct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5</a:t>
            </a:r>
            <a:endParaRPr lang="en-US" sz="1050" dirty="0"/>
          </a:p>
        </p:txBody>
      </p:sp>
      <p:sp>
        <p:nvSpPr>
          <p:cNvPr id="30" name="Text 27"/>
          <p:cNvSpPr txBox="1"/>
          <p:nvPr/>
        </p:nvSpPr>
        <p:spPr>
          <a:xfrm>
            <a:off x="8503920" y="4663440"/>
            <a:ext cx="2788920" cy="566928"/>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Evaluate against the ToT cost-quality frontier</a:t>
            </a:r>
            <a:endParaRPr lang="en-US" sz="1300" dirty="0"/>
          </a:p>
        </p:txBody>
      </p:sp>
      <p:sp>
        <p:nvSpPr>
          <p:cNvPr id="31" name="Shape 28"/>
          <p:cNvSpPr/>
          <p:nvPr/>
        </p:nvSpPr>
        <p:spPr>
          <a:xfrm>
            <a:off x="685800" y="5577840"/>
            <a:ext cx="10835640" cy="640080"/>
          </a:xfrm>
          <a:prstGeom prst="roundRect">
            <a:avLst>
              <a:gd name="adj" fmla="val 7143"/>
            </a:avLst>
          </a:prstGeom>
          <a:solidFill>
            <a:srgbClr val="E8F4F1"/>
          </a:solidFill>
          <a:ln w="12700">
            <a:solidFill>
              <a:srgbClr val="D8DEEC"/>
            </a:solidFill>
            <a:prstDash val="solid"/>
          </a:ln>
        </p:spPr>
      </p:sp>
      <p:sp>
        <p:nvSpPr>
          <p:cNvPr id="32" name="Text 29"/>
          <p:cNvSpPr txBox="1"/>
          <p:nvPr/>
        </p:nvSpPr>
        <p:spPr>
          <a:xfrm>
            <a:off x="914400" y="5705856"/>
            <a:ext cx="10424160" cy="402336"/>
          </a:xfrm>
          <a:prstGeom prst="rect">
            <a:avLst/>
          </a:prstGeom>
          <a:noFill/>
          <a:ln/>
        </p:spPr>
        <p:txBody>
          <a:bodyPr wrap="square" lIns="0" tIns="0" rIns="0" bIns="0" rtlCol="0" anchor="ctr"/>
          <a:lstStyle/>
          <a:p>
            <a:pPr indent="0" marL="0">
              <a:buNone/>
            </a:pPr>
            <a:r>
              <a:rPr lang="en-US" sz="1300" b="1" dirty="0">
                <a:solidFill>
                  <a:srgbClr val="0F7B6C"/>
                </a:solidFill>
                <a:latin typeface="Montserrat" pitchFamily="34" charset="0"/>
                <a:ea typeface="Montserrat" pitchFamily="34" charset="-122"/>
                <a:cs typeface="Montserrat" pitchFamily="34" charset="-120"/>
              </a:rPr>
              <a:t>Target, set by our own measurement:  reach error 7.45 at 2,185 tokens - where Tree of Thoughts sits today. Graph of Thoughts is currently at 8.28 error and 7,910 tokens.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Future Plan</a:t>
            </a:r>
            <a:endParaRPr lang="en-US" sz="3000" dirty="0"/>
          </a:p>
        </p:txBody>
      </p:sp>
      <p:sp>
        <p:nvSpPr>
          <p:cNvPr id="7" name="Shape 5"/>
          <p:cNvSpPr/>
          <p:nvPr/>
        </p:nvSpPr>
        <p:spPr>
          <a:xfrm>
            <a:off x="621792" y="914400"/>
            <a:ext cx="402336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459028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822960" y="1371600"/>
            <a:ext cx="6766560" cy="3931920"/>
          </a:xfrm>
          <a:prstGeom prst="rect">
            <a:avLst/>
          </a:prstGeom>
          <a:noFill/>
          <a:ln/>
        </p:spPr>
        <p:txBody>
          <a:bodyPr wrap="square" lIns="0" tIns="0" rIns="0" bIns="0" rtlCol="0" anchor="ctr"/>
          <a:lstStyle/>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Complete the sweeps now running - aggregation attempts and chunk count across 32, 64 and 128 elements</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Implement compact vertex encoding and measure its accuracy cost</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Define the coarsening operator formally, with reachability to the final thought as the preserved invariant</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Establish whether coarsening and vertex compression compose as predicted, or interact</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Repeat at a larger model scale, to separate scale effects from structural ones</a:t>
            </a:r>
            <a:endParaRPr lang="en-US" sz="1400" dirty="0"/>
          </a:p>
          <a:p>
            <a:pPr marL="127000" indent="-127000">
              <a:lnSpc>
                <a:spcPct val="104000"/>
              </a:lnSpc>
              <a:spcAft>
                <a:spcPts val="400"/>
              </a:spcAft>
              <a:buSzPct val="100000"/>
              <a:buChar char="•"/>
            </a:pPr>
            <a:r>
              <a:rPr lang="en-US" sz="1400" dirty="0">
                <a:solidFill>
                  <a:srgbClr val="16181D"/>
                </a:solidFill>
                <a:latin typeface="Montserrat" pitchFamily="34" charset="0"/>
                <a:ea typeface="Montserrat" pitchFamily="34" charset="-122"/>
                <a:cs typeface="Montserrat" pitchFamily="34" charset="-120"/>
              </a:rPr>
              <a:t>Extend beyond sorting to set intersection, where aggregation is a union rather than a merge</a:t>
            </a:r>
            <a:endParaRPr lang="en-US" sz="1400" dirty="0"/>
          </a:p>
        </p:txBody>
      </p:sp>
      <p:sp>
        <p:nvSpPr>
          <p:cNvPr id="11" name="Shape 9"/>
          <p:cNvSpPr/>
          <p:nvPr/>
        </p:nvSpPr>
        <p:spPr>
          <a:xfrm>
            <a:off x="7955280" y="1371600"/>
            <a:ext cx="3566160" cy="4206240"/>
          </a:xfrm>
          <a:prstGeom prst="roundRect">
            <a:avLst>
              <a:gd name="adj" fmla="val 1282"/>
            </a:avLst>
          </a:prstGeom>
          <a:solidFill>
            <a:srgbClr val="F4F6FB"/>
          </a:solidFill>
          <a:ln w="12700">
            <a:solidFill>
              <a:srgbClr val="D8DEEC"/>
            </a:solidFill>
            <a:prstDash val="solid"/>
          </a:ln>
        </p:spPr>
      </p:sp>
      <p:sp>
        <p:nvSpPr>
          <p:cNvPr id="12" name="Text 10"/>
          <p:cNvSpPr txBox="1"/>
          <p:nvPr/>
        </p:nvSpPr>
        <p:spPr>
          <a:xfrm>
            <a:off x="8183880" y="1536192"/>
            <a:ext cx="3108960" cy="274320"/>
          </a:xfrm>
          <a:prstGeom prst="rect">
            <a:avLst/>
          </a:prstGeom>
          <a:noFill/>
          <a:ln/>
        </p:spPr>
        <p:txBody>
          <a:bodyPr wrap="square" lIns="0" tIns="0" rIns="0" bIns="0" rtlCol="0" anchor="ctr"/>
          <a:lstStyle/>
          <a:p>
            <a:pPr indent="0" marL="0">
              <a:buNone/>
            </a:pPr>
            <a:r>
              <a:rPr lang="en-US" sz="1300" b="1" dirty="0">
                <a:solidFill>
                  <a:srgbClr val="23408E"/>
                </a:solidFill>
                <a:latin typeface="Montserrat" pitchFamily="34" charset="0"/>
                <a:ea typeface="Montserrat" pitchFamily="34" charset="-122"/>
                <a:cs typeface="Montserrat" pitchFamily="34" charset="-120"/>
              </a:rPr>
              <a:t>Open questions</a:t>
            </a:r>
            <a:endParaRPr lang="en-US" sz="1300" dirty="0"/>
          </a:p>
        </p:txBody>
      </p:sp>
      <p:sp>
        <p:nvSpPr>
          <p:cNvPr id="13" name="Text 11"/>
          <p:cNvSpPr txBox="1"/>
          <p:nvPr/>
        </p:nvSpPr>
        <p:spPr>
          <a:xfrm>
            <a:off x="8183880" y="1965960"/>
            <a:ext cx="274320" cy="274320"/>
          </a:xfrm>
          <a:prstGeom prst="rect">
            <a:avLst/>
          </a:prstGeom>
          <a:noFill/>
          <a:ln/>
        </p:spPr>
        <p:txBody>
          <a:bodyPr wrap="square" lIns="0" tIns="0" rIns="0" bIns="0" rtlCol="0" anchor="ctr"/>
          <a:lstStyle/>
          <a:p>
            <a:pPr indent="0" marL="0">
              <a:buNone/>
            </a:pPr>
            <a:r>
              <a:rPr lang="en-US" sz="1250" b="1" dirty="0">
                <a:solidFill>
                  <a:srgbClr val="D98A1F"/>
                </a:solidFill>
                <a:latin typeface="Montserrat" pitchFamily="34" charset="0"/>
                <a:ea typeface="Montserrat" pitchFamily="34" charset="-122"/>
                <a:cs typeface="Montserrat" pitchFamily="34" charset="-120"/>
              </a:rPr>
              <a:t>1</a:t>
            </a:r>
            <a:endParaRPr lang="en-US" sz="1250" dirty="0"/>
          </a:p>
        </p:txBody>
      </p:sp>
      <p:sp>
        <p:nvSpPr>
          <p:cNvPr id="14" name="Text 12"/>
          <p:cNvSpPr txBox="1"/>
          <p:nvPr/>
        </p:nvSpPr>
        <p:spPr>
          <a:xfrm>
            <a:off x="8485632" y="1965960"/>
            <a:ext cx="2807208" cy="1097280"/>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Does latent aggregation preserve causality in any meaningful sense, or dissolve the edge semantics entirely?</a:t>
            </a:r>
            <a:endParaRPr lang="en-US" sz="1300" dirty="0"/>
          </a:p>
        </p:txBody>
      </p:sp>
      <p:sp>
        <p:nvSpPr>
          <p:cNvPr id="15" name="Text 13"/>
          <p:cNvSpPr txBox="1"/>
          <p:nvPr/>
        </p:nvSpPr>
        <p:spPr>
          <a:xfrm>
            <a:off x="8183880" y="3172968"/>
            <a:ext cx="274320" cy="274320"/>
          </a:xfrm>
          <a:prstGeom prst="rect">
            <a:avLst/>
          </a:prstGeom>
          <a:noFill/>
          <a:ln/>
        </p:spPr>
        <p:txBody>
          <a:bodyPr wrap="square" lIns="0" tIns="0" rIns="0" bIns="0" rtlCol="0" anchor="ctr"/>
          <a:lstStyle/>
          <a:p>
            <a:pPr indent="0" marL="0">
              <a:buNone/>
            </a:pPr>
            <a:r>
              <a:rPr lang="en-US" sz="1250" b="1" dirty="0">
                <a:solidFill>
                  <a:srgbClr val="D98A1F"/>
                </a:solidFill>
                <a:latin typeface="Montserrat" pitchFamily="34" charset="0"/>
                <a:ea typeface="Montserrat" pitchFamily="34" charset="-122"/>
                <a:cs typeface="Montserrat" pitchFamily="34" charset="-120"/>
              </a:rPr>
              <a:t>2</a:t>
            </a:r>
            <a:endParaRPr lang="en-US" sz="1250" dirty="0"/>
          </a:p>
        </p:txBody>
      </p:sp>
      <p:sp>
        <p:nvSpPr>
          <p:cNvPr id="16" name="Text 14"/>
          <p:cNvSpPr txBox="1"/>
          <p:nvPr/>
        </p:nvSpPr>
        <p:spPr>
          <a:xfrm>
            <a:off x="8485632" y="3172968"/>
            <a:ext cx="2807208" cy="1097280"/>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Is there a principled criterion for vertex removal, or must it be learned per task?</a:t>
            </a:r>
            <a:endParaRPr lang="en-US" sz="1300" dirty="0"/>
          </a:p>
        </p:txBody>
      </p:sp>
      <p:sp>
        <p:nvSpPr>
          <p:cNvPr id="17" name="Text 15"/>
          <p:cNvSpPr txBox="1"/>
          <p:nvPr/>
        </p:nvSpPr>
        <p:spPr>
          <a:xfrm>
            <a:off x="8183880" y="4379976"/>
            <a:ext cx="274320" cy="274320"/>
          </a:xfrm>
          <a:prstGeom prst="rect">
            <a:avLst/>
          </a:prstGeom>
          <a:noFill/>
          <a:ln/>
        </p:spPr>
        <p:txBody>
          <a:bodyPr wrap="square" lIns="0" tIns="0" rIns="0" bIns="0" rtlCol="0" anchor="ctr"/>
          <a:lstStyle/>
          <a:p>
            <a:pPr indent="0" marL="0">
              <a:buNone/>
            </a:pPr>
            <a:r>
              <a:rPr lang="en-US" sz="1250" b="1" dirty="0">
                <a:solidFill>
                  <a:srgbClr val="D98A1F"/>
                </a:solidFill>
                <a:latin typeface="Montserrat" pitchFamily="34" charset="0"/>
                <a:ea typeface="Montserrat" pitchFamily="34" charset="-122"/>
                <a:cs typeface="Montserrat" pitchFamily="34" charset="-120"/>
              </a:rPr>
              <a:t>3</a:t>
            </a:r>
            <a:endParaRPr lang="en-US" sz="1250" dirty="0"/>
          </a:p>
        </p:txBody>
      </p:sp>
      <p:sp>
        <p:nvSpPr>
          <p:cNvPr id="18" name="Text 16"/>
          <p:cNvSpPr txBox="1"/>
          <p:nvPr/>
        </p:nvSpPr>
        <p:spPr>
          <a:xfrm>
            <a:off x="8485632" y="4379976"/>
            <a:ext cx="2807208" cy="1097280"/>
          </a:xfrm>
          <a:prstGeom prst="rect">
            <a:avLst/>
          </a:prstGeom>
          <a:noFill/>
          <a:ln/>
        </p:spPr>
        <p:txBody>
          <a:bodyPr wrap="square" lIns="0" tIns="0" rIns="0" bIns="0" rtlCol="0" anchor="ctr"/>
          <a:lstStyle/>
          <a:p>
            <a:pPr indent="0" marL="0">
              <a:buNone/>
            </a:pPr>
            <a:r>
              <a:rPr lang="en-US" sz="1300" dirty="0">
                <a:solidFill>
                  <a:srgbClr val="16181D"/>
                </a:solidFill>
                <a:latin typeface="Montserrat" pitchFamily="34" charset="0"/>
                <a:ea typeface="Montserrat" pitchFamily="34" charset="-122"/>
                <a:cs typeface="Montserrat" pitchFamily="34" charset="-120"/>
              </a:rPr>
              <a:t>Does GoT's disadvantage at 7B close with scale, or is aggregation intrinsically fragile?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References</a:t>
            </a:r>
            <a:endParaRPr lang="en-US" sz="3000" dirty="0"/>
          </a:p>
        </p:txBody>
      </p:sp>
      <p:sp>
        <p:nvSpPr>
          <p:cNvPr id="7" name="Shape 5"/>
          <p:cNvSpPr/>
          <p:nvPr/>
        </p:nvSpPr>
        <p:spPr>
          <a:xfrm>
            <a:off x="621792" y="914400"/>
            <a:ext cx="37490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43159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731520" y="1207008"/>
            <a:ext cx="10607040" cy="502920"/>
          </a:xfrm>
          <a:prstGeom prst="rect">
            <a:avLst/>
          </a:prstGeom>
          <a:noFill/>
          <a:ln/>
        </p:spPr>
        <p:txBody>
          <a:bodyPr wrap="square" lIns="0" tIns="0" rIns="0" bIns="0" rtlCol="0" anchor="ctr"/>
          <a:lstStyle/>
          <a:p>
            <a:pPr indent="0" marL="0">
              <a:lnSpc>
                <a:spcPct val="110000"/>
              </a:lnSpc>
              <a:buNone/>
            </a:pPr>
            <a:r>
              <a:rPr lang="en-US" sz="1300" dirty="0">
                <a:solidFill>
                  <a:srgbClr val="16181D"/>
                </a:solidFill>
                <a:latin typeface="Montserrat" pitchFamily="34" charset="0"/>
                <a:ea typeface="Montserrat" pitchFamily="34" charset="-122"/>
                <a:cs typeface="Montserrat" pitchFamily="34" charset="-120"/>
              </a:rPr>
              <a:t>[1] M. Besta, N. Blach, A. Kubicek, et al., "Graph of Thoughts: Solving elaborate problems with large language models," in Proc. AAAI Conf. Artif. Intell., vol. 38, 2024, arXiv:2308.09687.</a:t>
            </a:r>
            <a:endParaRPr lang="en-US" sz="1300" dirty="0"/>
          </a:p>
        </p:txBody>
      </p:sp>
      <p:sp>
        <p:nvSpPr>
          <p:cNvPr id="11" name="Text 9"/>
          <p:cNvSpPr txBox="1"/>
          <p:nvPr/>
        </p:nvSpPr>
        <p:spPr>
          <a:xfrm>
            <a:off x="731520" y="1741932"/>
            <a:ext cx="10607040" cy="502920"/>
          </a:xfrm>
          <a:prstGeom prst="rect">
            <a:avLst/>
          </a:prstGeom>
          <a:noFill/>
          <a:ln/>
        </p:spPr>
        <p:txBody>
          <a:bodyPr wrap="square" lIns="0" tIns="0" rIns="0" bIns="0" rtlCol="0" anchor="ctr"/>
          <a:lstStyle/>
          <a:p>
            <a:pPr indent="0" marL="0">
              <a:lnSpc>
                <a:spcPct val="110000"/>
              </a:lnSpc>
              <a:buNone/>
            </a:pPr>
            <a:r>
              <a:rPr lang="en-US" sz="1300" dirty="0">
                <a:solidFill>
                  <a:srgbClr val="16181D"/>
                </a:solidFill>
                <a:latin typeface="Montserrat" pitchFamily="34" charset="0"/>
                <a:ea typeface="Montserrat" pitchFamily="34" charset="-122"/>
                <a:cs typeface="Montserrat" pitchFamily="34" charset="-120"/>
              </a:rPr>
              <a:t>[2] S. Yao, D. Yu, J. Zhao, et al., "Tree of Thoughts: Deliberate problem solving with large language models," in Adv. Neural Inf. Process. Syst. (NeurIPS), 2023, arXiv:2305.10601.</a:t>
            </a:r>
            <a:endParaRPr lang="en-US" sz="1300" dirty="0"/>
          </a:p>
        </p:txBody>
      </p:sp>
      <p:sp>
        <p:nvSpPr>
          <p:cNvPr id="12" name="Text 10"/>
          <p:cNvSpPr txBox="1"/>
          <p:nvPr/>
        </p:nvSpPr>
        <p:spPr>
          <a:xfrm>
            <a:off x="731520" y="2276856"/>
            <a:ext cx="10607040" cy="502920"/>
          </a:xfrm>
          <a:prstGeom prst="rect">
            <a:avLst/>
          </a:prstGeom>
          <a:noFill/>
          <a:ln/>
        </p:spPr>
        <p:txBody>
          <a:bodyPr wrap="square" lIns="0" tIns="0" rIns="0" bIns="0" rtlCol="0" anchor="ctr"/>
          <a:lstStyle/>
          <a:p>
            <a:pPr indent="0" marL="0">
              <a:lnSpc>
                <a:spcPct val="110000"/>
              </a:lnSpc>
              <a:buNone/>
            </a:pPr>
            <a:r>
              <a:rPr lang="en-US" sz="1300" dirty="0">
                <a:solidFill>
                  <a:srgbClr val="16181D"/>
                </a:solidFill>
                <a:latin typeface="Montserrat" pitchFamily="34" charset="0"/>
                <a:ea typeface="Montserrat" pitchFamily="34" charset="-122"/>
                <a:cs typeface="Montserrat" pitchFamily="34" charset="-120"/>
              </a:rPr>
              <a:t>[3] J. Wei, X. Wang, D. Schuurmans, et al., "Chain-of-thought prompting elicits reasoning in large language models," in Adv. Neural Inf. Process. Syst. (NeurIPS), 2022, arXiv:2201.11903.</a:t>
            </a:r>
            <a:endParaRPr lang="en-US" sz="1300" dirty="0"/>
          </a:p>
        </p:txBody>
      </p:sp>
      <p:sp>
        <p:nvSpPr>
          <p:cNvPr id="13" name="Text 11"/>
          <p:cNvSpPr txBox="1"/>
          <p:nvPr/>
        </p:nvSpPr>
        <p:spPr>
          <a:xfrm>
            <a:off x="731520" y="2811780"/>
            <a:ext cx="10607040" cy="502920"/>
          </a:xfrm>
          <a:prstGeom prst="rect">
            <a:avLst/>
          </a:prstGeom>
          <a:noFill/>
          <a:ln/>
        </p:spPr>
        <p:txBody>
          <a:bodyPr wrap="square" lIns="0" tIns="0" rIns="0" bIns="0" rtlCol="0" anchor="ctr"/>
          <a:lstStyle/>
          <a:p>
            <a:pPr indent="0" marL="0">
              <a:lnSpc>
                <a:spcPct val="110000"/>
              </a:lnSpc>
              <a:buNone/>
            </a:pPr>
            <a:r>
              <a:rPr lang="en-US" sz="1300" dirty="0">
                <a:solidFill>
                  <a:srgbClr val="16181D"/>
                </a:solidFill>
                <a:latin typeface="Montserrat" pitchFamily="34" charset="0"/>
                <a:ea typeface="Montserrat" pitchFamily="34" charset="-122"/>
                <a:cs typeface="Montserrat" pitchFamily="34" charset="-120"/>
              </a:rPr>
              <a:t>[4] X. Wang, J. Wei, D. Schuurmans, et al., "Self-consistency improves chain of thought reasoning in language models," in Proc. Int. Conf. Learn. Represent. (ICLR), 2023, arXiv:2203.11171.</a:t>
            </a:r>
            <a:endParaRPr lang="en-US" sz="1300" dirty="0"/>
          </a:p>
        </p:txBody>
      </p:sp>
      <p:sp>
        <p:nvSpPr>
          <p:cNvPr id="14" name="Text 12"/>
          <p:cNvSpPr txBox="1"/>
          <p:nvPr/>
        </p:nvSpPr>
        <p:spPr>
          <a:xfrm>
            <a:off x="731520" y="3346704"/>
            <a:ext cx="10607040" cy="502920"/>
          </a:xfrm>
          <a:prstGeom prst="rect">
            <a:avLst/>
          </a:prstGeom>
          <a:noFill/>
          <a:ln/>
        </p:spPr>
        <p:txBody>
          <a:bodyPr wrap="square" lIns="0" tIns="0" rIns="0" bIns="0" rtlCol="0" anchor="ctr"/>
          <a:lstStyle/>
          <a:p>
            <a:pPr indent="0" marL="0">
              <a:lnSpc>
                <a:spcPct val="110000"/>
              </a:lnSpc>
              <a:buNone/>
            </a:pPr>
            <a:r>
              <a:rPr lang="en-US" sz="1300" dirty="0">
                <a:solidFill>
                  <a:srgbClr val="16181D"/>
                </a:solidFill>
                <a:latin typeface="Montserrat" pitchFamily="34" charset="0"/>
                <a:ea typeface="Montserrat" pitchFamily="34" charset="-122"/>
                <a:cs typeface="Montserrat" pitchFamily="34" charset="-120"/>
              </a:rPr>
              <a:t>[5] S. Xu, W. Xie, L. Zhao, and P. He, "Chain of Draft: Thinking faster by writing less," 2025, arXiv:2502.18600.</a:t>
            </a:r>
            <a:endParaRPr lang="en-US" sz="1300" dirty="0"/>
          </a:p>
        </p:txBody>
      </p:sp>
      <p:sp>
        <p:nvSpPr>
          <p:cNvPr id="15" name="Text 13"/>
          <p:cNvSpPr txBox="1"/>
          <p:nvPr/>
        </p:nvSpPr>
        <p:spPr>
          <a:xfrm>
            <a:off x="731520" y="3881628"/>
            <a:ext cx="10607040" cy="502920"/>
          </a:xfrm>
          <a:prstGeom prst="rect">
            <a:avLst/>
          </a:prstGeom>
          <a:noFill/>
          <a:ln/>
        </p:spPr>
        <p:txBody>
          <a:bodyPr wrap="square" lIns="0" tIns="0" rIns="0" bIns="0" rtlCol="0" anchor="ctr"/>
          <a:lstStyle/>
          <a:p>
            <a:pPr indent="0" marL="0">
              <a:lnSpc>
                <a:spcPct val="110000"/>
              </a:lnSpc>
              <a:buNone/>
            </a:pPr>
            <a:r>
              <a:rPr lang="en-US" sz="1300" dirty="0">
                <a:solidFill>
                  <a:srgbClr val="16181D"/>
                </a:solidFill>
                <a:latin typeface="Montserrat" pitchFamily="34" charset="0"/>
                <a:ea typeface="Montserrat" pitchFamily="34" charset="-122"/>
                <a:cs typeface="Montserrat" pitchFamily="34" charset="-120"/>
              </a:rPr>
              <a:t>[6] H. Xia, Y. Li, C. T. Leong, et al., "TokenSkip: Controllable chain-of-thought compression in LLMs," 2025, arXiv:2502.12067.</a:t>
            </a:r>
            <a:endParaRPr lang="en-US" sz="1300" dirty="0"/>
          </a:p>
        </p:txBody>
      </p:sp>
      <p:sp>
        <p:nvSpPr>
          <p:cNvPr id="16" name="Text 14"/>
          <p:cNvSpPr txBox="1"/>
          <p:nvPr/>
        </p:nvSpPr>
        <p:spPr>
          <a:xfrm>
            <a:off x="731520" y="4416552"/>
            <a:ext cx="10607040" cy="502920"/>
          </a:xfrm>
          <a:prstGeom prst="rect">
            <a:avLst/>
          </a:prstGeom>
          <a:noFill/>
          <a:ln/>
        </p:spPr>
        <p:txBody>
          <a:bodyPr wrap="square" lIns="0" tIns="0" rIns="0" bIns="0" rtlCol="0" anchor="ctr"/>
          <a:lstStyle/>
          <a:p>
            <a:pPr indent="0" marL="0">
              <a:lnSpc>
                <a:spcPct val="110000"/>
              </a:lnSpc>
              <a:buNone/>
            </a:pPr>
            <a:r>
              <a:rPr lang="en-US" sz="1300" dirty="0">
                <a:solidFill>
                  <a:srgbClr val="16181D"/>
                </a:solidFill>
                <a:latin typeface="Montserrat" pitchFamily="34" charset="0"/>
                <a:ea typeface="Montserrat" pitchFamily="34" charset="-122"/>
                <a:cs typeface="Montserrat" pitchFamily="34" charset="-120"/>
              </a:rPr>
              <a:t>[7] S. Hao, S. Sukhbaatar, D. Su, et al., "Training large language models to reason in a continuous latent space," 2024, arXiv:2412.06769.</a:t>
            </a:r>
            <a:endParaRPr lang="en-US" sz="1300" dirty="0"/>
          </a:p>
        </p:txBody>
      </p:sp>
      <p:sp>
        <p:nvSpPr>
          <p:cNvPr id="17" name="Text 15"/>
          <p:cNvSpPr txBox="1"/>
          <p:nvPr/>
        </p:nvSpPr>
        <p:spPr>
          <a:xfrm>
            <a:off x="731520" y="4951476"/>
            <a:ext cx="10607040" cy="502920"/>
          </a:xfrm>
          <a:prstGeom prst="rect">
            <a:avLst/>
          </a:prstGeom>
          <a:noFill/>
          <a:ln/>
        </p:spPr>
        <p:txBody>
          <a:bodyPr wrap="square" lIns="0" tIns="0" rIns="0" bIns="0" rtlCol="0" anchor="ctr"/>
          <a:lstStyle/>
          <a:p>
            <a:pPr indent="0" marL="0">
              <a:lnSpc>
                <a:spcPct val="110000"/>
              </a:lnSpc>
              <a:buNone/>
            </a:pPr>
            <a:r>
              <a:rPr lang="en-US" sz="1300" dirty="0">
                <a:solidFill>
                  <a:srgbClr val="16181D"/>
                </a:solidFill>
                <a:latin typeface="Montserrat" pitchFamily="34" charset="0"/>
                <a:ea typeface="Montserrat" pitchFamily="34" charset="-122"/>
                <a:cs typeface="Montserrat" pitchFamily="34" charset="-120"/>
              </a:rPr>
              <a:t>[8] A. Loukas, "Graph reduction with spectral and cut guarantees," J. Mach. Learn. Res., vol. 20, no. 116, pp. 1-42, 2019.</a:t>
            </a:r>
            <a:endParaRPr lang="en-US" sz="1300" dirty="0"/>
          </a:p>
        </p:txBody>
      </p:sp>
      <p:sp>
        <p:nvSpPr>
          <p:cNvPr id="18" name="Text 16"/>
          <p:cNvSpPr txBox="1"/>
          <p:nvPr/>
        </p:nvSpPr>
        <p:spPr>
          <a:xfrm>
            <a:off x="731520" y="5486400"/>
            <a:ext cx="10607040" cy="502920"/>
          </a:xfrm>
          <a:prstGeom prst="rect">
            <a:avLst/>
          </a:prstGeom>
          <a:noFill/>
          <a:ln/>
        </p:spPr>
        <p:txBody>
          <a:bodyPr wrap="square" lIns="0" tIns="0" rIns="0" bIns="0" rtlCol="0" anchor="ctr"/>
          <a:lstStyle/>
          <a:p>
            <a:pPr indent="0" marL="0">
              <a:lnSpc>
                <a:spcPct val="110000"/>
              </a:lnSpc>
              <a:buNone/>
            </a:pPr>
            <a:r>
              <a:rPr lang="en-US" sz="1300" dirty="0">
                <a:solidFill>
                  <a:srgbClr val="16181D"/>
                </a:solidFill>
                <a:latin typeface="Montserrat" pitchFamily="34" charset="0"/>
                <a:ea typeface="Montserrat" pitchFamily="34" charset="-122"/>
                <a:cs typeface="Montserrat" pitchFamily="34" charset="-120"/>
              </a:rPr>
              <a:t>[9] W. Kwon, Z. Li, S. Zhuang, et al., "Efficient memory management for large language model serving with PagedAttention," in Proc. ACM SOSP, 2023, arXiv:2309.06180.</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02920" y="219456"/>
            <a:ext cx="2377440" cy="274320"/>
          </a:xfrm>
          <a:prstGeom prst="rect">
            <a:avLst/>
          </a:prstGeom>
          <a:noFill/>
          <a:ln/>
        </p:spPr>
        <p:txBody>
          <a:bodyPr wrap="square" lIns="0" tIns="0" rIns="0" bIns="0" rtlCol="0" anchor="ctr"/>
          <a:lstStyle/>
          <a:p>
            <a:pPr indent="0" marL="0">
              <a:buNone/>
            </a:pPr>
            <a:r>
              <a:rPr lang="en-US" sz="1400" b="1" spc="200" kern="0" dirty="0">
                <a:solidFill>
                  <a:srgbClr val="23408E"/>
                </a:solidFill>
                <a:latin typeface="Montserrat" pitchFamily="34" charset="0"/>
                <a:ea typeface="Montserrat" pitchFamily="34" charset="-122"/>
                <a:cs typeface="Montserrat" pitchFamily="34" charset="-120"/>
              </a:rPr>
              <a:t>IIT DELHI</a:t>
            </a:r>
            <a:endParaRPr lang="en-US" sz="1400" dirty="0"/>
          </a:p>
        </p:txBody>
      </p:sp>
      <p:sp>
        <p:nvSpPr>
          <p:cNvPr id="7" name="Text 5"/>
          <p:cNvSpPr txBox="1"/>
          <p:nvPr/>
        </p:nvSpPr>
        <p:spPr>
          <a:xfrm>
            <a:off x="502920" y="512064"/>
            <a:ext cx="3108960" cy="237744"/>
          </a:xfrm>
          <a:prstGeom prst="rect">
            <a:avLst/>
          </a:prstGeom>
          <a:noFill/>
          <a:ln/>
        </p:spPr>
        <p:txBody>
          <a:bodyPr wrap="square" lIns="0" tIns="0" rIns="0" bIns="0" rtlCol="0" anchor="ctr"/>
          <a:lstStyle/>
          <a:p>
            <a:pPr indent="0" marL="0">
              <a:buNone/>
            </a:pPr>
            <a:r>
              <a:rPr lang="en-US" sz="1000" dirty="0">
                <a:solidFill>
                  <a:srgbClr val="63697A"/>
                </a:solidFill>
                <a:latin typeface="Montserrat" pitchFamily="34" charset="0"/>
                <a:ea typeface="Montserrat" pitchFamily="34" charset="-122"/>
                <a:cs typeface="Montserrat" pitchFamily="34" charset="-120"/>
              </a:rPr>
              <a:t>Department of Electrical Engineering</a:t>
            </a:r>
            <a:endParaRPr lang="en-US" sz="1000" dirty="0"/>
          </a:p>
        </p:txBody>
      </p:sp>
      <p:sp>
        <p:nvSpPr>
          <p:cNvPr id="8" name="Shape 6"/>
          <p:cNvSpPr/>
          <p:nvPr/>
        </p:nvSpPr>
        <p:spPr>
          <a:xfrm>
            <a:off x="2560320" y="2240280"/>
            <a:ext cx="7040880" cy="2286000"/>
          </a:xfrm>
          <a:prstGeom prst="roundRect">
            <a:avLst>
              <a:gd name="adj" fmla="val 2400"/>
            </a:avLst>
          </a:prstGeom>
          <a:solidFill>
            <a:srgbClr val="FFFFFF"/>
          </a:solidFill>
          <a:ln w="15240">
            <a:solidFill>
              <a:srgbClr val="16181D"/>
            </a:solidFill>
            <a:prstDash val="solid"/>
          </a:ln>
        </p:spPr>
      </p:sp>
      <p:sp>
        <p:nvSpPr>
          <p:cNvPr id="9" name="Text 7"/>
          <p:cNvSpPr txBox="1"/>
          <p:nvPr/>
        </p:nvSpPr>
        <p:spPr>
          <a:xfrm>
            <a:off x="2560320" y="2926080"/>
            <a:ext cx="7040880" cy="914400"/>
          </a:xfrm>
          <a:prstGeom prst="rect">
            <a:avLst/>
          </a:prstGeom>
          <a:noFill/>
          <a:ln/>
        </p:spPr>
        <p:txBody>
          <a:bodyPr wrap="square" lIns="0" tIns="0" rIns="0" bIns="0" rtlCol="0" anchor="ctr"/>
          <a:lstStyle/>
          <a:p>
            <a:pPr algn="ctr" indent="0" marL="0">
              <a:buNone/>
            </a:pPr>
            <a:r>
              <a:rPr lang="en-US" sz="4400" b="1" dirty="0">
                <a:solidFill>
                  <a:srgbClr val="23408E"/>
                </a:solidFill>
                <a:latin typeface="Montserrat" pitchFamily="34" charset="0"/>
                <a:ea typeface="Montserrat" pitchFamily="34" charset="-122"/>
                <a:cs typeface="Montserrat" pitchFamily="34" charset="-120"/>
              </a:rPr>
              <a:t>Thank You</a:t>
            </a:r>
            <a:endParaRPr lang="en-US" sz="4400" dirty="0"/>
          </a:p>
        </p:txBody>
      </p:sp>
      <p:sp>
        <p:nvSpPr>
          <p:cNvPr id="10" name="Text 8"/>
          <p:cNvSpPr txBox="1"/>
          <p:nvPr/>
        </p:nvSpPr>
        <p:spPr>
          <a:xfrm>
            <a:off x="2560320" y="4800600"/>
            <a:ext cx="7040880" cy="292608"/>
          </a:xfrm>
          <a:prstGeom prst="rect">
            <a:avLst/>
          </a:prstGeom>
          <a:noFill/>
          <a:ln/>
        </p:spPr>
        <p:txBody>
          <a:bodyPr wrap="square" lIns="0" tIns="0" rIns="0" bIns="0" rtlCol="0" anchor="ctr"/>
          <a:lstStyle/>
          <a:p>
            <a:pPr algn="ctr" indent="0" marL="0">
              <a:buNone/>
            </a:pPr>
            <a:r>
              <a:rPr lang="en-US" sz="1150" dirty="0">
                <a:solidFill>
                  <a:srgbClr val="63697A"/>
                </a:solidFill>
                <a:latin typeface="Montserrat" pitchFamily="34" charset="0"/>
                <a:ea typeface="Montserrat" pitchFamily="34" charset="-122"/>
                <a:cs typeface="Montserrat" pitchFamily="34" charset="-120"/>
              </a:rPr>
              <a:t>github.com/TREX4096/Graph_of_Thought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Causality-Preserving Graph Coarsening for Efficient LLM Reasoning</dc:title>
  <dc:subject>PptxGenJS Presentation</dc:subject>
  <dc:creator>Prasoon Raj, Nikhil Bansal</dc:creator>
  <cp:lastModifiedBy>Prasoon Raj, Nikhil Bansal</cp:lastModifiedBy>
  <cp:revision>1</cp:revision>
  <dcterms:created xsi:type="dcterms:W3CDTF">2026-09-26T03:49:55Z</dcterms:created>
  <dcterms:modified xsi:type="dcterms:W3CDTF">2026-09-26T03:49:55Z</dcterms:modified>
</cp:coreProperties>
</file>
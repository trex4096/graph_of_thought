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B"/>
                </a:solidFill>
                <a:latin typeface="Calibri"/>
              </a:defRPr>
            </a:pPr>
            <a:r>
              <a:rPr sz="1300" b="0" i="0" u="none" strike="noStrike">
                <a:solidFill>
                  <a:srgbClr val="16203B"/>
                </a:solidFill>
                <a:latin typeface="Calibri"/>
              </a:rPr>
              <a:t>Mean error scope (lower is better)</a:t>
            </a:r>
          </a:p>
        </c:rich>
      </c:tx>
      <c:layout/>
      <c:overlay val="0"/>
    </c:title>
    <c:autoTitleDeleted val="0"/>
    <c:plotArea>
      <c:layout/>
      <c:barChart>
        <c:barDir val="col"/>
        <c:grouping val="clustered"/>
        <c:varyColors val="0"/>
        <c:ser>
          <c:idx val="0"/>
          <c:order val="0"/>
          <c:tx>
            <c:strRef>
              <c:f>Sheet1!$B$1</c:f>
              <c:strCache>
                <c:ptCount val="1"/>
                <c:pt idx="0">
                  <c:v>Error scope (lower is better)</c:v>
                </c:pt>
              </c:strCache>
            </c:strRef>
          </c:tx>
          <c:spPr>
            <a:solidFill>
              <a:srgbClr val="1C4E80"/>
            </a:solidFill>
            <a:effectLst/>
          </c:spPr>
          <c:invertIfNegative val="0"/>
          <c:dLbls>
            <c:numFmt formatCode="0.00" sourceLinked="0"/>
            <c:txPr>
              <a:bodyPr/>
              <a:lstStyle/>
              <a:p>
                <a:pPr>
                  <a:defRPr b="0" i="0" strike="noStrike" sz="1100" u="none">
                    <a:solidFill>
                      <a:srgbClr val="16203B"/>
                    </a:solidFill>
                    <a:latin typeface="Arial"/>
                  </a:defRPr>
                </a:pPr>
              </a:p>
            </c:txPr>
            <c:showLegendKey val="0"/>
            <c:showVal val="1"/>
            <c:showCatName val="0"/>
            <c:showSerName val="0"/>
            <c:showPercent val="0"/>
            <c:showBubbleSize val="0"/>
            <c:showLeaderLines val="0"/>
          </c:dLbls>
          <c:dPt>
            <c:idx val="0"/>
            <c:invertIfNegative val="0"/>
            <c:bubble3D val="0"/>
            <c:spPr>
              <a:solidFill>
                <a:srgbClr val="1C4E80"/>
              </a:solidFill>
              <a:effectLst/>
            </c:spPr>
          </c:dPt>
          <c:dPt>
            <c:idx val="1"/>
            <c:invertIfNegative val="0"/>
            <c:bubble3D val="0"/>
            <c:spPr>
              <a:solidFill>
                <a:srgbClr val="1C4E80"/>
              </a:solidFill>
              <a:effectLst/>
            </c:spPr>
          </c:dPt>
          <c:dPt>
            <c:idx val="2"/>
            <c:invertIfNegative val="0"/>
            <c:bubble3D val="0"/>
            <c:spPr>
              <a:solidFill>
                <a:srgbClr val="1C4E80"/>
              </a:solidFill>
              <a:effectLst/>
            </c:spPr>
          </c:dPt>
          <c:dPt>
            <c:idx val="3"/>
            <c:invertIfNegative val="0"/>
            <c:bubble3D val="0"/>
            <c:spPr>
              <a:solidFill>
                <a:srgbClr val="1C4E80"/>
              </a:solidFill>
              <a:effectLst/>
            </c:spPr>
          </c:dPt>
          <c:dPt>
            <c:idx val="4"/>
            <c:invertIfNegative val="0"/>
            <c:bubble3D val="0"/>
            <c:spPr>
              <a:solidFill>
                <a:srgbClr val="FF7A59"/>
              </a:solidFill>
              <a:effectLst/>
            </c:spPr>
          </c:dPt>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9.83</c:v>
                </c:pt>
                <c:pt idx="1">
                  <c:v>10.34</c:v>
                </c:pt>
                <c:pt idx="2">
                  <c:v>8.17</c:v>
                </c:pt>
                <c:pt idx="3">
                  <c:v>9.87</c:v>
                </c:pt>
                <c:pt idx="4">
                  <c:v>8.11</c:v>
                </c:pt>
              </c:numCache>
            </c:numRef>
          </c:val>
        </c:ser>
        <c:dLbls>
          <c:numFmt formatCode="0.00" sourceLinked="0"/>
          <c:txPr>
            <a:bodyPr/>
            <a:lstStyle/>
            <a:p>
              <a:pPr>
                <a:defRPr b="0" i="0" strike="noStrike" sz="1100" u="none">
                  <a:solidFill>
                    <a:srgbClr val="1620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DF1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reproduce the Graph of Thoughts paper end to end, on open models we can actually run, and check which of its claims survive. Roughly one minute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bottleneck is architectural. Sorting is the benchmark because the failure is pure working memory - no world knowledge needed, and random digits cannot have been memorised from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slide. Each rung fixes a flaw in the one below. CoT-SC runs k chains but they never talk to each other. ToT can branch and backtrack but never merge. GoT removes the in-degree constraint, and merging becomes expressible. It is a theorem,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 is the recipe, GRS is the meal. Run one GoO over 100 inputs and you get one GoO and 100 GRSs. Only Generate, Aggregate and Improve create thoughts - which is exactly the paper's list of transformations.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here is exact Python - count inversions and compare digit frequencies - so it is free and never wrong. That is a large advantage over ToT, which usually needs a second LLM call to evaluate a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stressing: synthetic data is a deliberate strength here, not a shortcut. If GoT improved GSM8K you could not tell whether it helped reasoning or just gave more chances to recall a memorised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experimental design point is the last line: one engine, five graph shapes. That is what makes the comparison about structure rather than about implementation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claims a replication can settle definitively, because they do not depend on model quality. ToT's tree wastes almost everything it computes - only one root-to-leaf path reaches the answer. GoT's merges pull every branch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here: the exact percentage is being re-measured. We found our own ToT baseline was handicapped - it could not reject a refinement that made the answer worse - which inflated GoT's margin. Fixed, and rerunning. The direction of the result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lesson - it is the most interesting finding and it is ours, not the paper's. CoT doing worse than direct prompting shows that what makes these schemes work is the ability to score and discard, not simply spending more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4"/>
        </a:solidFill>
      </p:bgPr>
    </p:bg>
    <p:spTree>
      <p:nvGrpSpPr>
        <p:cNvPr id="1" name=""/>
        <p:cNvGrpSpPr/>
        <p:nvPr/>
      </p:nvGrpSpPr>
      <p:grpSpPr>
        <a:xfrm>
          <a:off x="0" y="0"/>
          <a:ext cx="0" cy="0"/>
          <a:chOff x="0" y="0"/>
          <a:chExt cx="0" cy="0"/>
        </a:xfrm>
      </p:grpSpPr>
      <p:sp>
        <p:nvSpPr>
          <p:cNvPr id="2" name="Shape 0"/>
          <p:cNvSpPr/>
          <p:nvPr/>
        </p:nvSpPr>
        <p:spPr>
          <a:xfrm>
            <a:off x="9628632" y="2039112"/>
            <a:ext cx="0" cy="0"/>
          </a:xfrm>
          <a:prstGeom prst="line">
            <a:avLst/>
          </a:prstGeom>
          <a:noFill/>
          <a:ln w="12700">
            <a:solidFill>
              <a:srgbClr val="2C3C68"/>
            </a:solidFill>
            <a:prstDash val="solid"/>
          </a:ln>
        </p:spPr>
      </p:sp>
      <p:sp>
        <p:nvSpPr>
          <p:cNvPr id="3" name="Shape 1"/>
          <p:cNvSpPr/>
          <p:nvPr/>
        </p:nvSpPr>
        <p:spPr>
          <a:xfrm flipV="1">
            <a:off x="8485632" y="2039112"/>
            <a:ext cx="1143000" cy="1371600"/>
          </a:xfrm>
          <a:prstGeom prst="line">
            <a:avLst/>
          </a:prstGeom>
          <a:noFill/>
          <a:ln w="12700">
            <a:solidFill>
              <a:srgbClr val="2C3C68"/>
            </a:solidFill>
            <a:prstDash val="solid"/>
          </a:ln>
        </p:spPr>
      </p:sp>
      <p:sp>
        <p:nvSpPr>
          <p:cNvPr id="4" name="Shape 2"/>
          <p:cNvSpPr/>
          <p:nvPr/>
        </p:nvSpPr>
        <p:spPr>
          <a:xfrm>
            <a:off x="9628632" y="2039112"/>
            <a:ext cx="1143000" cy="1371600"/>
          </a:xfrm>
          <a:prstGeom prst="line">
            <a:avLst/>
          </a:prstGeom>
          <a:noFill/>
          <a:ln w="12700">
            <a:solidFill>
              <a:srgbClr val="2C3C68"/>
            </a:solidFill>
            <a:prstDash val="solid"/>
          </a:ln>
        </p:spPr>
      </p:sp>
      <p:sp>
        <p:nvSpPr>
          <p:cNvPr id="5" name="Shape 3"/>
          <p:cNvSpPr/>
          <p:nvPr/>
        </p:nvSpPr>
        <p:spPr>
          <a:xfrm flipV="1">
            <a:off x="9244584" y="2039112"/>
            <a:ext cx="384048" cy="1371600"/>
          </a:xfrm>
          <a:prstGeom prst="line">
            <a:avLst/>
          </a:prstGeom>
          <a:noFill/>
          <a:ln w="12700">
            <a:solidFill>
              <a:srgbClr val="2C3C68"/>
            </a:solidFill>
            <a:prstDash val="solid"/>
          </a:ln>
        </p:spPr>
      </p:sp>
      <p:sp>
        <p:nvSpPr>
          <p:cNvPr id="6" name="Shape 4"/>
          <p:cNvSpPr/>
          <p:nvPr/>
        </p:nvSpPr>
        <p:spPr>
          <a:xfrm>
            <a:off x="9628632" y="2039112"/>
            <a:ext cx="384048" cy="1371600"/>
          </a:xfrm>
          <a:prstGeom prst="line">
            <a:avLst/>
          </a:prstGeom>
          <a:noFill/>
          <a:ln w="12700">
            <a:solidFill>
              <a:srgbClr val="2C3C68"/>
            </a:solidFill>
            <a:prstDash val="solid"/>
          </a:ln>
        </p:spPr>
      </p:sp>
      <p:sp>
        <p:nvSpPr>
          <p:cNvPr id="7" name="Shape 5"/>
          <p:cNvSpPr/>
          <p:nvPr/>
        </p:nvSpPr>
        <p:spPr>
          <a:xfrm>
            <a:off x="9628632" y="2039112"/>
            <a:ext cx="0" cy="2743200"/>
          </a:xfrm>
          <a:prstGeom prst="line">
            <a:avLst/>
          </a:prstGeom>
          <a:noFill/>
          <a:ln w="12700">
            <a:solidFill>
              <a:srgbClr val="2C3C68"/>
            </a:solidFill>
            <a:prstDash val="solid"/>
          </a:ln>
        </p:spPr>
      </p:sp>
      <p:sp>
        <p:nvSpPr>
          <p:cNvPr id="8" name="Shape 6"/>
          <p:cNvSpPr/>
          <p:nvPr/>
        </p:nvSpPr>
        <p:spPr>
          <a:xfrm>
            <a:off x="8485632" y="3410712"/>
            <a:ext cx="1143000" cy="1371600"/>
          </a:xfrm>
          <a:prstGeom prst="line">
            <a:avLst/>
          </a:prstGeom>
          <a:noFill/>
          <a:ln w="15875">
            <a:solidFill>
              <a:srgbClr val="FF7A59"/>
            </a:solidFill>
            <a:prstDash val="solid"/>
          </a:ln>
        </p:spPr>
      </p:sp>
      <p:sp>
        <p:nvSpPr>
          <p:cNvPr id="9" name="Shape 7"/>
          <p:cNvSpPr/>
          <p:nvPr/>
        </p:nvSpPr>
        <p:spPr>
          <a:xfrm flipV="1">
            <a:off x="9628632" y="3410712"/>
            <a:ext cx="1143000" cy="1371600"/>
          </a:xfrm>
          <a:prstGeom prst="line">
            <a:avLst/>
          </a:prstGeom>
          <a:noFill/>
          <a:ln w="15875">
            <a:solidFill>
              <a:srgbClr val="FF7A59"/>
            </a:solidFill>
            <a:prstDash val="solid"/>
          </a:ln>
        </p:spPr>
      </p:sp>
      <p:sp>
        <p:nvSpPr>
          <p:cNvPr id="10" name="Shape 8"/>
          <p:cNvSpPr/>
          <p:nvPr/>
        </p:nvSpPr>
        <p:spPr>
          <a:xfrm>
            <a:off x="9244584" y="3410712"/>
            <a:ext cx="384048" cy="1371600"/>
          </a:xfrm>
          <a:prstGeom prst="line">
            <a:avLst/>
          </a:prstGeom>
          <a:noFill/>
          <a:ln w="15875">
            <a:solidFill>
              <a:srgbClr val="FF7A59"/>
            </a:solidFill>
            <a:prstDash val="solid"/>
          </a:ln>
        </p:spPr>
      </p:sp>
      <p:sp>
        <p:nvSpPr>
          <p:cNvPr id="11" name="Shape 9"/>
          <p:cNvSpPr/>
          <p:nvPr/>
        </p:nvSpPr>
        <p:spPr>
          <a:xfrm flipV="1">
            <a:off x="9628632" y="3410712"/>
            <a:ext cx="384048" cy="1371600"/>
          </a:xfrm>
          <a:prstGeom prst="line">
            <a:avLst/>
          </a:prstGeom>
          <a:noFill/>
          <a:ln w="15875">
            <a:solidFill>
              <a:srgbClr val="FF7A59"/>
            </a:solidFill>
            <a:prstDash val="solid"/>
          </a:ln>
        </p:spPr>
      </p:sp>
      <p:sp>
        <p:nvSpPr>
          <p:cNvPr id="12" name="Shape 10"/>
          <p:cNvSpPr/>
          <p:nvPr/>
        </p:nvSpPr>
        <p:spPr>
          <a:xfrm>
            <a:off x="8366760" y="3291840"/>
            <a:ext cx="237744" cy="237744"/>
          </a:xfrm>
          <a:prstGeom prst="ellipse">
            <a:avLst/>
          </a:prstGeom>
          <a:solidFill>
            <a:srgbClr val="00A896"/>
          </a:solidFill>
          <a:ln w="12700">
            <a:solidFill>
              <a:srgbClr val="00A896"/>
            </a:solidFill>
            <a:prstDash val="solid"/>
          </a:ln>
        </p:spPr>
      </p:sp>
      <p:sp>
        <p:nvSpPr>
          <p:cNvPr id="13" name="Shape 11"/>
          <p:cNvSpPr/>
          <p:nvPr/>
        </p:nvSpPr>
        <p:spPr>
          <a:xfrm>
            <a:off x="10652760" y="3291840"/>
            <a:ext cx="237744" cy="237744"/>
          </a:xfrm>
          <a:prstGeom prst="ellipse">
            <a:avLst/>
          </a:prstGeom>
          <a:solidFill>
            <a:srgbClr val="00A896"/>
          </a:solidFill>
          <a:ln w="12700">
            <a:solidFill>
              <a:srgbClr val="00A896"/>
            </a:solidFill>
            <a:prstDash val="solid"/>
          </a:ln>
        </p:spPr>
      </p:sp>
      <p:sp>
        <p:nvSpPr>
          <p:cNvPr id="14" name="Shape 12"/>
          <p:cNvSpPr/>
          <p:nvPr/>
        </p:nvSpPr>
        <p:spPr>
          <a:xfrm>
            <a:off x="9125712" y="3291840"/>
            <a:ext cx="237744" cy="237744"/>
          </a:xfrm>
          <a:prstGeom prst="ellipse">
            <a:avLst/>
          </a:prstGeom>
          <a:solidFill>
            <a:srgbClr val="00A896"/>
          </a:solidFill>
          <a:ln w="12700">
            <a:solidFill>
              <a:srgbClr val="00A896"/>
            </a:solidFill>
            <a:prstDash val="solid"/>
          </a:ln>
        </p:spPr>
      </p:sp>
      <p:sp>
        <p:nvSpPr>
          <p:cNvPr id="15" name="Shape 13"/>
          <p:cNvSpPr/>
          <p:nvPr/>
        </p:nvSpPr>
        <p:spPr>
          <a:xfrm>
            <a:off x="9893808" y="3291840"/>
            <a:ext cx="237744" cy="237744"/>
          </a:xfrm>
          <a:prstGeom prst="ellipse">
            <a:avLst/>
          </a:prstGeom>
          <a:solidFill>
            <a:srgbClr val="00A896"/>
          </a:solidFill>
          <a:ln w="12700">
            <a:solidFill>
              <a:srgbClr val="00A896"/>
            </a:solidFill>
            <a:prstDash val="solid"/>
          </a:ln>
        </p:spPr>
      </p:sp>
      <p:sp>
        <p:nvSpPr>
          <p:cNvPr id="16" name="Shape 14"/>
          <p:cNvSpPr/>
          <p:nvPr/>
        </p:nvSpPr>
        <p:spPr>
          <a:xfrm>
            <a:off x="9509760" y="1920240"/>
            <a:ext cx="237744" cy="237744"/>
          </a:xfrm>
          <a:prstGeom prst="ellipse">
            <a:avLst/>
          </a:prstGeom>
          <a:solidFill>
            <a:srgbClr val="FFFFFF"/>
          </a:solidFill>
          <a:ln w="12700">
            <a:solidFill>
              <a:srgbClr val="FFFFFF"/>
            </a:solidFill>
            <a:prstDash val="solid"/>
          </a:ln>
        </p:spPr>
      </p:sp>
      <p:sp>
        <p:nvSpPr>
          <p:cNvPr id="17" name="Shape 15"/>
          <p:cNvSpPr/>
          <p:nvPr/>
        </p:nvSpPr>
        <p:spPr>
          <a:xfrm>
            <a:off x="9509760" y="4663440"/>
            <a:ext cx="237744" cy="237744"/>
          </a:xfrm>
          <a:prstGeom prst="ellipse">
            <a:avLst/>
          </a:prstGeom>
          <a:solidFill>
            <a:srgbClr val="FF7A59"/>
          </a:solidFill>
          <a:ln w="12700">
            <a:solidFill>
              <a:srgbClr val="FF7A59"/>
            </a:solidFill>
            <a:prstDash val="solid"/>
          </a:ln>
        </p:spPr>
      </p:sp>
      <p:sp>
        <p:nvSpPr>
          <p:cNvPr id="18" name="Text 16"/>
          <p:cNvSpPr txBox="1"/>
          <p:nvPr/>
        </p:nvSpPr>
        <p:spPr>
          <a:xfrm>
            <a:off x="822960" y="1874520"/>
            <a:ext cx="69494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Graph of Thoughts</a:t>
            </a:r>
            <a:endParaRPr lang="en-US" sz="4600" dirty="0"/>
          </a:p>
        </p:txBody>
      </p:sp>
      <p:sp>
        <p:nvSpPr>
          <p:cNvPr id="19" name="Text 17"/>
          <p:cNvSpPr txBox="1"/>
          <p:nvPr/>
        </p:nvSpPr>
        <p:spPr>
          <a:xfrm>
            <a:off x="822960" y="2743200"/>
            <a:ext cx="6766560" cy="548640"/>
          </a:xfrm>
          <a:prstGeom prst="rect">
            <a:avLst/>
          </a:prstGeom>
          <a:noFill/>
          <a:ln/>
        </p:spPr>
        <p:txBody>
          <a:bodyPr wrap="square" lIns="0" tIns="0" rIns="0" bIns="0" rtlCol="0" anchor="ctr"/>
          <a:lstStyle/>
          <a:p>
            <a:pPr indent="0" marL="0">
              <a:buNone/>
            </a:pPr>
            <a:r>
              <a:rPr lang="en-US" sz="1700" dirty="0">
                <a:solidFill>
                  <a:srgbClr val="9AA7C7"/>
                </a:solidFill>
                <a:latin typeface="Calibri" pitchFamily="34" charset="0"/>
                <a:ea typeface="Calibri" pitchFamily="34" charset="-122"/>
                <a:cs typeface="Calibri" pitchFamily="34" charset="-120"/>
              </a:rPr>
              <a:t>Replicating structured LLM reasoning on open-weights models</a:t>
            </a:r>
            <a:endParaRPr lang="en-US" sz="1700" dirty="0"/>
          </a:p>
        </p:txBody>
      </p:sp>
      <p:sp>
        <p:nvSpPr>
          <p:cNvPr id="20" name="Shape 18"/>
          <p:cNvSpPr/>
          <p:nvPr/>
        </p:nvSpPr>
        <p:spPr>
          <a:xfrm>
            <a:off x="822960" y="3456432"/>
            <a:ext cx="1371600" cy="27432"/>
          </a:xfrm>
          <a:prstGeom prst="rect">
            <a:avLst/>
          </a:prstGeom>
          <a:solidFill>
            <a:srgbClr val="FF7A59"/>
          </a:solidFill>
          <a:ln w="12700">
            <a:solidFill>
              <a:srgbClr val="333333"/>
            </a:solidFill>
            <a:prstDash val="solid"/>
          </a:ln>
        </p:spPr>
      </p:sp>
      <p:sp>
        <p:nvSpPr>
          <p:cNvPr id="21" name="Text 19"/>
          <p:cNvSpPr txBox="1"/>
          <p:nvPr/>
        </p:nvSpPr>
        <p:spPr>
          <a:xfrm>
            <a:off x="822960" y="3657600"/>
            <a:ext cx="6766560" cy="292608"/>
          </a:xfrm>
          <a:prstGeom prst="rect">
            <a:avLst/>
          </a:prstGeom>
          <a:noFill/>
          <a:ln/>
        </p:spPr>
        <p:txBody>
          <a:bodyPr wrap="square" lIns="0" tIns="0" rIns="0" bIns="0" rtlCol="0" anchor="ctr"/>
          <a:lstStyle/>
          <a:p>
            <a:pPr indent="0" marL="0">
              <a:buNone/>
            </a:pPr>
            <a:r>
              <a:rPr lang="en-US" sz="1200" dirty="0">
                <a:solidFill>
                  <a:srgbClr val="00A896"/>
                </a:solidFill>
                <a:latin typeface="Calibri" pitchFamily="34" charset="0"/>
                <a:ea typeface="Calibri" pitchFamily="34" charset="-122"/>
                <a:cs typeface="Calibri" pitchFamily="34" charset="-120"/>
              </a:rPr>
              <a:t>Besta et al., AAAI 2024  ·  arXiv:2308.09687</a:t>
            </a:r>
            <a:endParaRPr lang="en-US" sz="1200" dirty="0"/>
          </a:p>
        </p:txBody>
      </p:sp>
      <p:sp>
        <p:nvSpPr>
          <p:cNvPr id="22" name="Text 20"/>
          <p:cNvSpPr txBox="1"/>
          <p:nvPr/>
        </p:nvSpPr>
        <p:spPr>
          <a:xfrm>
            <a:off x="822960" y="4069080"/>
            <a:ext cx="6766560" cy="292608"/>
          </a:xfrm>
          <a:prstGeom prst="rect">
            <a:avLst/>
          </a:prstGeom>
          <a:noFill/>
          <a:ln/>
        </p:spPr>
        <p:txBody>
          <a:bodyPr wrap="square" lIns="0" tIns="0" rIns="0" bIns="0" rtlCol="0" anchor="ctr"/>
          <a:lstStyle/>
          <a:p>
            <a:pPr indent="0" marL="0">
              <a:buNone/>
            </a:pPr>
            <a:r>
              <a:rPr lang="en-US" sz="1200" dirty="0">
                <a:solidFill>
                  <a:srgbClr val="6B7799"/>
                </a:solidFill>
                <a:latin typeface="Calibri" pitchFamily="34" charset="0"/>
                <a:ea typeface="Calibri" pitchFamily="34" charset="-122"/>
                <a:cs typeface="Calibri" pitchFamily="34" charset="-120"/>
              </a:rPr>
              <a:t>B.Tech Project  ·  Semester 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Why structured reasoning exists at all</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An LLM writes one token at a time, and each token costs the same</a:t>
            </a:r>
            <a:endParaRPr lang="en-US" sz="1400" dirty="0"/>
          </a:p>
        </p:txBody>
      </p:sp>
      <p:sp>
        <p:nvSpPr>
          <p:cNvPr id="4" name="Text 2"/>
          <p:cNvSpPr txBox="1"/>
          <p:nvPr/>
        </p:nvSpPr>
        <p:spPr>
          <a:xfrm>
            <a:off x="640080" y="1783080"/>
            <a:ext cx="5669280" cy="173736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16203B"/>
                </a:solidFill>
                <a:latin typeface="Calibri" pitchFamily="34" charset="0"/>
                <a:ea typeface="Calibri" pitchFamily="34" charset="-122"/>
                <a:cs typeface="Calibri" pitchFamily="34" charset="-120"/>
              </a:rPr>
              <a:t>Compute per token is FIXED - the model cannot think harder on a hard question</a:t>
            </a:r>
            <a:endParaRPr lang="en-US" sz="1400" dirty="0"/>
          </a:p>
          <a:p>
            <a:pPr marL="342900" indent="-342900">
              <a:spcAft>
                <a:spcPts val="800"/>
              </a:spcAft>
              <a:buSzPct val="100000"/>
              <a:buChar char="•"/>
            </a:pPr>
            <a:r>
              <a:rPr lang="en-US" sz="1400" dirty="0">
                <a:solidFill>
                  <a:srgbClr val="16203B"/>
                </a:solidFill>
                <a:latin typeface="Calibri" pitchFamily="34" charset="0"/>
                <a:ea typeface="Calibri" pitchFamily="34" charset="-122"/>
                <a:cs typeface="Calibri" pitchFamily="34" charset="-120"/>
              </a:rPr>
              <a:t>Decisions are irreversible - once a token is sampled, everything after it is conditioned on it</a:t>
            </a:r>
            <a:endParaRPr lang="en-US" sz="1400" dirty="0"/>
          </a:p>
          <a:p>
            <a:pPr marL="342900" indent="-342900">
              <a:spcAft>
                <a:spcPts val="800"/>
              </a:spcAft>
              <a:buSzPct val="100000"/>
              <a:buChar char="•"/>
            </a:pPr>
            <a:r>
              <a:rPr lang="en-US" sz="1400" dirty="0">
                <a:solidFill>
                  <a:srgbClr val="16203B"/>
                </a:solidFill>
                <a:latin typeface="Calibri" pitchFamily="34" charset="0"/>
                <a:ea typeface="Calibri" pitchFamily="34" charset="-122"/>
                <a:cs typeface="Calibri" pitchFamily="34" charset="-120"/>
              </a:rPr>
              <a:t>Ask directly, and a hard problem gets one token's worth of computation</a:t>
            </a:r>
            <a:endParaRPr lang="en-US" sz="1400" dirty="0"/>
          </a:p>
        </p:txBody>
      </p:sp>
      <p:sp>
        <p:nvSpPr>
          <p:cNvPr id="5" name="Shape 3"/>
          <p:cNvSpPr/>
          <p:nvPr/>
        </p:nvSpPr>
        <p:spPr>
          <a:xfrm>
            <a:off x="640080" y="3749040"/>
            <a:ext cx="5669280" cy="1051560"/>
          </a:xfrm>
          <a:prstGeom prst="roundRect">
            <a:avLst>
              <a:gd name="adj" fmla="val 5217"/>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6" name="Text 4"/>
          <p:cNvSpPr txBox="1"/>
          <p:nvPr/>
        </p:nvSpPr>
        <p:spPr>
          <a:xfrm>
            <a:off x="868680" y="3913632"/>
            <a:ext cx="5212080" cy="731520"/>
          </a:xfrm>
          <a:prstGeom prst="rect">
            <a:avLst/>
          </a:prstGeom>
          <a:noFill/>
          <a:ln/>
        </p:spPr>
        <p:txBody>
          <a:bodyPr wrap="square" lIns="0" tIns="0" rIns="0" bIns="0" rtlCol="0" anchor="ctr"/>
          <a:lstStyle/>
          <a:p>
            <a:pPr indent="0" marL="0">
              <a:buNone/>
            </a:pPr>
            <a:r>
              <a:rPr lang="en-US" sz="1400" b="1" dirty="0">
                <a:solidFill>
                  <a:srgbClr val="1C4E80"/>
                </a:solidFill>
                <a:latin typeface="Calibri" pitchFamily="34" charset="0"/>
                <a:ea typeface="Calibri" pitchFamily="34" charset="-122"/>
                <a:cs typeface="Calibri" pitchFamily="34" charset="-120"/>
              </a:rPr>
              <a:t>More tokens = more computation.</a:t>
            </a:r>
            <a:endParaRPr lang="en-US" sz="1400" dirty="0"/>
          </a:p>
          <a:p>
            <a:pPr indent="0" marL="0">
              <a:buNone/>
            </a:pPr>
            <a:r>
              <a:rPr lang="en-US" sz="1400" b="1" dirty="0">
                <a:solidFill>
                  <a:srgbClr val="1C4E80"/>
                </a:solidFill>
                <a:latin typeface="Calibri" pitchFamily="34" charset="0"/>
                <a:ea typeface="Calibri" pitchFamily="34" charset="-122"/>
                <a:cs typeface="Calibri" pitchFamily="34" charset="-120"/>
              </a:rPr>
              <a:t>The chain of thought IS the computation, not a description of it.</a:t>
            </a:r>
            <a:endParaRPr lang="en-US" sz="1400" dirty="0"/>
          </a:p>
        </p:txBody>
      </p:sp>
      <p:sp>
        <p:nvSpPr>
          <p:cNvPr id="7" name="Shape 5"/>
          <p:cNvSpPr/>
          <p:nvPr/>
        </p:nvSpPr>
        <p:spPr>
          <a:xfrm>
            <a:off x="6766560" y="1691640"/>
            <a:ext cx="4754880" cy="3108960"/>
          </a:xfrm>
          <a:prstGeom prst="roundRect">
            <a:avLst>
              <a:gd name="adj" fmla="val 1765"/>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8" name="Text 6"/>
          <p:cNvSpPr txBox="1"/>
          <p:nvPr/>
        </p:nvSpPr>
        <p:spPr>
          <a:xfrm>
            <a:off x="7040880" y="1874520"/>
            <a:ext cx="4206240" cy="292608"/>
          </a:xfrm>
          <a:prstGeom prst="rect">
            <a:avLst/>
          </a:prstGeom>
          <a:noFill/>
          <a:ln/>
        </p:spPr>
        <p:txBody>
          <a:bodyPr wrap="square" lIns="0" tIns="0" rIns="0" bIns="0" rtlCol="0" anchor="ctr"/>
          <a:lstStyle/>
          <a:p>
            <a:pPr indent="0" marL="0">
              <a:buNone/>
            </a:pPr>
            <a:r>
              <a:rPr lang="en-US" sz="1300" b="1" dirty="0">
                <a:solidFill>
                  <a:srgbClr val="16203B"/>
                </a:solidFill>
                <a:latin typeface="Calibri" pitchFamily="34" charset="0"/>
                <a:ea typeface="Calibri" pitchFamily="34" charset="-122"/>
                <a:cs typeface="Calibri" pitchFamily="34" charset="-120"/>
              </a:rPr>
              <a:t>The task that breaks them</a:t>
            </a:r>
            <a:endParaRPr lang="en-US" sz="1300" dirty="0"/>
          </a:p>
        </p:txBody>
      </p:sp>
      <p:sp>
        <p:nvSpPr>
          <p:cNvPr id="9" name="Text 7"/>
          <p:cNvSpPr txBox="1"/>
          <p:nvPr/>
        </p:nvSpPr>
        <p:spPr>
          <a:xfrm>
            <a:off x="7040880" y="2194560"/>
            <a:ext cx="420624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Sort 64 digits, 0-9, with duplicates</a:t>
            </a:r>
            <a:endParaRPr lang="en-US" sz="1200" dirty="0"/>
          </a:p>
        </p:txBody>
      </p:sp>
      <p:sp>
        <p:nvSpPr>
          <p:cNvPr id="10" name="Text 8"/>
          <p:cNvSpPr txBox="1"/>
          <p:nvPr/>
        </p:nvSpPr>
        <p:spPr>
          <a:xfrm>
            <a:off x="7040880" y="2606040"/>
            <a:ext cx="4206240" cy="640080"/>
          </a:xfrm>
          <a:prstGeom prst="rect">
            <a:avLst/>
          </a:prstGeom>
          <a:noFill/>
          <a:ln/>
        </p:spPr>
        <p:txBody>
          <a:bodyPr wrap="square" lIns="0" tIns="0" rIns="0" bIns="0" rtlCol="0" anchor="ctr"/>
          <a:lstStyle/>
          <a:p>
            <a:pPr indent="0" marL="0">
              <a:buNone/>
            </a:pPr>
            <a:r>
              <a:rPr lang="en-US" sz="1400" dirty="0">
                <a:solidFill>
                  <a:srgbClr val="16203B"/>
                </a:solidFill>
                <a:latin typeface="Courier New" pitchFamily="34" charset="0"/>
                <a:ea typeface="Courier New" pitchFamily="34" charset="-122"/>
                <a:cs typeface="Courier New" pitchFamily="34" charset="-120"/>
              </a:rPr>
              <a:t>[4, 2, 7, 2, 9, 2, 1, ...]</a:t>
            </a:r>
            <a:endParaRPr lang="en-US" sz="1400" dirty="0"/>
          </a:p>
          <a:p>
            <a:pPr indent="0" marL="0">
              <a:buNone/>
            </a:pPr>
            <a:r>
              <a:rPr lang="en-US" sz="1200" dirty="0">
                <a:solidFill>
                  <a:srgbClr val="6B7280"/>
                </a:solidFill>
                <a:latin typeface="Courier New" pitchFamily="34" charset="0"/>
                <a:ea typeface="Courier New" pitchFamily="34" charset="-122"/>
                <a:cs typeface="Courier New" pitchFamily="34" charset="-120"/>
              </a:rPr>
              <a:t>must emit 2 exactly three times</a:t>
            </a:r>
            <a:endParaRPr lang="en-US" sz="1400" dirty="0"/>
          </a:p>
        </p:txBody>
      </p:sp>
      <p:sp>
        <p:nvSpPr>
          <p:cNvPr id="11" name="Text 9"/>
          <p:cNvSpPr txBox="1"/>
          <p:nvPr/>
        </p:nvSpPr>
        <p:spPr>
          <a:xfrm>
            <a:off x="7040880" y="3291840"/>
            <a:ext cx="4206240" cy="548640"/>
          </a:xfrm>
          <a:prstGeom prst="rect">
            <a:avLst/>
          </a:prstGeom>
          <a:noFill/>
          <a:ln/>
        </p:spPr>
        <p:txBody>
          <a:bodyPr wrap="square" lIns="0" tIns="0" rIns="0" bIns="0" rtlCol="0" anchor="ctr"/>
          <a:lstStyle/>
          <a:p>
            <a:pPr indent="0" marL="0">
              <a:buNone/>
            </a:pPr>
            <a:r>
              <a:rPr lang="en-US" sz="1300" dirty="0">
                <a:solidFill>
                  <a:srgbClr val="16203B"/>
                </a:solidFill>
                <a:latin typeface="Calibri" pitchFamily="34" charset="0"/>
                <a:ea typeface="Calibri" pitchFamily="34" charset="-122"/>
                <a:cs typeface="Calibri" pitchFamily="34" charset="-120"/>
              </a:rPr>
              <a:t>No counter. No scratch variable. Only the text written so far.</a:t>
            </a:r>
            <a:endParaRPr lang="en-US" sz="1300" dirty="0"/>
          </a:p>
        </p:txBody>
      </p:sp>
      <p:sp>
        <p:nvSpPr>
          <p:cNvPr id="12" name="Text 10"/>
          <p:cNvSpPr txBox="1"/>
          <p:nvPr/>
        </p:nvSpPr>
        <p:spPr>
          <a:xfrm>
            <a:off x="7040880" y="3977640"/>
            <a:ext cx="4206240" cy="548640"/>
          </a:xfrm>
          <a:prstGeom prst="rect">
            <a:avLst/>
          </a:prstGeom>
          <a:noFill/>
          <a:ln/>
        </p:spPr>
        <p:txBody>
          <a:bodyPr wrap="square" lIns="0" tIns="0" rIns="0" bIns="0" rtlCol="0" anchor="ctr"/>
          <a:lstStyle/>
          <a:p>
            <a:pPr indent="0" marL="0">
              <a:buNone/>
            </a:pPr>
            <a:r>
              <a:rPr lang="en-US" sz="1300" b="1" i="1" dirty="0">
                <a:solidFill>
                  <a:srgbClr val="FF7A59"/>
                </a:solidFill>
                <a:latin typeface="Calibri" pitchFamily="34" charset="0"/>
                <a:ea typeface="Calibri" pitchFamily="34" charset="-122"/>
                <a:cs typeface="Calibri" pitchFamily="34" charset="-120"/>
              </a:rPr>
              <a:t>Not an intelligence problem -</a:t>
            </a:r>
            <a:endParaRPr lang="en-US" sz="1300" dirty="0"/>
          </a:p>
          <a:p>
            <a:pPr indent="0" marL="0">
              <a:buNone/>
            </a:pPr>
            <a:r>
              <a:rPr lang="en-US" sz="1300" b="1" i="1" dirty="0">
                <a:solidFill>
                  <a:srgbClr val="FF7A59"/>
                </a:solidFill>
                <a:latin typeface="Calibri" pitchFamily="34" charset="0"/>
                <a:ea typeface="Calibri" pitchFamily="34" charset="-122"/>
                <a:cs typeface="Calibri" pitchFamily="34" charset="-120"/>
              </a:rPr>
              <a:t>a working-memory problem.</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Four papers, one question</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What shape should the model's intermediate reasoning have?</a:t>
            </a:r>
            <a:endParaRPr lang="en-US" sz="1400" dirty="0"/>
          </a:p>
        </p:txBody>
      </p:sp>
      <p:sp>
        <p:nvSpPr>
          <p:cNvPr id="4" name="Shape 2"/>
          <p:cNvSpPr/>
          <p:nvPr/>
        </p:nvSpPr>
        <p:spPr>
          <a:xfrm>
            <a:off x="685800" y="1965960"/>
            <a:ext cx="2286000" cy="2880360"/>
          </a:xfrm>
          <a:prstGeom prst="roundRect">
            <a:avLst>
              <a:gd name="adj" fmla="val 2400"/>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5" name="Text 3"/>
          <p:cNvSpPr txBox="1"/>
          <p:nvPr/>
        </p:nvSpPr>
        <p:spPr>
          <a:xfrm>
            <a:off x="685800" y="2093976"/>
            <a:ext cx="2286000" cy="310896"/>
          </a:xfrm>
          <a:prstGeom prst="rect">
            <a:avLst/>
          </a:prstGeom>
          <a:noFill/>
          <a:ln/>
        </p:spPr>
        <p:txBody>
          <a:bodyPr wrap="square" lIns="0" tIns="0" rIns="0" bIns="0" rtlCol="0" anchor="ctr"/>
          <a:lstStyle/>
          <a:p>
            <a:pPr algn="ctr" indent="0" marL="0">
              <a:buNone/>
            </a:pPr>
            <a:r>
              <a:rPr lang="en-US" sz="1900" b="1" dirty="0">
                <a:solidFill>
                  <a:srgbClr val="16203B"/>
                </a:solidFill>
                <a:latin typeface="Cambria" pitchFamily="34" charset="0"/>
                <a:ea typeface="Cambria" pitchFamily="34" charset="-122"/>
                <a:cs typeface="Cambria" pitchFamily="34" charset="-120"/>
              </a:rPr>
              <a:t>CoT</a:t>
            </a:r>
            <a:endParaRPr lang="en-US" sz="1900" dirty="0"/>
          </a:p>
        </p:txBody>
      </p:sp>
      <p:sp>
        <p:nvSpPr>
          <p:cNvPr id="6" name="Text 4"/>
          <p:cNvSpPr txBox="1"/>
          <p:nvPr/>
        </p:nvSpPr>
        <p:spPr>
          <a:xfrm>
            <a:off x="685800" y="2423160"/>
            <a:ext cx="2286000" cy="237744"/>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a chain</a:t>
            </a:r>
            <a:endParaRPr lang="en-US" sz="1200" dirty="0"/>
          </a:p>
        </p:txBody>
      </p:sp>
      <p:sp>
        <p:nvSpPr>
          <p:cNvPr id="7" name="Shape 5"/>
          <p:cNvSpPr/>
          <p:nvPr/>
        </p:nvSpPr>
        <p:spPr>
          <a:xfrm>
            <a:off x="1737360" y="2807208"/>
            <a:ext cx="182880" cy="182880"/>
          </a:xfrm>
          <a:prstGeom prst="ellipse">
            <a:avLst/>
          </a:prstGeom>
          <a:solidFill>
            <a:srgbClr val="00A896"/>
          </a:solidFill>
          <a:ln w="12700">
            <a:solidFill>
              <a:srgbClr val="00A896"/>
            </a:solidFill>
            <a:prstDash val="solid"/>
          </a:ln>
        </p:spPr>
      </p:sp>
      <p:sp>
        <p:nvSpPr>
          <p:cNvPr id="8" name="Shape 6"/>
          <p:cNvSpPr/>
          <p:nvPr/>
        </p:nvSpPr>
        <p:spPr>
          <a:xfrm>
            <a:off x="1828800" y="2898648"/>
            <a:ext cx="0" cy="475488"/>
          </a:xfrm>
          <a:prstGeom prst="line">
            <a:avLst/>
          </a:prstGeom>
          <a:noFill/>
          <a:ln w="15240">
            <a:solidFill>
              <a:srgbClr val="1C4E80"/>
            </a:solidFill>
            <a:prstDash val="solid"/>
          </a:ln>
        </p:spPr>
      </p:sp>
      <p:sp>
        <p:nvSpPr>
          <p:cNvPr id="9" name="Shape 7"/>
          <p:cNvSpPr/>
          <p:nvPr/>
        </p:nvSpPr>
        <p:spPr>
          <a:xfrm>
            <a:off x="1737360" y="3282696"/>
            <a:ext cx="182880" cy="182880"/>
          </a:xfrm>
          <a:prstGeom prst="ellipse">
            <a:avLst/>
          </a:prstGeom>
          <a:solidFill>
            <a:srgbClr val="00A896"/>
          </a:solidFill>
          <a:ln w="12700">
            <a:solidFill>
              <a:srgbClr val="00A896"/>
            </a:solidFill>
            <a:prstDash val="solid"/>
          </a:ln>
        </p:spPr>
      </p:sp>
      <p:sp>
        <p:nvSpPr>
          <p:cNvPr id="10" name="Shape 8"/>
          <p:cNvSpPr/>
          <p:nvPr/>
        </p:nvSpPr>
        <p:spPr>
          <a:xfrm>
            <a:off x="1828800" y="3374136"/>
            <a:ext cx="0" cy="475488"/>
          </a:xfrm>
          <a:prstGeom prst="line">
            <a:avLst/>
          </a:prstGeom>
          <a:noFill/>
          <a:ln w="15240">
            <a:solidFill>
              <a:srgbClr val="1C4E80"/>
            </a:solidFill>
            <a:prstDash val="solid"/>
          </a:ln>
        </p:spPr>
      </p:sp>
      <p:sp>
        <p:nvSpPr>
          <p:cNvPr id="11" name="Shape 9"/>
          <p:cNvSpPr/>
          <p:nvPr/>
        </p:nvSpPr>
        <p:spPr>
          <a:xfrm>
            <a:off x="1737360" y="3758184"/>
            <a:ext cx="182880" cy="182880"/>
          </a:xfrm>
          <a:prstGeom prst="ellipse">
            <a:avLst/>
          </a:prstGeom>
          <a:solidFill>
            <a:srgbClr val="00A896"/>
          </a:solidFill>
          <a:ln w="12700">
            <a:solidFill>
              <a:srgbClr val="00A896"/>
            </a:solidFill>
            <a:prstDash val="solid"/>
          </a:ln>
        </p:spPr>
      </p:sp>
      <p:sp>
        <p:nvSpPr>
          <p:cNvPr id="12" name="Shape 10"/>
          <p:cNvSpPr/>
          <p:nvPr/>
        </p:nvSpPr>
        <p:spPr>
          <a:xfrm>
            <a:off x="1828800" y="3849624"/>
            <a:ext cx="0" cy="475488"/>
          </a:xfrm>
          <a:prstGeom prst="line">
            <a:avLst/>
          </a:prstGeom>
          <a:noFill/>
          <a:ln w="15240">
            <a:solidFill>
              <a:srgbClr val="1C4E80"/>
            </a:solidFill>
            <a:prstDash val="solid"/>
          </a:ln>
        </p:spPr>
      </p:sp>
      <p:sp>
        <p:nvSpPr>
          <p:cNvPr id="13" name="Shape 11"/>
          <p:cNvSpPr/>
          <p:nvPr/>
        </p:nvSpPr>
        <p:spPr>
          <a:xfrm>
            <a:off x="1737360" y="4233672"/>
            <a:ext cx="182880" cy="182880"/>
          </a:xfrm>
          <a:prstGeom prst="ellipse">
            <a:avLst/>
          </a:prstGeom>
          <a:solidFill>
            <a:srgbClr val="1C4E80"/>
          </a:solidFill>
          <a:ln w="12700">
            <a:solidFill>
              <a:srgbClr val="1C4E80"/>
            </a:solidFill>
            <a:prstDash val="solid"/>
          </a:ln>
        </p:spPr>
      </p:sp>
      <p:sp>
        <p:nvSpPr>
          <p:cNvPr id="14" name="Text 12"/>
          <p:cNvSpPr txBox="1"/>
          <p:nvPr/>
        </p:nvSpPr>
        <p:spPr>
          <a:xfrm>
            <a:off x="685800" y="4453128"/>
            <a:ext cx="2286000" cy="27432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show the steps</a:t>
            </a:r>
            <a:endParaRPr lang="en-US" sz="1200" dirty="0"/>
          </a:p>
        </p:txBody>
      </p:sp>
      <p:sp>
        <p:nvSpPr>
          <p:cNvPr id="15" name="Shape 13"/>
          <p:cNvSpPr/>
          <p:nvPr/>
        </p:nvSpPr>
        <p:spPr>
          <a:xfrm>
            <a:off x="3520440" y="1965960"/>
            <a:ext cx="2286000" cy="2880360"/>
          </a:xfrm>
          <a:prstGeom prst="roundRect">
            <a:avLst>
              <a:gd name="adj" fmla="val 2400"/>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6" name="Text 14"/>
          <p:cNvSpPr txBox="1"/>
          <p:nvPr/>
        </p:nvSpPr>
        <p:spPr>
          <a:xfrm>
            <a:off x="3520440" y="2093976"/>
            <a:ext cx="2286000" cy="310896"/>
          </a:xfrm>
          <a:prstGeom prst="rect">
            <a:avLst/>
          </a:prstGeom>
          <a:noFill/>
          <a:ln/>
        </p:spPr>
        <p:txBody>
          <a:bodyPr wrap="square" lIns="0" tIns="0" rIns="0" bIns="0" rtlCol="0" anchor="ctr"/>
          <a:lstStyle/>
          <a:p>
            <a:pPr algn="ctr" indent="0" marL="0">
              <a:buNone/>
            </a:pPr>
            <a:r>
              <a:rPr lang="en-US" sz="1900" b="1" dirty="0">
                <a:solidFill>
                  <a:srgbClr val="16203B"/>
                </a:solidFill>
                <a:latin typeface="Cambria" pitchFamily="34" charset="0"/>
                <a:ea typeface="Cambria" pitchFamily="34" charset="-122"/>
                <a:cs typeface="Cambria" pitchFamily="34" charset="-120"/>
              </a:rPr>
              <a:t>CoT-SC</a:t>
            </a:r>
            <a:endParaRPr lang="en-US" sz="1900" dirty="0"/>
          </a:p>
        </p:txBody>
      </p:sp>
      <p:sp>
        <p:nvSpPr>
          <p:cNvPr id="17" name="Text 15"/>
          <p:cNvSpPr txBox="1"/>
          <p:nvPr/>
        </p:nvSpPr>
        <p:spPr>
          <a:xfrm>
            <a:off x="3520440" y="2423160"/>
            <a:ext cx="2286000" cy="237744"/>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k chains</a:t>
            </a:r>
            <a:endParaRPr lang="en-US" sz="1200" dirty="0"/>
          </a:p>
        </p:txBody>
      </p:sp>
      <p:sp>
        <p:nvSpPr>
          <p:cNvPr id="18" name="Shape 16"/>
          <p:cNvSpPr/>
          <p:nvPr/>
        </p:nvSpPr>
        <p:spPr>
          <a:xfrm>
            <a:off x="4005072" y="2807208"/>
            <a:ext cx="182880" cy="182880"/>
          </a:xfrm>
          <a:prstGeom prst="ellipse">
            <a:avLst/>
          </a:prstGeom>
          <a:solidFill>
            <a:srgbClr val="00A896"/>
          </a:solidFill>
          <a:ln w="12700">
            <a:solidFill>
              <a:srgbClr val="00A896"/>
            </a:solidFill>
            <a:prstDash val="solid"/>
          </a:ln>
        </p:spPr>
      </p:sp>
      <p:sp>
        <p:nvSpPr>
          <p:cNvPr id="19" name="Shape 17"/>
          <p:cNvSpPr/>
          <p:nvPr/>
        </p:nvSpPr>
        <p:spPr>
          <a:xfrm>
            <a:off x="4096512" y="2898648"/>
            <a:ext cx="0" cy="475488"/>
          </a:xfrm>
          <a:prstGeom prst="line">
            <a:avLst/>
          </a:prstGeom>
          <a:noFill/>
          <a:ln w="15240">
            <a:solidFill>
              <a:srgbClr val="1C4E80"/>
            </a:solidFill>
            <a:prstDash val="solid"/>
          </a:ln>
        </p:spPr>
      </p:sp>
      <p:sp>
        <p:nvSpPr>
          <p:cNvPr id="20" name="Shape 18"/>
          <p:cNvSpPr/>
          <p:nvPr/>
        </p:nvSpPr>
        <p:spPr>
          <a:xfrm>
            <a:off x="4005072" y="3282696"/>
            <a:ext cx="182880" cy="182880"/>
          </a:xfrm>
          <a:prstGeom prst="ellipse">
            <a:avLst/>
          </a:prstGeom>
          <a:solidFill>
            <a:srgbClr val="00A896"/>
          </a:solidFill>
          <a:ln w="12700">
            <a:solidFill>
              <a:srgbClr val="00A896"/>
            </a:solidFill>
            <a:prstDash val="solid"/>
          </a:ln>
        </p:spPr>
      </p:sp>
      <p:sp>
        <p:nvSpPr>
          <p:cNvPr id="21" name="Shape 19"/>
          <p:cNvSpPr/>
          <p:nvPr/>
        </p:nvSpPr>
        <p:spPr>
          <a:xfrm>
            <a:off x="4096512" y="3374136"/>
            <a:ext cx="0" cy="475488"/>
          </a:xfrm>
          <a:prstGeom prst="line">
            <a:avLst/>
          </a:prstGeom>
          <a:noFill/>
          <a:ln w="15240">
            <a:solidFill>
              <a:srgbClr val="1C4E80"/>
            </a:solidFill>
            <a:prstDash val="solid"/>
          </a:ln>
        </p:spPr>
      </p:sp>
      <p:sp>
        <p:nvSpPr>
          <p:cNvPr id="22" name="Shape 20"/>
          <p:cNvSpPr/>
          <p:nvPr/>
        </p:nvSpPr>
        <p:spPr>
          <a:xfrm>
            <a:off x="4005072" y="3758184"/>
            <a:ext cx="182880" cy="182880"/>
          </a:xfrm>
          <a:prstGeom prst="ellipse">
            <a:avLst/>
          </a:prstGeom>
          <a:solidFill>
            <a:srgbClr val="00A896"/>
          </a:solidFill>
          <a:ln w="12700">
            <a:solidFill>
              <a:srgbClr val="00A896"/>
            </a:solidFill>
            <a:prstDash val="solid"/>
          </a:ln>
        </p:spPr>
      </p:sp>
      <p:sp>
        <p:nvSpPr>
          <p:cNvPr id="23" name="Shape 21"/>
          <p:cNvSpPr/>
          <p:nvPr/>
        </p:nvSpPr>
        <p:spPr>
          <a:xfrm>
            <a:off x="4572000" y="2807208"/>
            <a:ext cx="182880" cy="182880"/>
          </a:xfrm>
          <a:prstGeom prst="ellipse">
            <a:avLst/>
          </a:prstGeom>
          <a:solidFill>
            <a:srgbClr val="00A896"/>
          </a:solidFill>
          <a:ln w="12700">
            <a:solidFill>
              <a:srgbClr val="00A896"/>
            </a:solidFill>
            <a:prstDash val="solid"/>
          </a:ln>
        </p:spPr>
      </p:sp>
      <p:sp>
        <p:nvSpPr>
          <p:cNvPr id="24" name="Shape 22"/>
          <p:cNvSpPr/>
          <p:nvPr/>
        </p:nvSpPr>
        <p:spPr>
          <a:xfrm>
            <a:off x="4663440" y="2898648"/>
            <a:ext cx="0" cy="475488"/>
          </a:xfrm>
          <a:prstGeom prst="line">
            <a:avLst/>
          </a:prstGeom>
          <a:noFill/>
          <a:ln w="15240">
            <a:solidFill>
              <a:srgbClr val="1C4E80"/>
            </a:solidFill>
            <a:prstDash val="solid"/>
          </a:ln>
        </p:spPr>
      </p:sp>
      <p:sp>
        <p:nvSpPr>
          <p:cNvPr id="25" name="Shape 23"/>
          <p:cNvSpPr/>
          <p:nvPr/>
        </p:nvSpPr>
        <p:spPr>
          <a:xfrm>
            <a:off x="4572000" y="3282696"/>
            <a:ext cx="182880" cy="182880"/>
          </a:xfrm>
          <a:prstGeom prst="ellipse">
            <a:avLst/>
          </a:prstGeom>
          <a:solidFill>
            <a:srgbClr val="00A896"/>
          </a:solidFill>
          <a:ln w="12700">
            <a:solidFill>
              <a:srgbClr val="00A896"/>
            </a:solidFill>
            <a:prstDash val="solid"/>
          </a:ln>
        </p:spPr>
      </p:sp>
      <p:sp>
        <p:nvSpPr>
          <p:cNvPr id="26" name="Shape 24"/>
          <p:cNvSpPr/>
          <p:nvPr/>
        </p:nvSpPr>
        <p:spPr>
          <a:xfrm>
            <a:off x="4663440" y="3374136"/>
            <a:ext cx="0" cy="475488"/>
          </a:xfrm>
          <a:prstGeom prst="line">
            <a:avLst/>
          </a:prstGeom>
          <a:noFill/>
          <a:ln w="15240">
            <a:solidFill>
              <a:srgbClr val="1C4E80"/>
            </a:solidFill>
            <a:prstDash val="solid"/>
          </a:ln>
        </p:spPr>
      </p:sp>
      <p:sp>
        <p:nvSpPr>
          <p:cNvPr id="27" name="Shape 25"/>
          <p:cNvSpPr/>
          <p:nvPr/>
        </p:nvSpPr>
        <p:spPr>
          <a:xfrm>
            <a:off x="4572000" y="3758184"/>
            <a:ext cx="182880" cy="182880"/>
          </a:xfrm>
          <a:prstGeom prst="ellipse">
            <a:avLst/>
          </a:prstGeom>
          <a:solidFill>
            <a:srgbClr val="00A896"/>
          </a:solidFill>
          <a:ln w="12700">
            <a:solidFill>
              <a:srgbClr val="00A896"/>
            </a:solidFill>
            <a:prstDash val="solid"/>
          </a:ln>
        </p:spPr>
      </p:sp>
      <p:sp>
        <p:nvSpPr>
          <p:cNvPr id="28" name="Shape 26"/>
          <p:cNvSpPr/>
          <p:nvPr/>
        </p:nvSpPr>
        <p:spPr>
          <a:xfrm>
            <a:off x="5138928" y="2807208"/>
            <a:ext cx="182880" cy="182880"/>
          </a:xfrm>
          <a:prstGeom prst="ellipse">
            <a:avLst/>
          </a:prstGeom>
          <a:solidFill>
            <a:srgbClr val="00A896"/>
          </a:solidFill>
          <a:ln w="12700">
            <a:solidFill>
              <a:srgbClr val="00A896"/>
            </a:solidFill>
            <a:prstDash val="solid"/>
          </a:ln>
        </p:spPr>
      </p:sp>
      <p:sp>
        <p:nvSpPr>
          <p:cNvPr id="29" name="Shape 27"/>
          <p:cNvSpPr/>
          <p:nvPr/>
        </p:nvSpPr>
        <p:spPr>
          <a:xfrm>
            <a:off x="5230368" y="2898648"/>
            <a:ext cx="0" cy="475488"/>
          </a:xfrm>
          <a:prstGeom prst="line">
            <a:avLst/>
          </a:prstGeom>
          <a:noFill/>
          <a:ln w="15240">
            <a:solidFill>
              <a:srgbClr val="1C4E80"/>
            </a:solidFill>
            <a:prstDash val="solid"/>
          </a:ln>
        </p:spPr>
      </p:sp>
      <p:sp>
        <p:nvSpPr>
          <p:cNvPr id="30" name="Shape 28"/>
          <p:cNvSpPr/>
          <p:nvPr/>
        </p:nvSpPr>
        <p:spPr>
          <a:xfrm>
            <a:off x="5138928" y="3282696"/>
            <a:ext cx="182880" cy="182880"/>
          </a:xfrm>
          <a:prstGeom prst="ellipse">
            <a:avLst/>
          </a:prstGeom>
          <a:solidFill>
            <a:srgbClr val="00A896"/>
          </a:solidFill>
          <a:ln w="12700">
            <a:solidFill>
              <a:srgbClr val="00A896"/>
            </a:solidFill>
            <a:prstDash val="solid"/>
          </a:ln>
        </p:spPr>
      </p:sp>
      <p:sp>
        <p:nvSpPr>
          <p:cNvPr id="31" name="Shape 29"/>
          <p:cNvSpPr/>
          <p:nvPr/>
        </p:nvSpPr>
        <p:spPr>
          <a:xfrm>
            <a:off x="5230368" y="3374136"/>
            <a:ext cx="0" cy="475488"/>
          </a:xfrm>
          <a:prstGeom prst="line">
            <a:avLst/>
          </a:prstGeom>
          <a:noFill/>
          <a:ln w="15240">
            <a:solidFill>
              <a:srgbClr val="1C4E80"/>
            </a:solidFill>
            <a:prstDash val="solid"/>
          </a:ln>
        </p:spPr>
      </p:sp>
      <p:sp>
        <p:nvSpPr>
          <p:cNvPr id="32" name="Shape 30"/>
          <p:cNvSpPr/>
          <p:nvPr/>
        </p:nvSpPr>
        <p:spPr>
          <a:xfrm>
            <a:off x="5138928" y="3758184"/>
            <a:ext cx="182880" cy="182880"/>
          </a:xfrm>
          <a:prstGeom prst="ellipse">
            <a:avLst/>
          </a:prstGeom>
          <a:solidFill>
            <a:srgbClr val="00A896"/>
          </a:solidFill>
          <a:ln w="12700">
            <a:solidFill>
              <a:srgbClr val="00A896"/>
            </a:solidFill>
            <a:prstDash val="solid"/>
          </a:ln>
        </p:spPr>
      </p:sp>
      <p:sp>
        <p:nvSpPr>
          <p:cNvPr id="33" name="Text 31"/>
          <p:cNvSpPr txBox="1"/>
          <p:nvPr/>
        </p:nvSpPr>
        <p:spPr>
          <a:xfrm>
            <a:off x="3520440" y="4453128"/>
            <a:ext cx="2286000" cy="27432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vote / pick best</a:t>
            </a:r>
            <a:endParaRPr lang="en-US" sz="1200" dirty="0"/>
          </a:p>
        </p:txBody>
      </p:sp>
      <p:sp>
        <p:nvSpPr>
          <p:cNvPr id="34" name="Shape 32"/>
          <p:cNvSpPr/>
          <p:nvPr/>
        </p:nvSpPr>
        <p:spPr>
          <a:xfrm>
            <a:off x="6355080" y="1965960"/>
            <a:ext cx="2286000" cy="2880360"/>
          </a:xfrm>
          <a:prstGeom prst="roundRect">
            <a:avLst>
              <a:gd name="adj" fmla="val 2400"/>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35" name="Text 33"/>
          <p:cNvSpPr txBox="1"/>
          <p:nvPr/>
        </p:nvSpPr>
        <p:spPr>
          <a:xfrm>
            <a:off x="6355080" y="2093976"/>
            <a:ext cx="2286000" cy="310896"/>
          </a:xfrm>
          <a:prstGeom prst="rect">
            <a:avLst/>
          </a:prstGeom>
          <a:noFill/>
          <a:ln/>
        </p:spPr>
        <p:txBody>
          <a:bodyPr wrap="square" lIns="0" tIns="0" rIns="0" bIns="0" rtlCol="0" anchor="ctr"/>
          <a:lstStyle/>
          <a:p>
            <a:pPr algn="ctr" indent="0" marL="0">
              <a:buNone/>
            </a:pPr>
            <a:r>
              <a:rPr lang="en-US" sz="1900" b="1" dirty="0">
                <a:solidFill>
                  <a:srgbClr val="16203B"/>
                </a:solidFill>
                <a:latin typeface="Cambria" pitchFamily="34" charset="0"/>
                <a:ea typeface="Cambria" pitchFamily="34" charset="-122"/>
                <a:cs typeface="Cambria" pitchFamily="34" charset="-120"/>
              </a:rPr>
              <a:t>ToT</a:t>
            </a:r>
            <a:endParaRPr lang="en-US" sz="1900" dirty="0"/>
          </a:p>
        </p:txBody>
      </p:sp>
      <p:sp>
        <p:nvSpPr>
          <p:cNvPr id="36" name="Text 34"/>
          <p:cNvSpPr txBox="1"/>
          <p:nvPr/>
        </p:nvSpPr>
        <p:spPr>
          <a:xfrm>
            <a:off x="6355080" y="2423160"/>
            <a:ext cx="2286000" cy="237744"/>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a tree</a:t>
            </a:r>
            <a:endParaRPr lang="en-US" sz="1200" dirty="0"/>
          </a:p>
        </p:txBody>
      </p:sp>
      <p:sp>
        <p:nvSpPr>
          <p:cNvPr id="37" name="Shape 35"/>
          <p:cNvSpPr/>
          <p:nvPr/>
        </p:nvSpPr>
        <p:spPr>
          <a:xfrm>
            <a:off x="7406640" y="2807208"/>
            <a:ext cx="182880" cy="182880"/>
          </a:xfrm>
          <a:prstGeom prst="ellipse">
            <a:avLst/>
          </a:prstGeom>
          <a:solidFill>
            <a:srgbClr val="00A896"/>
          </a:solidFill>
          <a:ln w="12700">
            <a:solidFill>
              <a:srgbClr val="00A896"/>
            </a:solidFill>
            <a:prstDash val="solid"/>
          </a:ln>
        </p:spPr>
      </p:sp>
      <p:sp>
        <p:nvSpPr>
          <p:cNvPr id="38" name="Shape 36"/>
          <p:cNvSpPr/>
          <p:nvPr/>
        </p:nvSpPr>
        <p:spPr>
          <a:xfrm flipV="1">
            <a:off x="6894576" y="2898648"/>
            <a:ext cx="603504" cy="475488"/>
          </a:xfrm>
          <a:prstGeom prst="line">
            <a:avLst/>
          </a:prstGeom>
          <a:noFill/>
          <a:ln w="15240">
            <a:solidFill>
              <a:srgbClr val="1C4E80"/>
            </a:solidFill>
            <a:prstDash val="solid"/>
          </a:ln>
        </p:spPr>
      </p:sp>
      <p:sp>
        <p:nvSpPr>
          <p:cNvPr id="39" name="Shape 37"/>
          <p:cNvSpPr/>
          <p:nvPr/>
        </p:nvSpPr>
        <p:spPr>
          <a:xfrm>
            <a:off x="6803136" y="3282696"/>
            <a:ext cx="182880" cy="182880"/>
          </a:xfrm>
          <a:prstGeom prst="ellipse">
            <a:avLst/>
          </a:prstGeom>
          <a:solidFill>
            <a:srgbClr val="00A896"/>
          </a:solidFill>
          <a:ln w="12700">
            <a:solidFill>
              <a:srgbClr val="00A896"/>
            </a:solidFill>
            <a:prstDash val="solid"/>
          </a:ln>
        </p:spPr>
      </p:sp>
      <p:sp>
        <p:nvSpPr>
          <p:cNvPr id="40" name="Shape 38"/>
          <p:cNvSpPr/>
          <p:nvPr/>
        </p:nvSpPr>
        <p:spPr>
          <a:xfrm flipV="1">
            <a:off x="6693408" y="3374136"/>
            <a:ext cx="201168" cy="475488"/>
          </a:xfrm>
          <a:prstGeom prst="line">
            <a:avLst/>
          </a:prstGeom>
          <a:noFill/>
          <a:ln w="15240">
            <a:solidFill>
              <a:srgbClr val="1C4E80"/>
            </a:solidFill>
            <a:prstDash val="solid"/>
          </a:ln>
        </p:spPr>
      </p:sp>
      <p:sp>
        <p:nvSpPr>
          <p:cNvPr id="41" name="Shape 39"/>
          <p:cNvSpPr/>
          <p:nvPr/>
        </p:nvSpPr>
        <p:spPr>
          <a:xfrm>
            <a:off x="6601968" y="3758184"/>
            <a:ext cx="182880" cy="182880"/>
          </a:xfrm>
          <a:prstGeom prst="ellipse">
            <a:avLst/>
          </a:prstGeom>
          <a:solidFill>
            <a:srgbClr val="C3CEDF"/>
          </a:solidFill>
          <a:ln w="12700">
            <a:solidFill>
              <a:srgbClr val="C3CEDF"/>
            </a:solidFill>
            <a:prstDash val="solid"/>
          </a:ln>
        </p:spPr>
      </p:sp>
      <p:sp>
        <p:nvSpPr>
          <p:cNvPr id="42" name="Shape 40"/>
          <p:cNvSpPr/>
          <p:nvPr/>
        </p:nvSpPr>
        <p:spPr>
          <a:xfrm>
            <a:off x="6894576" y="3374136"/>
            <a:ext cx="201168" cy="475488"/>
          </a:xfrm>
          <a:prstGeom prst="line">
            <a:avLst/>
          </a:prstGeom>
          <a:noFill/>
          <a:ln w="15240">
            <a:solidFill>
              <a:srgbClr val="1C4E80"/>
            </a:solidFill>
            <a:prstDash val="solid"/>
          </a:ln>
        </p:spPr>
      </p:sp>
      <p:sp>
        <p:nvSpPr>
          <p:cNvPr id="43" name="Shape 41"/>
          <p:cNvSpPr/>
          <p:nvPr/>
        </p:nvSpPr>
        <p:spPr>
          <a:xfrm>
            <a:off x="7004304" y="3758184"/>
            <a:ext cx="182880" cy="182880"/>
          </a:xfrm>
          <a:prstGeom prst="ellipse">
            <a:avLst/>
          </a:prstGeom>
          <a:solidFill>
            <a:srgbClr val="C3CEDF"/>
          </a:solidFill>
          <a:ln w="12700">
            <a:solidFill>
              <a:srgbClr val="C3CEDF"/>
            </a:solidFill>
            <a:prstDash val="solid"/>
          </a:ln>
        </p:spPr>
      </p:sp>
      <p:sp>
        <p:nvSpPr>
          <p:cNvPr id="44" name="Shape 42"/>
          <p:cNvSpPr/>
          <p:nvPr/>
        </p:nvSpPr>
        <p:spPr>
          <a:xfrm>
            <a:off x="7498080" y="2898648"/>
            <a:ext cx="0" cy="475488"/>
          </a:xfrm>
          <a:prstGeom prst="line">
            <a:avLst/>
          </a:prstGeom>
          <a:noFill/>
          <a:ln w="15240">
            <a:solidFill>
              <a:srgbClr val="1C4E80"/>
            </a:solidFill>
            <a:prstDash val="solid"/>
          </a:ln>
        </p:spPr>
      </p:sp>
      <p:sp>
        <p:nvSpPr>
          <p:cNvPr id="45" name="Shape 43"/>
          <p:cNvSpPr/>
          <p:nvPr/>
        </p:nvSpPr>
        <p:spPr>
          <a:xfrm>
            <a:off x="7406640" y="3282696"/>
            <a:ext cx="182880" cy="182880"/>
          </a:xfrm>
          <a:prstGeom prst="ellipse">
            <a:avLst/>
          </a:prstGeom>
          <a:solidFill>
            <a:srgbClr val="00A896"/>
          </a:solidFill>
          <a:ln w="12700">
            <a:solidFill>
              <a:srgbClr val="00A896"/>
            </a:solidFill>
            <a:prstDash val="solid"/>
          </a:ln>
        </p:spPr>
      </p:sp>
      <p:sp>
        <p:nvSpPr>
          <p:cNvPr id="46" name="Shape 44"/>
          <p:cNvSpPr/>
          <p:nvPr/>
        </p:nvSpPr>
        <p:spPr>
          <a:xfrm flipV="1">
            <a:off x="7296912" y="3374136"/>
            <a:ext cx="201168" cy="475488"/>
          </a:xfrm>
          <a:prstGeom prst="line">
            <a:avLst/>
          </a:prstGeom>
          <a:noFill/>
          <a:ln w="15240">
            <a:solidFill>
              <a:srgbClr val="1C4E80"/>
            </a:solidFill>
            <a:prstDash val="solid"/>
          </a:ln>
        </p:spPr>
      </p:sp>
      <p:sp>
        <p:nvSpPr>
          <p:cNvPr id="47" name="Shape 45"/>
          <p:cNvSpPr/>
          <p:nvPr/>
        </p:nvSpPr>
        <p:spPr>
          <a:xfrm>
            <a:off x="7205472" y="3758184"/>
            <a:ext cx="182880" cy="182880"/>
          </a:xfrm>
          <a:prstGeom prst="ellipse">
            <a:avLst/>
          </a:prstGeom>
          <a:solidFill>
            <a:srgbClr val="C3CEDF"/>
          </a:solidFill>
          <a:ln w="12700">
            <a:solidFill>
              <a:srgbClr val="C3CEDF"/>
            </a:solidFill>
            <a:prstDash val="solid"/>
          </a:ln>
        </p:spPr>
      </p:sp>
      <p:sp>
        <p:nvSpPr>
          <p:cNvPr id="48" name="Shape 46"/>
          <p:cNvSpPr/>
          <p:nvPr/>
        </p:nvSpPr>
        <p:spPr>
          <a:xfrm>
            <a:off x="7498080" y="3374136"/>
            <a:ext cx="201168" cy="475488"/>
          </a:xfrm>
          <a:prstGeom prst="line">
            <a:avLst/>
          </a:prstGeom>
          <a:noFill/>
          <a:ln w="15240">
            <a:solidFill>
              <a:srgbClr val="1C4E80"/>
            </a:solidFill>
            <a:prstDash val="solid"/>
          </a:ln>
        </p:spPr>
      </p:sp>
      <p:sp>
        <p:nvSpPr>
          <p:cNvPr id="49" name="Shape 47"/>
          <p:cNvSpPr/>
          <p:nvPr/>
        </p:nvSpPr>
        <p:spPr>
          <a:xfrm>
            <a:off x="7607808" y="3758184"/>
            <a:ext cx="182880" cy="182880"/>
          </a:xfrm>
          <a:prstGeom prst="ellipse">
            <a:avLst/>
          </a:prstGeom>
          <a:solidFill>
            <a:srgbClr val="1C4E80"/>
          </a:solidFill>
          <a:ln w="12700">
            <a:solidFill>
              <a:srgbClr val="1C4E80"/>
            </a:solidFill>
            <a:prstDash val="solid"/>
          </a:ln>
        </p:spPr>
      </p:sp>
      <p:sp>
        <p:nvSpPr>
          <p:cNvPr id="50" name="Shape 48"/>
          <p:cNvSpPr/>
          <p:nvPr/>
        </p:nvSpPr>
        <p:spPr>
          <a:xfrm>
            <a:off x="7498080" y="2898648"/>
            <a:ext cx="603504" cy="475488"/>
          </a:xfrm>
          <a:prstGeom prst="line">
            <a:avLst/>
          </a:prstGeom>
          <a:noFill/>
          <a:ln w="15240">
            <a:solidFill>
              <a:srgbClr val="1C4E80"/>
            </a:solidFill>
            <a:prstDash val="solid"/>
          </a:ln>
        </p:spPr>
      </p:sp>
      <p:sp>
        <p:nvSpPr>
          <p:cNvPr id="51" name="Shape 49"/>
          <p:cNvSpPr/>
          <p:nvPr/>
        </p:nvSpPr>
        <p:spPr>
          <a:xfrm>
            <a:off x="8010144" y="3282696"/>
            <a:ext cx="182880" cy="182880"/>
          </a:xfrm>
          <a:prstGeom prst="ellipse">
            <a:avLst/>
          </a:prstGeom>
          <a:solidFill>
            <a:srgbClr val="00A896"/>
          </a:solidFill>
          <a:ln w="12700">
            <a:solidFill>
              <a:srgbClr val="00A896"/>
            </a:solidFill>
            <a:prstDash val="solid"/>
          </a:ln>
        </p:spPr>
      </p:sp>
      <p:sp>
        <p:nvSpPr>
          <p:cNvPr id="52" name="Shape 50"/>
          <p:cNvSpPr/>
          <p:nvPr/>
        </p:nvSpPr>
        <p:spPr>
          <a:xfrm flipV="1">
            <a:off x="7900416" y="3374136"/>
            <a:ext cx="201168" cy="475488"/>
          </a:xfrm>
          <a:prstGeom prst="line">
            <a:avLst/>
          </a:prstGeom>
          <a:noFill/>
          <a:ln w="15240">
            <a:solidFill>
              <a:srgbClr val="1C4E80"/>
            </a:solidFill>
            <a:prstDash val="solid"/>
          </a:ln>
        </p:spPr>
      </p:sp>
      <p:sp>
        <p:nvSpPr>
          <p:cNvPr id="53" name="Shape 51"/>
          <p:cNvSpPr/>
          <p:nvPr/>
        </p:nvSpPr>
        <p:spPr>
          <a:xfrm>
            <a:off x="7808976" y="3758184"/>
            <a:ext cx="182880" cy="182880"/>
          </a:xfrm>
          <a:prstGeom prst="ellipse">
            <a:avLst/>
          </a:prstGeom>
          <a:solidFill>
            <a:srgbClr val="C3CEDF"/>
          </a:solidFill>
          <a:ln w="12700">
            <a:solidFill>
              <a:srgbClr val="C3CEDF"/>
            </a:solidFill>
            <a:prstDash val="solid"/>
          </a:ln>
        </p:spPr>
      </p:sp>
      <p:sp>
        <p:nvSpPr>
          <p:cNvPr id="54" name="Shape 52"/>
          <p:cNvSpPr/>
          <p:nvPr/>
        </p:nvSpPr>
        <p:spPr>
          <a:xfrm>
            <a:off x="8101584" y="3374136"/>
            <a:ext cx="201168" cy="475488"/>
          </a:xfrm>
          <a:prstGeom prst="line">
            <a:avLst/>
          </a:prstGeom>
          <a:noFill/>
          <a:ln w="15240">
            <a:solidFill>
              <a:srgbClr val="1C4E80"/>
            </a:solidFill>
            <a:prstDash val="solid"/>
          </a:ln>
        </p:spPr>
      </p:sp>
      <p:sp>
        <p:nvSpPr>
          <p:cNvPr id="55" name="Shape 53"/>
          <p:cNvSpPr/>
          <p:nvPr/>
        </p:nvSpPr>
        <p:spPr>
          <a:xfrm>
            <a:off x="8211312" y="3758184"/>
            <a:ext cx="182880" cy="182880"/>
          </a:xfrm>
          <a:prstGeom prst="ellipse">
            <a:avLst/>
          </a:prstGeom>
          <a:solidFill>
            <a:srgbClr val="C3CEDF"/>
          </a:solidFill>
          <a:ln w="12700">
            <a:solidFill>
              <a:srgbClr val="C3CEDF"/>
            </a:solidFill>
            <a:prstDash val="solid"/>
          </a:ln>
        </p:spPr>
      </p:sp>
      <p:sp>
        <p:nvSpPr>
          <p:cNvPr id="56" name="Text 54"/>
          <p:cNvSpPr txBox="1"/>
          <p:nvPr/>
        </p:nvSpPr>
        <p:spPr>
          <a:xfrm>
            <a:off x="6355080" y="4453128"/>
            <a:ext cx="2286000" cy="27432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branch + backtrack</a:t>
            </a:r>
            <a:endParaRPr lang="en-US" sz="1200" dirty="0"/>
          </a:p>
        </p:txBody>
      </p:sp>
      <p:sp>
        <p:nvSpPr>
          <p:cNvPr id="57" name="Shape 55"/>
          <p:cNvSpPr/>
          <p:nvPr/>
        </p:nvSpPr>
        <p:spPr>
          <a:xfrm>
            <a:off x="9189720" y="1965960"/>
            <a:ext cx="2286000" cy="2880360"/>
          </a:xfrm>
          <a:prstGeom prst="roundRect">
            <a:avLst>
              <a:gd name="adj" fmla="val 2400"/>
            </a:avLst>
          </a:prstGeom>
          <a:solidFill>
            <a:srgbClr val="FFF4F0"/>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58" name="Text 56"/>
          <p:cNvSpPr txBox="1"/>
          <p:nvPr/>
        </p:nvSpPr>
        <p:spPr>
          <a:xfrm>
            <a:off x="9189720" y="2093976"/>
            <a:ext cx="2286000" cy="310896"/>
          </a:xfrm>
          <a:prstGeom prst="rect">
            <a:avLst/>
          </a:prstGeom>
          <a:noFill/>
          <a:ln/>
        </p:spPr>
        <p:txBody>
          <a:bodyPr wrap="square" lIns="0" tIns="0" rIns="0" bIns="0" rtlCol="0" anchor="ctr"/>
          <a:lstStyle/>
          <a:p>
            <a:pPr algn="ctr" indent="0" marL="0">
              <a:buNone/>
            </a:pPr>
            <a:r>
              <a:rPr lang="en-US" sz="1900" b="1" dirty="0">
                <a:solidFill>
                  <a:srgbClr val="FF7A59"/>
                </a:solidFill>
                <a:latin typeface="Cambria" pitchFamily="34" charset="0"/>
                <a:ea typeface="Cambria" pitchFamily="34" charset="-122"/>
                <a:cs typeface="Cambria" pitchFamily="34" charset="-120"/>
              </a:rPr>
              <a:t>GoT</a:t>
            </a:r>
            <a:endParaRPr lang="en-US" sz="1900" dirty="0"/>
          </a:p>
        </p:txBody>
      </p:sp>
      <p:sp>
        <p:nvSpPr>
          <p:cNvPr id="59" name="Text 57"/>
          <p:cNvSpPr txBox="1"/>
          <p:nvPr/>
        </p:nvSpPr>
        <p:spPr>
          <a:xfrm>
            <a:off x="9189720" y="2423160"/>
            <a:ext cx="2286000" cy="237744"/>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a graph</a:t>
            </a:r>
            <a:endParaRPr lang="en-US" sz="1200" dirty="0"/>
          </a:p>
        </p:txBody>
      </p:sp>
      <p:sp>
        <p:nvSpPr>
          <p:cNvPr id="60" name="Shape 58"/>
          <p:cNvSpPr/>
          <p:nvPr/>
        </p:nvSpPr>
        <p:spPr>
          <a:xfrm>
            <a:off x="10241280" y="2807208"/>
            <a:ext cx="182880" cy="182880"/>
          </a:xfrm>
          <a:prstGeom prst="ellipse">
            <a:avLst/>
          </a:prstGeom>
          <a:solidFill>
            <a:srgbClr val="00A896"/>
          </a:solidFill>
          <a:ln w="12700">
            <a:solidFill>
              <a:srgbClr val="00A896"/>
            </a:solidFill>
            <a:prstDash val="solid"/>
          </a:ln>
        </p:spPr>
      </p:sp>
      <p:sp>
        <p:nvSpPr>
          <p:cNvPr id="61" name="Shape 59"/>
          <p:cNvSpPr/>
          <p:nvPr/>
        </p:nvSpPr>
        <p:spPr>
          <a:xfrm flipV="1">
            <a:off x="9674352" y="2898648"/>
            <a:ext cx="658368" cy="475488"/>
          </a:xfrm>
          <a:prstGeom prst="line">
            <a:avLst/>
          </a:prstGeom>
          <a:noFill/>
          <a:ln w="15240">
            <a:solidFill>
              <a:srgbClr val="1C4E80"/>
            </a:solidFill>
            <a:prstDash val="solid"/>
          </a:ln>
        </p:spPr>
      </p:sp>
      <p:sp>
        <p:nvSpPr>
          <p:cNvPr id="62" name="Shape 60"/>
          <p:cNvSpPr/>
          <p:nvPr/>
        </p:nvSpPr>
        <p:spPr>
          <a:xfrm>
            <a:off x="9582912" y="3282696"/>
            <a:ext cx="182880" cy="182880"/>
          </a:xfrm>
          <a:prstGeom prst="ellipse">
            <a:avLst/>
          </a:prstGeom>
          <a:solidFill>
            <a:srgbClr val="00A896"/>
          </a:solidFill>
          <a:ln w="12700">
            <a:solidFill>
              <a:srgbClr val="00A896"/>
            </a:solidFill>
            <a:prstDash val="solid"/>
          </a:ln>
        </p:spPr>
      </p:sp>
      <p:sp>
        <p:nvSpPr>
          <p:cNvPr id="63" name="Shape 61"/>
          <p:cNvSpPr/>
          <p:nvPr/>
        </p:nvSpPr>
        <p:spPr>
          <a:xfrm flipV="1">
            <a:off x="10113264" y="2898648"/>
            <a:ext cx="219456" cy="475488"/>
          </a:xfrm>
          <a:prstGeom prst="line">
            <a:avLst/>
          </a:prstGeom>
          <a:noFill/>
          <a:ln w="15240">
            <a:solidFill>
              <a:srgbClr val="1C4E80"/>
            </a:solidFill>
            <a:prstDash val="solid"/>
          </a:ln>
        </p:spPr>
      </p:sp>
      <p:sp>
        <p:nvSpPr>
          <p:cNvPr id="64" name="Shape 62"/>
          <p:cNvSpPr/>
          <p:nvPr/>
        </p:nvSpPr>
        <p:spPr>
          <a:xfrm>
            <a:off x="10021824" y="3282696"/>
            <a:ext cx="182880" cy="182880"/>
          </a:xfrm>
          <a:prstGeom prst="ellipse">
            <a:avLst/>
          </a:prstGeom>
          <a:solidFill>
            <a:srgbClr val="00A896"/>
          </a:solidFill>
          <a:ln w="12700">
            <a:solidFill>
              <a:srgbClr val="00A896"/>
            </a:solidFill>
            <a:prstDash val="solid"/>
          </a:ln>
        </p:spPr>
      </p:sp>
      <p:sp>
        <p:nvSpPr>
          <p:cNvPr id="65" name="Shape 63"/>
          <p:cNvSpPr/>
          <p:nvPr/>
        </p:nvSpPr>
        <p:spPr>
          <a:xfrm>
            <a:off x="10332720" y="2898648"/>
            <a:ext cx="219456" cy="475488"/>
          </a:xfrm>
          <a:prstGeom prst="line">
            <a:avLst/>
          </a:prstGeom>
          <a:noFill/>
          <a:ln w="15240">
            <a:solidFill>
              <a:srgbClr val="1C4E80"/>
            </a:solidFill>
            <a:prstDash val="solid"/>
          </a:ln>
        </p:spPr>
      </p:sp>
      <p:sp>
        <p:nvSpPr>
          <p:cNvPr id="66" name="Shape 64"/>
          <p:cNvSpPr/>
          <p:nvPr/>
        </p:nvSpPr>
        <p:spPr>
          <a:xfrm>
            <a:off x="10460736" y="3282696"/>
            <a:ext cx="182880" cy="182880"/>
          </a:xfrm>
          <a:prstGeom prst="ellipse">
            <a:avLst/>
          </a:prstGeom>
          <a:solidFill>
            <a:srgbClr val="00A896"/>
          </a:solidFill>
          <a:ln w="12700">
            <a:solidFill>
              <a:srgbClr val="00A896"/>
            </a:solidFill>
            <a:prstDash val="solid"/>
          </a:ln>
        </p:spPr>
      </p:sp>
      <p:sp>
        <p:nvSpPr>
          <p:cNvPr id="67" name="Shape 65"/>
          <p:cNvSpPr/>
          <p:nvPr/>
        </p:nvSpPr>
        <p:spPr>
          <a:xfrm>
            <a:off x="10332720" y="2898648"/>
            <a:ext cx="658368" cy="475488"/>
          </a:xfrm>
          <a:prstGeom prst="line">
            <a:avLst/>
          </a:prstGeom>
          <a:noFill/>
          <a:ln w="15240">
            <a:solidFill>
              <a:srgbClr val="1C4E80"/>
            </a:solidFill>
            <a:prstDash val="solid"/>
          </a:ln>
        </p:spPr>
      </p:sp>
      <p:sp>
        <p:nvSpPr>
          <p:cNvPr id="68" name="Shape 66"/>
          <p:cNvSpPr/>
          <p:nvPr/>
        </p:nvSpPr>
        <p:spPr>
          <a:xfrm>
            <a:off x="10899648" y="3282696"/>
            <a:ext cx="182880" cy="182880"/>
          </a:xfrm>
          <a:prstGeom prst="ellipse">
            <a:avLst/>
          </a:prstGeom>
          <a:solidFill>
            <a:srgbClr val="00A896"/>
          </a:solidFill>
          <a:ln w="12700">
            <a:solidFill>
              <a:srgbClr val="00A896"/>
            </a:solidFill>
            <a:prstDash val="solid"/>
          </a:ln>
        </p:spPr>
      </p:sp>
      <p:sp>
        <p:nvSpPr>
          <p:cNvPr id="69" name="Shape 67"/>
          <p:cNvSpPr/>
          <p:nvPr/>
        </p:nvSpPr>
        <p:spPr>
          <a:xfrm>
            <a:off x="9674352" y="3374136"/>
            <a:ext cx="219456" cy="475488"/>
          </a:xfrm>
          <a:prstGeom prst="line">
            <a:avLst/>
          </a:prstGeom>
          <a:noFill/>
          <a:ln w="20320">
            <a:solidFill>
              <a:srgbClr val="FF7A59"/>
            </a:solidFill>
            <a:prstDash val="solid"/>
          </a:ln>
        </p:spPr>
      </p:sp>
      <p:sp>
        <p:nvSpPr>
          <p:cNvPr id="70" name="Shape 68"/>
          <p:cNvSpPr/>
          <p:nvPr/>
        </p:nvSpPr>
        <p:spPr>
          <a:xfrm flipV="1">
            <a:off x="9893808" y="3374136"/>
            <a:ext cx="219456" cy="475488"/>
          </a:xfrm>
          <a:prstGeom prst="line">
            <a:avLst/>
          </a:prstGeom>
          <a:noFill/>
          <a:ln w="20320">
            <a:solidFill>
              <a:srgbClr val="FF7A59"/>
            </a:solidFill>
            <a:prstDash val="solid"/>
          </a:ln>
        </p:spPr>
      </p:sp>
      <p:sp>
        <p:nvSpPr>
          <p:cNvPr id="71" name="Shape 69"/>
          <p:cNvSpPr/>
          <p:nvPr/>
        </p:nvSpPr>
        <p:spPr>
          <a:xfrm>
            <a:off x="9802368" y="3758184"/>
            <a:ext cx="182880" cy="182880"/>
          </a:xfrm>
          <a:prstGeom prst="ellipse">
            <a:avLst/>
          </a:prstGeom>
          <a:solidFill>
            <a:srgbClr val="FF7A59"/>
          </a:solidFill>
          <a:ln w="12700">
            <a:solidFill>
              <a:srgbClr val="FF7A59"/>
            </a:solidFill>
            <a:prstDash val="solid"/>
          </a:ln>
        </p:spPr>
      </p:sp>
      <p:sp>
        <p:nvSpPr>
          <p:cNvPr id="72" name="Shape 70"/>
          <p:cNvSpPr/>
          <p:nvPr/>
        </p:nvSpPr>
        <p:spPr>
          <a:xfrm>
            <a:off x="9893808" y="3849624"/>
            <a:ext cx="438912" cy="475488"/>
          </a:xfrm>
          <a:prstGeom prst="line">
            <a:avLst/>
          </a:prstGeom>
          <a:noFill/>
          <a:ln w="20320">
            <a:solidFill>
              <a:srgbClr val="FF7A59"/>
            </a:solidFill>
            <a:prstDash val="solid"/>
          </a:ln>
        </p:spPr>
      </p:sp>
      <p:sp>
        <p:nvSpPr>
          <p:cNvPr id="73" name="Shape 71"/>
          <p:cNvSpPr/>
          <p:nvPr/>
        </p:nvSpPr>
        <p:spPr>
          <a:xfrm>
            <a:off x="10552176" y="3374136"/>
            <a:ext cx="219456" cy="475488"/>
          </a:xfrm>
          <a:prstGeom prst="line">
            <a:avLst/>
          </a:prstGeom>
          <a:noFill/>
          <a:ln w="20320">
            <a:solidFill>
              <a:srgbClr val="FF7A59"/>
            </a:solidFill>
            <a:prstDash val="solid"/>
          </a:ln>
        </p:spPr>
      </p:sp>
      <p:sp>
        <p:nvSpPr>
          <p:cNvPr id="74" name="Shape 72"/>
          <p:cNvSpPr/>
          <p:nvPr/>
        </p:nvSpPr>
        <p:spPr>
          <a:xfrm flipV="1">
            <a:off x="10771632" y="3374136"/>
            <a:ext cx="219456" cy="475488"/>
          </a:xfrm>
          <a:prstGeom prst="line">
            <a:avLst/>
          </a:prstGeom>
          <a:noFill/>
          <a:ln w="20320">
            <a:solidFill>
              <a:srgbClr val="FF7A59"/>
            </a:solidFill>
            <a:prstDash val="solid"/>
          </a:ln>
        </p:spPr>
      </p:sp>
      <p:sp>
        <p:nvSpPr>
          <p:cNvPr id="75" name="Shape 73"/>
          <p:cNvSpPr/>
          <p:nvPr/>
        </p:nvSpPr>
        <p:spPr>
          <a:xfrm>
            <a:off x="10680192" y="3758184"/>
            <a:ext cx="182880" cy="182880"/>
          </a:xfrm>
          <a:prstGeom prst="ellipse">
            <a:avLst/>
          </a:prstGeom>
          <a:solidFill>
            <a:srgbClr val="FF7A59"/>
          </a:solidFill>
          <a:ln w="12700">
            <a:solidFill>
              <a:srgbClr val="FF7A59"/>
            </a:solidFill>
            <a:prstDash val="solid"/>
          </a:ln>
        </p:spPr>
      </p:sp>
      <p:sp>
        <p:nvSpPr>
          <p:cNvPr id="76" name="Shape 74"/>
          <p:cNvSpPr/>
          <p:nvPr/>
        </p:nvSpPr>
        <p:spPr>
          <a:xfrm flipV="1">
            <a:off x="10332720" y="3849624"/>
            <a:ext cx="438912" cy="475488"/>
          </a:xfrm>
          <a:prstGeom prst="line">
            <a:avLst/>
          </a:prstGeom>
          <a:noFill/>
          <a:ln w="20320">
            <a:solidFill>
              <a:srgbClr val="FF7A59"/>
            </a:solidFill>
            <a:prstDash val="solid"/>
          </a:ln>
        </p:spPr>
      </p:sp>
      <p:sp>
        <p:nvSpPr>
          <p:cNvPr id="77" name="Shape 75"/>
          <p:cNvSpPr/>
          <p:nvPr/>
        </p:nvSpPr>
        <p:spPr>
          <a:xfrm>
            <a:off x="10241280" y="4233672"/>
            <a:ext cx="182880" cy="182880"/>
          </a:xfrm>
          <a:prstGeom prst="ellipse">
            <a:avLst/>
          </a:prstGeom>
          <a:solidFill>
            <a:srgbClr val="FF7A59"/>
          </a:solidFill>
          <a:ln w="12700">
            <a:solidFill>
              <a:srgbClr val="FF7A59"/>
            </a:solidFill>
            <a:prstDash val="solid"/>
          </a:ln>
        </p:spPr>
      </p:sp>
      <p:sp>
        <p:nvSpPr>
          <p:cNvPr id="78" name="Text 76"/>
          <p:cNvSpPr txBox="1"/>
          <p:nvPr/>
        </p:nvSpPr>
        <p:spPr>
          <a:xfrm>
            <a:off x="9189720" y="4453128"/>
            <a:ext cx="2286000" cy="274320"/>
          </a:xfrm>
          <a:prstGeom prst="rect">
            <a:avLst/>
          </a:prstGeom>
          <a:noFill/>
          <a:ln/>
        </p:spPr>
        <p:txBody>
          <a:bodyPr wrap="square" lIns="0" tIns="0" rIns="0" bIns="0" rtlCol="0" anchor="ctr"/>
          <a:lstStyle/>
          <a:p>
            <a:pPr algn="ctr" indent="0" marL="0">
              <a:buNone/>
            </a:pPr>
            <a:r>
              <a:rPr lang="en-US" sz="1200" b="1" dirty="0">
                <a:solidFill>
                  <a:srgbClr val="FF7A59"/>
                </a:solidFill>
                <a:latin typeface="Calibri" pitchFamily="34" charset="0"/>
                <a:ea typeface="Calibri" pitchFamily="34" charset="-122"/>
                <a:cs typeface="Calibri" pitchFamily="34" charset="-120"/>
              </a:rPr>
              <a:t>AGGREGATE</a:t>
            </a:r>
            <a:endParaRPr lang="en-US" sz="1200" dirty="0"/>
          </a:p>
        </p:txBody>
      </p:sp>
      <p:sp>
        <p:nvSpPr>
          <p:cNvPr id="79" name="Shape 77"/>
          <p:cNvSpPr/>
          <p:nvPr/>
        </p:nvSpPr>
        <p:spPr>
          <a:xfrm>
            <a:off x="685800" y="5138928"/>
            <a:ext cx="10789920" cy="960120"/>
          </a:xfrm>
          <a:prstGeom prst="roundRect">
            <a:avLst>
              <a:gd name="adj" fmla="val 5714"/>
            </a:avLst>
          </a:prstGeom>
          <a:solidFill>
            <a:srgbClr val="141B34"/>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80" name="Text 78"/>
          <p:cNvSpPr txBox="1"/>
          <p:nvPr/>
        </p:nvSpPr>
        <p:spPr>
          <a:xfrm>
            <a:off x="960120" y="5285232"/>
            <a:ext cx="10241280" cy="32918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Aggregation needs a node with in-degree &gt; 1.  A tree cannot have one - by definition.</a:t>
            </a:r>
            <a:endParaRPr lang="en-US" sz="1600" dirty="0"/>
          </a:p>
        </p:txBody>
      </p:sp>
      <p:sp>
        <p:nvSpPr>
          <p:cNvPr id="81" name="Text 79"/>
          <p:cNvSpPr txBox="1"/>
          <p:nvPr/>
        </p:nvSpPr>
        <p:spPr>
          <a:xfrm>
            <a:off x="960120" y="5632704"/>
            <a:ext cx="10241280" cy="292608"/>
          </a:xfrm>
          <a:prstGeom prst="rect">
            <a:avLst/>
          </a:prstGeom>
          <a:noFill/>
          <a:ln/>
        </p:spPr>
        <p:txBody>
          <a:bodyPr wrap="square" lIns="0" tIns="0" rIns="0" bIns="0" rtlCol="0" anchor="ctr"/>
          <a:lstStyle/>
          <a:p>
            <a:pPr indent="0" marL="0">
              <a:buNone/>
            </a:pPr>
            <a:r>
              <a:rPr lang="en-US" sz="1300" dirty="0">
                <a:solidFill>
                  <a:srgbClr val="9AA7C7"/>
                </a:solidFill>
                <a:latin typeface="Calibri" pitchFamily="34" charset="0"/>
                <a:ea typeface="Calibri" pitchFamily="34" charset="-122"/>
                <a:cs typeface="Calibri" pitchFamily="34" charset="-120"/>
              </a:rPr>
              <a:t>That single structural fact is the entire contribution of Graph of Thoughts.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How the framework is built</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Two graphs - and confusing them causes most implementation bugs</a:t>
            </a:r>
            <a:endParaRPr lang="en-US" sz="1400" dirty="0"/>
          </a:p>
        </p:txBody>
      </p:sp>
      <p:sp>
        <p:nvSpPr>
          <p:cNvPr id="4" name="Shape 2"/>
          <p:cNvSpPr/>
          <p:nvPr/>
        </p:nvSpPr>
        <p:spPr>
          <a:xfrm>
            <a:off x="685800" y="1783080"/>
            <a:ext cx="5257800" cy="1828800"/>
          </a:xfrm>
          <a:prstGeom prst="roundRect">
            <a:avLst>
              <a:gd name="adj" fmla="val 3000"/>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5" name="Text 3"/>
          <p:cNvSpPr txBox="1"/>
          <p:nvPr/>
        </p:nvSpPr>
        <p:spPr>
          <a:xfrm>
            <a:off x="960120" y="1938528"/>
            <a:ext cx="4754880" cy="274320"/>
          </a:xfrm>
          <a:prstGeom prst="rect">
            <a:avLst/>
          </a:prstGeom>
          <a:noFill/>
          <a:ln/>
        </p:spPr>
        <p:txBody>
          <a:bodyPr wrap="square" lIns="0" tIns="0" rIns="0" bIns="0" rtlCol="0" anchor="ctr"/>
          <a:lstStyle/>
          <a:p>
            <a:pPr indent="0" marL="0">
              <a:buNone/>
            </a:pPr>
            <a:r>
              <a:rPr lang="en-US" sz="1400" b="1" dirty="0">
                <a:solidFill>
                  <a:srgbClr val="1C4E80"/>
                </a:solidFill>
                <a:latin typeface="Calibri" pitchFamily="34" charset="0"/>
                <a:ea typeface="Calibri" pitchFamily="34" charset="-122"/>
                <a:cs typeface="Calibri" pitchFamily="34" charset="-120"/>
              </a:rPr>
              <a:t>GoO - Graph of Operations</a:t>
            </a:r>
            <a:endParaRPr lang="en-US" sz="1400" dirty="0"/>
          </a:p>
        </p:txBody>
      </p:sp>
      <p:sp>
        <p:nvSpPr>
          <p:cNvPr id="6" name="Text 4"/>
          <p:cNvSpPr txBox="1"/>
          <p:nvPr/>
        </p:nvSpPr>
        <p:spPr>
          <a:xfrm>
            <a:off x="960120" y="2267712"/>
            <a:ext cx="4754880" cy="1188720"/>
          </a:xfrm>
          <a:prstGeom prst="rect">
            <a:avLst/>
          </a:prstGeom>
          <a:noFill/>
          <a:ln/>
        </p:spPr>
        <p:txBody>
          <a:bodyPr wrap="square" lIns="0" tIns="0" rIns="0" bIns="0" rtlCol="0" anchor="ctr"/>
          <a:lstStyle/>
          <a:p>
            <a:pPr indent="0" marL="0">
              <a:buNone/>
            </a:pPr>
            <a:r>
              <a:rPr lang="en-US" sz="1300" dirty="0">
                <a:solidFill>
                  <a:srgbClr val="16203B"/>
                </a:solidFill>
                <a:latin typeface="Calibri" pitchFamily="34" charset="0"/>
                <a:ea typeface="Calibri" pitchFamily="34" charset="-122"/>
                <a:cs typeface="Calibri" pitchFamily="34" charset="-120"/>
              </a:rPr>
              <a:t>STATIC. The execution plan. You build it by hand, before running.</a:t>
            </a:r>
            <a:endParaRPr lang="en-US" sz="1300" dirty="0"/>
          </a:p>
          <a:p>
            <a:pPr indent="0" marL="0">
              <a:buNone/>
            </a:pPr>
            <a:r>
              <a:rPr lang="en-US" sz="1300" dirty="0">
                <a:solidFill>
                  <a:srgbClr val="16203B"/>
                </a:solidFill>
                <a:latin typeface="Calibri" pitchFamily="34" charset="0"/>
                <a:ea typeface="Calibri" pitchFamily="34" charset="-122"/>
                <a:cs typeface="Calibri" pitchFamily="34" charset="-120"/>
              </a:rPr>
              <a:t>Nodes = operations. Edges = dependencies.</a:t>
            </a:r>
            <a:endParaRPr lang="en-US" sz="1300" dirty="0"/>
          </a:p>
          <a:p>
            <a:pPr indent="0" marL="0">
              <a:buNone/>
            </a:pPr>
            <a:r>
              <a:rPr lang="en-US" sz="1300" dirty="0">
                <a:solidFill>
                  <a:srgbClr val="16203B"/>
                </a:solidFill>
                <a:latin typeface="Calibri" pitchFamily="34" charset="0"/>
                <a:ea typeface="Calibri" pitchFamily="34" charset="-122"/>
                <a:cs typeface="Calibri" pitchFamily="34" charset="-120"/>
              </a:rPr>
              <a:t>One per task configuration.</a:t>
            </a:r>
            <a:endParaRPr lang="en-US" sz="1300" dirty="0"/>
          </a:p>
        </p:txBody>
      </p:sp>
      <p:sp>
        <p:nvSpPr>
          <p:cNvPr id="7" name="Shape 5"/>
          <p:cNvSpPr/>
          <p:nvPr/>
        </p:nvSpPr>
        <p:spPr>
          <a:xfrm>
            <a:off x="6217920" y="1783080"/>
            <a:ext cx="5257800" cy="1828800"/>
          </a:xfrm>
          <a:prstGeom prst="roundRect">
            <a:avLst>
              <a:gd name="adj" fmla="val 3000"/>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8" name="Text 6"/>
          <p:cNvSpPr txBox="1"/>
          <p:nvPr/>
        </p:nvSpPr>
        <p:spPr>
          <a:xfrm>
            <a:off x="6492240" y="1938528"/>
            <a:ext cx="4754880" cy="274320"/>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GRS - Graph Reasoning State</a:t>
            </a:r>
            <a:endParaRPr lang="en-US" sz="1400" dirty="0"/>
          </a:p>
        </p:txBody>
      </p:sp>
      <p:sp>
        <p:nvSpPr>
          <p:cNvPr id="9" name="Text 7"/>
          <p:cNvSpPr txBox="1"/>
          <p:nvPr/>
        </p:nvSpPr>
        <p:spPr>
          <a:xfrm>
            <a:off x="6492240" y="2267712"/>
            <a:ext cx="4754880" cy="1188720"/>
          </a:xfrm>
          <a:prstGeom prst="rect">
            <a:avLst/>
          </a:prstGeom>
          <a:noFill/>
          <a:ln/>
        </p:spPr>
        <p:txBody>
          <a:bodyPr wrap="square" lIns="0" tIns="0" rIns="0" bIns="0" rtlCol="0" anchor="ctr"/>
          <a:lstStyle/>
          <a:p>
            <a:pPr indent="0" marL="0">
              <a:buNone/>
            </a:pPr>
            <a:r>
              <a:rPr lang="en-US" sz="1300" dirty="0">
                <a:solidFill>
                  <a:srgbClr val="16203B"/>
                </a:solidFill>
                <a:latin typeface="Calibri" pitchFamily="34" charset="0"/>
                <a:ea typeface="Calibri" pitchFamily="34" charset="-122"/>
                <a:cs typeface="Calibri" pitchFamily="34" charset="-120"/>
              </a:rPr>
              <a:t>DYNAMIC. The thoughts actually produced. The engine builds it.</a:t>
            </a:r>
            <a:endParaRPr lang="en-US" sz="1300" dirty="0"/>
          </a:p>
          <a:p>
            <a:pPr indent="0" marL="0">
              <a:buNone/>
            </a:pPr>
            <a:r>
              <a:rPr lang="en-US" sz="1300" dirty="0">
                <a:solidFill>
                  <a:srgbClr val="16203B"/>
                </a:solidFill>
                <a:latin typeface="Calibri" pitchFamily="34" charset="0"/>
                <a:ea typeface="Calibri" pitchFamily="34" charset="-122"/>
                <a:cs typeface="Calibri" pitchFamily="34" charset="-120"/>
              </a:rPr>
              <a:t>Nodes = LLM outputs. Edges = data dependencies.</a:t>
            </a:r>
            <a:endParaRPr lang="en-US" sz="1300" dirty="0"/>
          </a:p>
          <a:p>
            <a:pPr indent="0" marL="0">
              <a:buNone/>
            </a:pPr>
            <a:r>
              <a:rPr lang="en-US" sz="1300" dirty="0">
                <a:solidFill>
                  <a:srgbClr val="16203B"/>
                </a:solidFill>
                <a:latin typeface="Calibri" pitchFamily="34" charset="0"/>
                <a:ea typeface="Calibri" pitchFamily="34" charset="-122"/>
                <a:cs typeface="Calibri" pitchFamily="34" charset="-120"/>
              </a:rPr>
              <a:t>One per input instance.</a:t>
            </a:r>
            <a:endParaRPr lang="en-US" sz="1300" dirty="0"/>
          </a:p>
        </p:txBody>
      </p:sp>
      <p:sp>
        <p:nvSpPr>
          <p:cNvPr id="10" name="Text 8"/>
          <p:cNvSpPr txBox="1"/>
          <p:nvPr/>
        </p:nvSpPr>
        <p:spPr>
          <a:xfrm>
            <a:off x="685800" y="3794760"/>
            <a:ext cx="10789920" cy="310896"/>
          </a:xfrm>
          <a:prstGeom prst="rect">
            <a:avLst/>
          </a:prstGeom>
          <a:noFill/>
          <a:ln/>
        </p:spPr>
        <p:txBody>
          <a:bodyPr wrap="square" lIns="0" tIns="0" rIns="0" bIns="0" rtlCol="0" anchor="ctr"/>
          <a:lstStyle/>
          <a:p>
            <a:pPr indent="0" marL="0">
              <a:buNone/>
            </a:pPr>
            <a:r>
              <a:rPr lang="en-US" sz="1500" b="1" dirty="0">
                <a:solidFill>
                  <a:srgbClr val="16203B"/>
                </a:solidFill>
                <a:latin typeface="Calibri" pitchFamily="34" charset="0"/>
                <a:ea typeface="Calibri" pitchFamily="34" charset="-122"/>
                <a:cs typeface="Calibri" pitchFamily="34" charset="-120"/>
              </a:rPr>
              <a:t>Three transformations - and only these create nodes</a:t>
            </a:r>
            <a:endParaRPr lang="en-US" sz="1500" dirty="0"/>
          </a:p>
        </p:txBody>
      </p:sp>
      <p:sp>
        <p:nvSpPr>
          <p:cNvPr id="11" name="Shape 9"/>
          <p:cNvSpPr/>
          <p:nvPr/>
        </p:nvSpPr>
        <p:spPr>
          <a:xfrm>
            <a:off x="685800" y="4206240"/>
            <a:ext cx="3429000" cy="1600200"/>
          </a:xfrm>
          <a:prstGeom prst="roundRect">
            <a:avLst>
              <a:gd name="adj" fmla="val 3429"/>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2" name="Shape 10"/>
          <p:cNvSpPr/>
          <p:nvPr/>
        </p:nvSpPr>
        <p:spPr>
          <a:xfrm>
            <a:off x="941832" y="4434840"/>
            <a:ext cx="384048" cy="384048"/>
          </a:xfrm>
          <a:prstGeom prst="ellipse">
            <a:avLst/>
          </a:prstGeom>
          <a:solidFill>
            <a:srgbClr val="00A896"/>
          </a:solidFill>
          <a:ln w="12700">
            <a:solidFill>
              <a:srgbClr val="333333"/>
            </a:solidFill>
            <a:prstDash val="solid"/>
          </a:ln>
        </p:spPr>
      </p:sp>
      <p:sp>
        <p:nvSpPr>
          <p:cNvPr id="13" name="Text 11"/>
          <p:cNvSpPr txBox="1"/>
          <p:nvPr/>
        </p:nvSpPr>
        <p:spPr>
          <a:xfrm>
            <a:off x="941832" y="4471416"/>
            <a:ext cx="38404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Text 12"/>
          <p:cNvSpPr txBox="1"/>
          <p:nvPr/>
        </p:nvSpPr>
        <p:spPr>
          <a:xfrm>
            <a:off x="1463040" y="4453128"/>
            <a:ext cx="2468880" cy="292608"/>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Generate (k)</a:t>
            </a:r>
            <a:endParaRPr lang="en-US" sz="1400" dirty="0"/>
          </a:p>
        </p:txBody>
      </p:sp>
      <p:sp>
        <p:nvSpPr>
          <p:cNvPr id="15" name="Text 13"/>
          <p:cNvSpPr txBox="1"/>
          <p:nvPr/>
        </p:nvSpPr>
        <p:spPr>
          <a:xfrm>
            <a:off x="960120" y="4892040"/>
            <a:ext cx="2926080" cy="822960"/>
          </a:xfrm>
          <a:prstGeom prst="rect">
            <a:avLst/>
          </a:prstGeom>
          <a:noFill/>
          <a:ln/>
        </p:spPr>
        <p:txBody>
          <a:bodyPr wrap="square" lIns="0" tIns="0" rIns="0" bIns="0" rtlCol="0" anchor="ctr"/>
          <a:lstStyle/>
          <a:p>
            <a:pPr indent="0" marL="0">
              <a:buNone/>
            </a:pPr>
            <a:r>
              <a:rPr lang="en-US" sz="1150" dirty="0">
                <a:solidFill>
                  <a:srgbClr val="16203B"/>
                </a:solidFill>
                <a:latin typeface="Calibri" pitchFamily="34" charset="0"/>
                <a:ea typeface="Calibri" pitchFamily="34" charset="-122"/>
                <a:cs typeface="Calibri" pitchFamily="34" charset="-120"/>
              </a:rPr>
              <a:t>1 thought in, k out.</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Branching. Nothing new -</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ToT already had it.</a:t>
            </a:r>
            <a:endParaRPr lang="en-US" sz="1150" dirty="0"/>
          </a:p>
        </p:txBody>
      </p:sp>
      <p:sp>
        <p:nvSpPr>
          <p:cNvPr id="16" name="Shape 14"/>
          <p:cNvSpPr/>
          <p:nvPr/>
        </p:nvSpPr>
        <p:spPr>
          <a:xfrm>
            <a:off x="4343400" y="4206240"/>
            <a:ext cx="3429000" cy="1600200"/>
          </a:xfrm>
          <a:prstGeom prst="roundRect">
            <a:avLst>
              <a:gd name="adj" fmla="val 3429"/>
            </a:avLst>
          </a:prstGeom>
          <a:solidFill>
            <a:srgbClr val="FFF4F0"/>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7" name="Shape 15"/>
          <p:cNvSpPr/>
          <p:nvPr/>
        </p:nvSpPr>
        <p:spPr>
          <a:xfrm>
            <a:off x="4599432" y="4434840"/>
            <a:ext cx="384048" cy="384048"/>
          </a:xfrm>
          <a:prstGeom prst="ellipse">
            <a:avLst/>
          </a:prstGeom>
          <a:solidFill>
            <a:srgbClr val="FF7A59"/>
          </a:solidFill>
          <a:ln w="12700">
            <a:solidFill>
              <a:srgbClr val="333333"/>
            </a:solidFill>
            <a:prstDash val="solid"/>
          </a:ln>
        </p:spPr>
      </p:sp>
      <p:sp>
        <p:nvSpPr>
          <p:cNvPr id="18" name="Text 16"/>
          <p:cNvSpPr txBox="1"/>
          <p:nvPr/>
        </p:nvSpPr>
        <p:spPr>
          <a:xfrm>
            <a:off x="4599432" y="4471416"/>
            <a:ext cx="38404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9" name="Text 17"/>
          <p:cNvSpPr txBox="1"/>
          <p:nvPr/>
        </p:nvSpPr>
        <p:spPr>
          <a:xfrm>
            <a:off x="5120640" y="4453128"/>
            <a:ext cx="2468880" cy="292608"/>
          </a:xfrm>
          <a:prstGeom prst="rect">
            <a:avLst/>
          </a:prstGeom>
          <a:noFill/>
          <a:ln/>
        </p:spPr>
        <p:txBody>
          <a:bodyPr wrap="square" lIns="0" tIns="0" rIns="0" bIns="0" rtlCol="0" anchor="ctr"/>
          <a:lstStyle/>
          <a:p>
            <a:pPr indent="0" marL="0">
              <a:buNone/>
            </a:pPr>
            <a:r>
              <a:rPr lang="en-US" sz="1400" b="1" dirty="0">
                <a:solidFill>
                  <a:srgbClr val="FF7A59"/>
                </a:solidFill>
                <a:latin typeface="Calibri" pitchFamily="34" charset="0"/>
                <a:ea typeface="Calibri" pitchFamily="34" charset="-122"/>
                <a:cs typeface="Calibri" pitchFamily="34" charset="-120"/>
              </a:rPr>
              <a:t>Aggregate (k)</a:t>
            </a:r>
            <a:endParaRPr lang="en-US" sz="1400" dirty="0"/>
          </a:p>
        </p:txBody>
      </p:sp>
      <p:sp>
        <p:nvSpPr>
          <p:cNvPr id="20" name="Text 18"/>
          <p:cNvSpPr txBox="1"/>
          <p:nvPr/>
        </p:nvSpPr>
        <p:spPr>
          <a:xfrm>
            <a:off x="4617720" y="4892040"/>
            <a:ext cx="2926080" cy="822960"/>
          </a:xfrm>
          <a:prstGeom prst="rect">
            <a:avLst/>
          </a:prstGeom>
          <a:noFill/>
          <a:ln/>
        </p:spPr>
        <p:txBody>
          <a:bodyPr wrap="square" lIns="0" tIns="0" rIns="0" bIns="0" rtlCol="0" anchor="ctr"/>
          <a:lstStyle/>
          <a:p>
            <a:pPr indent="0" marL="0">
              <a:buNone/>
            </a:pPr>
            <a:r>
              <a:rPr lang="en-US" sz="1150" dirty="0">
                <a:solidFill>
                  <a:srgbClr val="16203B"/>
                </a:solidFill>
                <a:latin typeface="Calibri" pitchFamily="34" charset="0"/>
                <a:ea typeface="Calibri" pitchFamily="34" charset="-122"/>
                <a:cs typeface="Calibri" pitchFamily="34" charset="-120"/>
              </a:rPr>
              <a:t>k thoughts in, 1 out.</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Edge from EVERY input.</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The contribution.</a:t>
            </a:r>
            <a:endParaRPr lang="en-US" sz="1150" dirty="0"/>
          </a:p>
        </p:txBody>
      </p:sp>
      <p:sp>
        <p:nvSpPr>
          <p:cNvPr id="21" name="Shape 19"/>
          <p:cNvSpPr/>
          <p:nvPr/>
        </p:nvSpPr>
        <p:spPr>
          <a:xfrm>
            <a:off x="8001000" y="4206240"/>
            <a:ext cx="3429000" cy="1600200"/>
          </a:xfrm>
          <a:prstGeom prst="roundRect">
            <a:avLst>
              <a:gd name="adj" fmla="val 3429"/>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22" name="Shape 20"/>
          <p:cNvSpPr/>
          <p:nvPr/>
        </p:nvSpPr>
        <p:spPr>
          <a:xfrm>
            <a:off x="8257032" y="4434840"/>
            <a:ext cx="384048" cy="384048"/>
          </a:xfrm>
          <a:prstGeom prst="ellipse">
            <a:avLst/>
          </a:prstGeom>
          <a:solidFill>
            <a:srgbClr val="1C4E80"/>
          </a:solidFill>
          <a:ln w="12700">
            <a:solidFill>
              <a:srgbClr val="333333"/>
            </a:solidFill>
            <a:prstDash val="solid"/>
          </a:ln>
        </p:spPr>
      </p:sp>
      <p:sp>
        <p:nvSpPr>
          <p:cNvPr id="23" name="Text 21"/>
          <p:cNvSpPr txBox="1"/>
          <p:nvPr/>
        </p:nvSpPr>
        <p:spPr>
          <a:xfrm>
            <a:off x="8257032" y="4471416"/>
            <a:ext cx="38404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txBox="1"/>
          <p:nvPr/>
        </p:nvSpPr>
        <p:spPr>
          <a:xfrm>
            <a:off x="8778240" y="4453128"/>
            <a:ext cx="2468880" cy="292608"/>
          </a:xfrm>
          <a:prstGeom prst="rect">
            <a:avLst/>
          </a:prstGeom>
          <a:noFill/>
          <a:ln/>
        </p:spPr>
        <p:txBody>
          <a:bodyPr wrap="square" lIns="0" tIns="0" rIns="0" bIns="0" rtlCol="0" anchor="ctr"/>
          <a:lstStyle/>
          <a:p>
            <a:pPr indent="0" marL="0">
              <a:buNone/>
            </a:pPr>
            <a:r>
              <a:rPr lang="en-US" sz="1400" b="1" dirty="0">
                <a:solidFill>
                  <a:srgbClr val="1C4E80"/>
                </a:solidFill>
                <a:latin typeface="Calibri" pitchFamily="34" charset="0"/>
                <a:ea typeface="Calibri" pitchFamily="34" charset="-122"/>
                <a:cs typeface="Calibri" pitchFamily="34" charset="-120"/>
              </a:rPr>
              <a:t>Improve</a:t>
            </a:r>
            <a:endParaRPr lang="en-US" sz="1400" dirty="0"/>
          </a:p>
        </p:txBody>
      </p:sp>
      <p:sp>
        <p:nvSpPr>
          <p:cNvPr id="25" name="Text 23"/>
          <p:cNvSpPr txBox="1"/>
          <p:nvPr/>
        </p:nvSpPr>
        <p:spPr>
          <a:xfrm>
            <a:off x="8275320" y="4892040"/>
            <a:ext cx="2926080" cy="822960"/>
          </a:xfrm>
          <a:prstGeom prst="rect">
            <a:avLst/>
          </a:prstGeom>
          <a:noFill/>
          <a:ln/>
        </p:spPr>
        <p:txBody>
          <a:bodyPr wrap="square" lIns="0" tIns="0" rIns="0" bIns="0" rtlCol="0" anchor="ctr"/>
          <a:lstStyle/>
          <a:p>
            <a:pPr indent="0" marL="0">
              <a:buNone/>
            </a:pPr>
            <a:r>
              <a:rPr lang="en-US" sz="1150" dirty="0">
                <a:solidFill>
                  <a:srgbClr val="16203B"/>
                </a:solidFill>
                <a:latin typeface="Calibri" pitchFamily="34" charset="0"/>
                <a:ea typeface="Calibri" pitchFamily="34" charset="-122"/>
                <a:cs typeface="Calibri" pitchFamily="34" charset="-120"/>
              </a:rPr>
              <a:t>Refine in place.</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Also impossible in a</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tree - it is a cycle.</a:t>
            </a:r>
            <a:endParaRPr lang="en-US" sz="1150" dirty="0"/>
          </a:p>
        </p:txBody>
      </p:sp>
      <p:sp>
        <p:nvSpPr>
          <p:cNvPr id="26" name="Text 24"/>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Score, KeepBest and GroundTruth create NO nodes - they annotate and filter.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The use case: merge sort, run by an LLM</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Break the task down until each step is inside the model's reliable range</a:t>
            </a:r>
            <a:endParaRPr lang="en-US" sz="1400" dirty="0"/>
          </a:p>
        </p:txBody>
      </p:sp>
      <p:sp>
        <p:nvSpPr>
          <p:cNvPr id="4" name="Shape 2"/>
          <p:cNvSpPr/>
          <p:nvPr/>
        </p:nvSpPr>
        <p:spPr>
          <a:xfrm flipV="1">
            <a:off x="3218688" y="2167128"/>
            <a:ext cx="2377440" cy="777240"/>
          </a:xfrm>
          <a:prstGeom prst="line">
            <a:avLst/>
          </a:prstGeom>
          <a:noFill/>
          <a:ln w="13970">
            <a:solidFill>
              <a:srgbClr val="AEB8CC"/>
            </a:solidFill>
            <a:prstDash val="solid"/>
          </a:ln>
        </p:spPr>
      </p:sp>
      <p:sp>
        <p:nvSpPr>
          <p:cNvPr id="5" name="Shape 3"/>
          <p:cNvSpPr/>
          <p:nvPr/>
        </p:nvSpPr>
        <p:spPr>
          <a:xfrm flipV="1">
            <a:off x="4773168" y="2167128"/>
            <a:ext cx="822960" cy="777240"/>
          </a:xfrm>
          <a:prstGeom prst="line">
            <a:avLst/>
          </a:prstGeom>
          <a:noFill/>
          <a:ln w="13970">
            <a:solidFill>
              <a:srgbClr val="AEB8CC"/>
            </a:solidFill>
            <a:prstDash val="solid"/>
          </a:ln>
        </p:spPr>
      </p:sp>
      <p:sp>
        <p:nvSpPr>
          <p:cNvPr id="6" name="Shape 4"/>
          <p:cNvSpPr/>
          <p:nvPr/>
        </p:nvSpPr>
        <p:spPr>
          <a:xfrm>
            <a:off x="5596128" y="2167128"/>
            <a:ext cx="822960" cy="777240"/>
          </a:xfrm>
          <a:prstGeom prst="line">
            <a:avLst/>
          </a:prstGeom>
          <a:noFill/>
          <a:ln w="13970">
            <a:solidFill>
              <a:srgbClr val="AEB8CC"/>
            </a:solidFill>
            <a:prstDash val="solid"/>
          </a:ln>
        </p:spPr>
      </p:sp>
      <p:sp>
        <p:nvSpPr>
          <p:cNvPr id="7" name="Shape 5"/>
          <p:cNvSpPr/>
          <p:nvPr/>
        </p:nvSpPr>
        <p:spPr>
          <a:xfrm>
            <a:off x="5596128" y="2167128"/>
            <a:ext cx="2377440" cy="777240"/>
          </a:xfrm>
          <a:prstGeom prst="line">
            <a:avLst/>
          </a:prstGeom>
          <a:noFill/>
          <a:ln w="13970">
            <a:solidFill>
              <a:srgbClr val="AEB8CC"/>
            </a:solidFill>
            <a:prstDash val="solid"/>
          </a:ln>
        </p:spPr>
      </p:sp>
      <p:sp>
        <p:nvSpPr>
          <p:cNvPr id="8" name="Shape 6"/>
          <p:cNvSpPr/>
          <p:nvPr/>
        </p:nvSpPr>
        <p:spPr>
          <a:xfrm>
            <a:off x="3218688" y="2944368"/>
            <a:ext cx="777240" cy="777240"/>
          </a:xfrm>
          <a:prstGeom prst="line">
            <a:avLst/>
          </a:prstGeom>
          <a:noFill/>
          <a:ln w="22860">
            <a:solidFill>
              <a:srgbClr val="FF7A59"/>
            </a:solidFill>
            <a:prstDash val="solid"/>
          </a:ln>
        </p:spPr>
      </p:sp>
      <p:sp>
        <p:nvSpPr>
          <p:cNvPr id="9" name="Shape 7"/>
          <p:cNvSpPr/>
          <p:nvPr/>
        </p:nvSpPr>
        <p:spPr>
          <a:xfrm flipV="1">
            <a:off x="3995928" y="2944368"/>
            <a:ext cx="777240" cy="777240"/>
          </a:xfrm>
          <a:prstGeom prst="line">
            <a:avLst/>
          </a:prstGeom>
          <a:noFill/>
          <a:ln w="22860">
            <a:solidFill>
              <a:srgbClr val="FF7A59"/>
            </a:solidFill>
            <a:prstDash val="solid"/>
          </a:ln>
        </p:spPr>
      </p:sp>
      <p:sp>
        <p:nvSpPr>
          <p:cNvPr id="10" name="Shape 8"/>
          <p:cNvSpPr/>
          <p:nvPr/>
        </p:nvSpPr>
        <p:spPr>
          <a:xfrm>
            <a:off x="6419088" y="2944368"/>
            <a:ext cx="777240" cy="777240"/>
          </a:xfrm>
          <a:prstGeom prst="line">
            <a:avLst/>
          </a:prstGeom>
          <a:noFill/>
          <a:ln w="22860">
            <a:solidFill>
              <a:srgbClr val="FF7A59"/>
            </a:solidFill>
            <a:prstDash val="solid"/>
          </a:ln>
        </p:spPr>
      </p:sp>
      <p:sp>
        <p:nvSpPr>
          <p:cNvPr id="11" name="Shape 9"/>
          <p:cNvSpPr/>
          <p:nvPr/>
        </p:nvSpPr>
        <p:spPr>
          <a:xfrm flipV="1">
            <a:off x="7196328" y="2944368"/>
            <a:ext cx="777240" cy="777240"/>
          </a:xfrm>
          <a:prstGeom prst="line">
            <a:avLst/>
          </a:prstGeom>
          <a:noFill/>
          <a:ln w="22860">
            <a:solidFill>
              <a:srgbClr val="FF7A59"/>
            </a:solidFill>
            <a:prstDash val="solid"/>
          </a:ln>
        </p:spPr>
      </p:sp>
      <p:sp>
        <p:nvSpPr>
          <p:cNvPr id="12" name="Shape 10"/>
          <p:cNvSpPr/>
          <p:nvPr/>
        </p:nvSpPr>
        <p:spPr>
          <a:xfrm>
            <a:off x="3995928" y="3721608"/>
            <a:ext cx="1600200" cy="777240"/>
          </a:xfrm>
          <a:prstGeom prst="line">
            <a:avLst/>
          </a:prstGeom>
          <a:noFill/>
          <a:ln w="22860">
            <a:solidFill>
              <a:srgbClr val="FF7A59"/>
            </a:solidFill>
            <a:prstDash val="solid"/>
          </a:ln>
        </p:spPr>
      </p:sp>
      <p:sp>
        <p:nvSpPr>
          <p:cNvPr id="13" name="Shape 11"/>
          <p:cNvSpPr/>
          <p:nvPr/>
        </p:nvSpPr>
        <p:spPr>
          <a:xfrm flipV="1">
            <a:off x="5596128" y="3721608"/>
            <a:ext cx="1600200" cy="777240"/>
          </a:xfrm>
          <a:prstGeom prst="line">
            <a:avLst/>
          </a:prstGeom>
          <a:noFill/>
          <a:ln w="22860">
            <a:solidFill>
              <a:srgbClr val="FF7A59"/>
            </a:solidFill>
            <a:prstDash val="solid"/>
          </a:ln>
        </p:spPr>
      </p:sp>
      <p:sp>
        <p:nvSpPr>
          <p:cNvPr id="14" name="Shape 12"/>
          <p:cNvSpPr/>
          <p:nvPr/>
        </p:nvSpPr>
        <p:spPr>
          <a:xfrm>
            <a:off x="5486400" y="2057400"/>
            <a:ext cx="219456" cy="219456"/>
          </a:xfrm>
          <a:prstGeom prst="ellipse">
            <a:avLst/>
          </a:prstGeom>
          <a:solidFill>
            <a:srgbClr val="00A896"/>
          </a:solidFill>
          <a:ln w="12700">
            <a:solidFill>
              <a:srgbClr val="00A896"/>
            </a:solidFill>
            <a:prstDash val="solid"/>
          </a:ln>
        </p:spPr>
      </p:sp>
      <p:sp>
        <p:nvSpPr>
          <p:cNvPr id="15" name="Shape 13"/>
          <p:cNvSpPr/>
          <p:nvPr/>
        </p:nvSpPr>
        <p:spPr>
          <a:xfrm>
            <a:off x="3108960" y="2834640"/>
            <a:ext cx="219456" cy="219456"/>
          </a:xfrm>
          <a:prstGeom prst="ellipse">
            <a:avLst/>
          </a:prstGeom>
          <a:solidFill>
            <a:srgbClr val="00A896"/>
          </a:solidFill>
          <a:ln w="12700">
            <a:solidFill>
              <a:srgbClr val="00A896"/>
            </a:solidFill>
            <a:prstDash val="solid"/>
          </a:ln>
        </p:spPr>
      </p:sp>
      <p:sp>
        <p:nvSpPr>
          <p:cNvPr id="16" name="Shape 14"/>
          <p:cNvSpPr/>
          <p:nvPr/>
        </p:nvSpPr>
        <p:spPr>
          <a:xfrm>
            <a:off x="4663440" y="2834640"/>
            <a:ext cx="219456" cy="219456"/>
          </a:xfrm>
          <a:prstGeom prst="ellipse">
            <a:avLst/>
          </a:prstGeom>
          <a:solidFill>
            <a:srgbClr val="00A896"/>
          </a:solidFill>
          <a:ln w="12700">
            <a:solidFill>
              <a:srgbClr val="00A896"/>
            </a:solidFill>
            <a:prstDash val="solid"/>
          </a:ln>
        </p:spPr>
      </p:sp>
      <p:sp>
        <p:nvSpPr>
          <p:cNvPr id="17" name="Shape 15"/>
          <p:cNvSpPr/>
          <p:nvPr/>
        </p:nvSpPr>
        <p:spPr>
          <a:xfrm>
            <a:off x="6309360" y="2834640"/>
            <a:ext cx="219456" cy="219456"/>
          </a:xfrm>
          <a:prstGeom prst="ellipse">
            <a:avLst/>
          </a:prstGeom>
          <a:solidFill>
            <a:srgbClr val="00A896"/>
          </a:solidFill>
          <a:ln w="12700">
            <a:solidFill>
              <a:srgbClr val="00A896"/>
            </a:solidFill>
            <a:prstDash val="solid"/>
          </a:ln>
        </p:spPr>
      </p:sp>
      <p:sp>
        <p:nvSpPr>
          <p:cNvPr id="18" name="Shape 16"/>
          <p:cNvSpPr/>
          <p:nvPr/>
        </p:nvSpPr>
        <p:spPr>
          <a:xfrm>
            <a:off x="7863840" y="2834640"/>
            <a:ext cx="219456" cy="219456"/>
          </a:xfrm>
          <a:prstGeom prst="ellipse">
            <a:avLst/>
          </a:prstGeom>
          <a:solidFill>
            <a:srgbClr val="00A896"/>
          </a:solidFill>
          <a:ln w="12700">
            <a:solidFill>
              <a:srgbClr val="00A896"/>
            </a:solidFill>
            <a:prstDash val="solid"/>
          </a:ln>
        </p:spPr>
      </p:sp>
      <p:sp>
        <p:nvSpPr>
          <p:cNvPr id="19" name="Shape 17"/>
          <p:cNvSpPr/>
          <p:nvPr/>
        </p:nvSpPr>
        <p:spPr>
          <a:xfrm>
            <a:off x="3886200" y="3611880"/>
            <a:ext cx="219456" cy="219456"/>
          </a:xfrm>
          <a:prstGeom prst="ellipse">
            <a:avLst/>
          </a:prstGeom>
          <a:solidFill>
            <a:srgbClr val="FF7A59"/>
          </a:solidFill>
          <a:ln w="12700">
            <a:solidFill>
              <a:srgbClr val="FF7A59"/>
            </a:solidFill>
            <a:prstDash val="solid"/>
          </a:ln>
        </p:spPr>
      </p:sp>
      <p:sp>
        <p:nvSpPr>
          <p:cNvPr id="20" name="Shape 18"/>
          <p:cNvSpPr/>
          <p:nvPr/>
        </p:nvSpPr>
        <p:spPr>
          <a:xfrm>
            <a:off x="7086600" y="3611880"/>
            <a:ext cx="219456" cy="219456"/>
          </a:xfrm>
          <a:prstGeom prst="ellipse">
            <a:avLst/>
          </a:prstGeom>
          <a:solidFill>
            <a:srgbClr val="FF7A59"/>
          </a:solidFill>
          <a:ln w="12700">
            <a:solidFill>
              <a:srgbClr val="FF7A59"/>
            </a:solidFill>
            <a:prstDash val="solid"/>
          </a:ln>
        </p:spPr>
      </p:sp>
      <p:sp>
        <p:nvSpPr>
          <p:cNvPr id="21" name="Shape 19"/>
          <p:cNvSpPr/>
          <p:nvPr/>
        </p:nvSpPr>
        <p:spPr>
          <a:xfrm>
            <a:off x="5486400" y="4389120"/>
            <a:ext cx="219456" cy="219456"/>
          </a:xfrm>
          <a:prstGeom prst="ellipse">
            <a:avLst/>
          </a:prstGeom>
          <a:solidFill>
            <a:srgbClr val="FF7A59"/>
          </a:solidFill>
          <a:ln w="12700">
            <a:solidFill>
              <a:srgbClr val="FF7A59"/>
            </a:solidFill>
            <a:prstDash val="solid"/>
          </a:ln>
        </p:spPr>
      </p:sp>
      <p:sp>
        <p:nvSpPr>
          <p:cNvPr id="22" name="Text 20"/>
          <p:cNvSpPr txBox="1"/>
          <p:nvPr/>
        </p:nvSpPr>
        <p:spPr>
          <a:xfrm>
            <a:off x="868680" y="2011680"/>
            <a:ext cx="1920240" cy="274320"/>
          </a:xfrm>
          <a:prstGeom prst="rect">
            <a:avLst/>
          </a:prstGeom>
          <a:noFill/>
          <a:ln/>
        </p:spPr>
        <p:txBody>
          <a:bodyPr wrap="square" lIns="0" tIns="0" rIns="0" bIns="0" rtlCol="0" anchor="ctr"/>
          <a:lstStyle/>
          <a:p>
            <a:pPr algn="r" indent="0" marL="0">
              <a:buNone/>
            </a:pPr>
            <a:r>
              <a:rPr lang="en-US" sz="1150" dirty="0">
                <a:solidFill>
                  <a:srgbClr val="6B7280"/>
                </a:solidFill>
                <a:latin typeface="Calibri" pitchFamily="34" charset="0"/>
                <a:ea typeface="Calibri" pitchFamily="34" charset="-122"/>
                <a:cs typeface="Calibri" pitchFamily="34" charset="-120"/>
              </a:rPr>
              <a:t>64 numbers</a:t>
            </a:r>
            <a:endParaRPr lang="en-US" sz="1150" dirty="0"/>
          </a:p>
        </p:txBody>
      </p:sp>
      <p:sp>
        <p:nvSpPr>
          <p:cNvPr id="23" name="Text 21"/>
          <p:cNvSpPr txBox="1"/>
          <p:nvPr/>
        </p:nvSpPr>
        <p:spPr>
          <a:xfrm>
            <a:off x="868680" y="2788920"/>
            <a:ext cx="1920240" cy="274320"/>
          </a:xfrm>
          <a:prstGeom prst="rect">
            <a:avLst/>
          </a:prstGeom>
          <a:noFill/>
          <a:ln/>
        </p:spPr>
        <p:txBody>
          <a:bodyPr wrap="square" lIns="0" tIns="0" rIns="0" bIns="0" rtlCol="0" anchor="ctr"/>
          <a:lstStyle/>
          <a:p>
            <a:pPr algn="r" indent="0" marL="0">
              <a:buNone/>
            </a:pPr>
            <a:r>
              <a:rPr lang="en-US" sz="1150" dirty="0">
                <a:solidFill>
                  <a:srgbClr val="6B7280"/>
                </a:solidFill>
                <a:latin typeface="Calibri" pitchFamily="34" charset="0"/>
                <a:ea typeface="Calibri" pitchFamily="34" charset="-122"/>
                <a:cs typeface="Calibri" pitchFamily="34" charset="-120"/>
              </a:rPr>
              <a:t>sort 16 each (k=3)</a:t>
            </a:r>
            <a:endParaRPr lang="en-US" sz="1150" dirty="0"/>
          </a:p>
        </p:txBody>
      </p:sp>
      <p:sp>
        <p:nvSpPr>
          <p:cNvPr id="24" name="Text 22"/>
          <p:cNvSpPr txBox="1"/>
          <p:nvPr/>
        </p:nvSpPr>
        <p:spPr>
          <a:xfrm>
            <a:off x="868680" y="3566160"/>
            <a:ext cx="1920240" cy="274320"/>
          </a:xfrm>
          <a:prstGeom prst="rect">
            <a:avLst/>
          </a:prstGeom>
          <a:noFill/>
          <a:ln/>
        </p:spPr>
        <p:txBody>
          <a:bodyPr wrap="square" lIns="0" tIns="0" rIns="0" bIns="0" rtlCol="0" anchor="ctr"/>
          <a:lstStyle/>
          <a:p>
            <a:pPr algn="r" indent="0" marL="0">
              <a:buNone/>
            </a:pPr>
            <a:r>
              <a:rPr lang="en-US" sz="1150" dirty="0">
                <a:solidFill>
                  <a:srgbClr val="FF7A59"/>
                </a:solidFill>
                <a:latin typeface="Calibri" pitchFamily="34" charset="0"/>
                <a:ea typeface="Calibri" pitchFamily="34" charset="-122"/>
                <a:cs typeface="Calibri" pitchFamily="34" charset="-120"/>
              </a:rPr>
              <a:t>merge (k=10)</a:t>
            </a:r>
            <a:endParaRPr lang="en-US" sz="1150" dirty="0"/>
          </a:p>
        </p:txBody>
      </p:sp>
      <p:sp>
        <p:nvSpPr>
          <p:cNvPr id="25" name="Text 23"/>
          <p:cNvSpPr txBox="1"/>
          <p:nvPr/>
        </p:nvSpPr>
        <p:spPr>
          <a:xfrm>
            <a:off x="868680" y="4343400"/>
            <a:ext cx="1920240" cy="274320"/>
          </a:xfrm>
          <a:prstGeom prst="rect">
            <a:avLst/>
          </a:prstGeom>
          <a:noFill/>
          <a:ln/>
        </p:spPr>
        <p:txBody>
          <a:bodyPr wrap="square" lIns="0" tIns="0" rIns="0" bIns="0" rtlCol="0" anchor="ctr"/>
          <a:lstStyle/>
          <a:p>
            <a:pPr algn="r" indent="0" marL="0">
              <a:buNone/>
            </a:pPr>
            <a:r>
              <a:rPr lang="en-US" sz="1150" dirty="0">
                <a:solidFill>
                  <a:srgbClr val="FF7A59"/>
                </a:solidFill>
                <a:latin typeface="Calibri" pitchFamily="34" charset="0"/>
                <a:ea typeface="Calibri" pitchFamily="34" charset="-122"/>
                <a:cs typeface="Calibri" pitchFamily="34" charset="-120"/>
              </a:rPr>
              <a:t>merge - answer</a:t>
            </a:r>
            <a:endParaRPr lang="en-US" sz="1150" dirty="0"/>
          </a:p>
        </p:txBody>
      </p:sp>
      <p:sp>
        <p:nvSpPr>
          <p:cNvPr id="26" name="Text 24"/>
          <p:cNvSpPr txBox="1"/>
          <p:nvPr/>
        </p:nvSpPr>
        <p:spPr>
          <a:xfrm>
            <a:off x="7726680" y="2560320"/>
            <a:ext cx="1463040" cy="237744"/>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fan out</a:t>
            </a:r>
            <a:endParaRPr lang="en-US" sz="1100" dirty="0"/>
          </a:p>
        </p:txBody>
      </p:sp>
      <p:sp>
        <p:nvSpPr>
          <p:cNvPr id="27" name="Text 25"/>
          <p:cNvSpPr txBox="1"/>
          <p:nvPr/>
        </p:nvSpPr>
        <p:spPr>
          <a:xfrm>
            <a:off x="7726680" y="3977640"/>
            <a:ext cx="1463040" cy="237744"/>
          </a:xfrm>
          <a:prstGeom prst="rect">
            <a:avLst/>
          </a:prstGeom>
          <a:noFill/>
          <a:ln/>
        </p:spPr>
        <p:txBody>
          <a:bodyPr wrap="square" lIns="0" tIns="0" rIns="0" bIns="0" rtlCol="0" anchor="ctr"/>
          <a:lstStyle/>
          <a:p>
            <a:pPr indent="0" marL="0">
              <a:buNone/>
            </a:pPr>
            <a:r>
              <a:rPr lang="en-US" sz="1100" b="1" i="1" dirty="0">
                <a:solidFill>
                  <a:srgbClr val="FF7A59"/>
                </a:solidFill>
                <a:latin typeface="Calibri" pitchFamily="34" charset="0"/>
                <a:ea typeface="Calibri" pitchFamily="34" charset="-122"/>
                <a:cs typeface="Calibri" pitchFamily="34" charset="-120"/>
              </a:rPr>
              <a:t>fan back in</a:t>
            </a:r>
            <a:endParaRPr lang="en-US" sz="1100" dirty="0"/>
          </a:p>
        </p:txBody>
      </p:sp>
      <p:sp>
        <p:nvSpPr>
          <p:cNvPr id="28" name="Shape 26"/>
          <p:cNvSpPr/>
          <p:nvPr/>
        </p:nvSpPr>
        <p:spPr>
          <a:xfrm>
            <a:off x="9509760" y="1920240"/>
            <a:ext cx="2011680" cy="1234440"/>
          </a:xfrm>
          <a:prstGeom prst="roundRect">
            <a:avLst>
              <a:gd name="adj" fmla="val 4444"/>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29" name="Text 27"/>
          <p:cNvSpPr txBox="1"/>
          <p:nvPr/>
        </p:nvSpPr>
        <p:spPr>
          <a:xfrm>
            <a:off x="9509760" y="2029968"/>
            <a:ext cx="2011680" cy="566928"/>
          </a:xfrm>
          <a:prstGeom prst="rect">
            <a:avLst/>
          </a:prstGeom>
          <a:noFill/>
          <a:ln/>
        </p:spPr>
        <p:txBody>
          <a:bodyPr wrap="square" lIns="0" tIns="0" rIns="0" bIns="0" rtlCol="0" anchor="ctr"/>
          <a:lstStyle/>
          <a:p>
            <a:pPr algn="ctr" indent="0" marL="0">
              <a:buNone/>
            </a:pPr>
            <a:r>
              <a:rPr lang="en-US" sz="3800" b="1" dirty="0">
                <a:solidFill>
                  <a:srgbClr val="1C4E80"/>
                </a:solidFill>
                <a:latin typeface="Cambria" pitchFamily="34" charset="0"/>
                <a:ea typeface="Cambria" pitchFamily="34" charset="-122"/>
                <a:cs typeface="Cambria" pitchFamily="34" charset="-120"/>
              </a:rPr>
              <a:t>39</a:t>
            </a:r>
            <a:endParaRPr lang="en-US" sz="3800" dirty="0"/>
          </a:p>
        </p:txBody>
      </p:sp>
      <p:sp>
        <p:nvSpPr>
          <p:cNvPr id="30" name="Text 28"/>
          <p:cNvSpPr txBox="1"/>
          <p:nvPr/>
        </p:nvSpPr>
        <p:spPr>
          <a:xfrm>
            <a:off x="9509760" y="2615184"/>
            <a:ext cx="2011680" cy="45720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thoughts per</a:t>
            </a:r>
            <a:endParaRPr lang="en-US" sz="1100" dirty="0"/>
          </a:p>
          <a:p>
            <a:pPr algn="ctr" indent="0" marL="0">
              <a:buNone/>
            </a:pPr>
            <a:r>
              <a:rPr lang="en-US" sz="1100" dirty="0">
                <a:solidFill>
                  <a:srgbClr val="6B7280"/>
                </a:solidFill>
                <a:latin typeface="Calibri" pitchFamily="34" charset="0"/>
                <a:ea typeface="Calibri" pitchFamily="34" charset="-122"/>
                <a:cs typeface="Calibri" pitchFamily="34" charset="-120"/>
              </a:rPr>
              <a:t>instance</a:t>
            </a:r>
            <a:endParaRPr lang="en-US" sz="1100" dirty="0"/>
          </a:p>
        </p:txBody>
      </p:sp>
      <p:sp>
        <p:nvSpPr>
          <p:cNvPr id="31" name="Shape 29"/>
          <p:cNvSpPr/>
          <p:nvPr/>
        </p:nvSpPr>
        <p:spPr>
          <a:xfrm>
            <a:off x="9509760" y="3291840"/>
            <a:ext cx="2011680" cy="1234440"/>
          </a:xfrm>
          <a:prstGeom prst="roundRect">
            <a:avLst>
              <a:gd name="adj" fmla="val 4444"/>
            </a:avLst>
          </a:prstGeom>
          <a:solidFill>
            <a:srgbClr val="FFF4F0"/>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32" name="Text 30"/>
          <p:cNvSpPr txBox="1"/>
          <p:nvPr/>
        </p:nvSpPr>
        <p:spPr>
          <a:xfrm>
            <a:off x="9509760" y="3401568"/>
            <a:ext cx="2011680" cy="566928"/>
          </a:xfrm>
          <a:prstGeom prst="rect">
            <a:avLst/>
          </a:prstGeom>
          <a:noFill/>
          <a:ln/>
        </p:spPr>
        <p:txBody>
          <a:bodyPr wrap="square" lIns="0" tIns="0" rIns="0" bIns="0" rtlCol="0" anchor="ctr"/>
          <a:lstStyle/>
          <a:p>
            <a:pPr algn="ctr" indent="0" marL="0">
              <a:buNone/>
            </a:pPr>
            <a:r>
              <a:rPr lang="en-US" sz="3800" b="1" dirty="0">
                <a:solidFill>
                  <a:srgbClr val="FF7A59"/>
                </a:solidFill>
                <a:latin typeface="Cambria" pitchFamily="34" charset="0"/>
                <a:ea typeface="Cambria" pitchFamily="34" charset="-122"/>
                <a:cs typeface="Cambria" pitchFamily="34" charset="-120"/>
              </a:rPr>
              <a:t>15</a:t>
            </a:r>
            <a:endParaRPr lang="en-US" sz="3800" dirty="0"/>
          </a:p>
        </p:txBody>
      </p:sp>
      <p:sp>
        <p:nvSpPr>
          <p:cNvPr id="33" name="Text 31"/>
          <p:cNvSpPr txBox="1"/>
          <p:nvPr/>
        </p:nvSpPr>
        <p:spPr>
          <a:xfrm>
            <a:off x="9509760" y="3986784"/>
            <a:ext cx="2011680" cy="45720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aggregations</a:t>
            </a:r>
            <a:endParaRPr lang="en-US" sz="1100" dirty="0"/>
          </a:p>
          <a:p>
            <a:pPr algn="ctr" indent="0" marL="0">
              <a:buNone/>
            </a:pPr>
            <a:r>
              <a:rPr lang="en-US" sz="1100" dirty="0">
                <a:solidFill>
                  <a:srgbClr val="6B7280"/>
                </a:solidFill>
                <a:latin typeface="Calibri" pitchFamily="34" charset="0"/>
                <a:ea typeface="Calibri" pitchFamily="34" charset="-122"/>
                <a:cs typeface="Calibri" pitchFamily="34" charset="-120"/>
              </a:rPr>
              <a:t>(ToT has 0)</a:t>
            </a:r>
            <a:endParaRPr lang="en-US" sz="1100" dirty="0"/>
          </a:p>
        </p:txBody>
      </p:sp>
      <p:sp>
        <p:nvSpPr>
          <p:cNvPr id="34" name="Shape 32"/>
          <p:cNvSpPr/>
          <p:nvPr/>
        </p:nvSpPr>
        <p:spPr>
          <a:xfrm>
            <a:off x="685800" y="5257800"/>
            <a:ext cx="10789920" cy="868680"/>
          </a:xfrm>
          <a:prstGeom prst="roundRect">
            <a:avLst>
              <a:gd name="adj" fmla="val 6316"/>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35" name="Text 33"/>
          <p:cNvSpPr txBox="1"/>
          <p:nvPr/>
        </p:nvSpPr>
        <p:spPr>
          <a:xfrm>
            <a:off x="960120" y="5440680"/>
            <a:ext cx="10241280" cy="457200"/>
          </a:xfrm>
          <a:prstGeom prst="rect">
            <a:avLst/>
          </a:prstGeom>
          <a:noFill/>
          <a:ln/>
        </p:spPr>
        <p:txBody>
          <a:bodyPr wrap="square" lIns="0" tIns="0" rIns="0" bIns="0" rtlCol="0" anchor="ctr"/>
          <a:lstStyle/>
          <a:p>
            <a:pPr indent="0" marL="0">
              <a:buNone/>
            </a:pPr>
            <a:r>
              <a:rPr lang="en-US" sz="1400" b="1" dirty="0">
                <a:solidFill>
                  <a:srgbClr val="1C4E80"/>
                </a:solidFill>
                <a:latin typeface="Calibri" pitchFamily="34" charset="0"/>
                <a:ea typeface="Calibri" pitchFamily="34" charset="-122"/>
                <a:cs typeface="Calibri" pitchFamily="34" charset="-120"/>
              </a:rPr>
              <a:t>Sorting 16 numbers is easy. Merging two sorted lists is easy. Sorting 64 from scratch is not. So only ever do the easy two.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Datasets</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All four tasks are synthetic - and the authors ship the exact files they ran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6949440" cy="914400"/>
        </p:xfrm>
        <a:graphic>
          <a:graphicData uri="http://schemas.openxmlformats.org/drawingml/2006/table">
            <a:tbl>
              <a:tblPr/>
              <a:tblGrid>
                <a:gridCol w="1737360"/>
                <a:gridCol w="2514600"/>
                <a:gridCol w="160020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Task</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Rows</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6203B"/>
                          </a:solidFill>
                          <a:latin typeface="Calibri" pitchFamily="34" charset="0"/>
                          <a:ea typeface="Calibri" pitchFamily="34" charset="-122"/>
                          <a:cs typeface="Calibri" pitchFamily="34" charset="-120"/>
                        </a:rPr>
                        <a:t>Sorting</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digits 0-9, with duplicates</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32 / 64 / 128</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r>
              <a:tr h="384048">
                <a:tc>
                  <a:txBody>
                    <a:bodyPr/>
                    <a:lstStyle/>
                    <a:p>
                      <a:pPr algn="l" indent="0" marL="0">
                        <a:buNone/>
                      </a:pPr>
                      <a:r>
                        <a:rPr lang="en-US" sz="1200" b="1" dirty="0">
                          <a:solidFill>
                            <a:srgbClr val="16203B"/>
                          </a:solidFill>
                          <a:latin typeface="Calibri" pitchFamily="34" charset="0"/>
                          <a:ea typeface="Calibri" pitchFamily="34" charset="-122"/>
                          <a:cs typeface="Calibri" pitchFamily="34" charset="-120"/>
                        </a:rPr>
                        <a:t>Set intersection</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two sets, 25-75% overlap</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32 / 64 / 128</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6203B"/>
                          </a:solidFill>
                          <a:latin typeface="Calibri" pitchFamily="34" charset="0"/>
                          <a:ea typeface="Calibri" pitchFamily="34" charset="-122"/>
                          <a:cs typeface="Calibri" pitchFamily="34" charset="-120"/>
                        </a:rPr>
                        <a:t>Keyword counting</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country mentions in text</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4 / 8 / 16 sentences</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r>
              <a:tr h="384048">
                <a:tc>
                  <a:txBody>
                    <a:bodyPr/>
                    <a:lstStyle/>
                    <a:p>
                      <a:pPr algn="l" indent="0" marL="0">
                        <a:buNone/>
                      </a:pPr>
                      <a:r>
                        <a:rPr lang="en-US" sz="1200" b="1" dirty="0">
                          <a:solidFill>
                            <a:srgbClr val="16203B"/>
                          </a:solidFill>
                          <a:latin typeface="Calibri" pitchFamily="34" charset="0"/>
                          <a:ea typeface="Calibri" pitchFamily="34" charset="-122"/>
                          <a:cs typeface="Calibri" pitchFamily="34" charset="-120"/>
                        </a:rPr>
                        <a:t>Document merging</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overlapping NDAs</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4 documents</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C476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r>
            </a:tbl>
          </a:graphicData>
        </a:graphic>
      </p:graphicFrame>
      <p:sp>
        <p:nvSpPr>
          <p:cNvPr id="5" name="Shape 2"/>
          <p:cNvSpPr/>
          <p:nvPr/>
        </p:nvSpPr>
        <p:spPr>
          <a:xfrm>
            <a:off x="685800" y="1783080"/>
            <a:ext cx="6949440" cy="384048"/>
          </a:xfrm>
          <a:prstGeom prst="rect">
            <a:avLst/>
          </a:prstGeom>
          <a:solidFill>
            <a:srgbClr val="1C4E80"/>
          </a:solidFill>
          <a:ln w="12700">
            <a:solidFill>
              <a:srgbClr val="333333"/>
            </a:solidFill>
            <a:prstDash val="solid"/>
          </a:ln>
        </p:spPr>
      </p:sp>
      <p:sp>
        <p:nvSpPr>
          <p:cNvPr id="6" name="Text 3"/>
          <p:cNvSpPr txBox="1"/>
          <p:nvPr/>
        </p:nvSpPr>
        <p:spPr>
          <a:xfrm>
            <a:off x="822960" y="1810512"/>
            <a:ext cx="1645920" cy="32918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Task</a:t>
            </a:r>
            <a:endParaRPr lang="en-US" sz="1200" dirty="0"/>
          </a:p>
        </p:txBody>
      </p:sp>
      <p:sp>
        <p:nvSpPr>
          <p:cNvPr id="7" name="Text 4"/>
          <p:cNvSpPr txBox="1"/>
          <p:nvPr/>
        </p:nvSpPr>
        <p:spPr>
          <a:xfrm>
            <a:off x="2560320" y="1810512"/>
            <a:ext cx="2377440" cy="32918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p>
        </p:txBody>
      </p:sp>
      <p:sp>
        <p:nvSpPr>
          <p:cNvPr id="8" name="Text 5"/>
          <p:cNvSpPr txBox="1"/>
          <p:nvPr/>
        </p:nvSpPr>
        <p:spPr>
          <a:xfrm>
            <a:off x="5074920" y="1810512"/>
            <a:ext cx="1554480" cy="32918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p>
        </p:txBody>
      </p:sp>
      <p:sp>
        <p:nvSpPr>
          <p:cNvPr id="9" name="Text 6"/>
          <p:cNvSpPr txBox="1"/>
          <p:nvPr/>
        </p:nvSpPr>
        <p:spPr>
          <a:xfrm>
            <a:off x="6675120" y="1810512"/>
            <a:ext cx="1005840" cy="32918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Rows</a:t>
            </a:r>
            <a:endParaRPr lang="en-US" sz="1200" dirty="0"/>
          </a:p>
        </p:txBody>
      </p:sp>
      <p:sp>
        <p:nvSpPr>
          <p:cNvPr id="10" name="Text 7"/>
          <p:cNvSpPr txBox="1"/>
          <p:nvPr/>
        </p:nvSpPr>
        <p:spPr>
          <a:xfrm>
            <a:off x="685800" y="3794760"/>
            <a:ext cx="6949440" cy="118872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No public benchmark - ground truth is COMPUTED, not annotated</a:t>
            </a:r>
            <a:endParaRPr lang="en-US" sz="1300" dirty="0"/>
          </a:p>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Randomly generated, so it cannot have leaked into training data</a:t>
            </a:r>
            <a:endParaRPr lang="en-US" sz="1300" dirty="0"/>
          </a:p>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Difficulty is a dial: 32 -&gt; 64 -&gt; 128 elements</a:t>
            </a:r>
            <a:endParaRPr lang="en-US" sz="1300" dirty="0"/>
          </a:p>
        </p:txBody>
      </p:sp>
      <p:sp>
        <p:nvSpPr>
          <p:cNvPr id="11" name="Shape 8"/>
          <p:cNvSpPr/>
          <p:nvPr/>
        </p:nvSpPr>
        <p:spPr>
          <a:xfrm>
            <a:off x="8001000" y="1783080"/>
            <a:ext cx="3474720" cy="2240280"/>
          </a:xfrm>
          <a:prstGeom prst="roundRect">
            <a:avLst>
              <a:gd name="adj" fmla="val 2449"/>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2" name="Text 9"/>
          <p:cNvSpPr txBox="1"/>
          <p:nvPr/>
        </p:nvSpPr>
        <p:spPr>
          <a:xfrm>
            <a:off x="8229600" y="1938528"/>
            <a:ext cx="3017520" cy="274320"/>
          </a:xfrm>
          <a:prstGeom prst="rect">
            <a:avLst/>
          </a:prstGeom>
          <a:noFill/>
          <a:ln/>
        </p:spPr>
        <p:txBody>
          <a:bodyPr wrap="square" lIns="0" tIns="0" rIns="0" bIns="0" rtlCol="0" anchor="ctr"/>
          <a:lstStyle/>
          <a:p>
            <a:pPr indent="0" marL="0">
              <a:buNone/>
            </a:pPr>
            <a:r>
              <a:rPr lang="en-US" sz="1300" b="1" dirty="0">
                <a:solidFill>
                  <a:srgbClr val="1C4E80"/>
                </a:solidFill>
                <a:latin typeface="Calibri" pitchFamily="34" charset="0"/>
                <a:ea typeface="Calibri" pitchFamily="34" charset="-122"/>
                <a:cs typeface="Calibri" pitchFamily="34" charset="-120"/>
              </a:rPr>
              <a:t>What we used</a:t>
            </a:r>
            <a:endParaRPr lang="en-US" sz="1300" dirty="0"/>
          </a:p>
        </p:txBody>
      </p:sp>
      <p:sp>
        <p:nvSpPr>
          <p:cNvPr id="13" name="Text 10"/>
          <p:cNvSpPr txBox="1"/>
          <p:nvPr/>
        </p:nvSpPr>
        <p:spPr>
          <a:xfrm>
            <a:off x="8229600" y="2267712"/>
            <a:ext cx="3063240" cy="548640"/>
          </a:xfrm>
          <a:prstGeom prst="rect">
            <a:avLst/>
          </a:prstGeom>
          <a:noFill/>
          <a:ln/>
        </p:spPr>
        <p:txBody>
          <a:bodyPr wrap="square" lIns="0" tIns="0" rIns="0" bIns="0" rtlCol="0" anchor="ctr"/>
          <a:lstStyle/>
          <a:p>
            <a:pPr indent="0" marL="0">
              <a:buNone/>
            </a:pPr>
            <a:r>
              <a:rPr lang="en-US" sz="1200" dirty="0">
                <a:solidFill>
                  <a:srgbClr val="16203B"/>
                </a:solidFill>
                <a:latin typeface="Calibri" pitchFamily="34" charset="0"/>
                <a:ea typeface="Calibri" pitchFamily="34" charset="-122"/>
                <a:cs typeface="Calibri" pitchFamily="34" charset="-120"/>
              </a:rPr>
              <a:t>The authors' own CSVs, from their GitHub repo, byte for byte:</a:t>
            </a:r>
            <a:endParaRPr lang="en-US" sz="1200" dirty="0"/>
          </a:p>
        </p:txBody>
      </p:sp>
      <p:sp>
        <p:nvSpPr>
          <p:cNvPr id="14" name="Text 11"/>
          <p:cNvSpPr txBox="1"/>
          <p:nvPr/>
        </p:nvSpPr>
        <p:spPr>
          <a:xfrm>
            <a:off x="8229600" y="2852928"/>
            <a:ext cx="3063240" cy="685800"/>
          </a:xfrm>
          <a:prstGeom prst="rect">
            <a:avLst/>
          </a:prstGeom>
          <a:noFill/>
          <a:ln/>
        </p:spPr>
        <p:txBody>
          <a:bodyPr wrap="square" lIns="0" tIns="0" rIns="0" bIns="0" rtlCol="0" anchor="ctr"/>
          <a:lstStyle/>
          <a:p>
            <a:pPr indent="0" marL="0">
              <a:buNone/>
            </a:pPr>
            <a:r>
              <a:rPr lang="en-US" sz="1050" dirty="0">
                <a:solidFill>
                  <a:srgbClr val="1C4E80"/>
                </a:solidFill>
                <a:latin typeface="Courier New" pitchFamily="34" charset="0"/>
                <a:ea typeface="Courier New" pitchFamily="34" charset="-122"/>
                <a:cs typeface="Courier New" pitchFamily="34" charset="-120"/>
              </a:rPr>
              <a:t>data/official/</a:t>
            </a:r>
            <a:endParaRPr lang="en-US" sz="1050" dirty="0"/>
          </a:p>
          <a:p>
            <a:pPr indent="0" marL="0">
              <a:buNone/>
            </a:pPr>
            <a:r>
              <a:rPr lang="en-US" sz="1050" dirty="0">
                <a:solidFill>
                  <a:srgbClr val="1C4E80"/>
                </a:solidFill>
                <a:latin typeface="Courier New" pitchFamily="34" charset="0"/>
                <a:ea typeface="Courier New" pitchFamily="34" charset="-122"/>
                <a:cs typeface="Courier New" pitchFamily="34" charset="-120"/>
              </a:rPr>
              <a:t>  sorting_064.csv</a:t>
            </a:r>
            <a:endParaRPr lang="en-US" sz="1050" dirty="0"/>
          </a:p>
          <a:p>
            <a:pPr indent="0" marL="0">
              <a:buNone/>
            </a:pPr>
            <a:r>
              <a:rPr lang="en-US" sz="1050" dirty="0">
                <a:solidFill>
                  <a:srgbClr val="1C4E80"/>
                </a:solidFill>
                <a:latin typeface="Courier New" pitchFamily="34" charset="0"/>
                <a:ea typeface="Courier New" pitchFamily="34" charset="-122"/>
                <a:cs typeface="Courier New" pitchFamily="34" charset="-120"/>
              </a:rPr>
              <a:t>  set_intersection_032.csv</a:t>
            </a:r>
            <a:endParaRPr lang="en-US" sz="1050" dirty="0"/>
          </a:p>
        </p:txBody>
      </p:sp>
      <p:sp>
        <p:nvSpPr>
          <p:cNvPr id="15" name="Text 12"/>
          <p:cNvSpPr txBox="1"/>
          <p:nvPr/>
        </p:nvSpPr>
        <p:spPr>
          <a:xfrm>
            <a:off x="8229600" y="3584448"/>
            <a:ext cx="3063240" cy="36576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Removes "different random data" as an explanation for any gap.</a:t>
            </a:r>
            <a:endParaRPr lang="en-US" sz="1100" dirty="0"/>
          </a:p>
        </p:txBody>
      </p:sp>
      <p:sp>
        <p:nvSpPr>
          <p:cNvPr id="16" name="Shape 13"/>
          <p:cNvSpPr/>
          <p:nvPr/>
        </p:nvSpPr>
        <p:spPr>
          <a:xfrm>
            <a:off x="8001000" y="4206240"/>
            <a:ext cx="3474720" cy="1691640"/>
          </a:xfrm>
          <a:prstGeom prst="roundRect">
            <a:avLst>
              <a:gd name="adj" fmla="val 3243"/>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7" name="Text 14"/>
          <p:cNvSpPr txBox="1"/>
          <p:nvPr/>
        </p:nvSpPr>
        <p:spPr>
          <a:xfrm>
            <a:off x="8229600" y="4370832"/>
            <a:ext cx="301752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Also reproducible locally</a:t>
            </a:r>
            <a:endParaRPr lang="en-US" sz="1300" dirty="0"/>
          </a:p>
        </p:txBody>
      </p:sp>
      <p:sp>
        <p:nvSpPr>
          <p:cNvPr id="18" name="Text 15"/>
          <p:cNvSpPr txBox="1"/>
          <p:nvPr/>
        </p:nvSpPr>
        <p:spPr>
          <a:xfrm>
            <a:off x="8229600" y="4681728"/>
            <a:ext cx="3063240" cy="274320"/>
          </a:xfrm>
          <a:prstGeom prst="rect">
            <a:avLst/>
          </a:prstGeom>
          <a:noFill/>
          <a:ln/>
        </p:spPr>
        <p:txBody>
          <a:bodyPr wrap="square" lIns="0" tIns="0" rIns="0" bIns="0" rtlCol="0" anchor="ctr"/>
          <a:lstStyle/>
          <a:p>
            <a:pPr indent="0" marL="0">
              <a:buNone/>
            </a:pPr>
            <a:r>
              <a:rPr lang="en-US" sz="1050" dirty="0">
                <a:solidFill>
                  <a:srgbClr val="16203B"/>
                </a:solidFill>
                <a:latin typeface="Courier New" pitchFamily="34" charset="0"/>
                <a:ea typeface="Courier New" pitchFamily="34" charset="-122"/>
                <a:cs typeface="Courier New" pitchFamily="34" charset="-120"/>
              </a:rPr>
              <a:t>generate_data.py --seed 42</a:t>
            </a:r>
            <a:endParaRPr lang="en-US" sz="1050" dirty="0"/>
          </a:p>
        </p:txBody>
      </p:sp>
      <p:sp>
        <p:nvSpPr>
          <p:cNvPr id="19" name="Text 16"/>
          <p:cNvSpPr txBox="1"/>
          <p:nvPr/>
        </p:nvSpPr>
        <p:spPr>
          <a:xfrm>
            <a:off x="8229600" y="5029200"/>
            <a:ext cx="3063240" cy="7315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Same distributions, byte-identical on every machine - so laptop and GPU runs are comparable.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Experimental setup</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The paper used a closed model we cannot query - so we replicate the claims, not the digits</a:t>
            </a:r>
            <a:endParaRPr lang="en-US" sz="1400" dirty="0"/>
          </a:p>
        </p:txBody>
      </p:sp>
      <p:sp>
        <p:nvSpPr>
          <p:cNvPr id="4" name="Shape 2"/>
          <p:cNvSpPr/>
          <p:nvPr/>
        </p:nvSpPr>
        <p:spPr>
          <a:xfrm>
            <a:off x="685800" y="1783080"/>
            <a:ext cx="5257800" cy="2331720"/>
          </a:xfrm>
          <a:prstGeom prst="roundRect">
            <a:avLst>
              <a:gd name="adj" fmla="val 2353"/>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5" name="Text 3"/>
          <p:cNvSpPr txBox="1"/>
          <p:nvPr/>
        </p:nvSpPr>
        <p:spPr>
          <a:xfrm>
            <a:off x="960120" y="1938528"/>
            <a:ext cx="4754880" cy="292608"/>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The paper</a:t>
            </a:r>
            <a:endParaRPr lang="en-US" sz="1500" dirty="0"/>
          </a:p>
        </p:txBody>
      </p:sp>
      <p:sp>
        <p:nvSpPr>
          <p:cNvPr id="6" name="Text 4"/>
          <p:cNvSpPr txBox="1"/>
          <p:nvPr/>
        </p:nvSpPr>
        <p:spPr>
          <a:xfrm>
            <a:off x="960120" y="2331720"/>
            <a:ext cx="4754880" cy="164592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C4761"/>
                </a:solidFill>
                <a:latin typeface="Calibri" pitchFamily="34" charset="0"/>
                <a:ea typeface="Calibri" pitchFamily="34" charset="-122"/>
                <a:cs typeface="Calibri" pitchFamily="34" charset="-120"/>
              </a:rPr>
              <a:t>ChatGPT-3.5, paid API</a:t>
            </a:r>
            <a:endParaRPr lang="en-US" sz="1300" dirty="0"/>
          </a:p>
          <a:p>
            <a:pPr marL="342900" indent="-342900">
              <a:spcAft>
                <a:spcPts val="800"/>
              </a:spcAft>
              <a:buSzPct val="100000"/>
              <a:buChar char="•"/>
            </a:pPr>
            <a:r>
              <a:rPr lang="en-US" sz="1300" dirty="0">
                <a:solidFill>
                  <a:srgbClr val="3C4761"/>
                </a:solidFill>
                <a:latin typeface="Calibri" pitchFamily="34" charset="0"/>
                <a:ea typeface="Calibri" pitchFamily="34" charset="-122"/>
                <a:cs typeface="Calibri" pitchFamily="34" charset="-120"/>
              </a:rPr>
              <a:t>Temperature 1.0, 4k context</a:t>
            </a:r>
            <a:endParaRPr lang="en-US" sz="1300" dirty="0"/>
          </a:p>
          <a:p>
            <a:pPr marL="342900" indent="-342900">
              <a:spcAft>
                <a:spcPts val="800"/>
              </a:spcAft>
              <a:buSzPct val="100000"/>
              <a:buChar char="•"/>
            </a:pPr>
            <a:r>
              <a:rPr lang="en-US" sz="1300" dirty="0">
                <a:solidFill>
                  <a:srgbClr val="3C4761"/>
                </a:solidFill>
                <a:latin typeface="Calibri" pitchFamily="34" charset="0"/>
                <a:ea typeface="Calibri" pitchFamily="34" charset="-122"/>
                <a:cs typeface="Calibri" pitchFamily="34" charset="-120"/>
              </a:rPr>
              <a:t>100 samples per task</a:t>
            </a:r>
            <a:endParaRPr lang="en-US" sz="1300" dirty="0"/>
          </a:p>
          <a:p>
            <a:pPr marL="342900" indent="-342900">
              <a:spcAft>
                <a:spcPts val="800"/>
              </a:spcAft>
              <a:buSzPct val="100000"/>
              <a:buChar char="•"/>
            </a:pPr>
            <a:r>
              <a:rPr lang="en-US" sz="1300" dirty="0">
                <a:solidFill>
                  <a:srgbClr val="3C4761"/>
                </a:solidFill>
                <a:latin typeface="Calibri" pitchFamily="34" charset="0"/>
                <a:ea typeface="Calibri" pitchFamily="34" charset="-122"/>
                <a:cs typeface="Calibri" pitchFamily="34" charset="-120"/>
              </a:rPr>
              <a:t>Llama-2 tried and abandoned - too slow</a:t>
            </a:r>
            <a:endParaRPr lang="en-US" sz="1300" dirty="0"/>
          </a:p>
        </p:txBody>
      </p:sp>
      <p:sp>
        <p:nvSpPr>
          <p:cNvPr id="7" name="Shape 5"/>
          <p:cNvSpPr/>
          <p:nvPr/>
        </p:nvSpPr>
        <p:spPr>
          <a:xfrm>
            <a:off x="6217920" y="1783080"/>
            <a:ext cx="5257800" cy="2331720"/>
          </a:xfrm>
          <a:prstGeom prst="roundRect">
            <a:avLst>
              <a:gd name="adj" fmla="val 2353"/>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8" name="Text 6"/>
          <p:cNvSpPr txBox="1"/>
          <p:nvPr/>
        </p:nvSpPr>
        <p:spPr>
          <a:xfrm>
            <a:off x="6492240" y="1938528"/>
            <a:ext cx="4754880" cy="292608"/>
          </a:xfrm>
          <a:prstGeom prst="rect">
            <a:avLst/>
          </a:prstGeom>
          <a:noFill/>
          <a:ln/>
        </p:spPr>
        <p:txBody>
          <a:bodyPr wrap="square" lIns="0" tIns="0" rIns="0" bIns="0" rtlCol="0" anchor="ctr"/>
          <a:lstStyle/>
          <a:p>
            <a:pPr indent="0" marL="0">
              <a:buNone/>
            </a:pPr>
            <a:r>
              <a:rPr lang="en-US" sz="1500" b="1" dirty="0">
                <a:solidFill>
                  <a:srgbClr val="00A896"/>
                </a:solidFill>
                <a:latin typeface="Calibri" pitchFamily="34" charset="0"/>
                <a:ea typeface="Calibri" pitchFamily="34" charset="-122"/>
                <a:cs typeface="Calibri" pitchFamily="34" charset="-120"/>
              </a:rPr>
              <a:t>This project</a:t>
            </a:r>
            <a:endParaRPr lang="en-US" sz="1500" dirty="0"/>
          </a:p>
        </p:txBody>
      </p:sp>
      <p:sp>
        <p:nvSpPr>
          <p:cNvPr id="9" name="Text 7"/>
          <p:cNvSpPr txBox="1"/>
          <p:nvPr/>
        </p:nvSpPr>
        <p:spPr>
          <a:xfrm>
            <a:off x="6492240" y="2331720"/>
            <a:ext cx="4754880" cy="164592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Qwen2.5-7B-Instruct, open weights</a:t>
            </a:r>
            <a:endParaRPr lang="en-US" sz="1300" dirty="0"/>
          </a:p>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No API keys, no paid services</a:t>
            </a:r>
            <a:endParaRPr lang="en-US" sz="1300" dirty="0"/>
          </a:p>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Same temperature, same 100 samples</a:t>
            </a:r>
            <a:endParaRPr lang="en-US" sz="1300" dirty="0"/>
          </a:p>
          <a:p>
            <a:pPr marL="342900" indent="-342900">
              <a:spcAft>
                <a:spcPts val="800"/>
              </a:spcAft>
              <a:buSzPct val="100000"/>
              <a:buChar char="•"/>
            </a:pPr>
            <a:r>
              <a:rPr lang="en-US" sz="1300" dirty="0">
                <a:solidFill>
                  <a:srgbClr val="16203B"/>
                </a:solidFill>
                <a:latin typeface="Calibri" pitchFamily="34" charset="0"/>
                <a:ea typeface="Calibri" pitchFamily="34" charset="-122"/>
                <a:cs typeface="Calibri" pitchFamily="34" charset="-120"/>
              </a:rPr>
              <a:t>vLLM on an NVIDIA RTX A6000 (48 GB)</a:t>
            </a:r>
            <a:endParaRPr lang="en-US" sz="1300" dirty="0"/>
          </a:p>
        </p:txBody>
      </p:sp>
      <p:sp>
        <p:nvSpPr>
          <p:cNvPr id="10" name="Shape 8"/>
          <p:cNvSpPr/>
          <p:nvPr/>
        </p:nvSpPr>
        <p:spPr>
          <a:xfrm>
            <a:off x="685800" y="4343400"/>
            <a:ext cx="3429000" cy="1508760"/>
          </a:xfrm>
          <a:prstGeom prst="roundRect">
            <a:avLst>
              <a:gd name="adj" fmla="val 3636"/>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1" name="Text 9"/>
          <p:cNvSpPr txBox="1"/>
          <p:nvPr/>
        </p:nvSpPr>
        <p:spPr>
          <a:xfrm>
            <a:off x="914400" y="4498848"/>
            <a:ext cx="914400" cy="685800"/>
          </a:xfrm>
          <a:prstGeom prst="rect">
            <a:avLst/>
          </a:prstGeom>
          <a:noFill/>
          <a:ln/>
        </p:spPr>
        <p:txBody>
          <a:bodyPr wrap="square" lIns="0" tIns="0" rIns="0" bIns="0" rtlCol="0" anchor="ctr"/>
          <a:lstStyle/>
          <a:p>
            <a:pPr indent="0" marL="0">
              <a:buNone/>
            </a:pPr>
            <a:r>
              <a:rPr lang="en-US" sz="4000" b="1" dirty="0">
                <a:solidFill>
                  <a:srgbClr val="1C4E80"/>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1874520" y="4617720"/>
            <a:ext cx="2103120" cy="822960"/>
          </a:xfrm>
          <a:prstGeom prst="rect">
            <a:avLst/>
          </a:prstGeom>
          <a:noFill/>
          <a:ln/>
        </p:spPr>
        <p:txBody>
          <a:bodyPr wrap="square" lIns="0" tIns="0" rIns="0" bIns="0" rtlCol="0" anchor="ctr"/>
          <a:lstStyle/>
          <a:p>
            <a:pPr indent="0" marL="0">
              <a:buNone/>
            </a:pPr>
            <a:r>
              <a:rPr lang="en-US" sz="1150" dirty="0">
                <a:solidFill>
                  <a:srgbClr val="16203B"/>
                </a:solidFill>
                <a:latin typeface="Calibri" pitchFamily="34" charset="0"/>
                <a:ea typeface="Calibri" pitchFamily="34" charset="-122"/>
                <a:cs typeface="Calibri" pitchFamily="34" charset="-120"/>
              </a:rPr>
              <a:t>interchangeable backends</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mock / llama.cpp / HF / vLLM</a:t>
            </a:r>
            <a:endParaRPr lang="en-US" sz="1150" dirty="0"/>
          </a:p>
        </p:txBody>
      </p:sp>
      <p:sp>
        <p:nvSpPr>
          <p:cNvPr id="13" name="Shape 11"/>
          <p:cNvSpPr/>
          <p:nvPr/>
        </p:nvSpPr>
        <p:spPr>
          <a:xfrm>
            <a:off x="4343400" y="4343400"/>
            <a:ext cx="3429000" cy="1508760"/>
          </a:xfrm>
          <a:prstGeom prst="roundRect">
            <a:avLst>
              <a:gd name="adj" fmla="val 3636"/>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4" name="Text 12"/>
          <p:cNvSpPr txBox="1"/>
          <p:nvPr/>
        </p:nvSpPr>
        <p:spPr>
          <a:xfrm>
            <a:off x="4572000" y="4498848"/>
            <a:ext cx="914400" cy="685800"/>
          </a:xfrm>
          <a:prstGeom prst="rect">
            <a:avLst/>
          </a:prstGeom>
          <a:noFill/>
          <a:ln/>
        </p:spPr>
        <p:txBody>
          <a:bodyPr wrap="square" lIns="0" tIns="0" rIns="0" bIns="0" rtlCol="0" anchor="ctr"/>
          <a:lstStyle/>
          <a:p>
            <a:pPr indent="0" marL="0">
              <a:buNone/>
            </a:pPr>
            <a:r>
              <a:rPr lang="en-US" sz="4000" b="1" dirty="0">
                <a:solidFill>
                  <a:srgbClr val="00A896"/>
                </a:solidFill>
                <a:latin typeface="Cambria" pitchFamily="34" charset="0"/>
                <a:ea typeface="Cambria" pitchFamily="34" charset="-122"/>
                <a:cs typeface="Cambria" pitchFamily="34" charset="-120"/>
              </a:rPr>
              <a:t>5</a:t>
            </a:r>
            <a:endParaRPr lang="en-US" sz="4000" dirty="0"/>
          </a:p>
        </p:txBody>
      </p:sp>
      <p:sp>
        <p:nvSpPr>
          <p:cNvPr id="15" name="Text 13"/>
          <p:cNvSpPr txBox="1"/>
          <p:nvPr/>
        </p:nvSpPr>
        <p:spPr>
          <a:xfrm>
            <a:off x="5532120" y="4617720"/>
            <a:ext cx="2103120" cy="822960"/>
          </a:xfrm>
          <a:prstGeom prst="rect">
            <a:avLst/>
          </a:prstGeom>
          <a:noFill/>
          <a:ln/>
        </p:spPr>
        <p:txBody>
          <a:bodyPr wrap="square" lIns="0" tIns="0" rIns="0" bIns="0" rtlCol="0" anchor="ctr"/>
          <a:lstStyle/>
          <a:p>
            <a:pPr indent="0" marL="0">
              <a:buNone/>
            </a:pPr>
            <a:r>
              <a:rPr lang="en-US" sz="1150" dirty="0">
                <a:solidFill>
                  <a:srgbClr val="16203B"/>
                </a:solidFill>
                <a:latin typeface="Calibri" pitchFamily="34" charset="0"/>
                <a:ea typeface="Calibri" pitchFamily="34" charset="-122"/>
                <a:cs typeface="Calibri" pitchFamily="34" charset="-120"/>
              </a:rPr>
              <a:t>schemes on one engine</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IO, CoT, CoT-SC, ToT, GoT</a:t>
            </a:r>
            <a:endParaRPr lang="en-US" sz="1150" dirty="0"/>
          </a:p>
        </p:txBody>
      </p:sp>
      <p:sp>
        <p:nvSpPr>
          <p:cNvPr id="16" name="Shape 14"/>
          <p:cNvSpPr/>
          <p:nvPr/>
        </p:nvSpPr>
        <p:spPr>
          <a:xfrm>
            <a:off x="8001000" y="4343400"/>
            <a:ext cx="3429000" cy="1508760"/>
          </a:xfrm>
          <a:prstGeom prst="roundRect">
            <a:avLst>
              <a:gd name="adj" fmla="val 3636"/>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7" name="Text 15"/>
          <p:cNvSpPr txBox="1"/>
          <p:nvPr/>
        </p:nvSpPr>
        <p:spPr>
          <a:xfrm>
            <a:off x="8229600" y="4498848"/>
            <a:ext cx="914400" cy="685800"/>
          </a:xfrm>
          <a:prstGeom prst="rect">
            <a:avLst/>
          </a:prstGeom>
          <a:noFill/>
          <a:ln/>
        </p:spPr>
        <p:txBody>
          <a:bodyPr wrap="square" lIns="0" tIns="0" rIns="0" bIns="0" rtlCol="0" anchor="ctr"/>
          <a:lstStyle/>
          <a:p>
            <a:pPr indent="0" marL="0">
              <a:buNone/>
            </a:pPr>
            <a:r>
              <a:rPr lang="en-US" sz="4000" b="1" dirty="0">
                <a:solidFill>
                  <a:srgbClr val="FF7A59"/>
                </a:solidFill>
                <a:latin typeface="Cambria" pitchFamily="34" charset="0"/>
                <a:ea typeface="Cambria" pitchFamily="34" charset="-122"/>
                <a:cs typeface="Cambria" pitchFamily="34" charset="-120"/>
              </a:rPr>
              <a:t>60</a:t>
            </a:r>
            <a:endParaRPr lang="en-US" sz="4000" dirty="0"/>
          </a:p>
        </p:txBody>
      </p:sp>
      <p:sp>
        <p:nvSpPr>
          <p:cNvPr id="18" name="Text 16"/>
          <p:cNvSpPr txBox="1"/>
          <p:nvPr/>
        </p:nvSpPr>
        <p:spPr>
          <a:xfrm>
            <a:off x="9189720" y="4617720"/>
            <a:ext cx="2103120" cy="822960"/>
          </a:xfrm>
          <a:prstGeom prst="rect">
            <a:avLst/>
          </a:prstGeom>
          <a:noFill/>
          <a:ln/>
        </p:spPr>
        <p:txBody>
          <a:bodyPr wrap="square" lIns="0" tIns="0" rIns="0" bIns="0" rtlCol="0" anchor="ctr"/>
          <a:lstStyle/>
          <a:p>
            <a:pPr indent="0" marL="0">
              <a:buNone/>
            </a:pPr>
            <a:r>
              <a:rPr lang="en-US" sz="1150" dirty="0">
                <a:solidFill>
                  <a:srgbClr val="16203B"/>
                </a:solidFill>
                <a:latin typeface="Calibri" pitchFamily="34" charset="0"/>
                <a:ea typeface="Calibri" pitchFamily="34" charset="-122"/>
                <a:cs typeface="Calibri" pitchFamily="34" charset="-120"/>
              </a:rPr>
              <a:t>automated tests</a:t>
            </a:r>
            <a:endParaRPr lang="en-US" sz="1150" dirty="0"/>
          </a:p>
          <a:p>
            <a:pPr indent="0" marL="0">
              <a:buNone/>
            </a:pPr>
            <a:r>
              <a:rPr lang="en-US" sz="1150" dirty="0">
                <a:solidFill>
                  <a:srgbClr val="16203B"/>
                </a:solidFill>
                <a:latin typeface="Calibri" pitchFamily="34" charset="0"/>
                <a:ea typeface="Calibri" pitchFamily="34" charset="-122"/>
                <a:cs typeface="Calibri" pitchFamily="34" charset="-120"/>
              </a:rPr>
              <a:t>run before every GPU job</a:t>
            </a:r>
            <a:endParaRPr lang="en-US" sz="1150" dirty="0"/>
          </a:p>
        </p:txBody>
      </p:sp>
      <p:sp>
        <p:nvSpPr>
          <p:cNvPr id="19" name="Text 17"/>
          <p:cNvSpPr txBox="1"/>
          <p:nvPr/>
        </p:nvSpPr>
        <p:spPr>
          <a:xfrm>
            <a:off x="685800" y="6035040"/>
            <a:ext cx="10789920" cy="310896"/>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Because all five schemes share one controller, backend, prompts and scorer, any measured difference is attributable to graph structure alone.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Result 1: the structure claims hold exactly</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Volume and latency are properties of the graph - independent of which model you run</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6766560" cy="914400"/>
        </p:xfrm>
        <a:graphic>
          <a:graphicData uri="http://schemas.openxmlformats.org/drawingml/2006/table">
            <a:tbl>
              <a:tblPr/>
              <a:tblGrid>
                <a:gridCol w="1280160"/>
                <a:gridCol w="1097280"/>
                <a:gridCol w="1097280"/>
                <a:gridCol w="1554480"/>
                <a:gridCol w="1737360"/>
              </a:tblGrid>
              <a:tr h="40233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Scheme</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1C4E80"/>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Volume</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1C4E80"/>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Latency</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1C4E80"/>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Aggregations</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1C4E80"/>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Paper (Table 2)</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1C4E80"/>
                    </a:solidFill>
                  </a:tcPr>
                </a:tc>
              </a:tr>
              <a:tr h="402336">
                <a:tc>
                  <a:txBody>
                    <a:bodyPr/>
                    <a:lstStyle/>
                    <a:p>
                      <a:pPr indent="0" marL="0">
                        <a:buNone/>
                      </a:pPr>
                      <a:r>
                        <a:rPr lang="en-US" sz="1250" b="1" dirty="0">
                          <a:solidFill>
                            <a:srgbClr val="16203B"/>
                          </a:solidFill>
                          <a:latin typeface="Calibri" pitchFamily="34" charset="0"/>
                          <a:ea typeface="Calibri" pitchFamily="34" charset="-122"/>
                          <a:cs typeface="Calibri" pitchFamily="34" charset="-120"/>
                        </a:rPr>
                        <a:t>IO</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1 / 1</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r>
              <a:tr h="402336">
                <a:tc>
                  <a:txBody>
                    <a:bodyPr/>
                    <a:lstStyle/>
                    <a:p>
                      <a:pPr indent="0" marL="0">
                        <a:buNone/>
                      </a:pPr>
                      <a:r>
                        <a:rPr lang="en-US" sz="1250" b="1" dirty="0">
                          <a:solidFill>
                            <a:srgbClr val="16203B"/>
                          </a:solidFill>
                          <a:latin typeface="Calibri" pitchFamily="34" charset="0"/>
                          <a:ea typeface="Calibri" pitchFamily="34" charset="-122"/>
                          <a:cs typeface="Calibri" pitchFamily="34" charset="-120"/>
                        </a:rPr>
                        <a:t>CoT</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N / N</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r>
              <a:tr h="402336">
                <a:tc>
                  <a:txBody>
                    <a:bodyPr/>
                    <a:lstStyle/>
                    <a:p>
                      <a:pPr indent="0" marL="0">
                        <a:buNone/>
                      </a:pPr>
                      <a:r>
                        <a:rPr lang="en-US" sz="1250" b="1" dirty="0">
                          <a:solidFill>
                            <a:srgbClr val="16203B"/>
                          </a:solidFill>
                          <a:latin typeface="Calibri" pitchFamily="34" charset="0"/>
                          <a:ea typeface="Calibri" pitchFamily="34" charset="-122"/>
                          <a:cs typeface="Calibri" pitchFamily="34" charset="-120"/>
                        </a:rPr>
                        <a:t>CoT-SC</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N/k / N/k</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4F7FA"/>
                    </a:solidFill>
                  </a:tcPr>
                </a:tc>
              </a:tr>
              <a:tr h="402336">
                <a:tc>
                  <a:txBody>
                    <a:bodyPr/>
                    <a:lstStyle/>
                    <a:p>
                      <a:pPr indent="0" marL="0">
                        <a:buNone/>
                      </a:pPr>
                      <a:r>
                        <a:rPr lang="en-US" sz="1250" b="1" dirty="0">
                          <a:solidFill>
                            <a:srgbClr val="16203B"/>
                          </a:solidFill>
                          <a:latin typeface="Calibri" pitchFamily="34" charset="0"/>
                          <a:ea typeface="Calibri" pitchFamily="34" charset="-122"/>
                          <a:cs typeface="Calibri" pitchFamily="34" charset="-120"/>
                        </a:rPr>
                        <a:t>ToT</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c>
                  <a:txBody>
                    <a:bodyPr/>
                    <a:lstStyle/>
                    <a:p>
                      <a:pPr indent="0" marL="0">
                        <a:buNone/>
                      </a:pPr>
                      <a:r>
                        <a:rPr lang="en-US" sz="1250" dirty="0">
                          <a:solidFill>
                            <a:srgbClr val="16203B"/>
                          </a:solidFill>
                          <a:latin typeface="Calibri" pitchFamily="34" charset="0"/>
                          <a:ea typeface="Calibri" pitchFamily="34" charset="-122"/>
                          <a:cs typeface="Calibri" pitchFamily="34" charset="-120"/>
                        </a:rPr>
                        <a:t>O(log N) / log N</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FFF"/>
                    </a:solidFill>
                  </a:tcPr>
                </a:tc>
              </a:tr>
              <a:tr h="402336">
                <a:tc>
                  <a:txBody>
                    <a:bodyPr/>
                    <a:lstStyle/>
                    <a:p>
                      <a:pPr indent="0" marL="0">
                        <a:buNone/>
                      </a:pPr>
                      <a:r>
                        <a:rPr lang="en-US" sz="1250" b="1" dirty="0">
                          <a:solidFill>
                            <a:srgbClr val="FF7A59"/>
                          </a:solidFill>
                          <a:latin typeface="Calibri" pitchFamily="34" charset="0"/>
                          <a:ea typeface="Calibri" pitchFamily="34" charset="-122"/>
                          <a:cs typeface="Calibri" pitchFamily="34" charset="-120"/>
                        </a:rPr>
                        <a:t>GoT</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4F0"/>
                    </a:solidFill>
                  </a:tcPr>
                </a:tc>
                <a:tc>
                  <a:txBody>
                    <a:bodyPr/>
                    <a:lstStyle/>
                    <a:p>
                      <a:pPr indent="0" marL="0">
                        <a:buNone/>
                      </a:pPr>
                      <a:r>
                        <a:rPr lang="en-US" sz="1250" b="1" dirty="0">
                          <a:solidFill>
                            <a:srgbClr val="FF7A59"/>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4F0"/>
                    </a:solidFill>
                  </a:tcPr>
                </a:tc>
                <a:tc>
                  <a:txBody>
                    <a:bodyPr/>
                    <a:lstStyle/>
                    <a:p>
                      <a:pPr indent="0" marL="0">
                        <a:buNone/>
                      </a:pPr>
                      <a:r>
                        <a:rPr lang="en-US" sz="1250" b="1" dirty="0">
                          <a:solidFill>
                            <a:srgbClr val="FF7A59"/>
                          </a:solidFill>
                          <a:latin typeface="Calibri" pitchFamily="34" charset="0"/>
                          <a:ea typeface="Calibri" pitchFamily="34" charset="-122"/>
                          <a:cs typeface="Calibri" pitchFamily="34" charset="-120"/>
                        </a:rPr>
                        <a:t>9.0</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4F0"/>
                    </a:solidFill>
                  </a:tcPr>
                </a:tc>
                <a:tc>
                  <a:txBody>
                    <a:bodyPr/>
                    <a:lstStyle/>
                    <a:p>
                      <a:pPr indent="0" marL="0">
                        <a:buNone/>
                      </a:pPr>
                      <a:r>
                        <a:rPr lang="en-US" sz="1250" b="1" dirty="0">
                          <a:solidFill>
                            <a:srgbClr val="FF7A59"/>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4F0"/>
                    </a:solidFill>
                  </a:tcPr>
                </a:tc>
                <a:tc>
                  <a:txBody>
                    <a:bodyPr/>
                    <a:lstStyle/>
                    <a:p>
                      <a:pPr indent="0" marL="0">
                        <a:buNone/>
                      </a:pPr>
                      <a:r>
                        <a:rPr lang="en-US" sz="1250" b="1" dirty="0">
                          <a:solidFill>
                            <a:srgbClr val="FF7A59"/>
                          </a:solidFill>
                          <a:latin typeface="Calibri" pitchFamily="34" charset="0"/>
                          <a:ea typeface="Calibri" pitchFamily="34" charset="-122"/>
                          <a:cs typeface="Calibri" pitchFamily="34" charset="-120"/>
                        </a:rPr>
                        <a:t>N / log N</a:t>
                      </a:r>
                      <a:endParaRPr lang="en-US" sz="1250" dirty="0">
                        <a:latin typeface="Calibri" charset="0"/>
                        <a:ea typeface="Calibri" charset="0"/>
                        <a:cs typeface="Calibri" charset="0"/>
                      </a:endParaRPr>
                    </a:p>
                  </a:txBody>
                  <a:tcPr marL="91440" marR="91440" marT="45720" marB="45720" anchor="ctr">
                    <a:lnL w="12700" cap="flat" cmpd="sng" algn="ctr">
                      <a:solidFill>
                        <a:srgbClr val="E3E9F2"/>
                      </a:solidFill>
                      <a:prstDash val="solid"/>
                      <a:round/>
                      <a:headEnd type="none" w="med" len="med"/>
                      <a:tailEnd type="none" w="med" len="med"/>
                    </a:lnL>
                    <a:lnR w="12700" cap="flat" cmpd="sng" algn="ctr">
                      <a:solidFill>
                        <a:srgbClr val="E3E9F2"/>
                      </a:solidFill>
                      <a:prstDash val="solid"/>
                      <a:round/>
                      <a:headEnd type="none" w="med" len="med"/>
                      <a:tailEnd type="none" w="med" len="med"/>
                    </a:lnR>
                    <a:lnT w="12700" cap="flat" cmpd="sng" algn="ctr">
                      <a:solidFill>
                        <a:srgbClr val="E3E9F2"/>
                      </a:solidFill>
                      <a:prstDash val="solid"/>
                      <a:round/>
                      <a:headEnd type="none" w="med" len="med"/>
                      <a:tailEnd type="none" w="med" len="med"/>
                    </a:lnT>
                    <a:lnB w="12700" cap="flat" cmpd="sng" algn="ctr">
                      <a:solidFill>
                        <a:srgbClr val="E3E9F2"/>
                      </a:solidFill>
                      <a:prstDash val="solid"/>
                      <a:round/>
                      <a:headEnd type="none" w="med" len="med"/>
                      <a:tailEnd type="none" w="med" len="med"/>
                    </a:lnB>
                    <a:solidFill>
                      <a:srgbClr val="FFF4F0"/>
                    </a:solidFill>
                  </a:tcPr>
                </a:tc>
              </a:tr>
            </a:tbl>
          </a:graphicData>
        </a:graphic>
      </p:graphicFrame>
      <p:sp>
        <p:nvSpPr>
          <p:cNvPr id="5" name="Shape 2"/>
          <p:cNvSpPr/>
          <p:nvPr/>
        </p:nvSpPr>
        <p:spPr>
          <a:xfrm>
            <a:off x="7863840" y="1828800"/>
            <a:ext cx="3611880" cy="1371600"/>
          </a:xfrm>
          <a:prstGeom prst="roundRect">
            <a:avLst>
              <a:gd name="adj" fmla="val 4000"/>
            </a:avLst>
          </a:prstGeom>
          <a:solidFill>
            <a:srgbClr val="141B34"/>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6" name="Text 3"/>
          <p:cNvSpPr txBox="1"/>
          <p:nvPr/>
        </p:nvSpPr>
        <p:spPr>
          <a:xfrm>
            <a:off x="7863840" y="1956816"/>
            <a:ext cx="3611880" cy="566928"/>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22 / 22</a:t>
            </a:r>
            <a:endParaRPr lang="en-US" sz="3600" dirty="0"/>
          </a:p>
        </p:txBody>
      </p:sp>
      <p:sp>
        <p:nvSpPr>
          <p:cNvPr id="7" name="Text 4"/>
          <p:cNvSpPr txBox="1"/>
          <p:nvPr/>
        </p:nvSpPr>
        <p:spPr>
          <a:xfrm>
            <a:off x="7863840" y="2542032"/>
            <a:ext cx="3611880" cy="292608"/>
          </a:xfrm>
          <a:prstGeom prst="rect">
            <a:avLst/>
          </a:prstGeom>
          <a:noFill/>
          <a:ln/>
        </p:spPr>
        <p:txBody>
          <a:bodyPr wrap="square" lIns="0" tIns="0" rIns="0" bIns="0" rtlCol="0" anchor="ctr"/>
          <a:lstStyle/>
          <a:p>
            <a:pPr algn="ctr" indent="0" marL="0">
              <a:buNone/>
            </a:pPr>
            <a:r>
              <a:rPr lang="en-US" sz="1200" dirty="0">
                <a:solidFill>
                  <a:srgbClr val="9AA7C7"/>
                </a:solidFill>
                <a:latin typeface="Calibri" pitchFamily="34" charset="0"/>
                <a:ea typeface="Calibri" pitchFamily="34" charset="-122"/>
                <a:cs typeface="Calibri" pitchFamily="34" charset="-120"/>
              </a:rPr>
              <a:t>structural checks passed</a:t>
            </a:r>
            <a:endParaRPr lang="en-US" sz="1200" dirty="0"/>
          </a:p>
        </p:txBody>
      </p:sp>
      <p:sp>
        <p:nvSpPr>
          <p:cNvPr id="8" name="Text 5"/>
          <p:cNvSpPr txBox="1"/>
          <p:nvPr/>
        </p:nvSpPr>
        <p:spPr>
          <a:xfrm>
            <a:off x="7863840" y="2798064"/>
            <a:ext cx="3611880" cy="274320"/>
          </a:xfrm>
          <a:prstGeom prst="rect">
            <a:avLst/>
          </a:prstGeom>
          <a:noFill/>
          <a:ln/>
        </p:spPr>
        <p:txBody>
          <a:bodyPr wrap="square" lIns="0" tIns="0" rIns="0" bIns="0" rtlCol="0" anchor="ctr"/>
          <a:lstStyle/>
          <a:p>
            <a:pPr algn="ctr" indent="0" marL="0">
              <a:buNone/>
            </a:pPr>
            <a:r>
              <a:rPr lang="en-US" sz="1050" dirty="0">
                <a:solidFill>
                  <a:srgbClr val="00A896"/>
                </a:solidFill>
                <a:latin typeface="Calibri" pitchFamily="34" charset="0"/>
                <a:ea typeface="Calibri" pitchFamily="34" charset="-122"/>
                <a:cs typeface="Calibri" pitchFamily="34" charset="-120"/>
              </a:rPr>
              <a:t>verified automatically, on every run</a:t>
            </a:r>
            <a:endParaRPr lang="en-US" sz="1050" dirty="0"/>
          </a:p>
        </p:txBody>
      </p:sp>
      <p:sp>
        <p:nvSpPr>
          <p:cNvPr id="9" name="Shape 6"/>
          <p:cNvSpPr/>
          <p:nvPr/>
        </p:nvSpPr>
        <p:spPr>
          <a:xfrm>
            <a:off x="7863840" y="3383280"/>
            <a:ext cx="3611880" cy="2057400"/>
          </a:xfrm>
          <a:prstGeom prst="roundRect">
            <a:avLst>
              <a:gd name="adj" fmla="val 2667"/>
            </a:avLst>
          </a:prstGeom>
          <a:solidFill>
            <a:srgbClr val="FFF4F0"/>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0" name="Text 7"/>
          <p:cNvSpPr txBox="1"/>
          <p:nvPr/>
        </p:nvSpPr>
        <p:spPr>
          <a:xfrm>
            <a:off x="8092440" y="3547872"/>
            <a:ext cx="3200400" cy="274320"/>
          </a:xfrm>
          <a:prstGeom prst="rect">
            <a:avLst/>
          </a:prstGeom>
          <a:noFill/>
          <a:ln/>
        </p:spPr>
        <p:txBody>
          <a:bodyPr wrap="square" lIns="0" tIns="0" rIns="0" bIns="0" rtlCol="0" anchor="ctr"/>
          <a:lstStyle/>
          <a:p>
            <a:pPr indent="0" marL="0">
              <a:buNone/>
            </a:pPr>
            <a:r>
              <a:rPr lang="en-US" sz="1300" b="1" dirty="0">
                <a:solidFill>
                  <a:srgbClr val="FF7A59"/>
                </a:solidFill>
                <a:latin typeface="Calibri" pitchFamily="34" charset="0"/>
                <a:ea typeface="Calibri" pitchFamily="34" charset="-122"/>
                <a:cs typeface="Calibri" pitchFamily="34" charset="-120"/>
              </a:rPr>
              <a:t>The headline</a:t>
            </a:r>
            <a:endParaRPr lang="en-US" sz="1300" dirty="0"/>
          </a:p>
        </p:txBody>
      </p:sp>
      <p:sp>
        <p:nvSpPr>
          <p:cNvPr id="11" name="Text 8"/>
          <p:cNvSpPr txBox="1"/>
          <p:nvPr/>
        </p:nvSpPr>
        <p:spPr>
          <a:xfrm>
            <a:off x="8092440" y="3877056"/>
            <a:ext cx="3200400" cy="640080"/>
          </a:xfrm>
          <a:prstGeom prst="rect">
            <a:avLst/>
          </a:prstGeom>
          <a:noFill/>
          <a:ln/>
        </p:spPr>
        <p:txBody>
          <a:bodyPr wrap="square" lIns="0" tIns="0" rIns="0" bIns="0" rtlCol="0" anchor="ctr"/>
          <a:lstStyle/>
          <a:p>
            <a:pPr indent="0" marL="0">
              <a:buNone/>
            </a:pPr>
            <a:r>
              <a:rPr lang="en-US" sz="1250" dirty="0">
                <a:solidFill>
                  <a:srgbClr val="16203B"/>
                </a:solidFill>
                <a:latin typeface="Calibri" pitchFamily="34" charset="0"/>
                <a:ea typeface="Calibri" pitchFamily="34" charset="-122"/>
                <a:cs typeface="Calibri" pitchFamily="34" charset="-120"/>
              </a:rPr>
              <a:t>GoT reaches volume 20 at latency 9.</a:t>
            </a:r>
            <a:endParaRPr lang="en-US" sz="1250" dirty="0"/>
          </a:p>
          <a:p>
            <a:pPr indent="0" marL="0">
              <a:buNone/>
            </a:pPr>
            <a:r>
              <a:rPr lang="en-US" sz="1250" dirty="0">
                <a:solidFill>
                  <a:srgbClr val="16203B"/>
                </a:solidFill>
                <a:latin typeface="Calibri" pitchFamily="34" charset="0"/>
                <a:ea typeface="Calibri" pitchFamily="34" charset="-122"/>
                <a:cs typeface="Calibri" pitchFamily="34" charset="-120"/>
              </a:rPr>
              <a:t>ToT reaches volume 6 at latency 6.</a:t>
            </a:r>
            <a:endParaRPr lang="en-US" sz="1250" dirty="0"/>
          </a:p>
        </p:txBody>
      </p:sp>
      <p:sp>
        <p:nvSpPr>
          <p:cNvPr id="12" name="Text 9"/>
          <p:cNvSpPr txBox="1"/>
          <p:nvPr/>
        </p:nvSpPr>
        <p:spPr>
          <a:xfrm>
            <a:off x="8092440" y="4553712"/>
            <a:ext cx="3200400" cy="777240"/>
          </a:xfrm>
          <a:prstGeom prst="rect">
            <a:avLst/>
          </a:prstGeom>
          <a:noFill/>
          <a:ln/>
        </p:spPr>
        <p:txBody>
          <a:bodyPr wrap="square" lIns="0" tIns="0" rIns="0" bIns="0" rtlCol="0" anchor="ctr"/>
          <a:lstStyle/>
          <a:p>
            <a:pPr indent="0" marL="0">
              <a:buNone/>
            </a:pPr>
            <a:r>
              <a:rPr lang="en-US" sz="1200" b="1" dirty="0">
                <a:solidFill>
                  <a:srgbClr val="1C4E80"/>
                </a:solidFill>
                <a:latin typeface="Calibri" pitchFamily="34" charset="0"/>
                <a:ea typeface="Calibri" pitchFamily="34" charset="-122"/>
                <a:cs typeface="Calibri" pitchFamily="34" charset="-120"/>
              </a:rPr>
              <a:t>3x the information reaching the answer, for 1.5x the depth - exactly what Table 2 predicts.</a:t>
            </a:r>
            <a:endParaRPr lang="en-US" sz="1200" dirty="0"/>
          </a:p>
        </p:txBody>
      </p:sp>
      <p:sp>
        <p:nvSpPr>
          <p:cNvPr id="13" name="Text 10"/>
          <p:cNvSpPr txBox="1"/>
          <p:nvPr/>
        </p:nvSpPr>
        <p:spPr>
          <a:xfrm>
            <a:off x="685800" y="5623560"/>
            <a:ext cx="10789920" cy="27432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Volume = how many earlier thoughts could reach the final answer.   Latency = sequential model calls before you can finish.</a:t>
            </a:r>
            <a:endParaRPr lang="en-US" sz="1150" dirty="0"/>
          </a:p>
        </p:txBody>
      </p:sp>
      <p:sp>
        <p:nvSpPr>
          <p:cNvPr id="14" name="Text 11"/>
          <p:cNvSpPr txBox="1"/>
          <p:nvPr/>
        </p:nvSpPr>
        <p:spPr>
          <a:xfrm>
            <a:off x="685800" y="5943600"/>
            <a:ext cx="10789920" cy="292608"/>
          </a:xfrm>
          <a:prstGeom prst="rect">
            <a:avLst/>
          </a:prstGeom>
          <a:noFill/>
          <a:ln/>
        </p:spPr>
        <p:txBody>
          <a:bodyPr wrap="square" lIns="0" tIns="0" rIns="0" bIns="0" rtlCol="0" anchor="ctr"/>
          <a:lstStyle/>
          <a:p>
            <a:pPr indent="0" marL="0">
              <a:buNone/>
            </a:pPr>
            <a:r>
              <a:rPr lang="en-US" sz="1300" b="1" dirty="0">
                <a:solidFill>
                  <a:srgbClr val="16203B"/>
                </a:solidFill>
                <a:latin typeface="Calibri" pitchFamily="34" charset="0"/>
                <a:ea typeface="Calibri" pitchFamily="34" charset="-122"/>
                <a:cs typeface="Calibri" pitchFamily="34" charset="-120"/>
              </a:rPr>
              <a:t>GoT is the ONLY scheme that aggregates - measured, not assumed. Every other scheme reports exactly 0.</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16203B"/>
                </a:solidFill>
                <a:latin typeface="Cambria" pitchFamily="34" charset="0"/>
                <a:ea typeface="Cambria" pitchFamily="34" charset="-122"/>
                <a:cs typeface="Cambria" pitchFamily="34" charset="-120"/>
              </a:rPr>
              <a:t>Result 2: quality on a 7B open model</a:t>
            </a:r>
            <a:endParaRPr lang="en-US" sz="3400" dirty="0"/>
          </a:p>
        </p:txBody>
      </p:sp>
      <p:sp>
        <p:nvSpPr>
          <p:cNvPr id="3" name="Text 1"/>
          <p:cNvSpPr txBox="1"/>
          <p:nvPr/>
        </p:nvSpPr>
        <p:spPr>
          <a:xfrm>
            <a:off x="640080" y="1060704"/>
            <a:ext cx="108813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100 instances, 64-element sorting, the authors' own dataset</a:t>
            </a:r>
            <a:endParaRPr lang="en-US" sz="1400" dirty="0"/>
          </a:p>
        </p:txBody>
      </p:sp>
      <p:graphicFrame>
        <p:nvGraphicFramePr>
          <p:cNvPr id="4" name="Chart 0" descr=""/>
          <p:cNvGraphicFramePr/>
          <p:nvPr/>
        </p:nvGraphicFramePr>
        <p:xfrm>
          <a:off x="685800" y="1783080"/>
          <a:ext cx="594360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49440" y="1783080"/>
            <a:ext cx="4526280" cy="1463040"/>
          </a:xfrm>
          <a:prstGeom prst="roundRect">
            <a:avLst>
              <a:gd name="adj" fmla="val 3750"/>
            </a:avLst>
          </a:prstGeom>
          <a:solidFill>
            <a:srgbClr val="FFF4F0"/>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6" name="Text 3"/>
          <p:cNvSpPr txBox="1"/>
          <p:nvPr/>
        </p:nvSpPr>
        <p:spPr>
          <a:xfrm>
            <a:off x="7178040" y="1938528"/>
            <a:ext cx="4023360" cy="274320"/>
          </a:xfrm>
          <a:prstGeom prst="rect">
            <a:avLst/>
          </a:prstGeom>
          <a:noFill/>
          <a:ln/>
        </p:spPr>
        <p:txBody>
          <a:bodyPr wrap="square" lIns="0" tIns="0" rIns="0" bIns="0" rtlCol="0" anchor="ctr"/>
          <a:lstStyle/>
          <a:p>
            <a:pPr indent="0" marL="0">
              <a:buNone/>
            </a:pPr>
            <a:r>
              <a:rPr lang="en-US" sz="1400" b="1" dirty="0">
                <a:solidFill>
                  <a:srgbClr val="FF7A59"/>
                </a:solidFill>
                <a:latin typeface="Calibri" pitchFamily="34" charset="0"/>
                <a:ea typeface="Calibri" pitchFamily="34" charset="-122"/>
                <a:cs typeface="Calibri" pitchFamily="34" charset="-120"/>
              </a:rPr>
              <a:t>GoT is best</a:t>
            </a:r>
            <a:endParaRPr lang="en-US" sz="1400" dirty="0"/>
          </a:p>
        </p:txBody>
      </p:sp>
      <p:sp>
        <p:nvSpPr>
          <p:cNvPr id="7" name="Text 4"/>
          <p:cNvSpPr txBox="1"/>
          <p:nvPr/>
        </p:nvSpPr>
        <p:spPr>
          <a:xfrm>
            <a:off x="7178040" y="2267712"/>
            <a:ext cx="4023360" cy="914400"/>
          </a:xfrm>
          <a:prstGeom prst="rect">
            <a:avLst/>
          </a:prstGeom>
          <a:noFill/>
          <a:ln/>
        </p:spPr>
        <p:txBody>
          <a:bodyPr wrap="square" lIns="0" tIns="0" rIns="0" bIns="0" rtlCol="0" anchor="ctr"/>
          <a:lstStyle/>
          <a:p>
            <a:pPr indent="0" marL="0">
              <a:buNone/>
            </a:pPr>
            <a:r>
              <a:rPr lang="en-US" sz="1200" dirty="0">
                <a:solidFill>
                  <a:srgbClr val="16203B"/>
                </a:solidFill>
                <a:latin typeface="Calibri" pitchFamily="34" charset="0"/>
                <a:ea typeface="Calibri" pitchFamily="34" charset="-122"/>
                <a:cs typeface="Calibri" pitchFamily="34" charset="-120"/>
              </a:rPr>
              <a:t>Lowest error of all five schemes (8.11), with a 0% parse-failure rate across every scheme - so the pipeline is sound and the numbers mean something.</a:t>
            </a:r>
            <a:endParaRPr lang="en-US" sz="1200" dirty="0"/>
          </a:p>
        </p:txBody>
      </p:sp>
      <p:sp>
        <p:nvSpPr>
          <p:cNvPr id="8" name="Shape 5"/>
          <p:cNvSpPr/>
          <p:nvPr/>
        </p:nvSpPr>
        <p:spPr>
          <a:xfrm>
            <a:off x="6949440" y="3429000"/>
            <a:ext cx="4526280" cy="1234440"/>
          </a:xfrm>
          <a:prstGeom prst="roundRect">
            <a:avLst>
              <a:gd name="adj" fmla="val 4444"/>
            </a:avLst>
          </a:prstGeom>
          <a:solidFill>
            <a:srgbClr val="FFFFFF"/>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9" name="Text 6"/>
          <p:cNvSpPr txBox="1"/>
          <p:nvPr/>
        </p:nvSpPr>
        <p:spPr>
          <a:xfrm>
            <a:off x="7178040" y="3584448"/>
            <a:ext cx="4023360" cy="274320"/>
          </a:xfrm>
          <a:prstGeom prst="rect">
            <a:avLst/>
          </a:prstGeom>
          <a:noFill/>
          <a:ln/>
        </p:spPr>
        <p:txBody>
          <a:bodyPr wrap="square" lIns="0" tIns="0" rIns="0" bIns="0" rtlCol="0" anchor="ctr"/>
          <a:lstStyle/>
          <a:p>
            <a:pPr indent="0" marL="0">
              <a:buNone/>
            </a:pPr>
            <a:r>
              <a:rPr lang="en-US" sz="1400" b="1" dirty="0">
                <a:solidFill>
                  <a:srgbClr val="1C4E80"/>
                </a:solidFill>
                <a:latin typeface="Calibri" pitchFamily="34" charset="0"/>
                <a:ea typeface="Calibri" pitchFamily="34" charset="-122"/>
                <a:cs typeface="Calibri" pitchFamily="34" charset="-120"/>
              </a:rPr>
              <a:t>But no exact solutions</a:t>
            </a:r>
            <a:endParaRPr lang="en-US" sz="1400" dirty="0"/>
          </a:p>
        </p:txBody>
      </p:sp>
      <p:sp>
        <p:nvSpPr>
          <p:cNvPr id="10" name="Text 7"/>
          <p:cNvSpPr txBox="1"/>
          <p:nvPr/>
        </p:nvSpPr>
        <p:spPr>
          <a:xfrm>
            <a:off x="7178040" y="3913632"/>
            <a:ext cx="4023360" cy="685800"/>
          </a:xfrm>
          <a:prstGeom prst="rect">
            <a:avLst/>
          </a:prstGeom>
          <a:noFill/>
          <a:ln/>
        </p:spPr>
        <p:txBody>
          <a:bodyPr wrap="square" lIns="0" tIns="0" rIns="0" bIns="0" rtlCol="0" anchor="ctr"/>
          <a:lstStyle/>
          <a:p>
            <a:pPr indent="0" marL="0">
              <a:buNone/>
            </a:pPr>
            <a:r>
              <a:rPr lang="en-US" sz="1200" dirty="0">
                <a:solidFill>
                  <a:srgbClr val="16203B"/>
                </a:solidFill>
                <a:latin typeface="Calibri" pitchFamily="34" charset="0"/>
                <a:ea typeface="Calibri" pitchFamily="34" charset="-122"/>
                <a:cs typeface="Calibri" pitchFamily="34" charset="-120"/>
              </a:rPr>
              <a:t>0% fully-correct at 64 elements. Expected: chain-of-thought is an emergent ability above ~10B parameters.</a:t>
            </a:r>
            <a:endParaRPr lang="en-US" sz="1200" dirty="0"/>
          </a:p>
        </p:txBody>
      </p:sp>
      <p:sp>
        <p:nvSpPr>
          <p:cNvPr id="11" name="Shape 8"/>
          <p:cNvSpPr/>
          <p:nvPr/>
        </p:nvSpPr>
        <p:spPr>
          <a:xfrm>
            <a:off x="6949440" y="4846320"/>
            <a:ext cx="4526280" cy="1234440"/>
          </a:xfrm>
          <a:prstGeom prst="roundRect">
            <a:avLst>
              <a:gd name="adj" fmla="val 4444"/>
            </a:avLst>
          </a:prstGeom>
          <a:solidFill>
            <a:srgbClr val="F4F7FA"/>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2" name="Text 9"/>
          <p:cNvSpPr txBox="1"/>
          <p:nvPr/>
        </p:nvSpPr>
        <p:spPr>
          <a:xfrm>
            <a:off x="7178040" y="5001768"/>
            <a:ext cx="4023360" cy="27432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Honest gap</a:t>
            </a:r>
            <a:endParaRPr lang="en-US" sz="1400" dirty="0"/>
          </a:p>
        </p:txBody>
      </p:sp>
      <p:sp>
        <p:nvSpPr>
          <p:cNvPr id="13" name="Text 10"/>
          <p:cNvSpPr txBox="1"/>
          <p:nvPr/>
        </p:nvSpPr>
        <p:spPr>
          <a:xfrm>
            <a:off x="7178040" y="5330952"/>
            <a:ext cx="4023360" cy="685800"/>
          </a:xfrm>
          <a:prstGeom prst="rect">
            <a:avLst/>
          </a:prstGeom>
          <a:noFill/>
          <a:ln/>
        </p:spPr>
        <p:txBody>
          <a:bodyPr wrap="square" lIns="0" tIns="0" rIns="0" bIns="0" rtlCol="0" anchor="ctr"/>
          <a:lstStyle/>
          <a:p>
            <a:pPr indent="0" marL="0">
              <a:buNone/>
            </a:pPr>
            <a:r>
              <a:rPr lang="en-US" sz="1200" dirty="0">
                <a:solidFill>
                  <a:srgbClr val="16203B"/>
                </a:solidFill>
                <a:latin typeface="Calibri" pitchFamily="34" charset="0"/>
                <a:ea typeface="Calibri" pitchFamily="34" charset="-122"/>
                <a:cs typeface="Calibri" pitchFamily="34" charset="-120"/>
              </a:rPr>
              <a:t>GoT costs more tokens than our ToT, where the paper reports it costing less - our ToT baseline is leaner than theirs.</a:t>
            </a:r>
            <a:endParaRPr lang="en-US" sz="1200" dirty="0"/>
          </a:p>
        </p:txBody>
      </p:sp>
      <p:sp>
        <p:nvSpPr>
          <p:cNvPr id="14" name="Text 11"/>
          <p:cNvSpPr txBox="1"/>
          <p:nvPr/>
        </p:nvSpPr>
        <p:spPr>
          <a:xfrm>
            <a:off x="685800" y="5166360"/>
            <a:ext cx="5943600" cy="54864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Paper: +62% over ToT on GPT-3.5.  Ours: GoT lowest, on a model 25x smaller that the authors never tested.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34"/>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it stands</a:t>
            </a:r>
            <a:endParaRPr lang="en-US" sz="3400" dirty="0"/>
          </a:p>
        </p:txBody>
      </p:sp>
      <p:sp>
        <p:nvSpPr>
          <p:cNvPr id="3" name="Shape 1"/>
          <p:cNvSpPr/>
          <p:nvPr/>
        </p:nvSpPr>
        <p:spPr>
          <a:xfrm>
            <a:off x="685800" y="1828800"/>
            <a:ext cx="5257800" cy="2331720"/>
          </a:xfrm>
          <a:prstGeom prst="roundRect">
            <a:avLst>
              <a:gd name="adj" fmla="val 2353"/>
            </a:avLst>
          </a:prstGeom>
          <a:solidFill>
            <a:srgbClr val="1C2545"/>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4" name="Text 2"/>
          <p:cNvSpPr txBox="1"/>
          <p:nvPr/>
        </p:nvSpPr>
        <p:spPr>
          <a:xfrm>
            <a:off x="960120" y="1993392"/>
            <a:ext cx="4754880" cy="292608"/>
          </a:xfrm>
          <a:prstGeom prst="rect">
            <a:avLst/>
          </a:prstGeom>
          <a:noFill/>
          <a:ln/>
        </p:spPr>
        <p:txBody>
          <a:bodyPr wrap="square" lIns="0" tIns="0" rIns="0" bIns="0" rtlCol="0" anchor="ctr"/>
          <a:lstStyle/>
          <a:p>
            <a:pPr indent="0" marL="0">
              <a:buNone/>
            </a:pPr>
            <a:r>
              <a:rPr lang="en-US" sz="1500" b="1" dirty="0">
                <a:solidFill>
                  <a:srgbClr val="00A896"/>
                </a:solidFill>
                <a:latin typeface="Calibri" pitchFamily="34" charset="0"/>
                <a:ea typeface="Calibri" pitchFamily="34" charset="-122"/>
                <a:cs typeface="Calibri" pitchFamily="34" charset="-120"/>
              </a:rPr>
              <a:t>Done</a:t>
            </a:r>
            <a:endParaRPr lang="en-US" sz="1500" dirty="0"/>
          </a:p>
        </p:txBody>
      </p:sp>
      <p:sp>
        <p:nvSpPr>
          <p:cNvPr id="5" name="Text 3"/>
          <p:cNvSpPr txBox="1"/>
          <p:nvPr/>
        </p:nvSpPr>
        <p:spPr>
          <a:xfrm>
            <a:off x="960120" y="2377440"/>
            <a:ext cx="4754880" cy="164592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Framework: thoughts, operations, controller, metrics</a:t>
            </a:r>
            <a:endParaRPr lang="en-US" sz="1250" dirty="0"/>
          </a:p>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Sorting + set intersection, all 5 schemes</a:t>
            </a:r>
            <a:endParaRPr lang="en-US" sz="1250" dirty="0"/>
          </a:p>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Structural claims verified - 22/22 checks</a:t>
            </a:r>
            <a:endParaRPr lang="en-US" sz="1250" dirty="0"/>
          </a:p>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Real-model runs on GPU, clean parse rate</a:t>
            </a:r>
            <a:endParaRPr lang="en-US" sz="1250" dirty="0"/>
          </a:p>
        </p:txBody>
      </p:sp>
      <p:sp>
        <p:nvSpPr>
          <p:cNvPr id="6" name="Shape 4"/>
          <p:cNvSpPr/>
          <p:nvPr/>
        </p:nvSpPr>
        <p:spPr>
          <a:xfrm>
            <a:off x="6217920" y="1828800"/>
            <a:ext cx="5257800" cy="2331720"/>
          </a:xfrm>
          <a:prstGeom prst="roundRect">
            <a:avLst>
              <a:gd name="adj" fmla="val 2353"/>
            </a:avLst>
          </a:prstGeom>
          <a:solidFill>
            <a:srgbClr val="1C2545"/>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7" name="Text 5"/>
          <p:cNvSpPr txBox="1"/>
          <p:nvPr/>
        </p:nvSpPr>
        <p:spPr>
          <a:xfrm>
            <a:off x="6492240" y="1993392"/>
            <a:ext cx="4754880" cy="292608"/>
          </a:xfrm>
          <a:prstGeom prst="rect">
            <a:avLst/>
          </a:prstGeom>
          <a:noFill/>
          <a:ln/>
        </p:spPr>
        <p:txBody>
          <a:bodyPr wrap="square" lIns="0" tIns="0" rIns="0" bIns="0" rtlCol="0" anchor="ctr"/>
          <a:lstStyle/>
          <a:p>
            <a:pPr indent="0" marL="0">
              <a:buNone/>
            </a:pPr>
            <a:r>
              <a:rPr lang="en-US" sz="1500" b="1" dirty="0">
                <a:solidFill>
                  <a:srgbClr val="FF7A59"/>
                </a:solidFill>
                <a:latin typeface="Calibri" pitchFamily="34" charset="0"/>
                <a:ea typeface="Calibri" pitchFamily="34" charset="-122"/>
                <a:cs typeface="Calibri" pitchFamily="34" charset="-120"/>
              </a:rPr>
              <a:t>Next</a:t>
            </a:r>
            <a:endParaRPr lang="en-US" sz="1500" dirty="0"/>
          </a:p>
        </p:txBody>
      </p:sp>
      <p:sp>
        <p:nvSpPr>
          <p:cNvPr id="8" name="Text 6"/>
          <p:cNvSpPr txBox="1"/>
          <p:nvPr/>
        </p:nvSpPr>
        <p:spPr>
          <a:xfrm>
            <a:off x="6492240" y="2377440"/>
            <a:ext cx="4754880" cy="164592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Cost-matched ToT configs (the paper's ToT2)</a:t>
            </a:r>
            <a:endParaRPr lang="en-US" sz="1250" dirty="0"/>
          </a:p>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Keyword counting + document merging</a:t>
            </a:r>
            <a:endParaRPr lang="en-US" sz="1250" dirty="0"/>
          </a:p>
          <a:p>
            <a:pPr marL="342900" indent="-342900">
              <a:spcAft>
                <a:spcPts val="800"/>
              </a:spcAft>
              <a:buSzPct val="100000"/>
              <a:buChar char="•"/>
            </a:pPr>
            <a:r>
              <a:rPr lang="en-US" sz="1250" dirty="0">
                <a:solidFill>
                  <a:srgbClr val="D6DDF0"/>
                </a:solidFill>
                <a:latin typeface="Calibri" pitchFamily="34" charset="0"/>
                <a:ea typeface="Calibri" pitchFamily="34" charset="-122"/>
                <a:cs typeface="Calibri" pitchFamily="34" charset="-120"/>
              </a:rPr>
              <a:t>Larger model to test the scale threshold</a:t>
            </a:r>
            <a:endParaRPr lang="en-US" sz="1250" dirty="0"/>
          </a:p>
        </p:txBody>
      </p:sp>
      <p:sp>
        <p:nvSpPr>
          <p:cNvPr id="9" name="Text 7"/>
          <p:cNvSpPr txBox="1"/>
          <p:nvPr/>
        </p:nvSpPr>
        <p:spPr>
          <a:xfrm>
            <a:off x="685800" y="4389120"/>
            <a:ext cx="107899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replication actually taught us</a:t>
            </a:r>
            <a:endParaRPr lang="en-US" sz="1500" dirty="0"/>
          </a:p>
        </p:txBody>
      </p:sp>
      <p:sp>
        <p:nvSpPr>
          <p:cNvPr id="10" name="Shape 8"/>
          <p:cNvSpPr/>
          <p:nvPr/>
        </p:nvSpPr>
        <p:spPr>
          <a:xfrm>
            <a:off x="685800" y="4800600"/>
            <a:ext cx="3429000" cy="1417320"/>
          </a:xfrm>
          <a:prstGeom prst="roundRect">
            <a:avLst>
              <a:gd name="adj" fmla="val 3871"/>
            </a:avLst>
          </a:prstGeom>
          <a:solidFill>
            <a:srgbClr val="1C2545"/>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1" name="Text 9"/>
          <p:cNvSpPr txBox="1"/>
          <p:nvPr/>
        </p:nvSpPr>
        <p:spPr>
          <a:xfrm>
            <a:off x="941832" y="4956048"/>
            <a:ext cx="2926080" cy="274320"/>
          </a:xfrm>
          <a:prstGeom prst="rect">
            <a:avLst/>
          </a:prstGeom>
          <a:noFill/>
          <a:ln/>
        </p:spPr>
        <p:txBody>
          <a:bodyPr wrap="square" lIns="0" tIns="0" rIns="0" bIns="0" rtlCol="0" anchor="ctr"/>
          <a:lstStyle/>
          <a:p>
            <a:pPr indent="0" marL="0">
              <a:buNone/>
            </a:pPr>
            <a:r>
              <a:rPr lang="en-US" sz="1250" b="1" dirty="0">
                <a:solidFill>
                  <a:srgbClr val="00A896"/>
                </a:solidFill>
                <a:latin typeface="Calibri" pitchFamily="34" charset="0"/>
                <a:ea typeface="Calibri" pitchFamily="34" charset="-122"/>
                <a:cs typeface="Calibri" pitchFamily="34" charset="-120"/>
              </a:rPr>
              <a:t>Silent failure is the enemy</a:t>
            </a:r>
            <a:endParaRPr lang="en-US" sz="1250" dirty="0"/>
          </a:p>
        </p:txBody>
      </p:sp>
      <p:sp>
        <p:nvSpPr>
          <p:cNvPr id="12" name="Text 10"/>
          <p:cNvSpPr txBox="1"/>
          <p:nvPr/>
        </p:nvSpPr>
        <p:spPr>
          <a:xfrm>
            <a:off x="941832" y="5266944"/>
            <a:ext cx="2926080" cy="868680"/>
          </a:xfrm>
          <a:prstGeom prst="rect">
            <a:avLst/>
          </a:prstGeom>
          <a:noFill/>
          <a:ln/>
        </p:spPr>
        <p:txBody>
          <a:bodyPr wrap="square" lIns="0" tIns="0" rIns="0" bIns="0" rtlCol="0" anchor="ctr"/>
          <a:lstStyle/>
          <a:p>
            <a:pPr indent="0" marL="0">
              <a:buNone/>
            </a:pPr>
            <a:r>
              <a:rPr lang="en-US" sz="1050" dirty="0">
                <a:solidFill>
                  <a:srgbClr val="AAB5D0"/>
                </a:solidFill>
                <a:latin typeface="Calibri" pitchFamily="34" charset="0"/>
                <a:ea typeface="Calibri" pitchFamily="34" charset="-122"/>
                <a:cs typeface="Calibri" pitchFamily="34" charset="-120"/>
              </a:rPr>
              <a:t>A run reported plausible numbers while the graph had stopped executing. Now guarded by a parse-rate check.</a:t>
            </a:r>
            <a:endParaRPr lang="en-US" sz="1050" dirty="0"/>
          </a:p>
        </p:txBody>
      </p:sp>
      <p:sp>
        <p:nvSpPr>
          <p:cNvPr id="13" name="Shape 11"/>
          <p:cNvSpPr/>
          <p:nvPr/>
        </p:nvSpPr>
        <p:spPr>
          <a:xfrm>
            <a:off x="4343400" y="4800600"/>
            <a:ext cx="3429000" cy="1417320"/>
          </a:xfrm>
          <a:prstGeom prst="roundRect">
            <a:avLst>
              <a:gd name="adj" fmla="val 3871"/>
            </a:avLst>
          </a:prstGeom>
          <a:solidFill>
            <a:srgbClr val="1C2545"/>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4" name="Text 12"/>
          <p:cNvSpPr txBox="1"/>
          <p:nvPr/>
        </p:nvSpPr>
        <p:spPr>
          <a:xfrm>
            <a:off x="4599432" y="4956048"/>
            <a:ext cx="2926080" cy="274320"/>
          </a:xfrm>
          <a:prstGeom prst="rect">
            <a:avLst/>
          </a:prstGeom>
          <a:noFill/>
          <a:ln/>
        </p:spPr>
        <p:txBody>
          <a:bodyPr wrap="square" lIns="0" tIns="0" rIns="0" bIns="0" rtlCol="0" anchor="ctr"/>
          <a:lstStyle/>
          <a:p>
            <a:pPr indent="0" marL="0">
              <a:buNone/>
            </a:pPr>
            <a:r>
              <a:rPr lang="en-US" sz="1250" b="1" dirty="0">
                <a:solidFill>
                  <a:srgbClr val="FF7A59"/>
                </a:solidFill>
                <a:latin typeface="Calibri" pitchFamily="34" charset="0"/>
                <a:ea typeface="Calibri" pitchFamily="34" charset="-122"/>
                <a:cs typeface="Calibri" pitchFamily="34" charset="-120"/>
              </a:rPr>
              <a:t>Audit baselines hardest</a:t>
            </a:r>
            <a:endParaRPr lang="en-US" sz="1250" dirty="0"/>
          </a:p>
        </p:txBody>
      </p:sp>
      <p:sp>
        <p:nvSpPr>
          <p:cNvPr id="15" name="Text 13"/>
          <p:cNvSpPr txBox="1"/>
          <p:nvPr/>
        </p:nvSpPr>
        <p:spPr>
          <a:xfrm>
            <a:off x="4599432" y="5266944"/>
            <a:ext cx="2926080" cy="868680"/>
          </a:xfrm>
          <a:prstGeom prst="rect">
            <a:avLst/>
          </a:prstGeom>
          <a:noFill/>
          <a:ln/>
        </p:spPr>
        <p:txBody>
          <a:bodyPr wrap="square" lIns="0" tIns="0" rIns="0" bIns="0" rtlCol="0" anchor="ctr"/>
          <a:lstStyle/>
          <a:p>
            <a:pPr indent="0" marL="0">
              <a:buNone/>
            </a:pPr>
            <a:r>
              <a:rPr lang="en-US" sz="1050" dirty="0">
                <a:solidFill>
                  <a:srgbClr val="AAB5D0"/>
                </a:solidFill>
                <a:latin typeface="Calibri" pitchFamily="34" charset="0"/>
                <a:ea typeface="Calibri" pitchFamily="34" charset="-122"/>
                <a:cs typeface="Calibri" pitchFamily="34" charset="-120"/>
              </a:rPr>
              <a:t>Our ToT could not reject a bad rewrite - inflating GoT's margin in our favour.</a:t>
            </a:r>
            <a:endParaRPr lang="en-US" sz="1050" dirty="0"/>
          </a:p>
        </p:txBody>
      </p:sp>
      <p:sp>
        <p:nvSpPr>
          <p:cNvPr id="16" name="Shape 14"/>
          <p:cNvSpPr/>
          <p:nvPr/>
        </p:nvSpPr>
        <p:spPr>
          <a:xfrm>
            <a:off x="8001000" y="4800600"/>
            <a:ext cx="3429000" cy="1417320"/>
          </a:xfrm>
          <a:prstGeom prst="roundRect">
            <a:avLst>
              <a:gd name="adj" fmla="val 3871"/>
            </a:avLst>
          </a:prstGeom>
          <a:solidFill>
            <a:srgbClr val="1C2545"/>
          </a:solidFill>
          <a:ln w="12700">
            <a:solidFill>
              <a:srgbClr val="DDE4EE"/>
            </a:solidFill>
            <a:prstDash val="solid"/>
          </a:ln>
          <a:effectLst>
            <a:outerShdw sx="100000" sy="100000" kx="0" ky="0" algn="bl" rotWithShape="0" blurRad="101600" dist="12700" dir="5400000">
              <a:srgbClr val="8895AD">
                <a:alpha val="18000"/>
              </a:srgbClr>
            </a:outerShdw>
          </a:effectLst>
        </p:spPr>
      </p:sp>
      <p:sp>
        <p:nvSpPr>
          <p:cNvPr id="17" name="Text 15"/>
          <p:cNvSpPr txBox="1"/>
          <p:nvPr/>
        </p:nvSpPr>
        <p:spPr>
          <a:xfrm>
            <a:off x="8257032" y="4956048"/>
            <a:ext cx="2926080" cy="274320"/>
          </a:xfrm>
          <a:prstGeom prst="rect">
            <a:avLst/>
          </a:prstGeom>
          <a:noFill/>
          <a:ln/>
        </p:spPr>
        <p:txBody>
          <a:bodyPr wrap="square" lIns="0" tIns="0" rIns="0" bIns="0" rtlCol="0" anchor="ctr"/>
          <a:lstStyle/>
          <a:p>
            <a:pPr indent="0" marL="0">
              <a:buNone/>
            </a:pPr>
            <a:r>
              <a:rPr lang="en-US" sz="1250" b="1" dirty="0">
                <a:solidFill>
                  <a:srgbClr val="00A896"/>
                </a:solidFill>
                <a:latin typeface="Calibri" pitchFamily="34" charset="0"/>
                <a:ea typeface="Calibri" pitchFamily="34" charset="-122"/>
                <a:cs typeface="Calibri" pitchFamily="34" charset="-120"/>
              </a:rPr>
              <a:t>Selection, not just compute</a:t>
            </a:r>
            <a:endParaRPr lang="en-US" sz="1250" dirty="0"/>
          </a:p>
        </p:txBody>
      </p:sp>
      <p:sp>
        <p:nvSpPr>
          <p:cNvPr id="18" name="Text 16"/>
          <p:cNvSpPr txBox="1"/>
          <p:nvPr/>
        </p:nvSpPr>
        <p:spPr>
          <a:xfrm>
            <a:off x="8257032" y="5266944"/>
            <a:ext cx="2926080" cy="868680"/>
          </a:xfrm>
          <a:prstGeom prst="rect">
            <a:avLst/>
          </a:prstGeom>
          <a:noFill/>
          <a:ln/>
        </p:spPr>
        <p:txBody>
          <a:bodyPr wrap="square" lIns="0" tIns="0" rIns="0" bIns="0" rtlCol="0" anchor="ctr"/>
          <a:lstStyle/>
          <a:p>
            <a:pPr indent="0" marL="0">
              <a:buNone/>
            </a:pPr>
            <a:r>
              <a:rPr lang="en-US" sz="1050" dirty="0">
                <a:solidFill>
                  <a:srgbClr val="AAB5D0"/>
                </a:solidFill>
                <a:latin typeface="Calibri" pitchFamily="34" charset="0"/>
                <a:ea typeface="Calibri" pitchFamily="34" charset="-122"/>
                <a:cs typeface="Calibri" pitchFamily="34" charset="-120"/>
              </a:rPr>
              <a:t>CoT scores worse than no reasoning at all. Extra computation without a way to reject bad results is harmful.</a:t>
            </a:r>
            <a:endParaRPr lang="en-US" sz="1050" dirty="0"/>
          </a:p>
        </p:txBody>
      </p:sp>
      <p:sp>
        <p:nvSpPr>
          <p:cNvPr id="19" name="Text 17"/>
          <p:cNvSpPr txBox="1"/>
          <p:nvPr/>
        </p:nvSpPr>
        <p:spPr>
          <a:xfrm>
            <a:off x="685800" y="6355080"/>
            <a:ext cx="10789920" cy="274320"/>
          </a:xfrm>
          <a:prstGeom prst="rect">
            <a:avLst/>
          </a:prstGeom>
          <a:noFill/>
          <a:ln/>
        </p:spPr>
        <p:txBody>
          <a:bodyPr wrap="square" lIns="0" tIns="0" rIns="0" bIns="0" rtlCol="0" anchor="ctr"/>
          <a:lstStyle/>
          <a:p>
            <a:pPr indent="0" marL="0">
              <a:buNone/>
            </a:pPr>
            <a:r>
              <a:rPr lang="en-US" sz="1100" dirty="0">
                <a:solidFill>
                  <a:srgbClr val="6B7799"/>
                </a:solidFill>
                <a:latin typeface="Calibri" pitchFamily="34" charset="0"/>
                <a:ea typeface="Calibri" pitchFamily="34" charset="-122"/>
                <a:cs typeface="Calibri" pitchFamily="34" charset="-120"/>
              </a:rPr>
              <a:t>github.com/TREX4096/Graph_of_Thought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of Thoughts - Replication</dc:title>
  <dc:subject>PptxGenJS Presentation</dc:subject>
  <dc:creator>B.Tech Project</dc:creator>
  <cp:lastModifiedBy>B.Tech Project</cp:lastModifiedBy>
  <cp:revision>1</cp:revision>
  <dcterms:created xsi:type="dcterms:W3CDTF">2026-09-25T06:09:30Z</dcterms:created>
  <dcterms:modified xsi:type="dcterms:W3CDTF">2026-09-25T06:09:30Z</dcterms:modified>
</cp:coreProperties>
</file>
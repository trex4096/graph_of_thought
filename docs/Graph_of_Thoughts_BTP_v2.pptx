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1A38"/>
                </a:solidFill>
                <a:latin typeface="Calibri"/>
              </a:defRPr>
            </a:pPr>
            <a:r>
              <a:rPr sz="1300" b="0" i="0" u="none" strike="noStrike">
                <a:solidFill>
                  <a:srgbClr val="1F1A38"/>
                </a:solidFill>
                <a:latin typeface="Calibri"/>
              </a:rPr>
              <a:t>Mean error scope (lower is better)</a:t>
            </a:r>
          </a:p>
        </c:rich>
      </c:tx>
      <c:layout/>
      <c:overlay val="0"/>
    </c:title>
    <c:autoTitleDeleted val="0"/>
    <c:plotArea>
      <c:layout/>
      <c:barChart>
        <c:barDir val="col"/>
        <c:grouping val="clustered"/>
        <c:varyColors val="0"/>
        <c:ser>
          <c:idx val="0"/>
          <c:order val="0"/>
          <c:tx>
            <c:strRef>
              <c:f>Sheet1!$B$1</c:f>
              <c:strCache>
                <c:ptCount val="1"/>
                <c:pt idx="0">
                  <c:v>Error scope</c:v>
                </c:pt>
              </c:strCache>
            </c:strRef>
          </c:tx>
          <c:spPr>
            <a:solidFill>
              <a:srgbClr val="6D4AFF"/>
            </a:solidFill>
            <a:effectLst/>
          </c:spPr>
          <c:invertIfNegative val="0"/>
          <c:dLbls>
            <c:numFmt formatCode="0.00" sourceLinked="0"/>
            <c:txPr>
              <a:bodyPr/>
              <a:lstStyle/>
              <a:p>
                <a:pPr>
                  <a:defRPr b="0" i="0" strike="noStrike" sz="1100" u="none">
                    <a:solidFill>
                      <a:srgbClr val="1F1A38"/>
                    </a:solidFill>
                    <a:latin typeface="Arial"/>
                  </a:defRPr>
                </a:pPr>
              </a:p>
            </c:txPr>
            <c:showLegendKey val="0"/>
            <c:showVal val="1"/>
            <c:showCatName val="0"/>
            <c:showSerName val="0"/>
            <c:showPercent val="0"/>
            <c:showBubbleSize val="0"/>
            <c:showLeaderLines val="0"/>
          </c:dLbls>
          <c:dPt>
            <c:idx val="0"/>
            <c:invertIfNegative val="0"/>
            <c:bubble3D val="0"/>
            <c:spPr>
              <a:solidFill>
                <a:srgbClr val="6D4AFF"/>
              </a:solidFill>
              <a:effectLst/>
            </c:spPr>
          </c:dPt>
          <c:dPt>
            <c:idx val="1"/>
            <c:invertIfNegative val="0"/>
            <c:bubble3D val="0"/>
            <c:spPr>
              <a:solidFill>
                <a:srgbClr val="6D4AFF"/>
              </a:solidFill>
              <a:effectLst/>
            </c:spPr>
          </c:dPt>
          <c:dPt>
            <c:idx val="2"/>
            <c:invertIfNegative val="0"/>
            <c:bubble3D val="0"/>
            <c:spPr>
              <a:solidFill>
                <a:srgbClr val="6D4AFF"/>
              </a:solidFill>
              <a:effectLst/>
            </c:spPr>
          </c:dPt>
          <c:dPt>
            <c:idx val="3"/>
            <c:invertIfNegative val="0"/>
            <c:bubble3D val="0"/>
            <c:spPr>
              <a:solidFill>
                <a:srgbClr val="6D4AFF"/>
              </a:solidFill>
              <a:effectLst/>
            </c:spPr>
          </c:dPt>
          <c:dPt>
            <c:idx val="4"/>
            <c:invertIfNegative val="0"/>
            <c:bubble3D val="0"/>
            <c:spPr>
              <a:solidFill>
                <a:srgbClr val="FFB627"/>
              </a:solidFill>
              <a:effectLst/>
            </c:spPr>
          </c:dPt>
          <c:cat>
            <c:multiLvlStrRef>
              <c:f>Sheet1!$A$2:$A$6</c:f>
              <c:multiLvlStrCache>
                <c:ptCount val="5"/>
                <c:lvl>
                  <c:pt idx="0">
                    <c:v>IO</c:v>
                  </c:pt>
                  <c:pt idx="1">
                    <c:v>CoT</c:v>
                  </c:pt>
                  <c:pt idx="2">
                    <c:v>CoT-SC</c:v>
                  </c:pt>
                  <c:pt idx="3">
                    <c:v>ToT</c:v>
                  </c:pt>
                  <c:pt idx="4">
                    <c:v>GoT</c:v>
                  </c:pt>
                </c:lvl>
              </c:multiLvlStrCache>
            </c:multiLvlStrRef>
          </c:cat>
          <c:val>
            <c:numRef>
              <c:f>Sheet1!$B$2:$B$6</c:f>
              <c:numCache>
                <c:formatCode>General</c:formatCode>
                <c:ptCount val="5"/>
                <c:pt idx="0">
                  <c:v>9.83</c:v>
                </c:pt>
                <c:pt idx="1">
                  <c:v>10.34</c:v>
                </c:pt>
                <c:pt idx="2">
                  <c:v>8.17</c:v>
                </c:pt>
                <c:pt idx="3">
                  <c:v>9.87</c:v>
                </c:pt>
                <c:pt idx="4">
                  <c:v>8.11</c:v>
                </c:pt>
              </c:numCache>
            </c:numRef>
          </c:val>
        </c:ser>
        <c:dLbls>
          <c:numFmt formatCode="0.00" sourceLinked="0"/>
          <c:txPr>
            <a:bodyPr/>
            <a:lstStyle/>
            <a:p>
              <a:pPr>
                <a:defRPr b="0" i="0" strike="noStrike" sz="1100" u="none">
                  <a:solidFill>
                    <a:srgbClr val="1F1A3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E6A85"/>
                </a:solidFill>
                <a:latin typeface="Arial"/>
              </a:defRPr>
            </a:pPr>
            <a:endParaRPr lang="en-US"/>
          </a:p>
        </c:txPr>
        <c:crossAx val="2094734552"/>
        <c:crosses val="autoZero"/>
        <c:auto val="1"/>
        <c:lblAlgn val="ctr"/>
        <c:noMultiLvlLbl val="1"/>
      </c:catAx>
      <c:valAx>
        <c:axId val="2094734552"/>
        <c:scaling>
          <c:orientation val="minMax"/>
          <c:max val="12"/>
        </c:scaling>
        <c:delete val="0"/>
        <c:axPos val="l"/>
        <c:majorGridlines>
          <c:spPr>
            <a:ln w="12700" cap="flat">
              <a:solidFill>
                <a:srgbClr val="EFEBF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A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framing: reasoning graphs make language models more accurate but far more expensive. We want to shrink the graph without destroying the causal structure that makes it work. Step one was reproducing the baseline faithfully.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Sorting is chosen because it needs no world knowledge. Any improvement is attributable to reasoning structure, not recall.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scheme fixes a limitation of the previous one. CoT-SC samples several chains but they never exchange information. ToT can branch and backtrack but never merge. GoT allows merging, which is what a tree structurally cannot express.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line is the one that matters for our method. Edges are causal dependencies, not loose associations - which is exactly what a coarsening procedure has to preserve.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here is an exact Python function - count inversions, compare digit frequencies - so it is free and never wrong. That matters later: it gives us a reliable signal for deciding which parts of the graph are worth keeping.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Synthetic data is a deliberate strength. With a public benchmark you could never separate improved reasoning from memorised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line is the experimental design. One engine, five graph shapes - that is what isolates structure as the independent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is the quantity our compression must preserve. It measures how much of the computed work can actually influence the answer. A tree wastes nearly all of it; GoT's merges pull every branch back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margin over ToT is being re-measured: we found our own ToT baseline could not reject a refinement that worsened the answer, which inflated GoT's advantage. Fixed, rerunning. The ordering is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turns the replication into a motivation. We reproduced the quality result; we also measured exactly how expensive that quality is. Fifteen times the cost of direct prompting is what makes GoT impractical, and that gap is our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naive baseline is real data we measured, not a straw man. The point is that cost and quality are coupled under uniform pruning. Coarsening asks a different question: which vertices can be merged or dropped without breaking the causal paths that carry information to the answer? Volume is the quantity to preserve; token count is the quantity to reduce.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column is the lineage we replicated. The right column is the toolkit we intend to borrow from. The gap statement is the contribution claim: spectral coarsening assumes edges encode similarity, whereas in a reasoning graph an edge means one thought was literally the input that produced another - so the guarantees have to be restated in terms of reachability to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0E33"/>
        </a:solidFill>
      </p:bgPr>
    </p:bg>
    <p:spTree>
      <p:nvGrpSpPr>
        <p:cNvPr id="1" name=""/>
        <p:cNvGrpSpPr/>
        <p:nvPr/>
      </p:nvGrpSpPr>
      <p:grpSpPr>
        <a:xfrm>
          <a:off x="0" y="0"/>
          <a:ext cx="0" cy="0"/>
          <a:chOff x="0" y="0"/>
          <a:chExt cx="0" cy="0"/>
        </a:xfrm>
      </p:grpSpPr>
      <p:sp>
        <p:nvSpPr>
          <p:cNvPr id="2" name="Shape 0"/>
          <p:cNvSpPr/>
          <p:nvPr/>
        </p:nvSpPr>
        <p:spPr>
          <a:xfrm flipV="1">
            <a:off x="8641080" y="1874520"/>
            <a:ext cx="731520" cy="731520"/>
          </a:xfrm>
          <a:prstGeom prst="line">
            <a:avLst/>
          </a:prstGeom>
          <a:noFill/>
          <a:ln w="9525">
            <a:solidFill>
              <a:srgbClr val="3A2F6F"/>
            </a:solidFill>
            <a:prstDash val="solid"/>
          </a:ln>
        </p:spPr>
      </p:sp>
      <p:sp>
        <p:nvSpPr>
          <p:cNvPr id="3" name="Shape 1"/>
          <p:cNvSpPr/>
          <p:nvPr/>
        </p:nvSpPr>
        <p:spPr>
          <a:xfrm>
            <a:off x="9372600" y="1874520"/>
            <a:ext cx="731520" cy="731520"/>
          </a:xfrm>
          <a:prstGeom prst="line">
            <a:avLst/>
          </a:prstGeom>
          <a:noFill/>
          <a:ln w="9525">
            <a:solidFill>
              <a:srgbClr val="3A2F6F"/>
            </a:solidFill>
            <a:prstDash val="solid"/>
          </a:ln>
        </p:spPr>
      </p:sp>
      <p:sp>
        <p:nvSpPr>
          <p:cNvPr id="4" name="Shape 2"/>
          <p:cNvSpPr/>
          <p:nvPr/>
        </p:nvSpPr>
        <p:spPr>
          <a:xfrm>
            <a:off x="8641080" y="2606040"/>
            <a:ext cx="1463040" cy="0"/>
          </a:xfrm>
          <a:prstGeom prst="line">
            <a:avLst/>
          </a:prstGeom>
          <a:noFill/>
          <a:ln w="9525">
            <a:solidFill>
              <a:srgbClr val="3A2F6F"/>
            </a:solidFill>
            <a:prstDash val="solid"/>
          </a:ln>
        </p:spPr>
      </p:sp>
      <p:sp>
        <p:nvSpPr>
          <p:cNvPr id="5" name="Shape 3"/>
          <p:cNvSpPr/>
          <p:nvPr/>
        </p:nvSpPr>
        <p:spPr>
          <a:xfrm flipV="1">
            <a:off x="8275320" y="2606040"/>
            <a:ext cx="365760" cy="731520"/>
          </a:xfrm>
          <a:prstGeom prst="line">
            <a:avLst/>
          </a:prstGeom>
          <a:noFill/>
          <a:ln w="9525">
            <a:solidFill>
              <a:srgbClr val="3A2F6F"/>
            </a:solidFill>
            <a:prstDash val="solid"/>
          </a:ln>
        </p:spPr>
      </p:sp>
      <p:sp>
        <p:nvSpPr>
          <p:cNvPr id="6" name="Shape 4"/>
          <p:cNvSpPr/>
          <p:nvPr/>
        </p:nvSpPr>
        <p:spPr>
          <a:xfrm>
            <a:off x="8641080" y="2606040"/>
            <a:ext cx="731520" cy="731520"/>
          </a:xfrm>
          <a:prstGeom prst="line">
            <a:avLst/>
          </a:prstGeom>
          <a:noFill/>
          <a:ln w="9525">
            <a:solidFill>
              <a:srgbClr val="3A2F6F"/>
            </a:solidFill>
            <a:prstDash val="solid"/>
          </a:ln>
        </p:spPr>
      </p:sp>
      <p:sp>
        <p:nvSpPr>
          <p:cNvPr id="7" name="Shape 5"/>
          <p:cNvSpPr/>
          <p:nvPr/>
        </p:nvSpPr>
        <p:spPr>
          <a:xfrm>
            <a:off x="8641080" y="2606040"/>
            <a:ext cx="1828800" cy="731520"/>
          </a:xfrm>
          <a:prstGeom prst="line">
            <a:avLst/>
          </a:prstGeom>
          <a:noFill/>
          <a:ln w="9525">
            <a:solidFill>
              <a:srgbClr val="3A2F6F"/>
            </a:solidFill>
            <a:prstDash val="solid"/>
          </a:ln>
        </p:spPr>
      </p:sp>
      <p:sp>
        <p:nvSpPr>
          <p:cNvPr id="8" name="Shape 6"/>
          <p:cNvSpPr/>
          <p:nvPr/>
        </p:nvSpPr>
        <p:spPr>
          <a:xfrm flipV="1">
            <a:off x="8275320" y="2606040"/>
            <a:ext cx="1828800" cy="731520"/>
          </a:xfrm>
          <a:prstGeom prst="line">
            <a:avLst/>
          </a:prstGeom>
          <a:noFill/>
          <a:ln w="9525">
            <a:solidFill>
              <a:srgbClr val="3A2F6F"/>
            </a:solidFill>
            <a:prstDash val="solid"/>
          </a:ln>
        </p:spPr>
      </p:sp>
      <p:sp>
        <p:nvSpPr>
          <p:cNvPr id="9" name="Shape 7"/>
          <p:cNvSpPr/>
          <p:nvPr/>
        </p:nvSpPr>
        <p:spPr>
          <a:xfrm flipV="1">
            <a:off x="9372600" y="2606040"/>
            <a:ext cx="731520" cy="731520"/>
          </a:xfrm>
          <a:prstGeom prst="line">
            <a:avLst/>
          </a:prstGeom>
          <a:noFill/>
          <a:ln w="9525">
            <a:solidFill>
              <a:srgbClr val="3A2F6F"/>
            </a:solidFill>
            <a:prstDash val="solid"/>
          </a:ln>
        </p:spPr>
      </p:sp>
      <p:sp>
        <p:nvSpPr>
          <p:cNvPr id="10" name="Shape 8"/>
          <p:cNvSpPr/>
          <p:nvPr/>
        </p:nvSpPr>
        <p:spPr>
          <a:xfrm>
            <a:off x="10104120" y="2606040"/>
            <a:ext cx="365760" cy="731520"/>
          </a:xfrm>
          <a:prstGeom prst="line">
            <a:avLst/>
          </a:prstGeom>
          <a:noFill/>
          <a:ln w="9525">
            <a:solidFill>
              <a:srgbClr val="3A2F6F"/>
            </a:solidFill>
            <a:prstDash val="solid"/>
          </a:ln>
        </p:spPr>
      </p:sp>
      <p:sp>
        <p:nvSpPr>
          <p:cNvPr id="11" name="Shape 9"/>
          <p:cNvSpPr/>
          <p:nvPr/>
        </p:nvSpPr>
        <p:spPr>
          <a:xfrm>
            <a:off x="8275320" y="3337560"/>
            <a:ext cx="1097280" cy="0"/>
          </a:xfrm>
          <a:prstGeom prst="line">
            <a:avLst/>
          </a:prstGeom>
          <a:noFill/>
          <a:ln w="9525">
            <a:solidFill>
              <a:srgbClr val="3A2F6F"/>
            </a:solidFill>
            <a:prstDash val="solid"/>
          </a:ln>
        </p:spPr>
      </p:sp>
      <p:sp>
        <p:nvSpPr>
          <p:cNvPr id="12" name="Shape 10"/>
          <p:cNvSpPr/>
          <p:nvPr/>
        </p:nvSpPr>
        <p:spPr>
          <a:xfrm>
            <a:off x="8275320" y="3337560"/>
            <a:ext cx="2194560" cy="0"/>
          </a:xfrm>
          <a:prstGeom prst="line">
            <a:avLst/>
          </a:prstGeom>
          <a:noFill/>
          <a:ln w="9525">
            <a:solidFill>
              <a:srgbClr val="3A2F6F"/>
            </a:solidFill>
            <a:prstDash val="solid"/>
          </a:ln>
        </p:spPr>
      </p:sp>
      <p:sp>
        <p:nvSpPr>
          <p:cNvPr id="13" name="Shape 11"/>
          <p:cNvSpPr/>
          <p:nvPr/>
        </p:nvSpPr>
        <p:spPr>
          <a:xfrm>
            <a:off x="8275320" y="3337560"/>
            <a:ext cx="731520" cy="731520"/>
          </a:xfrm>
          <a:prstGeom prst="line">
            <a:avLst/>
          </a:prstGeom>
          <a:noFill/>
          <a:ln w="9525">
            <a:solidFill>
              <a:srgbClr val="3A2F6F"/>
            </a:solidFill>
            <a:prstDash val="solid"/>
          </a:ln>
        </p:spPr>
      </p:sp>
      <p:sp>
        <p:nvSpPr>
          <p:cNvPr id="14" name="Shape 12"/>
          <p:cNvSpPr/>
          <p:nvPr/>
        </p:nvSpPr>
        <p:spPr>
          <a:xfrm>
            <a:off x="8275320" y="3337560"/>
            <a:ext cx="1645920" cy="731520"/>
          </a:xfrm>
          <a:prstGeom prst="line">
            <a:avLst/>
          </a:prstGeom>
          <a:noFill/>
          <a:ln w="9525">
            <a:solidFill>
              <a:srgbClr val="3A2F6F"/>
            </a:solidFill>
            <a:prstDash val="solid"/>
          </a:ln>
        </p:spPr>
      </p:sp>
      <p:sp>
        <p:nvSpPr>
          <p:cNvPr id="15" name="Shape 13"/>
          <p:cNvSpPr/>
          <p:nvPr/>
        </p:nvSpPr>
        <p:spPr>
          <a:xfrm>
            <a:off x="9372600" y="3337560"/>
            <a:ext cx="1097280" cy="0"/>
          </a:xfrm>
          <a:prstGeom prst="line">
            <a:avLst/>
          </a:prstGeom>
          <a:noFill/>
          <a:ln w="9525">
            <a:solidFill>
              <a:srgbClr val="3A2F6F"/>
            </a:solidFill>
            <a:prstDash val="solid"/>
          </a:ln>
        </p:spPr>
      </p:sp>
      <p:sp>
        <p:nvSpPr>
          <p:cNvPr id="16" name="Shape 14"/>
          <p:cNvSpPr/>
          <p:nvPr/>
        </p:nvSpPr>
        <p:spPr>
          <a:xfrm flipV="1">
            <a:off x="9006840" y="3337560"/>
            <a:ext cx="365760" cy="731520"/>
          </a:xfrm>
          <a:prstGeom prst="line">
            <a:avLst/>
          </a:prstGeom>
          <a:noFill/>
          <a:ln w="9525">
            <a:solidFill>
              <a:srgbClr val="3A2F6F"/>
            </a:solidFill>
            <a:prstDash val="solid"/>
          </a:ln>
        </p:spPr>
      </p:sp>
      <p:sp>
        <p:nvSpPr>
          <p:cNvPr id="17" name="Shape 15"/>
          <p:cNvSpPr/>
          <p:nvPr/>
        </p:nvSpPr>
        <p:spPr>
          <a:xfrm>
            <a:off x="9372600" y="3337560"/>
            <a:ext cx="548640" cy="731520"/>
          </a:xfrm>
          <a:prstGeom prst="line">
            <a:avLst/>
          </a:prstGeom>
          <a:noFill/>
          <a:ln w="9525">
            <a:solidFill>
              <a:srgbClr val="3A2F6F"/>
            </a:solidFill>
            <a:prstDash val="solid"/>
          </a:ln>
        </p:spPr>
      </p:sp>
      <p:sp>
        <p:nvSpPr>
          <p:cNvPr id="18" name="Shape 16"/>
          <p:cNvSpPr/>
          <p:nvPr/>
        </p:nvSpPr>
        <p:spPr>
          <a:xfrm flipV="1">
            <a:off x="9006840" y="3337560"/>
            <a:ext cx="1463040" cy="731520"/>
          </a:xfrm>
          <a:prstGeom prst="line">
            <a:avLst/>
          </a:prstGeom>
          <a:noFill/>
          <a:ln w="9525">
            <a:solidFill>
              <a:srgbClr val="3A2F6F"/>
            </a:solidFill>
            <a:prstDash val="solid"/>
          </a:ln>
        </p:spPr>
      </p:sp>
      <p:sp>
        <p:nvSpPr>
          <p:cNvPr id="19" name="Shape 17"/>
          <p:cNvSpPr/>
          <p:nvPr/>
        </p:nvSpPr>
        <p:spPr>
          <a:xfrm flipV="1">
            <a:off x="9921240" y="3337560"/>
            <a:ext cx="548640" cy="731520"/>
          </a:xfrm>
          <a:prstGeom prst="line">
            <a:avLst/>
          </a:prstGeom>
          <a:noFill/>
          <a:ln w="9525">
            <a:solidFill>
              <a:srgbClr val="3A2F6F"/>
            </a:solidFill>
            <a:prstDash val="solid"/>
          </a:ln>
        </p:spPr>
      </p:sp>
      <p:sp>
        <p:nvSpPr>
          <p:cNvPr id="20" name="Shape 18"/>
          <p:cNvSpPr/>
          <p:nvPr/>
        </p:nvSpPr>
        <p:spPr>
          <a:xfrm>
            <a:off x="9006840" y="4069080"/>
            <a:ext cx="914400" cy="0"/>
          </a:xfrm>
          <a:prstGeom prst="line">
            <a:avLst/>
          </a:prstGeom>
          <a:noFill/>
          <a:ln w="9525">
            <a:solidFill>
              <a:srgbClr val="3A2F6F"/>
            </a:solidFill>
            <a:prstDash val="solid"/>
          </a:ln>
        </p:spPr>
      </p:sp>
      <p:sp>
        <p:nvSpPr>
          <p:cNvPr id="21" name="Shape 19"/>
          <p:cNvSpPr/>
          <p:nvPr/>
        </p:nvSpPr>
        <p:spPr>
          <a:xfrm>
            <a:off x="9281160" y="1783080"/>
            <a:ext cx="182880" cy="182880"/>
          </a:xfrm>
          <a:prstGeom prst="ellipse">
            <a:avLst/>
          </a:prstGeom>
          <a:solidFill>
            <a:srgbClr val="6D4AFF"/>
          </a:solidFill>
          <a:ln w="12700">
            <a:solidFill>
              <a:srgbClr val="6D4AFF"/>
            </a:solidFill>
            <a:prstDash val="solid"/>
          </a:ln>
        </p:spPr>
      </p:sp>
      <p:sp>
        <p:nvSpPr>
          <p:cNvPr id="22" name="Shape 20"/>
          <p:cNvSpPr/>
          <p:nvPr/>
        </p:nvSpPr>
        <p:spPr>
          <a:xfrm>
            <a:off x="8549640" y="2514600"/>
            <a:ext cx="182880" cy="182880"/>
          </a:xfrm>
          <a:prstGeom prst="ellipse">
            <a:avLst/>
          </a:prstGeom>
          <a:solidFill>
            <a:srgbClr val="6D4AFF"/>
          </a:solidFill>
          <a:ln w="12700">
            <a:solidFill>
              <a:srgbClr val="6D4AFF"/>
            </a:solidFill>
            <a:prstDash val="solid"/>
          </a:ln>
        </p:spPr>
      </p:sp>
      <p:sp>
        <p:nvSpPr>
          <p:cNvPr id="23" name="Shape 21"/>
          <p:cNvSpPr/>
          <p:nvPr/>
        </p:nvSpPr>
        <p:spPr>
          <a:xfrm>
            <a:off x="10012680" y="2514600"/>
            <a:ext cx="182880" cy="182880"/>
          </a:xfrm>
          <a:prstGeom prst="ellipse">
            <a:avLst/>
          </a:prstGeom>
          <a:solidFill>
            <a:srgbClr val="6D4AFF"/>
          </a:solidFill>
          <a:ln w="12700">
            <a:solidFill>
              <a:srgbClr val="6D4AFF"/>
            </a:solidFill>
            <a:prstDash val="solid"/>
          </a:ln>
        </p:spPr>
      </p:sp>
      <p:sp>
        <p:nvSpPr>
          <p:cNvPr id="24" name="Shape 22"/>
          <p:cNvSpPr/>
          <p:nvPr/>
        </p:nvSpPr>
        <p:spPr>
          <a:xfrm>
            <a:off x="8183880" y="3246120"/>
            <a:ext cx="182880" cy="182880"/>
          </a:xfrm>
          <a:prstGeom prst="ellipse">
            <a:avLst/>
          </a:prstGeom>
          <a:solidFill>
            <a:srgbClr val="6D4AFF"/>
          </a:solidFill>
          <a:ln w="12700">
            <a:solidFill>
              <a:srgbClr val="6D4AFF"/>
            </a:solidFill>
            <a:prstDash val="solid"/>
          </a:ln>
        </p:spPr>
      </p:sp>
      <p:sp>
        <p:nvSpPr>
          <p:cNvPr id="25" name="Shape 23"/>
          <p:cNvSpPr/>
          <p:nvPr/>
        </p:nvSpPr>
        <p:spPr>
          <a:xfrm>
            <a:off x="9281160" y="3246120"/>
            <a:ext cx="182880" cy="182880"/>
          </a:xfrm>
          <a:prstGeom prst="ellipse">
            <a:avLst/>
          </a:prstGeom>
          <a:solidFill>
            <a:srgbClr val="6D4AFF"/>
          </a:solidFill>
          <a:ln w="12700">
            <a:solidFill>
              <a:srgbClr val="6D4AFF"/>
            </a:solidFill>
            <a:prstDash val="solid"/>
          </a:ln>
        </p:spPr>
      </p:sp>
      <p:sp>
        <p:nvSpPr>
          <p:cNvPr id="26" name="Shape 24"/>
          <p:cNvSpPr/>
          <p:nvPr/>
        </p:nvSpPr>
        <p:spPr>
          <a:xfrm>
            <a:off x="10378440" y="3246120"/>
            <a:ext cx="182880" cy="182880"/>
          </a:xfrm>
          <a:prstGeom prst="ellipse">
            <a:avLst/>
          </a:prstGeom>
          <a:solidFill>
            <a:srgbClr val="6D4AFF"/>
          </a:solidFill>
          <a:ln w="12700">
            <a:solidFill>
              <a:srgbClr val="6D4AFF"/>
            </a:solidFill>
            <a:prstDash val="solid"/>
          </a:ln>
        </p:spPr>
      </p:sp>
      <p:sp>
        <p:nvSpPr>
          <p:cNvPr id="27" name="Shape 25"/>
          <p:cNvSpPr/>
          <p:nvPr/>
        </p:nvSpPr>
        <p:spPr>
          <a:xfrm>
            <a:off x="8915400" y="3977640"/>
            <a:ext cx="182880" cy="182880"/>
          </a:xfrm>
          <a:prstGeom prst="ellipse">
            <a:avLst/>
          </a:prstGeom>
          <a:solidFill>
            <a:srgbClr val="6D4AFF"/>
          </a:solidFill>
          <a:ln w="12700">
            <a:solidFill>
              <a:srgbClr val="6D4AFF"/>
            </a:solidFill>
            <a:prstDash val="solid"/>
          </a:ln>
        </p:spPr>
      </p:sp>
      <p:sp>
        <p:nvSpPr>
          <p:cNvPr id="28" name="Shape 26"/>
          <p:cNvSpPr/>
          <p:nvPr/>
        </p:nvSpPr>
        <p:spPr>
          <a:xfrm>
            <a:off x="9829800" y="3977640"/>
            <a:ext cx="182880" cy="182880"/>
          </a:xfrm>
          <a:prstGeom prst="ellipse">
            <a:avLst/>
          </a:prstGeom>
          <a:solidFill>
            <a:srgbClr val="6D4AFF"/>
          </a:solidFill>
          <a:ln w="12700">
            <a:solidFill>
              <a:srgbClr val="6D4AFF"/>
            </a:solidFill>
            <a:prstDash val="solid"/>
          </a:ln>
        </p:spPr>
      </p:sp>
      <p:sp>
        <p:nvSpPr>
          <p:cNvPr id="29" name="Shape 27"/>
          <p:cNvSpPr/>
          <p:nvPr/>
        </p:nvSpPr>
        <p:spPr>
          <a:xfrm flipV="1">
            <a:off x="8641080" y="1874520"/>
            <a:ext cx="731520" cy="731520"/>
          </a:xfrm>
          <a:prstGeom prst="line">
            <a:avLst/>
          </a:prstGeom>
          <a:noFill/>
          <a:ln w="24130">
            <a:solidFill>
              <a:srgbClr val="FFB627"/>
            </a:solidFill>
            <a:prstDash val="solid"/>
          </a:ln>
        </p:spPr>
      </p:sp>
      <p:sp>
        <p:nvSpPr>
          <p:cNvPr id="30" name="Shape 28"/>
          <p:cNvSpPr/>
          <p:nvPr/>
        </p:nvSpPr>
        <p:spPr>
          <a:xfrm>
            <a:off x="8641080" y="2606040"/>
            <a:ext cx="731520" cy="2286000"/>
          </a:xfrm>
          <a:prstGeom prst="line">
            <a:avLst/>
          </a:prstGeom>
          <a:noFill/>
          <a:ln w="24130">
            <a:solidFill>
              <a:srgbClr val="FFB627"/>
            </a:solidFill>
            <a:prstDash val="solid"/>
          </a:ln>
        </p:spPr>
      </p:sp>
      <p:sp>
        <p:nvSpPr>
          <p:cNvPr id="31" name="Shape 29"/>
          <p:cNvSpPr/>
          <p:nvPr/>
        </p:nvSpPr>
        <p:spPr>
          <a:xfrm>
            <a:off x="9372600" y="1874520"/>
            <a:ext cx="731520" cy="731520"/>
          </a:xfrm>
          <a:prstGeom prst="line">
            <a:avLst/>
          </a:prstGeom>
          <a:noFill/>
          <a:ln w="24130">
            <a:solidFill>
              <a:srgbClr val="FFB627"/>
            </a:solidFill>
            <a:prstDash val="solid"/>
          </a:ln>
        </p:spPr>
      </p:sp>
      <p:sp>
        <p:nvSpPr>
          <p:cNvPr id="32" name="Shape 30"/>
          <p:cNvSpPr/>
          <p:nvPr/>
        </p:nvSpPr>
        <p:spPr>
          <a:xfrm flipV="1">
            <a:off x="9372600" y="2606040"/>
            <a:ext cx="731520" cy="2286000"/>
          </a:xfrm>
          <a:prstGeom prst="line">
            <a:avLst/>
          </a:prstGeom>
          <a:noFill/>
          <a:ln w="24130">
            <a:solidFill>
              <a:srgbClr val="FFB627"/>
            </a:solidFill>
            <a:prstDash val="solid"/>
          </a:ln>
        </p:spPr>
      </p:sp>
      <p:sp>
        <p:nvSpPr>
          <p:cNvPr id="33" name="Shape 31"/>
          <p:cNvSpPr/>
          <p:nvPr/>
        </p:nvSpPr>
        <p:spPr>
          <a:xfrm>
            <a:off x="9281160" y="1783080"/>
            <a:ext cx="228600" cy="228600"/>
          </a:xfrm>
          <a:prstGeom prst="ellipse">
            <a:avLst/>
          </a:prstGeom>
          <a:solidFill>
            <a:srgbClr val="FFB627"/>
          </a:solidFill>
          <a:ln w="12700">
            <a:solidFill>
              <a:srgbClr val="FFB627"/>
            </a:solidFill>
            <a:prstDash val="solid"/>
          </a:ln>
        </p:spPr>
      </p:sp>
      <p:sp>
        <p:nvSpPr>
          <p:cNvPr id="34" name="Shape 32"/>
          <p:cNvSpPr/>
          <p:nvPr/>
        </p:nvSpPr>
        <p:spPr>
          <a:xfrm>
            <a:off x="8549640" y="2514600"/>
            <a:ext cx="228600" cy="228600"/>
          </a:xfrm>
          <a:prstGeom prst="ellipse">
            <a:avLst/>
          </a:prstGeom>
          <a:solidFill>
            <a:srgbClr val="FFB627"/>
          </a:solidFill>
          <a:ln w="12700">
            <a:solidFill>
              <a:srgbClr val="FFB627"/>
            </a:solidFill>
            <a:prstDash val="solid"/>
          </a:ln>
        </p:spPr>
      </p:sp>
      <p:sp>
        <p:nvSpPr>
          <p:cNvPr id="35" name="Shape 33"/>
          <p:cNvSpPr/>
          <p:nvPr/>
        </p:nvSpPr>
        <p:spPr>
          <a:xfrm>
            <a:off x="10012680" y="2514600"/>
            <a:ext cx="228600" cy="228600"/>
          </a:xfrm>
          <a:prstGeom prst="ellipse">
            <a:avLst/>
          </a:prstGeom>
          <a:solidFill>
            <a:srgbClr val="FFB627"/>
          </a:solidFill>
          <a:ln w="12700">
            <a:solidFill>
              <a:srgbClr val="FFB627"/>
            </a:solidFill>
            <a:prstDash val="solid"/>
          </a:ln>
        </p:spPr>
      </p:sp>
      <p:sp>
        <p:nvSpPr>
          <p:cNvPr id="36" name="Shape 34"/>
          <p:cNvSpPr/>
          <p:nvPr/>
        </p:nvSpPr>
        <p:spPr>
          <a:xfrm>
            <a:off x="9281160" y="4800600"/>
            <a:ext cx="228600" cy="228600"/>
          </a:xfrm>
          <a:prstGeom prst="ellipse">
            <a:avLst/>
          </a:prstGeom>
          <a:solidFill>
            <a:srgbClr val="FFB627"/>
          </a:solidFill>
          <a:ln w="12700">
            <a:solidFill>
              <a:srgbClr val="FFB627"/>
            </a:solidFill>
            <a:prstDash val="solid"/>
          </a:ln>
        </p:spPr>
      </p:sp>
      <p:sp>
        <p:nvSpPr>
          <p:cNvPr id="37" name="Text 35"/>
          <p:cNvSpPr txBox="1"/>
          <p:nvPr/>
        </p:nvSpPr>
        <p:spPr>
          <a:xfrm>
            <a:off x="8686800" y="5120640"/>
            <a:ext cx="1463040" cy="274320"/>
          </a:xfrm>
          <a:prstGeom prst="rect">
            <a:avLst/>
          </a:prstGeom>
          <a:noFill/>
          <a:ln/>
        </p:spPr>
        <p:txBody>
          <a:bodyPr wrap="square" lIns="0" tIns="0" rIns="0" bIns="0" rtlCol="0" anchor="ctr"/>
          <a:lstStyle/>
          <a:p>
            <a:pPr algn="ctr" indent="0" marL="0">
              <a:buNone/>
            </a:pPr>
            <a:r>
              <a:rPr lang="en-US" sz="1100" i="1" dirty="0">
                <a:solidFill>
                  <a:srgbClr val="FFB627"/>
                </a:solidFill>
                <a:latin typeface="Calibri" pitchFamily="34" charset="0"/>
                <a:ea typeface="Calibri" pitchFamily="34" charset="-122"/>
                <a:cs typeface="Calibri" pitchFamily="34" charset="-120"/>
              </a:rPr>
              <a:t>coarsen</a:t>
            </a:r>
            <a:endParaRPr lang="en-US" sz="1100" dirty="0"/>
          </a:p>
        </p:txBody>
      </p:sp>
      <p:sp>
        <p:nvSpPr>
          <p:cNvPr id="38" name="Text 36"/>
          <p:cNvSpPr txBox="1"/>
          <p:nvPr/>
        </p:nvSpPr>
        <p:spPr>
          <a:xfrm>
            <a:off x="777240" y="1371600"/>
            <a:ext cx="7132320" cy="1554480"/>
          </a:xfrm>
          <a:prstGeom prst="rect">
            <a:avLst/>
          </a:prstGeom>
          <a:noFill/>
          <a:ln/>
        </p:spPr>
        <p:txBody>
          <a:bodyPr wrap="square" lIns="0" tIns="0" rIns="0" bIns="0" rtlCol="0" anchor="ctr"/>
          <a:lstStyle/>
          <a:p>
            <a:pPr indent="0" marL="0">
              <a:lnSpc>
                <a:spcPct val="105000"/>
              </a:lnSpc>
              <a:buNone/>
            </a:pPr>
            <a:r>
              <a:rPr lang="en-US" sz="3800" b="1" dirty="0">
                <a:solidFill>
                  <a:srgbClr val="FFFFFF"/>
                </a:solidFill>
                <a:latin typeface="Cambria" pitchFamily="34" charset="0"/>
                <a:ea typeface="Cambria" pitchFamily="34" charset="-122"/>
                <a:cs typeface="Cambria" pitchFamily="34" charset="-120"/>
              </a:rPr>
              <a:t>Causality-Preserving</a:t>
            </a:r>
            <a:endParaRPr lang="en-US" sz="3800" dirty="0"/>
          </a:p>
          <a:p>
            <a:pPr indent="0" marL="0">
              <a:lnSpc>
                <a:spcPct val="105000"/>
              </a:lnSpc>
              <a:buNone/>
            </a:pPr>
            <a:r>
              <a:rPr lang="en-US" sz="3800" b="1" dirty="0">
                <a:solidFill>
                  <a:srgbClr val="FFFFFF"/>
                </a:solidFill>
                <a:latin typeface="Cambria" pitchFamily="34" charset="0"/>
                <a:ea typeface="Cambria" pitchFamily="34" charset="-122"/>
                <a:cs typeface="Cambria" pitchFamily="34" charset="-120"/>
              </a:rPr>
              <a:t>Graph Coarsening</a:t>
            </a:r>
            <a:endParaRPr lang="en-US" sz="3800" dirty="0"/>
          </a:p>
        </p:txBody>
      </p:sp>
      <p:sp>
        <p:nvSpPr>
          <p:cNvPr id="39" name="Text 37"/>
          <p:cNvSpPr txBox="1"/>
          <p:nvPr/>
        </p:nvSpPr>
        <p:spPr>
          <a:xfrm>
            <a:off x="777240" y="2926080"/>
            <a:ext cx="7132320" cy="457200"/>
          </a:xfrm>
          <a:prstGeom prst="rect">
            <a:avLst/>
          </a:prstGeom>
          <a:noFill/>
          <a:ln/>
        </p:spPr>
        <p:txBody>
          <a:bodyPr wrap="square" lIns="0" tIns="0" rIns="0" bIns="0" rtlCol="0" anchor="ctr"/>
          <a:lstStyle/>
          <a:p>
            <a:pPr indent="0" marL="0">
              <a:buNone/>
            </a:pPr>
            <a:r>
              <a:rPr lang="en-US" sz="2600" dirty="0">
                <a:solidFill>
                  <a:srgbClr val="FFB627"/>
                </a:solidFill>
                <a:latin typeface="Cambria" pitchFamily="34" charset="0"/>
                <a:ea typeface="Cambria" pitchFamily="34" charset="-122"/>
                <a:cs typeface="Cambria" pitchFamily="34" charset="-120"/>
              </a:rPr>
              <a:t>for Efficient LLM Reasoning</a:t>
            </a:r>
            <a:endParaRPr lang="en-US" sz="2600" dirty="0"/>
          </a:p>
        </p:txBody>
      </p:sp>
      <p:sp>
        <p:nvSpPr>
          <p:cNvPr id="40" name="Text 38"/>
          <p:cNvSpPr txBox="1"/>
          <p:nvPr/>
        </p:nvSpPr>
        <p:spPr>
          <a:xfrm>
            <a:off x="777240" y="3886200"/>
            <a:ext cx="74980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Prasoon Raj</a:t>
            </a:r>
            <a:pPr indent="0" marL="0">
              <a:buNone/>
            </a:pPr>
            <a:r>
              <a:rPr lang="en-US" sz="1300" dirty="0">
                <a:solidFill>
                  <a:srgbClr val="A79FCB"/>
                </a:solidFill>
                <a:latin typeface="Calibri" pitchFamily="34" charset="0"/>
                <a:ea typeface="Calibri" pitchFamily="34" charset="-122"/>
                <a:cs typeface="Calibri" pitchFamily="34" charset="-120"/>
              </a:rPr>
              <a:t>  (2023EE10708)          </a:t>
            </a:r>
            <a:pPr indent="0" marL="0">
              <a:buNone/>
            </a:pPr>
            <a:r>
              <a:rPr lang="en-US" sz="1500" b="1" dirty="0">
                <a:solidFill>
                  <a:srgbClr val="FFFFFF"/>
                </a:solidFill>
                <a:latin typeface="Calibri" pitchFamily="34" charset="0"/>
                <a:ea typeface="Calibri" pitchFamily="34" charset="-122"/>
                <a:cs typeface="Calibri" pitchFamily="34" charset="-120"/>
              </a:rPr>
              <a:t>Nikhil Bansal</a:t>
            </a:r>
            <a:pPr indent="0" marL="0">
              <a:buNone/>
            </a:pPr>
            <a:r>
              <a:rPr lang="en-US" sz="1300" dirty="0">
                <a:solidFill>
                  <a:srgbClr val="A79FCB"/>
                </a:solidFill>
                <a:latin typeface="Calibri" pitchFamily="34" charset="0"/>
                <a:ea typeface="Calibri" pitchFamily="34" charset="-122"/>
                <a:cs typeface="Calibri" pitchFamily="34" charset="-120"/>
              </a:rPr>
              <a:t>  (2023EE10787)</a:t>
            </a:r>
            <a:endParaRPr lang="en-US" sz="1500" dirty="0"/>
          </a:p>
        </p:txBody>
      </p:sp>
      <p:sp>
        <p:nvSpPr>
          <p:cNvPr id="41" name="Text 39"/>
          <p:cNvSpPr txBox="1"/>
          <p:nvPr/>
        </p:nvSpPr>
        <p:spPr>
          <a:xfrm>
            <a:off x="777240" y="4370832"/>
            <a:ext cx="7498080" cy="292608"/>
          </a:xfrm>
          <a:prstGeom prst="rect">
            <a:avLst/>
          </a:prstGeom>
          <a:noFill/>
          <a:ln/>
        </p:spPr>
        <p:txBody>
          <a:bodyPr wrap="square" lIns="0" tIns="0" rIns="0" bIns="0" rtlCol="0" anchor="ctr"/>
          <a:lstStyle/>
          <a:p>
            <a:pPr indent="0" marL="0">
              <a:buNone/>
            </a:pPr>
            <a:r>
              <a:rPr lang="en-US" sz="1200" dirty="0">
                <a:solidFill>
                  <a:srgbClr val="6E6A85"/>
                </a:solidFill>
                <a:latin typeface="Calibri" pitchFamily="34" charset="0"/>
                <a:ea typeface="Calibri" pitchFamily="34" charset="-122"/>
                <a:cs typeface="Calibri" pitchFamily="34" charset="-120"/>
              </a:rPr>
              <a:t>Guided by   </a:t>
            </a:r>
            <a:pPr indent="0" marL="0">
              <a:buNone/>
            </a:pPr>
            <a:r>
              <a:rPr lang="en-US" sz="1350" b="1" dirty="0">
                <a:solidFill>
                  <a:srgbClr val="FFFFFF"/>
                </a:solidFill>
                <a:latin typeface="Calibri" pitchFamily="34" charset="0"/>
                <a:ea typeface="Calibri" pitchFamily="34" charset="-122"/>
                <a:cs typeface="Calibri" pitchFamily="34" charset="-120"/>
              </a:rPr>
              <a:t>Subhanu Halder</a:t>
            </a:r>
            <a:pPr indent="0" marL="0">
              <a:buNone/>
            </a:pPr>
            <a:r>
              <a:rPr lang="en-US" sz="1200" dirty="0">
                <a:solidFill>
                  <a:srgbClr val="A79FCB"/>
                </a:solidFill>
                <a:latin typeface="Calibri" pitchFamily="34" charset="0"/>
                <a:ea typeface="Calibri" pitchFamily="34" charset="-122"/>
                <a:cs typeface="Calibri" pitchFamily="34" charset="-120"/>
              </a:rPr>
              <a:t>  (PhD Scholar)</a:t>
            </a:r>
            <a:endParaRPr lang="en-US" sz="1350" dirty="0"/>
          </a:p>
        </p:txBody>
      </p:sp>
      <p:sp>
        <p:nvSpPr>
          <p:cNvPr id="42" name="Text 40"/>
          <p:cNvSpPr txBox="1"/>
          <p:nvPr/>
        </p:nvSpPr>
        <p:spPr>
          <a:xfrm>
            <a:off x="777240" y="4718304"/>
            <a:ext cx="7498080" cy="292608"/>
          </a:xfrm>
          <a:prstGeom prst="rect">
            <a:avLst/>
          </a:prstGeom>
          <a:noFill/>
          <a:ln/>
        </p:spPr>
        <p:txBody>
          <a:bodyPr wrap="square" lIns="0" tIns="0" rIns="0" bIns="0" rtlCol="0" anchor="ctr"/>
          <a:lstStyle/>
          <a:p>
            <a:pPr indent="0" marL="0">
              <a:buNone/>
            </a:pPr>
            <a:r>
              <a:rPr lang="en-US" sz="1200" dirty="0">
                <a:solidFill>
                  <a:srgbClr val="6E6A85"/>
                </a:solidFill>
                <a:latin typeface="Calibri" pitchFamily="34" charset="0"/>
                <a:ea typeface="Calibri" pitchFamily="34" charset="-122"/>
                <a:cs typeface="Calibri" pitchFamily="34" charset="-120"/>
              </a:rPr>
              <a:t>Supervisor   </a:t>
            </a:r>
            <a:pPr indent="0" marL="0">
              <a:buNone/>
            </a:pPr>
            <a:r>
              <a:rPr lang="en-US" sz="1350" b="1" dirty="0">
                <a:solidFill>
                  <a:srgbClr val="FFFFFF"/>
                </a:solidFill>
                <a:latin typeface="Calibri" pitchFamily="34" charset="0"/>
                <a:ea typeface="Calibri" pitchFamily="34" charset="-122"/>
                <a:cs typeface="Calibri" pitchFamily="34" charset="-120"/>
              </a:rPr>
              <a:t>Prof. Sandeep Kumar</a:t>
            </a:r>
            <a:endParaRPr lang="en-US" sz="1350" dirty="0"/>
          </a:p>
        </p:txBody>
      </p:sp>
      <p:sp>
        <p:nvSpPr>
          <p:cNvPr id="43" name="Text 41"/>
          <p:cNvSpPr txBox="1"/>
          <p:nvPr/>
        </p:nvSpPr>
        <p:spPr>
          <a:xfrm>
            <a:off x="777240" y="5349240"/>
            <a:ext cx="7498080" cy="292608"/>
          </a:xfrm>
          <a:prstGeom prst="rect">
            <a:avLst/>
          </a:prstGeom>
          <a:noFill/>
          <a:ln/>
        </p:spPr>
        <p:txBody>
          <a:bodyPr wrap="square" lIns="0" tIns="0" rIns="0" bIns="0" rtlCol="0" anchor="ctr"/>
          <a:lstStyle/>
          <a:p>
            <a:pPr indent="0" marL="0">
              <a:buNone/>
            </a:pPr>
            <a:r>
              <a:rPr lang="en-US" sz="1200" dirty="0">
                <a:solidFill>
                  <a:srgbClr val="6E6A85"/>
                </a:solidFill>
                <a:latin typeface="Calibri" pitchFamily="34" charset="0"/>
                <a:ea typeface="Calibri" pitchFamily="34" charset="-122"/>
                <a:cs typeface="Calibri" pitchFamily="34" charset="-120"/>
              </a:rPr>
              <a:t>Department of Electrical Engineering  ·  IIT Delhi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881360" cy="621792"/>
          </a:xfrm>
          <a:prstGeom prst="rect">
            <a:avLst/>
          </a:prstGeom>
          <a:noFill/>
          <a:ln/>
        </p:spPr>
        <p:txBody>
          <a:bodyPr wrap="square" lIns="0" tIns="0" rIns="0" bIns="0" rtlCol="0" anchor="ctr"/>
          <a:lstStyle/>
          <a:p>
            <a:pPr indent="0" marL="0">
              <a:buNone/>
            </a:pPr>
            <a:r>
              <a:rPr lang="en-US" sz="3200" b="1" dirty="0">
                <a:solidFill>
                  <a:srgbClr val="1F1A38"/>
                </a:solidFill>
                <a:latin typeface="Cambria" pitchFamily="34" charset="0"/>
                <a:ea typeface="Cambria" pitchFamily="34" charset="-122"/>
                <a:cs typeface="Cambria" pitchFamily="34" charset="-120"/>
              </a:rPr>
              <a:t>Why structured reasoning exists</a:t>
            </a:r>
            <a:endParaRPr lang="en-US" sz="3200" dirty="0"/>
          </a:p>
        </p:txBody>
      </p:sp>
      <p:sp>
        <p:nvSpPr>
          <p:cNvPr id="3" name="Text 1"/>
          <p:cNvSpPr txBox="1"/>
          <p:nvPr/>
        </p:nvSpPr>
        <p:spPr>
          <a:xfrm>
            <a:off x="640080" y="1005840"/>
            <a:ext cx="10881360" cy="365760"/>
          </a:xfrm>
          <a:prstGeom prst="rect">
            <a:avLst/>
          </a:prstGeom>
          <a:noFill/>
          <a:ln/>
        </p:spPr>
        <p:txBody>
          <a:bodyPr wrap="square" lIns="0" tIns="0" rIns="0" bIns="0" rtlCol="0" anchor="ctr"/>
          <a:lstStyle/>
          <a:p>
            <a:pPr indent="0" marL="0">
              <a:buNone/>
            </a:pPr>
            <a:r>
              <a:rPr lang="en-US" sz="1350" dirty="0">
                <a:solidFill>
                  <a:srgbClr val="6E6A85"/>
                </a:solidFill>
                <a:latin typeface="Calibri" pitchFamily="34" charset="0"/>
                <a:ea typeface="Calibri" pitchFamily="34" charset="-122"/>
                <a:cs typeface="Calibri" pitchFamily="34" charset="-120"/>
              </a:rPr>
              <a:t>A language model writes one token at a time, and every token costs the same</a:t>
            </a:r>
            <a:endParaRPr lang="en-US" sz="1350" dirty="0"/>
          </a:p>
        </p:txBody>
      </p:sp>
      <p:sp>
        <p:nvSpPr>
          <p:cNvPr id="4" name="Text 2"/>
          <p:cNvSpPr txBox="1"/>
          <p:nvPr/>
        </p:nvSpPr>
        <p:spPr>
          <a:xfrm>
            <a:off x="640080" y="1691640"/>
            <a:ext cx="5852160" cy="164592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1F1A38"/>
                </a:solidFill>
                <a:latin typeface="Calibri" pitchFamily="34" charset="0"/>
                <a:ea typeface="Calibri" pitchFamily="34" charset="-122"/>
                <a:cs typeface="Calibri" pitchFamily="34" charset="-120"/>
              </a:rPr>
              <a:t>Compute per token is fixed - the model cannot allocate more effort to a harder question</a:t>
            </a:r>
            <a:endParaRPr lang="en-US" sz="1350" dirty="0"/>
          </a:p>
          <a:p>
            <a:pPr marL="342900" indent="-342900">
              <a:spcAft>
                <a:spcPts val="800"/>
              </a:spcAft>
              <a:buSzPct val="100000"/>
              <a:buChar char="•"/>
            </a:pPr>
            <a:r>
              <a:rPr lang="en-US" sz="1350" dirty="0">
                <a:solidFill>
                  <a:srgbClr val="1F1A38"/>
                </a:solidFill>
                <a:latin typeface="Calibri" pitchFamily="34" charset="0"/>
                <a:ea typeface="Calibri" pitchFamily="34" charset="-122"/>
                <a:cs typeface="Calibri" pitchFamily="34" charset="-120"/>
              </a:rPr>
              <a:t>Generation is irreversible - once a token is sampled, everything after it is conditioned on it</a:t>
            </a:r>
            <a:endParaRPr lang="en-US" sz="1350" dirty="0"/>
          </a:p>
          <a:p>
            <a:pPr marL="342900" indent="-342900">
              <a:spcAft>
                <a:spcPts val="800"/>
              </a:spcAft>
              <a:buSzPct val="100000"/>
              <a:buChar char="•"/>
            </a:pPr>
            <a:r>
              <a:rPr lang="en-US" sz="1350" dirty="0">
                <a:solidFill>
                  <a:srgbClr val="1F1A38"/>
                </a:solidFill>
                <a:latin typeface="Calibri" pitchFamily="34" charset="0"/>
                <a:ea typeface="Calibri" pitchFamily="34" charset="-122"/>
                <a:cs typeface="Calibri" pitchFamily="34" charset="-120"/>
              </a:rPr>
              <a:t>Ask directly, and an arbitrarily hard problem receives one token's worth of computation</a:t>
            </a:r>
            <a:endParaRPr lang="en-US" sz="1350" dirty="0"/>
          </a:p>
        </p:txBody>
      </p:sp>
      <p:sp>
        <p:nvSpPr>
          <p:cNvPr id="5" name="Shape 3"/>
          <p:cNvSpPr/>
          <p:nvPr/>
        </p:nvSpPr>
        <p:spPr>
          <a:xfrm>
            <a:off x="640080" y="3611880"/>
            <a:ext cx="5852160" cy="960120"/>
          </a:xfrm>
          <a:prstGeom prst="roundRect">
            <a:avLst>
              <a:gd name="adj" fmla="val 5714"/>
            </a:avLst>
          </a:prstGeom>
          <a:solidFill>
            <a:srgbClr val="F6F4FD"/>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6" name="Text 4"/>
          <p:cNvSpPr txBox="1"/>
          <p:nvPr/>
        </p:nvSpPr>
        <p:spPr>
          <a:xfrm>
            <a:off x="868680" y="3822192"/>
            <a:ext cx="5394960" cy="548640"/>
          </a:xfrm>
          <a:prstGeom prst="rect">
            <a:avLst/>
          </a:prstGeom>
          <a:noFill/>
          <a:ln/>
        </p:spPr>
        <p:txBody>
          <a:bodyPr wrap="square" lIns="0" tIns="0" rIns="0" bIns="0" rtlCol="0" anchor="ctr"/>
          <a:lstStyle/>
          <a:p>
            <a:pPr indent="0" marL="0">
              <a:buNone/>
            </a:pPr>
            <a:r>
              <a:rPr lang="en-US" sz="1400" b="1" dirty="0">
                <a:solidFill>
                  <a:srgbClr val="6D4AFF"/>
                </a:solidFill>
                <a:latin typeface="Calibri" pitchFamily="34" charset="0"/>
                <a:ea typeface="Calibri" pitchFamily="34" charset="-122"/>
                <a:cs typeface="Calibri" pitchFamily="34" charset="-120"/>
              </a:rPr>
              <a:t>Writing intermediate steps IS the extra computation - not a description of it.</a:t>
            </a:r>
            <a:endParaRPr lang="en-US" sz="1400" dirty="0"/>
          </a:p>
        </p:txBody>
      </p:sp>
      <p:sp>
        <p:nvSpPr>
          <p:cNvPr id="7" name="Shape 5"/>
          <p:cNvSpPr/>
          <p:nvPr/>
        </p:nvSpPr>
        <p:spPr>
          <a:xfrm>
            <a:off x="6903720" y="1645920"/>
            <a:ext cx="4617720" cy="3246120"/>
          </a:xfrm>
          <a:prstGeom prst="roundRect">
            <a:avLst>
              <a:gd name="adj" fmla="val 1690"/>
            </a:avLst>
          </a:prstGeom>
          <a:solidFill>
            <a:srgbClr val="FFFFFF"/>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8" name="Text 6"/>
          <p:cNvSpPr txBox="1"/>
          <p:nvPr/>
        </p:nvSpPr>
        <p:spPr>
          <a:xfrm>
            <a:off x="7178040" y="1828800"/>
            <a:ext cx="4114800" cy="274320"/>
          </a:xfrm>
          <a:prstGeom prst="rect">
            <a:avLst/>
          </a:prstGeom>
          <a:noFill/>
          <a:ln/>
        </p:spPr>
        <p:txBody>
          <a:bodyPr wrap="square" lIns="0" tIns="0" rIns="0" bIns="0" rtlCol="0" anchor="ctr"/>
          <a:lstStyle/>
          <a:p>
            <a:pPr indent="0" marL="0">
              <a:buNone/>
            </a:pPr>
            <a:r>
              <a:rPr lang="en-US" sz="1300" b="1" dirty="0">
                <a:solidFill>
                  <a:srgbClr val="1F1A38"/>
                </a:solidFill>
                <a:latin typeface="Calibri" pitchFamily="34" charset="0"/>
                <a:ea typeface="Calibri" pitchFamily="34" charset="-122"/>
                <a:cs typeface="Calibri" pitchFamily="34" charset="-120"/>
              </a:rPr>
              <a:t>The benchmark task</a:t>
            </a:r>
            <a:endParaRPr lang="en-US" sz="1300" dirty="0"/>
          </a:p>
        </p:txBody>
      </p:sp>
      <p:sp>
        <p:nvSpPr>
          <p:cNvPr id="9" name="Text 7"/>
          <p:cNvSpPr txBox="1"/>
          <p:nvPr/>
        </p:nvSpPr>
        <p:spPr>
          <a:xfrm>
            <a:off x="7178040" y="2130552"/>
            <a:ext cx="4114800" cy="274320"/>
          </a:xfrm>
          <a:prstGeom prst="rect">
            <a:avLst/>
          </a:prstGeom>
          <a:noFill/>
          <a:ln/>
        </p:spPr>
        <p:txBody>
          <a:bodyPr wrap="square" lIns="0" tIns="0" rIns="0" bIns="0" rtlCol="0" anchor="ctr"/>
          <a:lstStyle/>
          <a:p>
            <a:pPr indent="0" marL="0">
              <a:buNone/>
            </a:pPr>
            <a:r>
              <a:rPr lang="en-US" sz="1200" dirty="0">
                <a:solidFill>
                  <a:srgbClr val="6E6A85"/>
                </a:solidFill>
                <a:latin typeface="Calibri" pitchFamily="34" charset="0"/>
                <a:ea typeface="Calibri" pitchFamily="34" charset="-122"/>
                <a:cs typeface="Calibri" pitchFamily="34" charset="-120"/>
              </a:rPr>
              <a:t>Sort 64 digits (0-9), with duplicates</a:t>
            </a:r>
            <a:endParaRPr lang="en-US" sz="1200" dirty="0"/>
          </a:p>
        </p:txBody>
      </p:sp>
      <p:sp>
        <p:nvSpPr>
          <p:cNvPr id="10" name="Text 8"/>
          <p:cNvSpPr txBox="1"/>
          <p:nvPr/>
        </p:nvSpPr>
        <p:spPr>
          <a:xfrm>
            <a:off x="7178040" y="2542032"/>
            <a:ext cx="4114800" cy="292608"/>
          </a:xfrm>
          <a:prstGeom prst="rect">
            <a:avLst/>
          </a:prstGeom>
          <a:noFill/>
          <a:ln/>
        </p:spPr>
        <p:txBody>
          <a:bodyPr wrap="square" lIns="0" tIns="0" rIns="0" bIns="0" rtlCol="0" anchor="ctr"/>
          <a:lstStyle/>
          <a:p>
            <a:pPr indent="0" marL="0">
              <a:buNone/>
            </a:pPr>
            <a:r>
              <a:rPr lang="en-US" sz="1400" dirty="0">
                <a:solidFill>
                  <a:srgbClr val="1F1A38"/>
                </a:solidFill>
                <a:latin typeface="Courier New" pitchFamily="34" charset="0"/>
                <a:ea typeface="Courier New" pitchFamily="34" charset="-122"/>
                <a:cs typeface="Courier New" pitchFamily="34" charset="-120"/>
              </a:rPr>
              <a:t>[4, 2, 7, 2, 9, 2, 1, ...]</a:t>
            </a:r>
            <a:endParaRPr lang="en-US" sz="1400" dirty="0"/>
          </a:p>
        </p:txBody>
      </p:sp>
      <p:sp>
        <p:nvSpPr>
          <p:cNvPr id="11" name="Text 9"/>
          <p:cNvSpPr txBox="1"/>
          <p:nvPr/>
        </p:nvSpPr>
        <p:spPr>
          <a:xfrm>
            <a:off x="7178040" y="2926080"/>
            <a:ext cx="4114800" cy="914400"/>
          </a:xfrm>
          <a:prstGeom prst="rect">
            <a:avLst/>
          </a:prstGeom>
          <a:noFill/>
          <a:ln/>
        </p:spPr>
        <p:txBody>
          <a:bodyPr wrap="square" lIns="0" tIns="0" rIns="0" bIns="0" rtlCol="0" anchor="ctr"/>
          <a:lstStyle/>
          <a:p>
            <a:pPr indent="0" marL="0">
              <a:buNone/>
            </a:pPr>
            <a:r>
              <a:rPr lang="en-US" sz="1250" dirty="0">
                <a:solidFill>
                  <a:srgbClr val="1F1A38"/>
                </a:solidFill>
                <a:latin typeface="Calibri" pitchFamily="34" charset="0"/>
                <a:ea typeface="Calibri" pitchFamily="34" charset="-122"/>
                <a:cs typeface="Calibri" pitchFamily="34" charset="-120"/>
              </a:rPr>
              <a:t>The model must emit 2 exactly three times - with no counter and no scratch variable. Only the text it has already written.</a:t>
            </a:r>
            <a:endParaRPr lang="en-US" sz="1250" dirty="0"/>
          </a:p>
        </p:txBody>
      </p:sp>
      <p:sp>
        <p:nvSpPr>
          <p:cNvPr id="12" name="Text 10"/>
          <p:cNvSpPr txBox="1"/>
          <p:nvPr/>
        </p:nvSpPr>
        <p:spPr>
          <a:xfrm>
            <a:off x="7178040" y="4069080"/>
            <a:ext cx="4114800" cy="548640"/>
          </a:xfrm>
          <a:prstGeom prst="rect">
            <a:avLst/>
          </a:prstGeom>
          <a:noFill/>
          <a:ln/>
        </p:spPr>
        <p:txBody>
          <a:bodyPr wrap="square" lIns="0" tIns="0" rIns="0" bIns="0" rtlCol="0" anchor="ctr"/>
          <a:lstStyle/>
          <a:p>
            <a:pPr indent="0" marL="0">
              <a:buNone/>
            </a:pPr>
            <a:r>
              <a:rPr lang="en-US" sz="1300" b="1" i="1" dirty="0">
                <a:solidFill>
                  <a:srgbClr val="FF4D6D"/>
                </a:solidFill>
                <a:latin typeface="Calibri" pitchFamily="34" charset="0"/>
                <a:ea typeface="Calibri" pitchFamily="34" charset="-122"/>
                <a:cs typeface="Calibri" pitchFamily="34" charset="-120"/>
              </a:rPr>
              <a:t>A working-memory limit,</a:t>
            </a:r>
            <a:endParaRPr lang="en-US" sz="1300" dirty="0"/>
          </a:p>
          <a:p>
            <a:pPr indent="0" marL="0">
              <a:buNone/>
            </a:pPr>
            <a:r>
              <a:rPr lang="en-US" sz="1300" b="1" i="1" dirty="0">
                <a:solidFill>
                  <a:srgbClr val="FF4D6D"/>
                </a:solidFill>
                <a:latin typeface="Calibri" pitchFamily="34" charset="0"/>
                <a:ea typeface="Calibri" pitchFamily="34" charset="-122"/>
                <a:cs typeface="Calibri" pitchFamily="34" charset="-120"/>
              </a:rPr>
              <a:t>not a reasoning limit.</a:t>
            </a:r>
            <a:endParaRPr lang="en-US" sz="1300" dirty="0"/>
          </a:p>
        </p:txBody>
      </p:sp>
      <p:sp>
        <p:nvSpPr>
          <p:cNvPr id="13" name="Text 11"/>
          <p:cNvSpPr txBox="1"/>
          <p:nvPr/>
        </p:nvSpPr>
        <p:spPr>
          <a:xfrm>
            <a:off x="640080" y="5257800"/>
            <a:ext cx="10881360" cy="365760"/>
          </a:xfrm>
          <a:prstGeom prst="rect">
            <a:avLst/>
          </a:prstGeom>
          <a:noFill/>
          <a:ln/>
        </p:spPr>
        <p:txBody>
          <a:bodyPr wrap="square" lIns="0" tIns="0" rIns="0" bIns="0" rtlCol="0" anchor="ctr"/>
          <a:lstStyle/>
          <a:p>
            <a:pPr indent="0" marL="0">
              <a:buNone/>
            </a:pPr>
            <a:r>
              <a:rPr lang="en-US" sz="1200" i="1" dirty="0">
                <a:solidFill>
                  <a:srgbClr val="6E6A85"/>
                </a:solidFill>
                <a:latin typeface="Calibri" pitchFamily="34" charset="0"/>
                <a:ea typeface="Calibri" pitchFamily="34" charset="-122"/>
                <a:cs typeface="Calibri" pitchFamily="34" charset="-120"/>
              </a:rPr>
              <a:t>Digits are generated at random, so the task cannot be solved from memorised training data - the failure is isolated and measurable.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881360" cy="621792"/>
          </a:xfrm>
          <a:prstGeom prst="rect">
            <a:avLst/>
          </a:prstGeom>
          <a:noFill/>
          <a:ln/>
        </p:spPr>
        <p:txBody>
          <a:bodyPr wrap="square" lIns="0" tIns="0" rIns="0" bIns="0" rtlCol="0" anchor="ctr"/>
          <a:lstStyle/>
          <a:p>
            <a:pPr indent="0" marL="0">
              <a:buNone/>
            </a:pPr>
            <a:r>
              <a:rPr lang="en-US" sz="3200" b="1" dirty="0">
                <a:solidFill>
                  <a:srgbClr val="1F1A38"/>
                </a:solidFill>
                <a:latin typeface="Cambria" pitchFamily="34" charset="0"/>
                <a:ea typeface="Cambria" pitchFamily="34" charset="-122"/>
                <a:cs typeface="Cambria" pitchFamily="34" charset="-120"/>
              </a:rPr>
              <a:t>Four schemes, one question</a:t>
            </a:r>
            <a:endParaRPr lang="en-US" sz="3200" dirty="0"/>
          </a:p>
        </p:txBody>
      </p:sp>
      <p:sp>
        <p:nvSpPr>
          <p:cNvPr id="3" name="Text 1"/>
          <p:cNvSpPr txBox="1"/>
          <p:nvPr/>
        </p:nvSpPr>
        <p:spPr>
          <a:xfrm>
            <a:off x="640080" y="1005840"/>
            <a:ext cx="10881360" cy="365760"/>
          </a:xfrm>
          <a:prstGeom prst="rect">
            <a:avLst/>
          </a:prstGeom>
          <a:noFill/>
          <a:ln/>
        </p:spPr>
        <p:txBody>
          <a:bodyPr wrap="square" lIns="0" tIns="0" rIns="0" bIns="0" rtlCol="0" anchor="ctr"/>
          <a:lstStyle/>
          <a:p>
            <a:pPr indent="0" marL="0">
              <a:buNone/>
            </a:pPr>
            <a:r>
              <a:rPr lang="en-US" sz="1350" dirty="0">
                <a:solidFill>
                  <a:srgbClr val="6E6A85"/>
                </a:solidFill>
                <a:latin typeface="Calibri" pitchFamily="34" charset="0"/>
                <a:ea typeface="Calibri" pitchFamily="34" charset="-122"/>
                <a:cs typeface="Calibri" pitchFamily="34" charset="-120"/>
              </a:rPr>
              <a:t>What shape should the model's intermediate reasoning take?</a:t>
            </a:r>
            <a:endParaRPr lang="en-US" sz="1350" dirty="0"/>
          </a:p>
        </p:txBody>
      </p:sp>
      <p:sp>
        <p:nvSpPr>
          <p:cNvPr id="4" name="Shape 2"/>
          <p:cNvSpPr/>
          <p:nvPr/>
        </p:nvSpPr>
        <p:spPr>
          <a:xfrm>
            <a:off x="685800" y="1874520"/>
            <a:ext cx="2286000" cy="2834640"/>
          </a:xfrm>
          <a:prstGeom prst="roundRect">
            <a:avLst>
              <a:gd name="adj" fmla="val 2400"/>
            </a:avLst>
          </a:prstGeom>
          <a:solidFill>
            <a:srgbClr val="FFFFFF"/>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5" name="Text 3"/>
          <p:cNvSpPr txBox="1"/>
          <p:nvPr/>
        </p:nvSpPr>
        <p:spPr>
          <a:xfrm>
            <a:off x="685800" y="1984248"/>
            <a:ext cx="2286000" cy="310896"/>
          </a:xfrm>
          <a:prstGeom prst="rect">
            <a:avLst/>
          </a:prstGeom>
          <a:noFill/>
          <a:ln/>
        </p:spPr>
        <p:txBody>
          <a:bodyPr wrap="square" lIns="0" tIns="0" rIns="0" bIns="0" rtlCol="0" anchor="ctr"/>
          <a:lstStyle/>
          <a:p>
            <a:pPr algn="ctr" indent="0" marL="0">
              <a:buNone/>
            </a:pPr>
            <a:r>
              <a:rPr lang="en-US" sz="1900" b="1" dirty="0">
                <a:solidFill>
                  <a:srgbClr val="1F1A38"/>
                </a:solidFill>
                <a:latin typeface="Cambria" pitchFamily="34" charset="0"/>
                <a:ea typeface="Cambria" pitchFamily="34" charset="-122"/>
                <a:cs typeface="Cambria" pitchFamily="34" charset="-120"/>
              </a:rPr>
              <a:t>CoT</a:t>
            </a:r>
            <a:endParaRPr lang="en-US" sz="1900" dirty="0"/>
          </a:p>
        </p:txBody>
      </p:sp>
      <p:sp>
        <p:nvSpPr>
          <p:cNvPr id="6" name="Text 4"/>
          <p:cNvSpPr txBox="1"/>
          <p:nvPr/>
        </p:nvSpPr>
        <p:spPr>
          <a:xfrm>
            <a:off x="685800" y="2313432"/>
            <a:ext cx="2286000" cy="237744"/>
          </a:xfrm>
          <a:prstGeom prst="rect">
            <a:avLst/>
          </a:prstGeom>
          <a:noFill/>
          <a:ln/>
        </p:spPr>
        <p:txBody>
          <a:bodyPr wrap="square" lIns="0" tIns="0" rIns="0" bIns="0" rtlCol="0" anchor="ctr"/>
          <a:lstStyle/>
          <a:p>
            <a:pPr algn="ctr" indent="0" marL="0">
              <a:buNone/>
            </a:pPr>
            <a:r>
              <a:rPr lang="en-US" sz="1150" dirty="0">
                <a:solidFill>
                  <a:srgbClr val="6E6A85"/>
                </a:solidFill>
                <a:latin typeface="Calibri" pitchFamily="34" charset="0"/>
                <a:ea typeface="Calibri" pitchFamily="34" charset="-122"/>
                <a:cs typeface="Calibri" pitchFamily="34" charset="-120"/>
              </a:rPr>
              <a:t>chain</a:t>
            </a:r>
            <a:endParaRPr lang="en-US" sz="1150" dirty="0"/>
          </a:p>
        </p:txBody>
      </p:sp>
      <p:sp>
        <p:nvSpPr>
          <p:cNvPr id="7" name="Shape 5"/>
          <p:cNvSpPr/>
          <p:nvPr/>
        </p:nvSpPr>
        <p:spPr>
          <a:xfrm>
            <a:off x="1741932" y="2679192"/>
            <a:ext cx="173736" cy="173736"/>
          </a:xfrm>
          <a:prstGeom prst="ellipse">
            <a:avLst/>
          </a:prstGeom>
          <a:solidFill>
            <a:srgbClr val="6D4AFF"/>
          </a:solidFill>
          <a:ln w="12700">
            <a:solidFill>
              <a:srgbClr val="6D4AFF"/>
            </a:solidFill>
            <a:prstDash val="solid"/>
          </a:ln>
        </p:spPr>
      </p:sp>
      <p:sp>
        <p:nvSpPr>
          <p:cNvPr id="8" name="Shape 6"/>
          <p:cNvSpPr/>
          <p:nvPr/>
        </p:nvSpPr>
        <p:spPr>
          <a:xfrm>
            <a:off x="1828800" y="2766060"/>
            <a:ext cx="0" cy="457200"/>
          </a:xfrm>
          <a:prstGeom prst="line">
            <a:avLst/>
          </a:prstGeom>
          <a:noFill/>
          <a:ln w="15240">
            <a:solidFill>
              <a:srgbClr val="6D4AFF"/>
            </a:solidFill>
            <a:prstDash val="solid"/>
          </a:ln>
        </p:spPr>
      </p:sp>
      <p:sp>
        <p:nvSpPr>
          <p:cNvPr id="9" name="Shape 7"/>
          <p:cNvSpPr/>
          <p:nvPr/>
        </p:nvSpPr>
        <p:spPr>
          <a:xfrm>
            <a:off x="1741932" y="3136392"/>
            <a:ext cx="173736" cy="173736"/>
          </a:xfrm>
          <a:prstGeom prst="ellipse">
            <a:avLst/>
          </a:prstGeom>
          <a:solidFill>
            <a:srgbClr val="6D4AFF"/>
          </a:solidFill>
          <a:ln w="12700">
            <a:solidFill>
              <a:srgbClr val="6D4AFF"/>
            </a:solidFill>
            <a:prstDash val="solid"/>
          </a:ln>
        </p:spPr>
      </p:sp>
      <p:sp>
        <p:nvSpPr>
          <p:cNvPr id="10" name="Shape 8"/>
          <p:cNvSpPr/>
          <p:nvPr/>
        </p:nvSpPr>
        <p:spPr>
          <a:xfrm>
            <a:off x="1828800" y="3223260"/>
            <a:ext cx="0" cy="457200"/>
          </a:xfrm>
          <a:prstGeom prst="line">
            <a:avLst/>
          </a:prstGeom>
          <a:noFill/>
          <a:ln w="15240">
            <a:solidFill>
              <a:srgbClr val="6D4AFF"/>
            </a:solidFill>
            <a:prstDash val="solid"/>
          </a:ln>
        </p:spPr>
      </p:sp>
      <p:sp>
        <p:nvSpPr>
          <p:cNvPr id="11" name="Shape 9"/>
          <p:cNvSpPr/>
          <p:nvPr/>
        </p:nvSpPr>
        <p:spPr>
          <a:xfrm>
            <a:off x="1741932" y="3593592"/>
            <a:ext cx="173736" cy="173736"/>
          </a:xfrm>
          <a:prstGeom prst="ellipse">
            <a:avLst/>
          </a:prstGeom>
          <a:solidFill>
            <a:srgbClr val="6D4AFF"/>
          </a:solidFill>
          <a:ln w="12700">
            <a:solidFill>
              <a:srgbClr val="6D4AFF"/>
            </a:solidFill>
            <a:prstDash val="solid"/>
          </a:ln>
        </p:spPr>
      </p:sp>
      <p:sp>
        <p:nvSpPr>
          <p:cNvPr id="12" name="Shape 10"/>
          <p:cNvSpPr/>
          <p:nvPr/>
        </p:nvSpPr>
        <p:spPr>
          <a:xfrm>
            <a:off x="1828800" y="3680460"/>
            <a:ext cx="0" cy="457200"/>
          </a:xfrm>
          <a:prstGeom prst="line">
            <a:avLst/>
          </a:prstGeom>
          <a:noFill/>
          <a:ln w="15240">
            <a:solidFill>
              <a:srgbClr val="6D4AFF"/>
            </a:solidFill>
            <a:prstDash val="solid"/>
          </a:ln>
        </p:spPr>
      </p:sp>
      <p:sp>
        <p:nvSpPr>
          <p:cNvPr id="13" name="Shape 11"/>
          <p:cNvSpPr/>
          <p:nvPr/>
        </p:nvSpPr>
        <p:spPr>
          <a:xfrm>
            <a:off x="1741932" y="4050792"/>
            <a:ext cx="173736" cy="173736"/>
          </a:xfrm>
          <a:prstGeom prst="ellipse">
            <a:avLst/>
          </a:prstGeom>
          <a:solidFill>
            <a:srgbClr val="6D4AFF"/>
          </a:solidFill>
          <a:ln w="12700">
            <a:solidFill>
              <a:srgbClr val="6D4AFF"/>
            </a:solidFill>
            <a:prstDash val="solid"/>
          </a:ln>
        </p:spPr>
      </p:sp>
      <p:sp>
        <p:nvSpPr>
          <p:cNvPr id="14" name="Text 12"/>
          <p:cNvSpPr txBox="1"/>
          <p:nvPr/>
        </p:nvSpPr>
        <p:spPr>
          <a:xfrm>
            <a:off x="685800" y="4325112"/>
            <a:ext cx="2286000" cy="274320"/>
          </a:xfrm>
          <a:prstGeom prst="rect">
            <a:avLst/>
          </a:prstGeom>
          <a:noFill/>
          <a:ln/>
        </p:spPr>
        <p:txBody>
          <a:bodyPr wrap="square" lIns="0" tIns="0" rIns="0" bIns="0" rtlCol="0" anchor="ctr"/>
          <a:lstStyle/>
          <a:p>
            <a:pPr algn="ctr" indent="0" marL="0">
              <a:buNone/>
            </a:pPr>
            <a:r>
              <a:rPr lang="en-US" sz="1150" dirty="0">
                <a:solidFill>
                  <a:srgbClr val="6E6A85"/>
                </a:solidFill>
                <a:latin typeface="Calibri" pitchFamily="34" charset="0"/>
                <a:ea typeface="Calibri" pitchFamily="34" charset="-122"/>
                <a:cs typeface="Calibri" pitchFamily="34" charset="-120"/>
              </a:rPr>
              <a:t>show the steps</a:t>
            </a:r>
            <a:endParaRPr lang="en-US" sz="1150" dirty="0"/>
          </a:p>
        </p:txBody>
      </p:sp>
      <p:sp>
        <p:nvSpPr>
          <p:cNvPr id="15" name="Shape 13"/>
          <p:cNvSpPr/>
          <p:nvPr/>
        </p:nvSpPr>
        <p:spPr>
          <a:xfrm>
            <a:off x="3520440" y="1874520"/>
            <a:ext cx="2286000" cy="2834640"/>
          </a:xfrm>
          <a:prstGeom prst="roundRect">
            <a:avLst>
              <a:gd name="adj" fmla="val 2400"/>
            </a:avLst>
          </a:prstGeom>
          <a:solidFill>
            <a:srgbClr val="FFFFFF"/>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16" name="Text 14"/>
          <p:cNvSpPr txBox="1"/>
          <p:nvPr/>
        </p:nvSpPr>
        <p:spPr>
          <a:xfrm>
            <a:off x="3520440" y="1984248"/>
            <a:ext cx="2286000" cy="310896"/>
          </a:xfrm>
          <a:prstGeom prst="rect">
            <a:avLst/>
          </a:prstGeom>
          <a:noFill/>
          <a:ln/>
        </p:spPr>
        <p:txBody>
          <a:bodyPr wrap="square" lIns="0" tIns="0" rIns="0" bIns="0" rtlCol="0" anchor="ctr"/>
          <a:lstStyle/>
          <a:p>
            <a:pPr algn="ctr" indent="0" marL="0">
              <a:buNone/>
            </a:pPr>
            <a:r>
              <a:rPr lang="en-US" sz="1900" b="1" dirty="0">
                <a:solidFill>
                  <a:srgbClr val="1F1A38"/>
                </a:solidFill>
                <a:latin typeface="Cambria" pitchFamily="34" charset="0"/>
                <a:ea typeface="Cambria" pitchFamily="34" charset="-122"/>
                <a:cs typeface="Cambria" pitchFamily="34" charset="-120"/>
              </a:rPr>
              <a:t>CoT-SC</a:t>
            </a:r>
            <a:endParaRPr lang="en-US" sz="1900" dirty="0"/>
          </a:p>
        </p:txBody>
      </p:sp>
      <p:sp>
        <p:nvSpPr>
          <p:cNvPr id="17" name="Text 15"/>
          <p:cNvSpPr txBox="1"/>
          <p:nvPr/>
        </p:nvSpPr>
        <p:spPr>
          <a:xfrm>
            <a:off x="3520440" y="2313432"/>
            <a:ext cx="2286000" cy="237744"/>
          </a:xfrm>
          <a:prstGeom prst="rect">
            <a:avLst/>
          </a:prstGeom>
          <a:noFill/>
          <a:ln/>
        </p:spPr>
        <p:txBody>
          <a:bodyPr wrap="square" lIns="0" tIns="0" rIns="0" bIns="0" rtlCol="0" anchor="ctr"/>
          <a:lstStyle/>
          <a:p>
            <a:pPr algn="ctr" indent="0" marL="0">
              <a:buNone/>
            </a:pPr>
            <a:r>
              <a:rPr lang="en-US" sz="1150" dirty="0">
                <a:solidFill>
                  <a:srgbClr val="6E6A85"/>
                </a:solidFill>
                <a:latin typeface="Calibri" pitchFamily="34" charset="0"/>
                <a:ea typeface="Calibri" pitchFamily="34" charset="-122"/>
                <a:cs typeface="Calibri" pitchFamily="34" charset="-120"/>
              </a:rPr>
              <a:t>k chains</a:t>
            </a:r>
            <a:endParaRPr lang="en-US" sz="1150" dirty="0"/>
          </a:p>
        </p:txBody>
      </p:sp>
      <p:sp>
        <p:nvSpPr>
          <p:cNvPr id="18" name="Shape 16"/>
          <p:cNvSpPr/>
          <p:nvPr/>
        </p:nvSpPr>
        <p:spPr>
          <a:xfrm>
            <a:off x="4027932" y="2679192"/>
            <a:ext cx="173736" cy="173736"/>
          </a:xfrm>
          <a:prstGeom prst="ellipse">
            <a:avLst/>
          </a:prstGeom>
          <a:solidFill>
            <a:srgbClr val="6D4AFF"/>
          </a:solidFill>
          <a:ln w="12700">
            <a:solidFill>
              <a:srgbClr val="6D4AFF"/>
            </a:solidFill>
            <a:prstDash val="solid"/>
          </a:ln>
        </p:spPr>
      </p:sp>
      <p:sp>
        <p:nvSpPr>
          <p:cNvPr id="19" name="Shape 17"/>
          <p:cNvSpPr/>
          <p:nvPr/>
        </p:nvSpPr>
        <p:spPr>
          <a:xfrm>
            <a:off x="4114800" y="2766060"/>
            <a:ext cx="0" cy="457200"/>
          </a:xfrm>
          <a:prstGeom prst="line">
            <a:avLst/>
          </a:prstGeom>
          <a:noFill/>
          <a:ln w="15240">
            <a:solidFill>
              <a:srgbClr val="6D4AFF"/>
            </a:solidFill>
            <a:prstDash val="solid"/>
          </a:ln>
        </p:spPr>
      </p:sp>
      <p:sp>
        <p:nvSpPr>
          <p:cNvPr id="20" name="Shape 18"/>
          <p:cNvSpPr/>
          <p:nvPr/>
        </p:nvSpPr>
        <p:spPr>
          <a:xfrm>
            <a:off x="4027932" y="3136392"/>
            <a:ext cx="173736" cy="173736"/>
          </a:xfrm>
          <a:prstGeom prst="ellipse">
            <a:avLst/>
          </a:prstGeom>
          <a:solidFill>
            <a:srgbClr val="6D4AFF"/>
          </a:solidFill>
          <a:ln w="12700">
            <a:solidFill>
              <a:srgbClr val="6D4AFF"/>
            </a:solidFill>
            <a:prstDash val="solid"/>
          </a:ln>
        </p:spPr>
      </p:sp>
      <p:sp>
        <p:nvSpPr>
          <p:cNvPr id="21" name="Shape 19"/>
          <p:cNvSpPr/>
          <p:nvPr/>
        </p:nvSpPr>
        <p:spPr>
          <a:xfrm>
            <a:off x="4114800" y="3223260"/>
            <a:ext cx="0" cy="457200"/>
          </a:xfrm>
          <a:prstGeom prst="line">
            <a:avLst/>
          </a:prstGeom>
          <a:noFill/>
          <a:ln w="15240">
            <a:solidFill>
              <a:srgbClr val="6D4AFF"/>
            </a:solidFill>
            <a:prstDash val="solid"/>
          </a:ln>
        </p:spPr>
      </p:sp>
      <p:sp>
        <p:nvSpPr>
          <p:cNvPr id="22" name="Shape 20"/>
          <p:cNvSpPr/>
          <p:nvPr/>
        </p:nvSpPr>
        <p:spPr>
          <a:xfrm>
            <a:off x="4027932" y="3593592"/>
            <a:ext cx="173736" cy="173736"/>
          </a:xfrm>
          <a:prstGeom prst="ellipse">
            <a:avLst/>
          </a:prstGeom>
          <a:solidFill>
            <a:srgbClr val="6D4AFF"/>
          </a:solidFill>
          <a:ln w="12700">
            <a:solidFill>
              <a:srgbClr val="6D4AFF"/>
            </a:solidFill>
            <a:prstDash val="solid"/>
          </a:ln>
        </p:spPr>
      </p:sp>
      <p:sp>
        <p:nvSpPr>
          <p:cNvPr id="23" name="Shape 21"/>
          <p:cNvSpPr/>
          <p:nvPr/>
        </p:nvSpPr>
        <p:spPr>
          <a:xfrm>
            <a:off x="4576572" y="2679192"/>
            <a:ext cx="173736" cy="173736"/>
          </a:xfrm>
          <a:prstGeom prst="ellipse">
            <a:avLst/>
          </a:prstGeom>
          <a:solidFill>
            <a:srgbClr val="6D4AFF"/>
          </a:solidFill>
          <a:ln w="12700">
            <a:solidFill>
              <a:srgbClr val="6D4AFF"/>
            </a:solidFill>
            <a:prstDash val="solid"/>
          </a:ln>
        </p:spPr>
      </p:sp>
      <p:sp>
        <p:nvSpPr>
          <p:cNvPr id="24" name="Shape 22"/>
          <p:cNvSpPr/>
          <p:nvPr/>
        </p:nvSpPr>
        <p:spPr>
          <a:xfrm>
            <a:off x="4663440" y="2766060"/>
            <a:ext cx="0" cy="457200"/>
          </a:xfrm>
          <a:prstGeom prst="line">
            <a:avLst/>
          </a:prstGeom>
          <a:noFill/>
          <a:ln w="15240">
            <a:solidFill>
              <a:srgbClr val="6D4AFF"/>
            </a:solidFill>
            <a:prstDash val="solid"/>
          </a:ln>
        </p:spPr>
      </p:sp>
      <p:sp>
        <p:nvSpPr>
          <p:cNvPr id="25" name="Shape 23"/>
          <p:cNvSpPr/>
          <p:nvPr/>
        </p:nvSpPr>
        <p:spPr>
          <a:xfrm>
            <a:off x="4576572" y="3136392"/>
            <a:ext cx="173736" cy="173736"/>
          </a:xfrm>
          <a:prstGeom prst="ellipse">
            <a:avLst/>
          </a:prstGeom>
          <a:solidFill>
            <a:srgbClr val="6D4AFF"/>
          </a:solidFill>
          <a:ln w="12700">
            <a:solidFill>
              <a:srgbClr val="6D4AFF"/>
            </a:solidFill>
            <a:prstDash val="solid"/>
          </a:ln>
        </p:spPr>
      </p:sp>
      <p:sp>
        <p:nvSpPr>
          <p:cNvPr id="26" name="Shape 24"/>
          <p:cNvSpPr/>
          <p:nvPr/>
        </p:nvSpPr>
        <p:spPr>
          <a:xfrm>
            <a:off x="4663440" y="3223260"/>
            <a:ext cx="0" cy="457200"/>
          </a:xfrm>
          <a:prstGeom prst="line">
            <a:avLst/>
          </a:prstGeom>
          <a:noFill/>
          <a:ln w="15240">
            <a:solidFill>
              <a:srgbClr val="6D4AFF"/>
            </a:solidFill>
            <a:prstDash val="solid"/>
          </a:ln>
        </p:spPr>
      </p:sp>
      <p:sp>
        <p:nvSpPr>
          <p:cNvPr id="27" name="Shape 25"/>
          <p:cNvSpPr/>
          <p:nvPr/>
        </p:nvSpPr>
        <p:spPr>
          <a:xfrm>
            <a:off x="4576572" y="3593592"/>
            <a:ext cx="173736" cy="173736"/>
          </a:xfrm>
          <a:prstGeom prst="ellipse">
            <a:avLst/>
          </a:prstGeom>
          <a:solidFill>
            <a:srgbClr val="6D4AFF"/>
          </a:solidFill>
          <a:ln w="12700">
            <a:solidFill>
              <a:srgbClr val="6D4AFF"/>
            </a:solidFill>
            <a:prstDash val="solid"/>
          </a:ln>
        </p:spPr>
      </p:sp>
      <p:sp>
        <p:nvSpPr>
          <p:cNvPr id="28" name="Shape 26"/>
          <p:cNvSpPr/>
          <p:nvPr/>
        </p:nvSpPr>
        <p:spPr>
          <a:xfrm>
            <a:off x="5125212" y="2679192"/>
            <a:ext cx="173736" cy="173736"/>
          </a:xfrm>
          <a:prstGeom prst="ellipse">
            <a:avLst/>
          </a:prstGeom>
          <a:solidFill>
            <a:srgbClr val="6D4AFF"/>
          </a:solidFill>
          <a:ln w="12700">
            <a:solidFill>
              <a:srgbClr val="6D4AFF"/>
            </a:solidFill>
            <a:prstDash val="solid"/>
          </a:ln>
        </p:spPr>
      </p:sp>
      <p:sp>
        <p:nvSpPr>
          <p:cNvPr id="29" name="Shape 27"/>
          <p:cNvSpPr/>
          <p:nvPr/>
        </p:nvSpPr>
        <p:spPr>
          <a:xfrm>
            <a:off x="5212080" y="2766060"/>
            <a:ext cx="0" cy="457200"/>
          </a:xfrm>
          <a:prstGeom prst="line">
            <a:avLst/>
          </a:prstGeom>
          <a:noFill/>
          <a:ln w="15240">
            <a:solidFill>
              <a:srgbClr val="6D4AFF"/>
            </a:solidFill>
            <a:prstDash val="solid"/>
          </a:ln>
        </p:spPr>
      </p:sp>
      <p:sp>
        <p:nvSpPr>
          <p:cNvPr id="30" name="Shape 28"/>
          <p:cNvSpPr/>
          <p:nvPr/>
        </p:nvSpPr>
        <p:spPr>
          <a:xfrm>
            <a:off x="5125212" y="3136392"/>
            <a:ext cx="173736" cy="173736"/>
          </a:xfrm>
          <a:prstGeom prst="ellipse">
            <a:avLst/>
          </a:prstGeom>
          <a:solidFill>
            <a:srgbClr val="6D4AFF"/>
          </a:solidFill>
          <a:ln w="12700">
            <a:solidFill>
              <a:srgbClr val="6D4AFF"/>
            </a:solidFill>
            <a:prstDash val="solid"/>
          </a:ln>
        </p:spPr>
      </p:sp>
      <p:sp>
        <p:nvSpPr>
          <p:cNvPr id="31" name="Shape 29"/>
          <p:cNvSpPr/>
          <p:nvPr/>
        </p:nvSpPr>
        <p:spPr>
          <a:xfrm>
            <a:off x="5212080" y="3223260"/>
            <a:ext cx="0" cy="457200"/>
          </a:xfrm>
          <a:prstGeom prst="line">
            <a:avLst/>
          </a:prstGeom>
          <a:noFill/>
          <a:ln w="15240">
            <a:solidFill>
              <a:srgbClr val="6D4AFF"/>
            </a:solidFill>
            <a:prstDash val="solid"/>
          </a:ln>
        </p:spPr>
      </p:sp>
      <p:sp>
        <p:nvSpPr>
          <p:cNvPr id="32" name="Shape 30"/>
          <p:cNvSpPr/>
          <p:nvPr/>
        </p:nvSpPr>
        <p:spPr>
          <a:xfrm>
            <a:off x="5125212" y="3593592"/>
            <a:ext cx="173736" cy="173736"/>
          </a:xfrm>
          <a:prstGeom prst="ellipse">
            <a:avLst/>
          </a:prstGeom>
          <a:solidFill>
            <a:srgbClr val="6D4AFF"/>
          </a:solidFill>
          <a:ln w="12700">
            <a:solidFill>
              <a:srgbClr val="6D4AFF"/>
            </a:solidFill>
            <a:prstDash val="solid"/>
          </a:ln>
        </p:spPr>
      </p:sp>
      <p:sp>
        <p:nvSpPr>
          <p:cNvPr id="33" name="Text 31"/>
          <p:cNvSpPr txBox="1"/>
          <p:nvPr/>
        </p:nvSpPr>
        <p:spPr>
          <a:xfrm>
            <a:off x="3520440" y="4325112"/>
            <a:ext cx="2286000" cy="274320"/>
          </a:xfrm>
          <a:prstGeom prst="rect">
            <a:avLst/>
          </a:prstGeom>
          <a:noFill/>
          <a:ln/>
        </p:spPr>
        <p:txBody>
          <a:bodyPr wrap="square" lIns="0" tIns="0" rIns="0" bIns="0" rtlCol="0" anchor="ctr"/>
          <a:lstStyle/>
          <a:p>
            <a:pPr algn="ctr" indent="0" marL="0">
              <a:buNone/>
            </a:pPr>
            <a:r>
              <a:rPr lang="en-US" sz="1150" dirty="0">
                <a:solidFill>
                  <a:srgbClr val="6E6A85"/>
                </a:solidFill>
                <a:latin typeface="Calibri" pitchFamily="34" charset="0"/>
                <a:ea typeface="Calibri" pitchFamily="34" charset="-122"/>
                <a:cs typeface="Calibri" pitchFamily="34" charset="-120"/>
              </a:rPr>
              <a:t>sample, then select</a:t>
            </a:r>
            <a:endParaRPr lang="en-US" sz="1150" dirty="0"/>
          </a:p>
        </p:txBody>
      </p:sp>
      <p:sp>
        <p:nvSpPr>
          <p:cNvPr id="34" name="Shape 32"/>
          <p:cNvSpPr/>
          <p:nvPr/>
        </p:nvSpPr>
        <p:spPr>
          <a:xfrm>
            <a:off x="6355080" y="1874520"/>
            <a:ext cx="2286000" cy="2834640"/>
          </a:xfrm>
          <a:prstGeom prst="roundRect">
            <a:avLst>
              <a:gd name="adj" fmla="val 2400"/>
            </a:avLst>
          </a:prstGeom>
          <a:solidFill>
            <a:srgbClr val="FFFFFF"/>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35" name="Text 33"/>
          <p:cNvSpPr txBox="1"/>
          <p:nvPr/>
        </p:nvSpPr>
        <p:spPr>
          <a:xfrm>
            <a:off x="6355080" y="1984248"/>
            <a:ext cx="2286000" cy="310896"/>
          </a:xfrm>
          <a:prstGeom prst="rect">
            <a:avLst/>
          </a:prstGeom>
          <a:noFill/>
          <a:ln/>
        </p:spPr>
        <p:txBody>
          <a:bodyPr wrap="square" lIns="0" tIns="0" rIns="0" bIns="0" rtlCol="0" anchor="ctr"/>
          <a:lstStyle/>
          <a:p>
            <a:pPr algn="ctr" indent="0" marL="0">
              <a:buNone/>
            </a:pPr>
            <a:r>
              <a:rPr lang="en-US" sz="1900" b="1" dirty="0">
                <a:solidFill>
                  <a:srgbClr val="1F1A38"/>
                </a:solidFill>
                <a:latin typeface="Cambria" pitchFamily="34" charset="0"/>
                <a:ea typeface="Cambria" pitchFamily="34" charset="-122"/>
                <a:cs typeface="Cambria" pitchFamily="34" charset="-120"/>
              </a:rPr>
              <a:t>ToT</a:t>
            </a:r>
            <a:endParaRPr lang="en-US" sz="1900" dirty="0"/>
          </a:p>
        </p:txBody>
      </p:sp>
      <p:sp>
        <p:nvSpPr>
          <p:cNvPr id="36" name="Text 34"/>
          <p:cNvSpPr txBox="1"/>
          <p:nvPr/>
        </p:nvSpPr>
        <p:spPr>
          <a:xfrm>
            <a:off x="6355080" y="2313432"/>
            <a:ext cx="2286000" cy="237744"/>
          </a:xfrm>
          <a:prstGeom prst="rect">
            <a:avLst/>
          </a:prstGeom>
          <a:noFill/>
          <a:ln/>
        </p:spPr>
        <p:txBody>
          <a:bodyPr wrap="square" lIns="0" tIns="0" rIns="0" bIns="0" rtlCol="0" anchor="ctr"/>
          <a:lstStyle/>
          <a:p>
            <a:pPr algn="ctr" indent="0" marL="0">
              <a:buNone/>
            </a:pPr>
            <a:r>
              <a:rPr lang="en-US" sz="1150" dirty="0">
                <a:solidFill>
                  <a:srgbClr val="6E6A85"/>
                </a:solidFill>
                <a:latin typeface="Calibri" pitchFamily="34" charset="0"/>
                <a:ea typeface="Calibri" pitchFamily="34" charset="-122"/>
                <a:cs typeface="Calibri" pitchFamily="34" charset="-120"/>
              </a:rPr>
              <a:t>tree</a:t>
            </a:r>
            <a:endParaRPr lang="en-US" sz="1150" dirty="0"/>
          </a:p>
        </p:txBody>
      </p:sp>
      <p:sp>
        <p:nvSpPr>
          <p:cNvPr id="37" name="Shape 35"/>
          <p:cNvSpPr/>
          <p:nvPr/>
        </p:nvSpPr>
        <p:spPr>
          <a:xfrm>
            <a:off x="7411212" y="2679192"/>
            <a:ext cx="173736" cy="173736"/>
          </a:xfrm>
          <a:prstGeom prst="ellipse">
            <a:avLst/>
          </a:prstGeom>
          <a:solidFill>
            <a:srgbClr val="6D4AFF"/>
          </a:solidFill>
          <a:ln w="12700">
            <a:solidFill>
              <a:srgbClr val="6D4AFF"/>
            </a:solidFill>
            <a:prstDash val="solid"/>
          </a:ln>
        </p:spPr>
      </p:sp>
      <p:sp>
        <p:nvSpPr>
          <p:cNvPr id="38" name="Shape 36"/>
          <p:cNvSpPr/>
          <p:nvPr/>
        </p:nvSpPr>
        <p:spPr>
          <a:xfrm flipV="1">
            <a:off x="6912864" y="2766060"/>
            <a:ext cx="585216" cy="457200"/>
          </a:xfrm>
          <a:prstGeom prst="line">
            <a:avLst/>
          </a:prstGeom>
          <a:noFill/>
          <a:ln w="15240">
            <a:solidFill>
              <a:srgbClr val="6D4AFF"/>
            </a:solidFill>
            <a:prstDash val="solid"/>
          </a:ln>
        </p:spPr>
      </p:sp>
      <p:sp>
        <p:nvSpPr>
          <p:cNvPr id="39" name="Shape 37"/>
          <p:cNvSpPr/>
          <p:nvPr/>
        </p:nvSpPr>
        <p:spPr>
          <a:xfrm>
            <a:off x="6825996" y="3136392"/>
            <a:ext cx="173736" cy="173736"/>
          </a:xfrm>
          <a:prstGeom prst="ellipse">
            <a:avLst/>
          </a:prstGeom>
          <a:solidFill>
            <a:srgbClr val="6D4AFF"/>
          </a:solidFill>
          <a:ln w="12700">
            <a:solidFill>
              <a:srgbClr val="6D4AFF"/>
            </a:solidFill>
            <a:prstDash val="solid"/>
          </a:ln>
        </p:spPr>
      </p:sp>
      <p:sp>
        <p:nvSpPr>
          <p:cNvPr id="40" name="Shape 38"/>
          <p:cNvSpPr/>
          <p:nvPr/>
        </p:nvSpPr>
        <p:spPr>
          <a:xfrm flipV="1">
            <a:off x="6720840" y="3223260"/>
            <a:ext cx="192024" cy="457200"/>
          </a:xfrm>
          <a:prstGeom prst="line">
            <a:avLst/>
          </a:prstGeom>
          <a:noFill/>
          <a:ln w="15240">
            <a:solidFill>
              <a:srgbClr val="6D4AFF"/>
            </a:solidFill>
            <a:prstDash val="solid"/>
          </a:ln>
        </p:spPr>
      </p:sp>
      <p:sp>
        <p:nvSpPr>
          <p:cNvPr id="41" name="Shape 39"/>
          <p:cNvSpPr/>
          <p:nvPr/>
        </p:nvSpPr>
        <p:spPr>
          <a:xfrm>
            <a:off x="6633972" y="3593592"/>
            <a:ext cx="173736" cy="173736"/>
          </a:xfrm>
          <a:prstGeom prst="ellipse">
            <a:avLst/>
          </a:prstGeom>
          <a:solidFill>
            <a:srgbClr val="CFC7E8"/>
          </a:solidFill>
          <a:ln w="12700">
            <a:solidFill>
              <a:srgbClr val="CFC7E8"/>
            </a:solidFill>
            <a:prstDash val="solid"/>
          </a:ln>
        </p:spPr>
      </p:sp>
      <p:sp>
        <p:nvSpPr>
          <p:cNvPr id="42" name="Shape 40"/>
          <p:cNvSpPr/>
          <p:nvPr/>
        </p:nvSpPr>
        <p:spPr>
          <a:xfrm>
            <a:off x="6912864" y="3223260"/>
            <a:ext cx="192024" cy="457200"/>
          </a:xfrm>
          <a:prstGeom prst="line">
            <a:avLst/>
          </a:prstGeom>
          <a:noFill/>
          <a:ln w="15240">
            <a:solidFill>
              <a:srgbClr val="6D4AFF"/>
            </a:solidFill>
            <a:prstDash val="solid"/>
          </a:ln>
        </p:spPr>
      </p:sp>
      <p:sp>
        <p:nvSpPr>
          <p:cNvPr id="43" name="Shape 41"/>
          <p:cNvSpPr/>
          <p:nvPr/>
        </p:nvSpPr>
        <p:spPr>
          <a:xfrm>
            <a:off x="7018020" y="3593592"/>
            <a:ext cx="173736" cy="173736"/>
          </a:xfrm>
          <a:prstGeom prst="ellipse">
            <a:avLst/>
          </a:prstGeom>
          <a:solidFill>
            <a:srgbClr val="CFC7E8"/>
          </a:solidFill>
          <a:ln w="12700">
            <a:solidFill>
              <a:srgbClr val="CFC7E8"/>
            </a:solidFill>
            <a:prstDash val="solid"/>
          </a:ln>
        </p:spPr>
      </p:sp>
      <p:sp>
        <p:nvSpPr>
          <p:cNvPr id="44" name="Shape 42"/>
          <p:cNvSpPr/>
          <p:nvPr/>
        </p:nvSpPr>
        <p:spPr>
          <a:xfrm>
            <a:off x="7498080" y="2766060"/>
            <a:ext cx="0" cy="457200"/>
          </a:xfrm>
          <a:prstGeom prst="line">
            <a:avLst/>
          </a:prstGeom>
          <a:noFill/>
          <a:ln w="15240">
            <a:solidFill>
              <a:srgbClr val="6D4AFF"/>
            </a:solidFill>
            <a:prstDash val="solid"/>
          </a:ln>
        </p:spPr>
      </p:sp>
      <p:sp>
        <p:nvSpPr>
          <p:cNvPr id="45" name="Shape 43"/>
          <p:cNvSpPr/>
          <p:nvPr/>
        </p:nvSpPr>
        <p:spPr>
          <a:xfrm>
            <a:off x="7411212" y="3136392"/>
            <a:ext cx="173736" cy="173736"/>
          </a:xfrm>
          <a:prstGeom prst="ellipse">
            <a:avLst/>
          </a:prstGeom>
          <a:solidFill>
            <a:srgbClr val="6D4AFF"/>
          </a:solidFill>
          <a:ln w="12700">
            <a:solidFill>
              <a:srgbClr val="6D4AFF"/>
            </a:solidFill>
            <a:prstDash val="solid"/>
          </a:ln>
        </p:spPr>
      </p:sp>
      <p:sp>
        <p:nvSpPr>
          <p:cNvPr id="46" name="Shape 44"/>
          <p:cNvSpPr/>
          <p:nvPr/>
        </p:nvSpPr>
        <p:spPr>
          <a:xfrm flipV="1">
            <a:off x="7306056" y="3223260"/>
            <a:ext cx="192024" cy="457200"/>
          </a:xfrm>
          <a:prstGeom prst="line">
            <a:avLst/>
          </a:prstGeom>
          <a:noFill/>
          <a:ln w="15240">
            <a:solidFill>
              <a:srgbClr val="6D4AFF"/>
            </a:solidFill>
            <a:prstDash val="solid"/>
          </a:ln>
        </p:spPr>
      </p:sp>
      <p:sp>
        <p:nvSpPr>
          <p:cNvPr id="47" name="Shape 45"/>
          <p:cNvSpPr/>
          <p:nvPr/>
        </p:nvSpPr>
        <p:spPr>
          <a:xfrm>
            <a:off x="7219188" y="3593592"/>
            <a:ext cx="173736" cy="173736"/>
          </a:xfrm>
          <a:prstGeom prst="ellipse">
            <a:avLst/>
          </a:prstGeom>
          <a:solidFill>
            <a:srgbClr val="CFC7E8"/>
          </a:solidFill>
          <a:ln w="12700">
            <a:solidFill>
              <a:srgbClr val="CFC7E8"/>
            </a:solidFill>
            <a:prstDash val="solid"/>
          </a:ln>
        </p:spPr>
      </p:sp>
      <p:sp>
        <p:nvSpPr>
          <p:cNvPr id="48" name="Shape 46"/>
          <p:cNvSpPr/>
          <p:nvPr/>
        </p:nvSpPr>
        <p:spPr>
          <a:xfrm>
            <a:off x="7498080" y="3223260"/>
            <a:ext cx="192024" cy="457200"/>
          </a:xfrm>
          <a:prstGeom prst="line">
            <a:avLst/>
          </a:prstGeom>
          <a:noFill/>
          <a:ln w="15240">
            <a:solidFill>
              <a:srgbClr val="6D4AFF"/>
            </a:solidFill>
            <a:prstDash val="solid"/>
          </a:ln>
        </p:spPr>
      </p:sp>
      <p:sp>
        <p:nvSpPr>
          <p:cNvPr id="49" name="Shape 47"/>
          <p:cNvSpPr/>
          <p:nvPr/>
        </p:nvSpPr>
        <p:spPr>
          <a:xfrm>
            <a:off x="7603236" y="3593592"/>
            <a:ext cx="173736" cy="173736"/>
          </a:xfrm>
          <a:prstGeom prst="ellipse">
            <a:avLst/>
          </a:prstGeom>
          <a:solidFill>
            <a:srgbClr val="6D4AFF"/>
          </a:solidFill>
          <a:ln w="12700">
            <a:solidFill>
              <a:srgbClr val="6D4AFF"/>
            </a:solidFill>
            <a:prstDash val="solid"/>
          </a:ln>
        </p:spPr>
      </p:sp>
      <p:sp>
        <p:nvSpPr>
          <p:cNvPr id="50" name="Shape 48"/>
          <p:cNvSpPr/>
          <p:nvPr/>
        </p:nvSpPr>
        <p:spPr>
          <a:xfrm>
            <a:off x="7498080" y="2766060"/>
            <a:ext cx="585216" cy="457200"/>
          </a:xfrm>
          <a:prstGeom prst="line">
            <a:avLst/>
          </a:prstGeom>
          <a:noFill/>
          <a:ln w="15240">
            <a:solidFill>
              <a:srgbClr val="6D4AFF"/>
            </a:solidFill>
            <a:prstDash val="solid"/>
          </a:ln>
        </p:spPr>
      </p:sp>
      <p:sp>
        <p:nvSpPr>
          <p:cNvPr id="51" name="Shape 49"/>
          <p:cNvSpPr/>
          <p:nvPr/>
        </p:nvSpPr>
        <p:spPr>
          <a:xfrm>
            <a:off x="7996428" y="3136392"/>
            <a:ext cx="173736" cy="173736"/>
          </a:xfrm>
          <a:prstGeom prst="ellipse">
            <a:avLst/>
          </a:prstGeom>
          <a:solidFill>
            <a:srgbClr val="6D4AFF"/>
          </a:solidFill>
          <a:ln w="12700">
            <a:solidFill>
              <a:srgbClr val="6D4AFF"/>
            </a:solidFill>
            <a:prstDash val="solid"/>
          </a:ln>
        </p:spPr>
      </p:sp>
      <p:sp>
        <p:nvSpPr>
          <p:cNvPr id="52" name="Shape 50"/>
          <p:cNvSpPr/>
          <p:nvPr/>
        </p:nvSpPr>
        <p:spPr>
          <a:xfrm flipV="1">
            <a:off x="7891272" y="3223260"/>
            <a:ext cx="192024" cy="457200"/>
          </a:xfrm>
          <a:prstGeom prst="line">
            <a:avLst/>
          </a:prstGeom>
          <a:noFill/>
          <a:ln w="15240">
            <a:solidFill>
              <a:srgbClr val="6D4AFF"/>
            </a:solidFill>
            <a:prstDash val="solid"/>
          </a:ln>
        </p:spPr>
      </p:sp>
      <p:sp>
        <p:nvSpPr>
          <p:cNvPr id="53" name="Shape 51"/>
          <p:cNvSpPr/>
          <p:nvPr/>
        </p:nvSpPr>
        <p:spPr>
          <a:xfrm>
            <a:off x="7804404" y="3593592"/>
            <a:ext cx="173736" cy="173736"/>
          </a:xfrm>
          <a:prstGeom prst="ellipse">
            <a:avLst/>
          </a:prstGeom>
          <a:solidFill>
            <a:srgbClr val="CFC7E8"/>
          </a:solidFill>
          <a:ln w="12700">
            <a:solidFill>
              <a:srgbClr val="CFC7E8"/>
            </a:solidFill>
            <a:prstDash val="solid"/>
          </a:ln>
        </p:spPr>
      </p:sp>
      <p:sp>
        <p:nvSpPr>
          <p:cNvPr id="54" name="Shape 52"/>
          <p:cNvSpPr/>
          <p:nvPr/>
        </p:nvSpPr>
        <p:spPr>
          <a:xfrm>
            <a:off x="8083296" y="3223260"/>
            <a:ext cx="192024" cy="457200"/>
          </a:xfrm>
          <a:prstGeom prst="line">
            <a:avLst/>
          </a:prstGeom>
          <a:noFill/>
          <a:ln w="15240">
            <a:solidFill>
              <a:srgbClr val="6D4AFF"/>
            </a:solidFill>
            <a:prstDash val="solid"/>
          </a:ln>
        </p:spPr>
      </p:sp>
      <p:sp>
        <p:nvSpPr>
          <p:cNvPr id="55" name="Shape 53"/>
          <p:cNvSpPr/>
          <p:nvPr/>
        </p:nvSpPr>
        <p:spPr>
          <a:xfrm>
            <a:off x="8188452" y="3593592"/>
            <a:ext cx="173736" cy="173736"/>
          </a:xfrm>
          <a:prstGeom prst="ellipse">
            <a:avLst/>
          </a:prstGeom>
          <a:solidFill>
            <a:srgbClr val="CFC7E8"/>
          </a:solidFill>
          <a:ln w="12700">
            <a:solidFill>
              <a:srgbClr val="CFC7E8"/>
            </a:solidFill>
            <a:prstDash val="solid"/>
          </a:ln>
        </p:spPr>
      </p:sp>
      <p:sp>
        <p:nvSpPr>
          <p:cNvPr id="56" name="Text 54"/>
          <p:cNvSpPr txBox="1"/>
          <p:nvPr/>
        </p:nvSpPr>
        <p:spPr>
          <a:xfrm>
            <a:off x="6355080" y="4325112"/>
            <a:ext cx="2286000" cy="274320"/>
          </a:xfrm>
          <a:prstGeom prst="rect">
            <a:avLst/>
          </a:prstGeom>
          <a:noFill/>
          <a:ln/>
        </p:spPr>
        <p:txBody>
          <a:bodyPr wrap="square" lIns="0" tIns="0" rIns="0" bIns="0" rtlCol="0" anchor="ctr"/>
          <a:lstStyle/>
          <a:p>
            <a:pPr algn="ctr" indent="0" marL="0">
              <a:buNone/>
            </a:pPr>
            <a:r>
              <a:rPr lang="en-US" sz="1150" dirty="0">
                <a:solidFill>
                  <a:srgbClr val="6E6A85"/>
                </a:solidFill>
                <a:latin typeface="Calibri" pitchFamily="34" charset="0"/>
                <a:ea typeface="Calibri" pitchFamily="34" charset="-122"/>
                <a:cs typeface="Calibri" pitchFamily="34" charset="-120"/>
              </a:rPr>
              <a:t>branch and backtrack</a:t>
            </a:r>
            <a:endParaRPr lang="en-US" sz="1150" dirty="0"/>
          </a:p>
        </p:txBody>
      </p:sp>
      <p:sp>
        <p:nvSpPr>
          <p:cNvPr id="57" name="Shape 55"/>
          <p:cNvSpPr/>
          <p:nvPr/>
        </p:nvSpPr>
        <p:spPr>
          <a:xfrm>
            <a:off x="9189720" y="1874520"/>
            <a:ext cx="2286000" cy="2834640"/>
          </a:xfrm>
          <a:prstGeom prst="roundRect">
            <a:avLst>
              <a:gd name="adj" fmla="val 2400"/>
            </a:avLst>
          </a:prstGeom>
          <a:solidFill>
            <a:srgbClr val="FFF6E6"/>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58" name="Text 56"/>
          <p:cNvSpPr txBox="1"/>
          <p:nvPr/>
        </p:nvSpPr>
        <p:spPr>
          <a:xfrm>
            <a:off x="9189720" y="1984248"/>
            <a:ext cx="2286000" cy="310896"/>
          </a:xfrm>
          <a:prstGeom prst="rect">
            <a:avLst/>
          </a:prstGeom>
          <a:noFill/>
          <a:ln/>
        </p:spPr>
        <p:txBody>
          <a:bodyPr wrap="square" lIns="0" tIns="0" rIns="0" bIns="0" rtlCol="0" anchor="ctr"/>
          <a:lstStyle/>
          <a:p>
            <a:pPr algn="ctr" indent="0" marL="0">
              <a:buNone/>
            </a:pPr>
            <a:r>
              <a:rPr lang="en-US" sz="1900" b="1" dirty="0">
                <a:solidFill>
                  <a:srgbClr val="FFB627"/>
                </a:solidFill>
                <a:latin typeface="Cambria" pitchFamily="34" charset="0"/>
                <a:ea typeface="Cambria" pitchFamily="34" charset="-122"/>
                <a:cs typeface="Cambria" pitchFamily="34" charset="-120"/>
              </a:rPr>
              <a:t>GoT</a:t>
            </a:r>
            <a:endParaRPr lang="en-US" sz="1900" dirty="0"/>
          </a:p>
        </p:txBody>
      </p:sp>
      <p:sp>
        <p:nvSpPr>
          <p:cNvPr id="59" name="Text 57"/>
          <p:cNvSpPr txBox="1"/>
          <p:nvPr/>
        </p:nvSpPr>
        <p:spPr>
          <a:xfrm>
            <a:off x="9189720" y="2313432"/>
            <a:ext cx="2286000" cy="237744"/>
          </a:xfrm>
          <a:prstGeom prst="rect">
            <a:avLst/>
          </a:prstGeom>
          <a:noFill/>
          <a:ln/>
        </p:spPr>
        <p:txBody>
          <a:bodyPr wrap="square" lIns="0" tIns="0" rIns="0" bIns="0" rtlCol="0" anchor="ctr"/>
          <a:lstStyle/>
          <a:p>
            <a:pPr algn="ctr" indent="0" marL="0">
              <a:buNone/>
            </a:pPr>
            <a:r>
              <a:rPr lang="en-US" sz="1150" dirty="0">
                <a:solidFill>
                  <a:srgbClr val="6E6A85"/>
                </a:solidFill>
                <a:latin typeface="Calibri" pitchFamily="34" charset="0"/>
                <a:ea typeface="Calibri" pitchFamily="34" charset="-122"/>
                <a:cs typeface="Calibri" pitchFamily="34" charset="-120"/>
              </a:rPr>
              <a:t>graph</a:t>
            </a:r>
            <a:endParaRPr lang="en-US" sz="1150" dirty="0"/>
          </a:p>
        </p:txBody>
      </p:sp>
      <p:sp>
        <p:nvSpPr>
          <p:cNvPr id="60" name="Shape 58"/>
          <p:cNvSpPr/>
          <p:nvPr/>
        </p:nvSpPr>
        <p:spPr>
          <a:xfrm>
            <a:off x="10245852" y="2679192"/>
            <a:ext cx="173736" cy="173736"/>
          </a:xfrm>
          <a:prstGeom prst="ellipse">
            <a:avLst/>
          </a:prstGeom>
          <a:solidFill>
            <a:srgbClr val="6D4AFF"/>
          </a:solidFill>
          <a:ln w="12700">
            <a:solidFill>
              <a:srgbClr val="6D4AFF"/>
            </a:solidFill>
            <a:prstDash val="solid"/>
          </a:ln>
        </p:spPr>
      </p:sp>
      <p:sp>
        <p:nvSpPr>
          <p:cNvPr id="61" name="Shape 59"/>
          <p:cNvSpPr/>
          <p:nvPr/>
        </p:nvSpPr>
        <p:spPr>
          <a:xfrm flipV="1">
            <a:off x="9692640" y="2766060"/>
            <a:ext cx="640080" cy="457200"/>
          </a:xfrm>
          <a:prstGeom prst="line">
            <a:avLst/>
          </a:prstGeom>
          <a:noFill/>
          <a:ln w="15240">
            <a:solidFill>
              <a:srgbClr val="6D4AFF"/>
            </a:solidFill>
            <a:prstDash val="solid"/>
          </a:ln>
        </p:spPr>
      </p:sp>
      <p:sp>
        <p:nvSpPr>
          <p:cNvPr id="62" name="Shape 60"/>
          <p:cNvSpPr/>
          <p:nvPr/>
        </p:nvSpPr>
        <p:spPr>
          <a:xfrm>
            <a:off x="9605772" y="3136392"/>
            <a:ext cx="173736" cy="173736"/>
          </a:xfrm>
          <a:prstGeom prst="ellipse">
            <a:avLst/>
          </a:prstGeom>
          <a:solidFill>
            <a:srgbClr val="6D4AFF"/>
          </a:solidFill>
          <a:ln w="12700">
            <a:solidFill>
              <a:srgbClr val="6D4AFF"/>
            </a:solidFill>
            <a:prstDash val="solid"/>
          </a:ln>
        </p:spPr>
      </p:sp>
      <p:sp>
        <p:nvSpPr>
          <p:cNvPr id="63" name="Shape 61"/>
          <p:cNvSpPr/>
          <p:nvPr/>
        </p:nvSpPr>
        <p:spPr>
          <a:xfrm flipV="1">
            <a:off x="10122408" y="2766060"/>
            <a:ext cx="210312" cy="457200"/>
          </a:xfrm>
          <a:prstGeom prst="line">
            <a:avLst/>
          </a:prstGeom>
          <a:noFill/>
          <a:ln w="15240">
            <a:solidFill>
              <a:srgbClr val="6D4AFF"/>
            </a:solidFill>
            <a:prstDash val="solid"/>
          </a:ln>
        </p:spPr>
      </p:sp>
      <p:sp>
        <p:nvSpPr>
          <p:cNvPr id="64" name="Shape 62"/>
          <p:cNvSpPr/>
          <p:nvPr/>
        </p:nvSpPr>
        <p:spPr>
          <a:xfrm>
            <a:off x="10035540" y="3136392"/>
            <a:ext cx="173736" cy="173736"/>
          </a:xfrm>
          <a:prstGeom prst="ellipse">
            <a:avLst/>
          </a:prstGeom>
          <a:solidFill>
            <a:srgbClr val="6D4AFF"/>
          </a:solidFill>
          <a:ln w="12700">
            <a:solidFill>
              <a:srgbClr val="6D4AFF"/>
            </a:solidFill>
            <a:prstDash val="solid"/>
          </a:ln>
        </p:spPr>
      </p:sp>
      <p:sp>
        <p:nvSpPr>
          <p:cNvPr id="65" name="Shape 63"/>
          <p:cNvSpPr/>
          <p:nvPr/>
        </p:nvSpPr>
        <p:spPr>
          <a:xfrm>
            <a:off x="10332720" y="2766060"/>
            <a:ext cx="210312" cy="457200"/>
          </a:xfrm>
          <a:prstGeom prst="line">
            <a:avLst/>
          </a:prstGeom>
          <a:noFill/>
          <a:ln w="15240">
            <a:solidFill>
              <a:srgbClr val="6D4AFF"/>
            </a:solidFill>
            <a:prstDash val="solid"/>
          </a:ln>
        </p:spPr>
      </p:sp>
      <p:sp>
        <p:nvSpPr>
          <p:cNvPr id="66" name="Shape 64"/>
          <p:cNvSpPr/>
          <p:nvPr/>
        </p:nvSpPr>
        <p:spPr>
          <a:xfrm>
            <a:off x="10456164" y="3136392"/>
            <a:ext cx="173736" cy="173736"/>
          </a:xfrm>
          <a:prstGeom prst="ellipse">
            <a:avLst/>
          </a:prstGeom>
          <a:solidFill>
            <a:srgbClr val="6D4AFF"/>
          </a:solidFill>
          <a:ln w="12700">
            <a:solidFill>
              <a:srgbClr val="6D4AFF"/>
            </a:solidFill>
            <a:prstDash val="solid"/>
          </a:ln>
        </p:spPr>
      </p:sp>
      <p:sp>
        <p:nvSpPr>
          <p:cNvPr id="67" name="Shape 65"/>
          <p:cNvSpPr/>
          <p:nvPr/>
        </p:nvSpPr>
        <p:spPr>
          <a:xfrm>
            <a:off x="10332720" y="2766060"/>
            <a:ext cx="640080" cy="457200"/>
          </a:xfrm>
          <a:prstGeom prst="line">
            <a:avLst/>
          </a:prstGeom>
          <a:noFill/>
          <a:ln w="15240">
            <a:solidFill>
              <a:srgbClr val="6D4AFF"/>
            </a:solidFill>
            <a:prstDash val="solid"/>
          </a:ln>
        </p:spPr>
      </p:sp>
      <p:sp>
        <p:nvSpPr>
          <p:cNvPr id="68" name="Shape 66"/>
          <p:cNvSpPr/>
          <p:nvPr/>
        </p:nvSpPr>
        <p:spPr>
          <a:xfrm>
            <a:off x="10885932" y="3136392"/>
            <a:ext cx="173736" cy="173736"/>
          </a:xfrm>
          <a:prstGeom prst="ellipse">
            <a:avLst/>
          </a:prstGeom>
          <a:solidFill>
            <a:srgbClr val="6D4AFF"/>
          </a:solidFill>
          <a:ln w="12700">
            <a:solidFill>
              <a:srgbClr val="6D4AFF"/>
            </a:solidFill>
            <a:prstDash val="solid"/>
          </a:ln>
        </p:spPr>
      </p:sp>
      <p:sp>
        <p:nvSpPr>
          <p:cNvPr id="69" name="Shape 67"/>
          <p:cNvSpPr/>
          <p:nvPr/>
        </p:nvSpPr>
        <p:spPr>
          <a:xfrm>
            <a:off x="9692640" y="3223260"/>
            <a:ext cx="210312" cy="457200"/>
          </a:xfrm>
          <a:prstGeom prst="line">
            <a:avLst/>
          </a:prstGeom>
          <a:noFill/>
          <a:ln w="21590">
            <a:solidFill>
              <a:srgbClr val="FFB627"/>
            </a:solidFill>
            <a:prstDash val="solid"/>
          </a:ln>
        </p:spPr>
      </p:sp>
      <p:sp>
        <p:nvSpPr>
          <p:cNvPr id="70" name="Shape 68"/>
          <p:cNvSpPr/>
          <p:nvPr/>
        </p:nvSpPr>
        <p:spPr>
          <a:xfrm flipV="1">
            <a:off x="9902952" y="3223260"/>
            <a:ext cx="219456" cy="457200"/>
          </a:xfrm>
          <a:prstGeom prst="line">
            <a:avLst/>
          </a:prstGeom>
          <a:noFill/>
          <a:ln w="21590">
            <a:solidFill>
              <a:srgbClr val="FFB627"/>
            </a:solidFill>
            <a:prstDash val="solid"/>
          </a:ln>
        </p:spPr>
      </p:sp>
      <p:sp>
        <p:nvSpPr>
          <p:cNvPr id="71" name="Shape 69"/>
          <p:cNvSpPr/>
          <p:nvPr/>
        </p:nvSpPr>
        <p:spPr>
          <a:xfrm>
            <a:off x="9816084" y="3593592"/>
            <a:ext cx="173736" cy="173736"/>
          </a:xfrm>
          <a:prstGeom prst="ellipse">
            <a:avLst/>
          </a:prstGeom>
          <a:solidFill>
            <a:srgbClr val="FFB627"/>
          </a:solidFill>
          <a:ln w="12700">
            <a:solidFill>
              <a:srgbClr val="FFB627"/>
            </a:solidFill>
            <a:prstDash val="solid"/>
          </a:ln>
        </p:spPr>
      </p:sp>
      <p:sp>
        <p:nvSpPr>
          <p:cNvPr id="72" name="Shape 70"/>
          <p:cNvSpPr/>
          <p:nvPr/>
        </p:nvSpPr>
        <p:spPr>
          <a:xfrm>
            <a:off x="9902952" y="3680460"/>
            <a:ext cx="429768" cy="457200"/>
          </a:xfrm>
          <a:prstGeom prst="line">
            <a:avLst/>
          </a:prstGeom>
          <a:noFill/>
          <a:ln w="21590">
            <a:solidFill>
              <a:srgbClr val="FFB627"/>
            </a:solidFill>
            <a:prstDash val="solid"/>
          </a:ln>
        </p:spPr>
      </p:sp>
      <p:sp>
        <p:nvSpPr>
          <p:cNvPr id="73" name="Shape 71"/>
          <p:cNvSpPr/>
          <p:nvPr/>
        </p:nvSpPr>
        <p:spPr>
          <a:xfrm>
            <a:off x="10543032" y="3223260"/>
            <a:ext cx="219456" cy="457200"/>
          </a:xfrm>
          <a:prstGeom prst="line">
            <a:avLst/>
          </a:prstGeom>
          <a:noFill/>
          <a:ln w="21590">
            <a:solidFill>
              <a:srgbClr val="FFB627"/>
            </a:solidFill>
            <a:prstDash val="solid"/>
          </a:ln>
        </p:spPr>
      </p:sp>
      <p:sp>
        <p:nvSpPr>
          <p:cNvPr id="74" name="Shape 72"/>
          <p:cNvSpPr/>
          <p:nvPr/>
        </p:nvSpPr>
        <p:spPr>
          <a:xfrm flipV="1">
            <a:off x="10762488" y="3223260"/>
            <a:ext cx="210312" cy="457200"/>
          </a:xfrm>
          <a:prstGeom prst="line">
            <a:avLst/>
          </a:prstGeom>
          <a:noFill/>
          <a:ln w="21590">
            <a:solidFill>
              <a:srgbClr val="FFB627"/>
            </a:solidFill>
            <a:prstDash val="solid"/>
          </a:ln>
        </p:spPr>
      </p:sp>
      <p:sp>
        <p:nvSpPr>
          <p:cNvPr id="75" name="Shape 73"/>
          <p:cNvSpPr/>
          <p:nvPr/>
        </p:nvSpPr>
        <p:spPr>
          <a:xfrm>
            <a:off x="10675620" y="3593592"/>
            <a:ext cx="173736" cy="173736"/>
          </a:xfrm>
          <a:prstGeom prst="ellipse">
            <a:avLst/>
          </a:prstGeom>
          <a:solidFill>
            <a:srgbClr val="FFB627"/>
          </a:solidFill>
          <a:ln w="12700">
            <a:solidFill>
              <a:srgbClr val="FFB627"/>
            </a:solidFill>
            <a:prstDash val="solid"/>
          </a:ln>
        </p:spPr>
      </p:sp>
      <p:sp>
        <p:nvSpPr>
          <p:cNvPr id="76" name="Shape 74"/>
          <p:cNvSpPr/>
          <p:nvPr/>
        </p:nvSpPr>
        <p:spPr>
          <a:xfrm flipV="1">
            <a:off x="10332720" y="3680460"/>
            <a:ext cx="429768" cy="457200"/>
          </a:xfrm>
          <a:prstGeom prst="line">
            <a:avLst/>
          </a:prstGeom>
          <a:noFill/>
          <a:ln w="21590">
            <a:solidFill>
              <a:srgbClr val="FFB627"/>
            </a:solidFill>
            <a:prstDash val="solid"/>
          </a:ln>
        </p:spPr>
      </p:sp>
      <p:sp>
        <p:nvSpPr>
          <p:cNvPr id="77" name="Shape 75"/>
          <p:cNvSpPr/>
          <p:nvPr/>
        </p:nvSpPr>
        <p:spPr>
          <a:xfrm>
            <a:off x="10245852" y="4050792"/>
            <a:ext cx="173736" cy="173736"/>
          </a:xfrm>
          <a:prstGeom prst="ellipse">
            <a:avLst/>
          </a:prstGeom>
          <a:solidFill>
            <a:srgbClr val="FFB627"/>
          </a:solidFill>
          <a:ln w="12700">
            <a:solidFill>
              <a:srgbClr val="FFB627"/>
            </a:solidFill>
            <a:prstDash val="solid"/>
          </a:ln>
        </p:spPr>
      </p:sp>
      <p:sp>
        <p:nvSpPr>
          <p:cNvPr id="78" name="Text 76"/>
          <p:cNvSpPr txBox="1"/>
          <p:nvPr/>
        </p:nvSpPr>
        <p:spPr>
          <a:xfrm>
            <a:off x="9189720" y="4325112"/>
            <a:ext cx="2286000" cy="274320"/>
          </a:xfrm>
          <a:prstGeom prst="rect">
            <a:avLst/>
          </a:prstGeom>
          <a:noFill/>
          <a:ln/>
        </p:spPr>
        <p:txBody>
          <a:bodyPr wrap="square" lIns="0" tIns="0" rIns="0" bIns="0" rtlCol="0" anchor="ctr"/>
          <a:lstStyle/>
          <a:p>
            <a:pPr algn="ctr" indent="0" marL="0">
              <a:buNone/>
            </a:pPr>
            <a:r>
              <a:rPr lang="en-US" sz="1150" b="1" dirty="0">
                <a:solidFill>
                  <a:srgbClr val="FFB627"/>
                </a:solidFill>
                <a:latin typeface="Calibri" pitchFamily="34" charset="0"/>
                <a:ea typeface="Calibri" pitchFamily="34" charset="-122"/>
                <a:cs typeface="Calibri" pitchFamily="34" charset="-120"/>
              </a:rPr>
              <a:t>AGGREGATE</a:t>
            </a:r>
            <a:endParaRPr lang="en-US" sz="1150" dirty="0"/>
          </a:p>
        </p:txBody>
      </p:sp>
      <p:sp>
        <p:nvSpPr>
          <p:cNvPr id="79" name="Shape 77"/>
          <p:cNvSpPr/>
          <p:nvPr/>
        </p:nvSpPr>
        <p:spPr>
          <a:xfrm>
            <a:off x="685800" y="5029200"/>
            <a:ext cx="10835640" cy="1005840"/>
          </a:xfrm>
          <a:prstGeom prst="roundRect">
            <a:avLst>
              <a:gd name="adj" fmla="val 5455"/>
            </a:avLst>
          </a:prstGeom>
          <a:solidFill>
            <a:srgbClr val="150E33"/>
          </a:solidFill>
          <a:ln w="12700">
            <a:solidFill>
              <a:srgbClr val="342A63"/>
            </a:solidFill>
            <a:prstDash val="solid"/>
          </a:ln>
        </p:spPr>
      </p:sp>
      <p:sp>
        <p:nvSpPr>
          <p:cNvPr id="80" name="Text 78"/>
          <p:cNvSpPr txBox="1"/>
          <p:nvPr/>
        </p:nvSpPr>
        <p:spPr>
          <a:xfrm>
            <a:off x="960120" y="5184648"/>
            <a:ext cx="10287000" cy="329184"/>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Aggregation requires a vertex with in-degree &gt; 1. A tree cannot contain one, by definition.</a:t>
            </a:r>
            <a:endParaRPr lang="en-US" sz="1550" dirty="0"/>
          </a:p>
        </p:txBody>
      </p:sp>
      <p:sp>
        <p:nvSpPr>
          <p:cNvPr id="81" name="Text 79"/>
          <p:cNvSpPr txBox="1"/>
          <p:nvPr/>
        </p:nvSpPr>
        <p:spPr>
          <a:xfrm>
            <a:off x="960120" y="5532120"/>
            <a:ext cx="10287000" cy="292608"/>
          </a:xfrm>
          <a:prstGeom prst="rect">
            <a:avLst/>
          </a:prstGeom>
          <a:noFill/>
          <a:ln/>
        </p:spPr>
        <p:txBody>
          <a:bodyPr wrap="square" lIns="0" tIns="0" rIns="0" bIns="0" rtlCol="0" anchor="ctr"/>
          <a:lstStyle/>
          <a:p>
            <a:pPr indent="0" marL="0">
              <a:buNone/>
            </a:pPr>
            <a:r>
              <a:rPr lang="en-US" sz="1250" dirty="0">
                <a:solidFill>
                  <a:srgbClr val="A79FCB"/>
                </a:solidFill>
                <a:latin typeface="Calibri" pitchFamily="34" charset="0"/>
                <a:ea typeface="Calibri" pitchFamily="34" charset="-122"/>
                <a:cs typeface="Calibri" pitchFamily="34" charset="-120"/>
              </a:rPr>
              <a:t>Removing that constraint is the entire contribution of Graph of Thoughts - and the structure we aim to compress.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881360" cy="621792"/>
          </a:xfrm>
          <a:prstGeom prst="rect">
            <a:avLst/>
          </a:prstGeom>
          <a:noFill/>
          <a:ln/>
        </p:spPr>
        <p:txBody>
          <a:bodyPr wrap="square" lIns="0" tIns="0" rIns="0" bIns="0" rtlCol="0" anchor="ctr"/>
          <a:lstStyle/>
          <a:p>
            <a:pPr indent="0" marL="0">
              <a:buNone/>
            </a:pPr>
            <a:r>
              <a:rPr lang="en-US" sz="3200" b="1" dirty="0">
                <a:solidFill>
                  <a:srgbClr val="1F1A38"/>
                </a:solidFill>
                <a:latin typeface="Cambria" pitchFamily="34" charset="0"/>
                <a:ea typeface="Cambria" pitchFamily="34" charset="-122"/>
                <a:cs typeface="Cambria" pitchFamily="34" charset="-120"/>
              </a:rPr>
              <a:t>The GoT framework</a:t>
            </a:r>
            <a:endParaRPr lang="en-US" sz="3200" dirty="0"/>
          </a:p>
        </p:txBody>
      </p:sp>
      <p:sp>
        <p:nvSpPr>
          <p:cNvPr id="3" name="Text 1"/>
          <p:cNvSpPr txBox="1"/>
          <p:nvPr/>
        </p:nvSpPr>
        <p:spPr>
          <a:xfrm>
            <a:off x="640080" y="1005840"/>
            <a:ext cx="10881360" cy="365760"/>
          </a:xfrm>
          <a:prstGeom prst="rect">
            <a:avLst/>
          </a:prstGeom>
          <a:noFill/>
          <a:ln/>
        </p:spPr>
        <p:txBody>
          <a:bodyPr wrap="square" lIns="0" tIns="0" rIns="0" bIns="0" rtlCol="0" anchor="ctr"/>
          <a:lstStyle/>
          <a:p>
            <a:pPr indent="0" marL="0">
              <a:buNone/>
            </a:pPr>
            <a:r>
              <a:rPr lang="en-US" sz="1350" dirty="0">
                <a:solidFill>
                  <a:srgbClr val="6E6A85"/>
                </a:solidFill>
                <a:latin typeface="Calibri" pitchFamily="34" charset="0"/>
                <a:ea typeface="Calibri" pitchFamily="34" charset="-122"/>
                <a:cs typeface="Calibri" pitchFamily="34" charset="-120"/>
              </a:rPr>
              <a:t>Two distinct graphs - conflating them is the most common implementation error</a:t>
            </a:r>
            <a:endParaRPr lang="en-US" sz="1350" dirty="0"/>
          </a:p>
        </p:txBody>
      </p:sp>
      <p:sp>
        <p:nvSpPr>
          <p:cNvPr id="4" name="Shape 2"/>
          <p:cNvSpPr/>
          <p:nvPr/>
        </p:nvSpPr>
        <p:spPr>
          <a:xfrm>
            <a:off x="685800" y="1645920"/>
            <a:ext cx="5303520" cy="1783080"/>
          </a:xfrm>
          <a:prstGeom prst="roundRect">
            <a:avLst>
              <a:gd name="adj" fmla="val 3077"/>
            </a:avLst>
          </a:prstGeom>
          <a:solidFill>
            <a:srgbClr val="F6F4FD"/>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5" name="Text 3"/>
          <p:cNvSpPr txBox="1"/>
          <p:nvPr/>
        </p:nvSpPr>
        <p:spPr>
          <a:xfrm>
            <a:off x="960120" y="1801368"/>
            <a:ext cx="4754880" cy="274320"/>
          </a:xfrm>
          <a:prstGeom prst="rect">
            <a:avLst/>
          </a:prstGeom>
          <a:noFill/>
          <a:ln/>
        </p:spPr>
        <p:txBody>
          <a:bodyPr wrap="square" lIns="0" tIns="0" rIns="0" bIns="0" rtlCol="0" anchor="ctr"/>
          <a:lstStyle/>
          <a:p>
            <a:pPr indent="0" marL="0">
              <a:buNone/>
            </a:pPr>
            <a:r>
              <a:rPr lang="en-US" sz="1400" b="1" dirty="0">
                <a:solidFill>
                  <a:srgbClr val="6D4AFF"/>
                </a:solidFill>
                <a:latin typeface="Calibri" pitchFamily="34" charset="0"/>
                <a:ea typeface="Calibri" pitchFamily="34" charset="-122"/>
                <a:cs typeface="Calibri" pitchFamily="34" charset="-120"/>
              </a:rPr>
              <a:t>Graph of Operations (GoO)</a:t>
            </a:r>
            <a:endParaRPr lang="en-US" sz="1400" dirty="0"/>
          </a:p>
        </p:txBody>
      </p:sp>
      <p:sp>
        <p:nvSpPr>
          <p:cNvPr id="6" name="Text 4"/>
          <p:cNvSpPr txBox="1"/>
          <p:nvPr/>
        </p:nvSpPr>
        <p:spPr>
          <a:xfrm>
            <a:off x="960120" y="2121408"/>
            <a:ext cx="4754880" cy="1097280"/>
          </a:xfrm>
          <a:prstGeom prst="rect">
            <a:avLst/>
          </a:prstGeom>
          <a:noFill/>
          <a:ln/>
        </p:spPr>
        <p:txBody>
          <a:bodyPr wrap="square" lIns="0" tIns="0" rIns="0" bIns="0" rtlCol="0" anchor="ctr"/>
          <a:lstStyle/>
          <a:p>
            <a:pPr indent="0" marL="0">
              <a:buNone/>
            </a:pPr>
            <a:r>
              <a:rPr lang="en-US" sz="1250" dirty="0">
                <a:solidFill>
                  <a:srgbClr val="1F1A38"/>
                </a:solidFill>
                <a:latin typeface="Calibri" pitchFamily="34" charset="0"/>
                <a:ea typeface="Calibri" pitchFamily="34" charset="-122"/>
                <a:cs typeface="Calibri" pitchFamily="34" charset="-120"/>
              </a:rPr>
              <a:t>Static execution plan, constructed before the run.</a:t>
            </a:r>
            <a:endParaRPr lang="en-US" sz="1250" dirty="0"/>
          </a:p>
          <a:p>
            <a:pPr indent="0" marL="0">
              <a:buNone/>
            </a:pPr>
            <a:r>
              <a:rPr lang="en-US" sz="1250" dirty="0">
                <a:solidFill>
                  <a:srgbClr val="1F1A38"/>
                </a:solidFill>
                <a:latin typeface="Calibri" pitchFamily="34" charset="0"/>
                <a:ea typeface="Calibri" pitchFamily="34" charset="-122"/>
                <a:cs typeface="Calibri" pitchFamily="34" charset="-120"/>
              </a:rPr>
              <a:t>Vertices are operations; edges are dependencies.</a:t>
            </a:r>
            <a:endParaRPr lang="en-US" sz="1250" dirty="0"/>
          </a:p>
          <a:p>
            <a:pPr indent="0" marL="0">
              <a:buNone/>
            </a:pPr>
            <a:r>
              <a:rPr lang="en-US" sz="1250" dirty="0">
                <a:solidFill>
                  <a:srgbClr val="1F1A38"/>
                </a:solidFill>
                <a:latin typeface="Calibri" pitchFamily="34" charset="0"/>
                <a:ea typeface="Calibri" pitchFamily="34" charset="-122"/>
                <a:cs typeface="Calibri" pitchFamily="34" charset="-120"/>
              </a:rPr>
              <a:t>One per task configuration.</a:t>
            </a:r>
            <a:endParaRPr lang="en-US" sz="1250" dirty="0"/>
          </a:p>
        </p:txBody>
      </p:sp>
      <p:sp>
        <p:nvSpPr>
          <p:cNvPr id="7" name="Shape 5"/>
          <p:cNvSpPr/>
          <p:nvPr/>
        </p:nvSpPr>
        <p:spPr>
          <a:xfrm>
            <a:off x="6217920" y="1645920"/>
            <a:ext cx="5303520" cy="1783080"/>
          </a:xfrm>
          <a:prstGeom prst="roundRect">
            <a:avLst>
              <a:gd name="adj" fmla="val 3077"/>
            </a:avLst>
          </a:prstGeom>
          <a:solidFill>
            <a:srgbClr val="F6F4FD"/>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8" name="Text 6"/>
          <p:cNvSpPr txBox="1"/>
          <p:nvPr/>
        </p:nvSpPr>
        <p:spPr>
          <a:xfrm>
            <a:off x="6492240" y="1801368"/>
            <a:ext cx="4754880" cy="274320"/>
          </a:xfrm>
          <a:prstGeom prst="rect">
            <a:avLst/>
          </a:prstGeom>
          <a:noFill/>
          <a:ln/>
        </p:spPr>
        <p:txBody>
          <a:bodyPr wrap="square" lIns="0" tIns="0" rIns="0" bIns="0" rtlCol="0" anchor="ctr"/>
          <a:lstStyle/>
          <a:p>
            <a:pPr indent="0" marL="0">
              <a:buNone/>
            </a:pPr>
            <a:r>
              <a:rPr lang="en-US" sz="1400" b="1" dirty="0">
                <a:solidFill>
                  <a:srgbClr val="3DDC97"/>
                </a:solidFill>
                <a:latin typeface="Calibri" pitchFamily="34" charset="0"/>
                <a:ea typeface="Calibri" pitchFamily="34" charset="-122"/>
                <a:cs typeface="Calibri" pitchFamily="34" charset="-120"/>
              </a:rPr>
              <a:t>Graph Reasoning State (GRS)</a:t>
            </a:r>
            <a:endParaRPr lang="en-US" sz="1400" dirty="0"/>
          </a:p>
        </p:txBody>
      </p:sp>
      <p:sp>
        <p:nvSpPr>
          <p:cNvPr id="9" name="Text 7"/>
          <p:cNvSpPr txBox="1"/>
          <p:nvPr/>
        </p:nvSpPr>
        <p:spPr>
          <a:xfrm>
            <a:off x="6492240" y="2121408"/>
            <a:ext cx="4754880" cy="1097280"/>
          </a:xfrm>
          <a:prstGeom prst="rect">
            <a:avLst/>
          </a:prstGeom>
          <a:noFill/>
          <a:ln/>
        </p:spPr>
        <p:txBody>
          <a:bodyPr wrap="square" lIns="0" tIns="0" rIns="0" bIns="0" rtlCol="0" anchor="ctr"/>
          <a:lstStyle/>
          <a:p>
            <a:pPr indent="0" marL="0">
              <a:buNone/>
            </a:pPr>
            <a:r>
              <a:rPr lang="en-US" sz="1250" dirty="0">
                <a:solidFill>
                  <a:srgbClr val="1F1A38"/>
                </a:solidFill>
                <a:latin typeface="Calibri" pitchFamily="34" charset="0"/>
                <a:ea typeface="Calibri" pitchFamily="34" charset="-122"/>
                <a:cs typeface="Calibri" pitchFamily="34" charset="-120"/>
              </a:rPr>
              <a:t>Dynamic record of the thoughts actually produced.</a:t>
            </a:r>
            <a:endParaRPr lang="en-US" sz="1250" dirty="0"/>
          </a:p>
          <a:p>
            <a:pPr indent="0" marL="0">
              <a:buNone/>
            </a:pPr>
            <a:r>
              <a:rPr lang="en-US" sz="1250" dirty="0">
                <a:solidFill>
                  <a:srgbClr val="1F1A38"/>
                </a:solidFill>
                <a:latin typeface="Calibri" pitchFamily="34" charset="0"/>
                <a:ea typeface="Calibri" pitchFamily="34" charset="-122"/>
                <a:cs typeface="Calibri" pitchFamily="34" charset="-120"/>
              </a:rPr>
              <a:t>Vertices are LLM outputs; edges are data dependencies.</a:t>
            </a:r>
            <a:endParaRPr lang="en-US" sz="1250" dirty="0"/>
          </a:p>
          <a:p>
            <a:pPr indent="0" marL="0">
              <a:buNone/>
            </a:pPr>
            <a:r>
              <a:rPr lang="en-US" sz="1250" dirty="0">
                <a:solidFill>
                  <a:srgbClr val="1F1A38"/>
                </a:solidFill>
                <a:latin typeface="Calibri" pitchFamily="34" charset="0"/>
                <a:ea typeface="Calibri" pitchFamily="34" charset="-122"/>
                <a:cs typeface="Calibri" pitchFamily="34" charset="-120"/>
              </a:rPr>
              <a:t>One per input instance.</a:t>
            </a:r>
            <a:endParaRPr lang="en-US" sz="1250" dirty="0"/>
          </a:p>
        </p:txBody>
      </p:sp>
      <p:sp>
        <p:nvSpPr>
          <p:cNvPr id="10" name="Text 8"/>
          <p:cNvSpPr txBox="1"/>
          <p:nvPr/>
        </p:nvSpPr>
        <p:spPr>
          <a:xfrm>
            <a:off x="685800" y="3611880"/>
            <a:ext cx="10835640" cy="310896"/>
          </a:xfrm>
          <a:prstGeom prst="rect">
            <a:avLst/>
          </a:prstGeom>
          <a:noFill/>
          <a:ln/>
        </p:spPr>
        <p:txBody>
          <a:bodyPr wrap="square" lIns="0" tIns="0" rIns="0" bIns="0" rtlCol="0" anchor="ctr"/>
          <a:lstStyle/>
          <a:p>
            <a:pPr indent="0" marL="0">
              <a:buNone/>
            </a:pPr>
            <a:r>
              <a:rPr lang="en-US" sz="1450" b="1" dirty="0">
                <a:solidFill>
                  <a:srgbClr val="1F1A38"/>
                </a:solidFill>
                <a:latin typeface="Calibri" pitchFamily="34" charset="0"/>
                <a:ea typeface="Calibri" pitchFamily="34" charset="-122"/>
                <a:cs typeface="Calibri" pitchFamily="34" charset="-120"/>
              </a:rPr>
              <a:t>Three transformations - and only these create vertices</a:t>
            </a:r>
            <a:endParaRPr lang="en-US" sz="1450" dirty="0"/>
          </a:p>
        </p:txBody>
      </p:sp>
      <p:sp>
        <p:nvSpPr>
          <p:cNvPr id="11" name="Shape 9"/>
          <p:cNvSpPr/>
          <p:nvPr/>
        </p:nvSpPr>
        <p:spPr>
          <a:xfrm>
            <a:off x="685800" y="4005072"/>
            <a:ext cx="3456432" cy="1572768"/>
          </a:xfrm>
          <a:prstGeom prst="roundRect">
            <a:avLst>
              <a:gd name="adj" fmla="val 3488"/>
            </a:avLst>
          </a:prstGeom>
          <a:solidFill>
            <a:srgbClr val="FFFFFF"/>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12" name="Shape 10"/>
          <p:cNvSpPr/>
          <p:nvPr/>
        </p:nvSpPr>
        <p:spPr>
          <a:xfrm>
            <a:off x="941832" y="4224528"/>
            <a:ext cx="365760" cy="365760"/>
          </a:xfrm>
          <a:prstGeom prst="ellipse">
            <a:avLst/>
          </a:prstGeom>
          <a:solidFill>
            <a:srgbClr val="6D4AFF"/>
          </a:solidFill>
          <a:ln w="12700">
            <a:solidFill>
              <a:srgbClr val="333333"/>
            </a:solidFill>
            <a:prstDash val="solid"/>
          </a:ln>
        </p:spPr>
      </p:sp>
      <p:sp>
        <p:nvSpPr>
          <p:cNvPr id="13" name="Text 11"/>
          <p:cNvSpPr txBox="1"/>
          <p:nvPr/>
        </p:nvSpPr>
        <p:spPr>
          <a:xfrm>
            <a:off x="941832" y="4261104"/>
            <a:ext cx="365760"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4" name="Text 12"/>
          <p:cNvSpPr txBox="1"/>
          <p:nvPr/>
        </p:nvSpPr>
        <p:spPr>
          <a:xfrm>
            <a:off x="1435608" y="4242816"/>
            <a:ext cx="2560320" cy="274320"/>
          </a:xfrm>
          <a:prstGeom prst="rect">
            <a:avLst/>
          </a:prstGeom>
          <a:noFill/>
          <a:ln/>
        </p:spPr>
        <p:txBody>
          <a:bodyPr wrap="square" lIns="0" tIns="0" rIns="0" bIns="0" rtlCol="0" anchor="ctr"/>
          <a:lstStyle/>
          <a:p>
            <a:pPr indent="0" marL="0">
              <a:buNone/>
            </a:pPr>
            <a:r>
              <a:rPr lang="en-US" sz="1350" b="1" dirty="0">
                <a:solidFill>
                  <a:srgbClr val="6D4AFF"/>
                </a:solidFill>
                <a:latin typeface="Calibri" pitchFamily="34" charset="0"/>
                <a:ea typeface="Calibri" pitchFamily="34" charset="-122"/>
                <a:cs typeface="Calibri" pitchFamily="34" charset="-120"/>
              </a:rPr>
              <a:t>Generate (k)</a:t>
            </a:r>
            <a:endParaRPr lang="en-US" sz="1350" dirty="0"/>
          </a:p>
        </p:txBody>
      </p:sp>
      <p:sp>
        <p:nvSpPr>
          <p:cNvPr id="15" name="Text 13"/>
          <p:cNvSpPr txBox="1"/>
          <p:nvPr/>
        </p:nvSpPr>
        <p:spPr>
          <a:xfrm>
            <a:off x="960120" y="4663440"/>
            <a:ext cx="2971800" cy="822960"/>
          </a:xfrm>
          <a:prstGeom prst="rect">
            <a:avLst/>
          </a:prstGeom>
          <a:noFill/>
          <a:ln/>
        </p:spPr>
        <p:txBody>
          <a:bodyPr wrap="square" lIns="0" tIns="0" rIns="0" bIns="0" rtlCol="0" anchor="ctr"/>
          <a:lstStyle/>
          <a:p>
            <a:pPr indent="0" marL="0">
              <a:buNone/>
            </a:pPr>
            <a:r>
              <a:rPr lang="en-US" sz="1100" dirty="0">
                <a:solidFill>
                  <a:srgbClr val="1F1A38"/>
                </a:solidFill>
                <a:latin typeface="Calibri" pitchFamily="34" charset="0"/>
                <a:ea typeface="Calibri" pitchFamily="34" charset="-122"/>
                <a:cs typeface="Calibri" pitchFamily="34" charset="-120"/>
              </a:rPr>
              <a:t>One thought in, k out.</a:t>
            </a:r>
            <a:endParaRPr lang="en-US" sz="1100" dirty="0"/>
          </a:p>
          <a:p>
            <a:pPr indent="0" marL="0">
              <a:buNone/>
            </a:pPr>
            <a:r>
              <a:rPr lang="en-US" sz="1100" dirty="0">
                <a:solidFill>
                  <a:srgbClr val="1F1A38"/>
                </a:solidFill>
                <a:latin typeface="Calibri" pitchFamily="34" charset="0"/>
                <a:ea typeface="Calibri" pitchFamily="34" charset="-122"/>
                <a:cs typeface="Calibri" pitchFamily="34" charset="-120"/>
              </a:rPr>
              <a:t>Branching. Already present</a:t>
            </a:r>
            <a:endParaRPr lang="en-US" sz="1100" dirty="0"/>
          </a:p>
          <a:p>
            <a:pPr indent="0" marL="0">
              <a:buNone/>
            </a:pPr>
            <a:r>
              <a:rPr lang="en-US" sz="1100" dirty="0">
                <a:solidFill>
                  <a:srgbClr val="1F1A38"/>
                </a:solidFill>
                <a:latin typeface="Calibri" pitchFamily="34" charset="0"/>
                <a:ea typeface="Calibri" pitchFamily="34" charset="-122"/>
                <a:cs typeface="Calibri" pitchFamily="34" charset="-120"/>
              </a:rPr>
              <a:t>in ToT.</a:t>
            </a:r>
            <a:endParaRPr lang="en-US" sz="1100" dirty="0"/>
          </a:p>
        </p:txBody>
      </p:sp>
      <p:sp>
        <p:nvSpPr>
          <p:cNvPr id="16" name="Shape 14"/>
          <p:cNvSpPr/>
          <p:nvPr/>
        </p:nvSpPr>
        <p:spPr>
          <a:xfrm>
            <a:off x="4370832" y="4005072"/>
            <a:ext cx="3456432" cy="1572768"/>
          </a:xfrm>
          <a:prstGeom prst="roundRect">
            <a:avLst>
              <a:gd name="adj" fmla="val 3488"/>
            </a:avLst>
          </a:prstGeom>
          <a:solidFill>
            <a:srgbClr val="FFF6E6"/>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17" name="Shape 15"/>
          <p:cNvSpPr/>
          <p:nvPr/>
        </p:nvSpPr>
        <p:spPr>
          <a:xfrm>
            <a:off x="4626864" y="4224528"/>
            <a:ext cx="365760" cy="365760"/>
          </a:xfrm>
          <a:prstGeom prst="ellipse">
            <a:avLst/>
          </a:prstGeom>
          <a:solidFill>
            <a:srgbClr val="FFB627"/>
          </a:solidFill>
          <a:ln w="12700">
            <a:solidFill>
              <a:srgbClr val="333333"/>
            </a:solidFill>
            <a:prstDash val="solid"/>
          </a:ln>
        </p:spPr>
      </p:sp>
      <p:sp>
        <p:nvSpPr>
          <p:cNvPr id="18" name="Text 16"/>
          <p:cNvSpPr txBox="1"/>
          <p:nvPr/>
        </p:nvSpPr>
        <p:spPr>
          <a:xfrm>
            <a:off x="4626864" y="4261104"/>
            <a:ext cx="365760"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9" name="Text 17"/>
          <p:cNvSpPr txBox="1"/>
          <p:nvPr/>
        </p:nvSpPr>
        <p:spPr>
          <a:xfrm>
            <a:off x="5120640" y="4242816"/>
            <a:ext cx="2560320" cy="274320"/>
          </a:xfrm>
          <a:prstGeom prst="rect">
            <a:avLst/>
          </a:prstGeom>
          <a:noFill/>
          <a:ln/>
        </p:spPr>
        <p:txBody>
          <a:bodyPr wrap="square" lIns="0" tIns="0" rIns="0" bIns="0" rtlCol="0" anchor="ctr"/>
          <a:lstStyle/>
          <a:p>
            <a:pPr indent="0" marL="0">
              <a:buNone/>
            </a:pPr>
            <a:r>
              <a:rPr lang="en-US" sz="1350" b="1" dirty="0">
                <a:solidFill>
                  <a:srgbClr val="FFB627"/>
                </a:solidFill>
                <a:latin typeface="Calibri" pitchFamily="34" charset="0"/>
                <a:ea typeface="Calibri" pitchFamily="34" charset="-122"/>
                <a:cs typeface="Calibri" pitchFamily="34" charset="-120"/>
              </a:rPr>
              <a:t>Aggregate (k)</a:t>
            </a:r>
            <a:endParaRPr lang="en-US" sz="1350" dirty="0"/>
          </a:p>
        </p:txBody>
      </p:sp>
      <p:sp>
        <p:nvSpPr>
          <p:cNvPr id="20" name="Text 18"/>
          <p:cNvSpPr txBox="1"/>
          <p:nvPr/>
        </p:nvSpPr>
        <p:spPr>
          <a:xfrm>
            <a:off x="4645152" y="4663440"/>
            <a:ext cx="2971800" cy="822960"/>
          </a:xfrm>
          <a:prstGeom prst="rect">
            <a:avLst/>
          </a:prstGeom>
          <a:noFill/>
          <a:ln/>
        </p:spPr>
        <p:txBody>
          <a:bodyPr wrap="square" lIns="0" tIns="0" rIns="0" bIns="0" rtlCol="0" anchor="ctr"/>
          <a:lstStyle/>
          <a:p>
            <a:pPr indent="0" marL="0">
              <a:buNone/>
            </a:pPr>
            <a:r>
              <a:rPr lang="en-US" sz="1100" dirty="0">
                <a:solidFill>
                  <a:srgbClr val="1F1A38"/>
                </a:solidFill>
                <a:latin typeface="Calibri" pitchFamily="34" charset="0"/>
                <a:ea typeface="Calibri" pitchFamily="34" charset="-122"/>
                <a:cs typeface="Calibri" pitchFamily="34" charset="-120"/>
              </a:rPr>
              <a:t>k thoughts in, one out.</a:t>
            </a:r>
            <a:endParaRPr lang="en-US" sz="1100" dirty="0"/>
          </a:p>
          <a:p>
            <a:pPr indent="0" marL="0">
              <a:buNone/>
            </a:pPr>
            <a:r>
              <a:rPr lang="en-US" sz="1100" dirty="0">
                <a:solidFill>
                  <a:srgbClr val="1F1A38"/>
                </a:solidFill>
                <a:latin typeface="Calibri" pitchFamily="34" charset="0"/>
                <a:ea typeface="Calibri" pitchFamily="34" charset="-122"/>
                <a:cs typeface="Calibri" pitchFamily="34" charset="-120"/>
              </a:rPr>
              <a:t>An edge from every input.</a:t>
            </a:r>
            <a:endParaRPr lang="en-US" sz="1100" dirty="0"/>
          </a:p>
          <a:p>
            <a:pPr indent="0" marL="0">
              <a:buNone/>
            </a:pPr>
            <a:r>
              <a:rPr lang="en-US" sz="1100" dirty="0">
                <a:solidFill>
                  <a:srgbClr val="1F1A38"/>
                </a:solidFill>
                <a:latin typeface="Calibri" pitchFamily="34" charset="0"/>
                <a:ea typeface="Calibri" pitchFamily="34" charset="-122"/>
                <a:cs typeface="Calibri" pitchFamily="34" charset="-120"/>
              </a:rPr>
              <a:t>The novel operation.</a:t>
            </a:r>
            <a:endParaRPr lang="en-US" sz="1100" dirty="0"/>
          </a:p>
        </p:txBody>
      </p:sp>
      <p:sp>
        <p:nvSpPr>
          <p:cNvPr id="21" name="Shape 19"/>
          <p:cNvSpPr/>
          <p:nvPr/>
        </p:nvSpPr>
        <p:spPr>
          <a:xfrm>
            <a:off x="8055864" y="4005072"/>
            <a:ext cx="3456432" cy="1572768"/>
          </a:xfrm>
          <a:prstGeom prst="roundRect">
            <a:avLst>
              <a:gd name="adj" fmla="val 3488"/>
            </a:avLst>
          </a:prstGeom>
          <a:solidFill>
            <a:srgbClr val="FFFFFF"/>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22" name="Shape 20"/>
          <p:cNvSpPr/>
          <p:nvPr/>
        </p:nvSpPr>
        <p:spPr>
          <a:xfrm>
            <a:off x="8311896" y="4224528"/>
            <a:ext cx="365760" cy="365760"/>
          </a:xfrm>
          <a:prstGeom prst="ellipse">
            <a:avLst/>
          </a:prstGeom>
          <a:solidFill>
            <a:srgbClr val="3DDC97"/>
          </a:solidFill>
          <a:ln w="12700">
            <a:solidFill>
              <a:srgbClr val="333333"/>
            </a:solidFill>
            <a:prstDash val="solid"/>
          </a:ln>
        </p:spPr>
      </p:sp>
      <p:sp>
        <p:nvSpPr>
          <p:cNvPr id="23" name="Text 21"/>
          <p:cNvSpPr txBox="1"/>
          <p:nvPr/>
        </p:nvSpPr>
        <p:spPr>
          <a:xfrm>
            <a:off x="8311896" y="4261104"/>
            <a:ext cx="365760"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4" name="Text 22"/>
          <p:cNvSpPr txBox="1"/>
          <p:nvPr/>
        </p:nvSpPr>
        <p:spPr>
          <a:xfrm>
            <a:off x="8805672" y="4242816"/>
            <a:ext cx="2560320" cy="274320"/>
          </a:xfrm>
          <a:prstGeom prst="rect">
            <a:avLst/>
          </a:prstGeom>
          <a:noFill/>
          <a:ln/>
        </p:spPr>
        <p:txBody>
          <a:bodyPr wrap="square" lIns="0" tIns="0" rIns="0" bIns="0" rtlCol="0" anchor="ctr"/>
          <a:lstStyle/>
          <a:p>
            <a:pPr indent="0" marL="0">
              <a:buNone/>
            </a:pPr>
            <a:r>
              <a:rPr lang="en-US" sz="1350" b="1" dirty="0">
                <a:solidFill>
                  <a:srgbClr val="3DDC97"/>
                </a:solidFill>
                <a:latin typeface="Calibri" pitchFamily="34" charset="0"/>
                <a:ea typeface="Calibri" pitchFamily="34" charset="-122"/>
                <a:cs typeface="Calibri" pitchFamily="34" charset="-120"/>
              </a:rPr>
              <a:t>Improve</a:t>
            </a:r>
            <a:endParaRPr lang="en-US" sz="1350" dirty="0"/>
          </a:p>
        </p:txBody>
      </p:sp>
      <p:sp>
        <p:nvSpPr>
          <p:cNvPr id="25" name="Text 23"/>
          <p:cNvSpPr txBox="1"/>
          <p:nvPr/>
        </p:nvSpPr>
        <p:spPr>
          <a:xfrm>
            <a:off x="8330184" y="4663440"/>
            <a:ext cx="2971800" cy="822960"/>
          </a:xfrm>
          <a:prstGeom prst="rect">
            <a:avLst/>
          </a:prstGeom>
          <a:noFill/>
          <a:ln/>
        </p:spPr>
        <p:txBody>
          <a:bodyPr wrap="square" lIns="0" tIns="0" rIns="0" bIns="0" rtlCol="0" anchor="ctr"/>
          <a:lstStyle/>
          <a:p>
            <a:pPr indent="0" marL="0">
              <a:buNone/>
            </a:pPr>
            <a:r>
              <a:rPr lang="en-US" sz="1100" dirty="0">
                <a:solidFill>
                  <a:srgbClr val="1F1A38"/>
                </a:solidFill>
                <a:latin typeface="Calibri" pitchFamily="34" charset="0"/>
                <a:ea typeface="Calibri" pitchFamily="34" charset="-122"/>
                <a:cs typeface="Calibri" pitchFamily="34" charset="-120"/>
              </a:rPr>
              <a:t>Refine a thought in place.</a:t>
            </a:r>
            <a:endParaRPr lang="en-US" sz="1100" dirty="0"/>
          </a:p>
          <a:p>
            <a:pPr indent="0" marL="0">
              <a:buNone/>
            </a:pPr>
            <a:r>
              <a:rPr lang="en-US" sz="1100" dirty="0">
                <a:solidFill>
                  <a:srgbClr val="1F1A38"/>
                </a:solidFill>
                <a:latin typeface="Calibri" pitchFamily="34" charset="0"/>
                <a:ea typeface="Calibri" pitchFamily="34" charset="-122"/>
                <a:cs typeface="Calibri" pitchFamily="34" charset="-120"/>
              </a:rPr>
              <a:t>A cycle - also impossible</a:t>
            </a:r>
            <a:endParaRPr lang="en-US" sz="1100" dirty="0"/>
          </a:p>
          <a:p>
            <a:pPr indent="0" marL="0">
              <a:buNone/>
            </a:pPr>
            <a:r>
              <a:rPr lang="en-US" sz="1100" dirty="0">
                <a:solidFill>
                  <a:srgbClr val="1F1A38"/>
                </a:solidFill>
                <a:latin typeface="Calibri" pitchFamily="34" charset="0"/>
                <a:ea typeface="Calibri" pitchFamily="34" charset="-122"/>
                <a:cs typeface="Calibri" pitchFamily="34" charset="-120"/>
              </a:rPr>
              <a:t>within a tree.</a:t>
            </a:r>
            <a:endParaRPr lang="en-US" sz="1100" dirty="0"/>
          </a:p>
        </p:txBody>
      </p:sp>
      <p:sp>
        <p:nvSpPr>
          <p:cNvPr id="26" name="Text 24"/>
          <p:cNvSpPr txBox="1"/>
          <p:nvPr/>
        </p:nvSpPr>
        <p:spPr>
          <a:xfrm>
            <a:off x="685800" y="5760720"/>
            <a:ext cx="10835640" cy="502920"/>
          </a:xfrm>
          <a:prstGeom prst="rect">
            <a:avLst/>
          </a:prstGeom>
          <a:noFill/>
          <a:ln/>
        </p:spPr>
        <p:txBody>
          <a:bodyPr wrap="square" lIns="0" tIns="0" rIns="0" bIns="0" rtlCol="0" anchor="ctr"/>
          <a:lstStyle/>
          <a:p>
            <a:pPr indent="0" marL="0">
              <a:buNone/>
            </a:pPr>
            <a:r>
              <a:rPr lang="en-US" sz="1150" i="1" dirty="0">
                <a:solidFill>
                  <a:srgbClr val="6E6A85"/>
                </a:solidFill>
                <a:latin typeface="Calibri" pitchFamily="34" charset="0"/>
                <a:ea typeface="Calibri" pitchFamily="34" charset="-122"/>
                <a:cs typeface="Calibri" pitchFamily="34" charset="-120"/>
              </a:rPr>
              <a:t>Score, KeepBest and GroundTruth create no vertices - they annotate and filter. Edges denote causality: an edge (a, b) means a's text was literally the input that produced b.</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881360" cy="621792"/>
          </a:xfrm>
          <a:prstGeom prst="rect">
            <a:avLst/>
          </a:prstGeom>
          <a:noFill/>
          <a:ln/>
        </p:spPr>
        <p:txBody>
          <a:bodyPr wrap="square" lIns="0" tIns="0" rIns="0" bIns="0" rtlCol="0" anchor="ctr"/>
          <a:lstStyle/>
          <a:p>
            <a:pPr indent="0" marL="0">
              <a:buNone/>
            </a:pPr>
            <a:r>
              <a:rPr lang="en-US" sz="3200" b="1" dirty="0">
                <a:solidFill>
                  <a:srgbClr val="1F1A38"/>
                </a:solidFill>
                <a:latin typeface="Cambria" pitchFamily="34" charset="0"/>
                <a:ea typeface="Cambria" pitchFamily="34" charset="-122"/>
                <a:cs typeface="Cambria" pitchFamily="34" charset="-120"/>
              </a:rPr>
              <a:t>Use case: merge sort executed by an LLM</a:t>
            </a:r>
            <a:endParaRPr lang="en-US" sz="3200" dirty="0"/>
          </a:p>
        </p:txBody>
      </p:sp>
      <p:sp>
        <p:nvSpPr>
          <p:cNvPr id="3" name="Text 1"/>
          <p:cNvSpPr txBox="1"/>
          <p:nvPr/>
        </p:nvSpPr>
        <p:spPr>
          <a:xfrm>
            <a:off x="640080" y="1005840"/>
            <a:ext cx="10881360" cy="365760"/>
          </a:xfrm>
          <a:prstGeom prst="rect">
            <a:avLst/>
          </a:prstGeom>
          <a:noFill/>
          <a:ln/>
        </p:spPr>
        <p:txBody>
          <a:bodyPr wrap="square" lIns="0" tIns="0" rIns="0" bIns="0" rtlCol="0" anchor="ctr"/>
          <a:lstStyle/>
          <a:p>
            <a:pPr indent="0" marL="0">
              <a:buNone/>
            </a:pPr>
            <a:r>
              <a:rPr lang="en-US" sz="1350" dirty="0">
                <a:solidFill>
                  <a:srgbClr val="6E6A85"/>
                </a:solidFill>
                <a:latin typeface="Calibri" pitchFamily="34" charset="0"/>
                <a:ea typeface="Calibri" pitchFamily="34" charset="-122"/>
                <a:cs typeface="Calibri" pitchFamily="34" charset="-120"/>
              </a:rPr>
              <a:t>Decompose until each sub-problem lies inside the model's reliable range</a:t>
            </a:r>
            <a:endParaRPr lang="en-US" sz="1350" dirty="0"/>
          </a:p>
        </p:txBody>
      </p:sp>
      <p:sp>
        <p:nvSpPr>
          <p:cNvPr id="4" name="Shape 2"/>
          <p:cNvSpPr/>
          <p:nvPr/>
        </p:nvSpPr>
        <p:spPr>
          <a:xfrm flipV="1">
            <a:off x="3122676" y="2116836"/>
            <a:ext cx="2377440" cy="749808"/>
          </a:xfrm>
          <a:prstGeom prst="line">
            <a:avLst/>
          </a:prstGeom>
          <a:noFill/>
          <a:ln w="13970">
            <a:solidFill>
              <a:srgbClr val="B9B2D6"/>
            </a:solidFill>
            <a:prstDash val="solid"/>
          </a:ln>
        </p:spPr>
      </p:sp>
      <p:sp>
        <p:nvSpPr>
          <p:cNvPr id="5" name="Shape 3"/>
          <p:cNvSpPr/>
          <p:nvPr/>
        </p:nvSpPr>
        <p:spPr>
          <a:xfrm flipV="1">
            <a:off x="4677156" y="2116836"/>
            <a:ext cx="822960" cy="749808"/>
          </a:xfrm>
          <a:prstGeom prst="line">
            <a:avLst/>
          </a:prstGeom>
          <a:noFill/>
          <a:ln w="13970">
            <a:solidFill>
              <a:srgbClr val="B9B2D6"/>
            </a:solidFill>
            <a:prstDash val="solid"/>
          </a:ln>
        </p:spPr>
      </p:sp>
      <p:sp>
        <p:nvSpPr>
          <p:cNvPr id="6" name="Shape 4"/>
          <p:cNvSpPr/>
          <p:nvPr/>
        </p:nvSpPr>
        <p:spPr>
          <a:xfrm>
            <a:off x="5500116" y="2116836"/>
            <a:ext cx="822960" cy="749808"/>
          </a:xfrm>
          <a:prstGeom prst="line">
            <a:avLst/>
          </a:prstGeom>
          <a:noFill/>
          <a:ln w="13970">
            <a:solidFill>
              <a:srgbClr val="B9B2D6"/>
            </a:solidFill>
            <a:prstDash val="solid"/>
          </a:ln>
        </p:spPr>
      </p:sp>
      <p:sp>
        <p:nvSpPr>
          <p:cNvPr id="7" name="Shape 5"/>
          <p:cNvSpPr/>
          <p:nvPr/>
        </p:nvSpPr>
        <p:spPr>
          <a:xfrm>
            <a:off x="5500116" y="2116836"/>
            <a:ext cx="2377440" cy="749808"/>
          </a:xfrm>
          <a:prstGeom prst="line">
            <a:avLst/>
          </a:prstGeom>
          <a:noFill/>
          <a:ln w="13970">
            <a:solidFill>
              <a:srgbClr val="B9B2D6"/>
            </a:solidFill>
            <a:prstDash val="solid"/>
          </a:ln>
        </p:spPr>
      </p:sp>
      <p:sp>
        <p:nvSpPr>
          <p:cNvPr id="8" name="Shape 6"/>
          <p:cNvSpPr/>
          <p:nvPr/>
        </p:nvSpPr>
        <p:spPr>
          <a:xfrm>
            <a:off x="3122676" y="2866644"/>
            <a:ext cx="777240" cy="749808"/>
          </a:xfrm>
          <a:prstGeom prst="line">
            <a:avLst/>
          </a:prstGeom>
          <a:noFill/>
          <a:ln w="22860">
            <a:solidFill>
              <a:srgbClr val="FFB627"/>
            </a:solidFill>
            <a:prstDash val="solid"/>
          </a:ln>
        </p:spPr>
      </p:sp>
      <p:sp>
        <p:nvSpPr>
          <p:cNvPr id="9" name="Shape 7"/>
          <p:cNvSpPr/>
          <p:nvPr/>
        </p:nvSpPr>
        <p:spPr>
          <a:xfrm flipV="1">
            <a:off x="3899916" y="2866644"/>
            <a:ext cx="777240" cy="749808"/>
          </a:xfrm>
          <a:prstGeom prst="line">
            <a:avLst/>
          </a:prstGeom>
          <a:noFill/>
          <a:ln w="22860">
            <a:solidFill>
              <a:srgbClr val="FFB627"/>
            </a:solidFill>
            <a:prstDash val="solid"/>
          </a:ln>
        </p:spPr>
      </p:sp>
      <p:sp>
        <p:nvSpPr>
          <p:cNvPr id="10" name="Shape 8"/>
          <p:cNvSpPr/>
          <p:nvPr/>
        </p:nvSpPr>
        <p:spPr>
          <a:xfrm>
            <a:off x="6323076" y="2866644"/>
            <a:ext cx="777240" cy="749808"/>
          </a:xfrm>
          <a:prstGeom prst="line">
            <a:avLst/>
          </a:prstGeom>
          <a:noFill/>
          <a:ln w="22860">
            <a:solidFill>
              <a:srgbClr val="FFB627"/>
            </a:solidFill>
            <a:prstDash val="solid"/>
          </a:ln>
        </p:spPr>
      </p:sp>
      <p:sp>
        <p:nvSpPr>
          <p:cNvPr id="11" name="Shape 9"/>
          <p:cNvSpPr/>
          <p:nvPr/>
        </p:nvSpPr>
        <p:spPr>
          <a:xfrm flipV="1">
            <a:off x="7100316" y="2866644"/>
            <a:ext cx="777240" cy="749808"/>
          </a:xfrm>
          <a:prstGeom prst="line">
            <a:avLst/>
          </a:prstGeom>
          <a:noFill/>
          <a:ln w="22860">
            <a:solidFill>
              <a:srgbClr val="FFB627"/>
            </a:solidFill>
            <a:prstDash val="solid"/>
          </a:ln>
        </p:spPr>
      </p:sp>
      <p:sp>
        <p:nvSpPr>
          <p:cNvPr id="12" name="Shape 10"/>
          <p:cNvSpPr/>
          <p:nvPr/>
        </p:nvSpPr>
        <p:spPr>
          <a:xfrm>
            <a:off x="3899916" y="3616452"/>
            <a:ext cx="1600200" cy="749808"/>
          </a:xfrm>
          <a:prstGeom prst="line">
            <a:avLst/>
          </a:prstGeom>
          <a:noFill/>
          <a:ln w="22860">
            <a:solidFill>
              <a:srgbClr val="FFB627"/>
            </a:solidFill>
            <a:prstDash val="solid"/>
          </a:ln>
        </p:spPr>
      </p:sp>
      <p:sp>
        <p:nvSpPr>
          <p:cNvPr id="13" name="Shape 11"/>
          <p:cNvSpPr/>
          <p:nvPr/>
        </p:nvSpPr>
        <p:spPr>
          <a:xfrm flipV="1">
            <a:off x="5500116" y="3616452"/>
            <a:ext cx="1600200" cy="749808"/>
          </a:xfrm>
          <a:prstGeom prst="line">
            <a:avLst/>
          </a:prstGeom>
          <a:noFill/>
          <a:ln w="22860">
            <a:solidFill>
              <a:srgbClr val="FFB627"/>
            </a:solidFill>
            <a:prstDash val="solid"/>
          </a:ln>
        </p:spPr>
      </p:sp>
      <p:sp>
        <p:nvSpPr>
          <p:cNvPr id="14" name="Shape 12"/>
          <p:cNvSpPr/>
          <p:nvPr/>
        </p:nvSpPr>
        <p:spPr>
          <a:xfrm>
            <a:off x="5394960" y="2011680"/>
            <a:ext cx="210312" cy="210312"/>
          </a:xfrm>
          <a:prstGeom prst="ellipse">
            <a:avLst/>
          </a:prstGeom>
          <a:solidFill>
            <a:srgbClr val="6D4AFF"/>
          </a:solidFill>
          <a:ln w="12700">
            <a:solidFill>
              <a:srgbClr val="6D4AFF"/>
            </a:solidFill>
            <a:prstDash val="solid"/>
          </a:ln>
        </p:spPr>
      </p:sp>
      <p:sp>
        <p:nvSpPr>
          <p:cNvPr id="15" name="Shape 13"/>
          <p:cNvSpPr/>
          <p:nvPr/>
        </p:nvSpPr>
        <p:spPr>
          <a:xfrm>
            <a:off x="3017520" y="2761488"/>
            <a:ext cx="210312" cy="210312"/>
          </a:xfrm>
          <a:prstGeom prst="ellipse">
            <a:avLst/>
          </a:prstGeom>
          <a:solidFill>
            <a:srgbClr val="6D4AFF"/>
          </a:solidFill>
          <a:ln w="12700">
            <a:solidFill>
              <a:srgbClr val="6D4AFF"/>
            </a:solidFill>
            <a:prstDash val="solid"/>
          </a:ln>
        </p:spPr>
      </p:sp>
      <p:sp>
        <p:nvSpPr>
          <p:cNvPr id="16" name="Shape 14"/>
          <p:cNvSpPr/>
          <p:nvPr/>
        </p:nvSpPr>
        <p:spPr>
          <a:xfrm>
            <a:off x="4572000" y="2761488"/>
            <a:ext cx="210312" cy="210312"/>
          </a:xfrm>
          <a:prstGeom prst="ellipse">
            <a:avLst/>
          </a:prstGeom>
          <a:solidFill>
            <a:srgbClr val="6D4AFF"/>
          </a:solidFill>
          <a:ln w="12700">
            <a:solidFill>
              <a:srgbClr val="6D4AFF"/>
            </a:solidFill>
            <a:prstDash val="solid"/>
          </a:ln>
        </p:spPr>
      </p:sp>
      <p:sp>
        <p:nvSpPr>
          <p:cNvPr id="17" name="Shape 15"/>
          <p:cNvSpPr/>
          <p:nvPr/>
        </p:nvSpPr>
        <p:spPr>
          <a:xfrm>
            <a:off x="6217920" y="2761488"/>
            <a:ext cx="210312" cy="210312"/>
          </a:xfrm>
          <a:prstGeom prst="ellipse">
            <a:avLst/>
          </a:prstGeom>
          <a:solidFill>
            <a:srgbClr val="6D4AFF"/>
          </a:solidFill>
          <a:ln w="12700">
            <a:solidFill>
              <a:srgbClr val="6D4AFF"/>
            </a:solidFill>
            <a:prstDash val="solid"/>
          </a:ln>
        </p:spPr>
      </p:sp>
      <p:sp>
        <p:nvSpPr>
          <p:cNvPr id="18" name="Shape 16"/>
          <p:cNvSpPr/>
          <p:nvPr/>
        </p:nvSpPr>
        <p:spPr>
          <a:xfrm>
            <a:off x="7772400" y="2761488"/>
            <a:ext cx="210312" cy="210312"/>
          </a:xfrm>
          <a:prstGeom prst="ellipse">
            <a:avLst/>
          </a:prstGeom>
          <a:solidFill>
            <a:srgbClr val="6D4AFF"/>
          </a:solidFill>
          <a:ln w="12700">
            <a:solidFill>
              <a:srgbClr val="6D4AFF"/>
            </a:solidFill>
            <a:prstDash val="solid"/>
          </a:ln>
        </p:spPr>
      </p:sp>
      <p:sp>
        <p:nvSpPr>
          <p:cNvPr id="19" name="Shape 17"/>
          <p:cNvSpPr/>
          <p:nvPr/>
        </p:nvSpPr>
        <p:spPr>
          <a:xfrm>
            <a:off x="3794760" y="3511296"/>
            <a:ext cx="210312" cy="210312"/>
          </a:xfrm>
          <a:prstGeom prst="ellipse">
            <a:avLst/>
          </a:prstGeom>
          <a:solidFill>
            <a:srgbClr val="FFB627"/>
          </a:solidFill>
          <a:ln w="12700">
            <a:solidFill>
              <a:srgbClr val="FFB627"/>
            </a:solidFill>
            <a:prstDash val="solid"/>
          </a:ln>
        </p:spPr>
      </p:sp>
      <p:sp>
        <p:nvSpPr>
          <p:cNvPr id="20" name="Shape 18"/>
          <p:cNvSpPr/>
          <p:nvPr/>
        </p:nvSpPr>
        <p:spPr>
          <a:xfrm>
            <a:off x="6995160" y="3511296"/>
            <a:ext cx="210312" cy="210312"/>
          </a:xfrm>
          <a:prstGeom prst="ellipse">
            <a:avLst/>
          </a:prstGeom>
          <a:solidFill>
            <a:srgbClr val="FFB627"/>
          </a:solidFill>
          <a:ln w="12700">
            <a:solidFill>
              <a:srgbClr val="FFB627"/>
            </a:solidFill>
            <a:prstDash val="solid"/>
          </a:ln>
        </p:spPr>
      </p:sp>
      <p:sp>
        <p:nvSpPr>
          <p:cNvPr id="21" name="Shape 19"/>
          <p:cNvSpPr/>
          <p:nvPr/>
        </p:nvSpPr>
        <p:spPr>
          <a:xfrm>
            <a:off x="5394960" y="4261104"/>
            <a:ext cx="210312" cy="210312"/>
          </a:xfrm>
          <a:prstGeom prst="ellipse">
            <a:avLst/>
          </a:prstGeom>
          <a:solidFill>
            <a:srgbClr val="FFB627"/>
          </a:solidFill>
          <a:ln w="12700">
            <a:solidFill>
              <a:srgbClr val="FFB627"/>
            </a:solidFill>
            <a:prstDash val="solid"/>
          </a:ln>
        </p:spPr>
      </p:sp>
      <p:sp>
        <p:nvSpPr>
          <p:cNvPr id="22" name="Text 20"/>
          <p:cNvSpPr txBox="1"/>
          <p:nvPr/>
        </p:nvSpPr>
        <p:spPr>
          <a:xfrm>
            <a:off x="731520" y="1965960"/>
            <a:ext cx="2011680" cy="274320"/>
          </a:xfrm>
          <a:prstGeom prst="rect">
            <a:avLst/>
          </a:prstGeom>
          <a:noFill/>
          <a:ln/>
        </p:spPr>
        <p:txBody>
          <a:bodyPr wrap="square" lIns="0" tIns="0" rIns="0" bIns="0" rtlCol="0" anchor="ctr"/>
          <a:lstStyle/>
          <a:p>
            <a:pPr algn="r" indent="0" marL="0">
              <a:buNone/>
            </a:pPr>
            <a:r>
              <a:rPr lang="en-US" sz="1150" dirty="0">
                <a:solidFill>
                  <a:srgbClr val="6E6A85"/>
                </a:solidFill>
                <a:latin typeface="Calibri" pitchFamily="34" charset="0"/>
                <a:ea typeface="Calibri" pitchFamily="34" charset="-122"/>
                <a:cs typeface="Calibri" pitchFamily="34" charset="-120"/>
              </a:rPr>
              <a:t>64 numbers</a:t>
            </a:r>
            <a:endParaRPr lang="en-US" sz="1150" dirty="0"/>
          </a:p>
        </p:txBody>
      </p:sp>
      <p:sp>
        <p:nvSpPr>
          <p:cNvPr id="23" name="Text 21"/>
          <p:cNvSpPr txBox="1"/>
          <p:nvPr/>
        </p:nvSpPr>
        <p:spPr>
          <a:xfrm>
            <a:off x="731520" y="2715768"/>
            <a:ext cx="2011680" cy="274320"/>
          </a:xfrm>
          <a:prstGeom prst="rect">
            <a:avLst/>
          </a:prstGeom>
          <a:noFill/>
          <a:ln/>
        </p:spPr>
        <p:txBody>
          <a:bodyPr wrap="square" lIns="0" tIns="0" rIns="0" bIns="0" rtlCol="0" anchor="ctr"/>
          <a:lstStyle/>
          <a:p>
            <a:pPr algn="r" indent="0" marL="0">
              <a:buNone/>
            </a:pPr>
            <a:r>
              <a:rPr lang="en-US" sz="1150" dirty="0">
                <a:solidFill>
                  <a:srgbClr val="6E6A85"/>
                </a:solidFill>
                <a:latin typeface="Calibri" pitchFamily="34" charset="0"/>
                <a:ea typeface="Calibri" pitchFamily="34" charset="-122"/>
                <a:cs typeface="Calibri" pitchFamily="34" charset="-120"/>
              </a:rPr>
              <a:t>sort 16 each (k=3)</a:t>
            </a:r>
            <a:endParaRPr lang="en-US" sz="1150" dirty="0"/>
          </a:p>
        </p:txBody>
      </p:sp>
      <p:sp>
        <p:nvSpPr>
          <p:cNvPr id="24" name="Text 22"/>
          <p:cNvSpPr txBox="1"/>
          <p:nvPr/>
        </p:nvSpPr>
        <p:spPr>
          <a:xfrm>
            <a:off x="731520" y="3465576"/>
            <a:ext cx="2011680" cy="274320"/>
          </a:xfrm>
          <a:prstGeom prst="rect">
            <a:avLst/>
          </a:prstGeom>
          <a:noFill/>
          <a:ln/>
        </p:spPr>
        <p:txBody>
          <a:bodyPr wrap="square" lIns="0" tIns="0" rIns="0" bIns="0" rtlCol="0" anchor="ctr"/>
          <a:lstStyle/>
          <a:p>
            <a:pPr algn="r" indent="0" marL="0">
              <a:buNone/>
            </a:pPr>
            <a:r>
              <a:rPr lang="en-US" sz="1150" dirty="0">
                <a:solidFill>
                  <a:srgbClr val="FFB627"/>
                </a:solidFill>
                <a:latin typeface="Calibri" pitchFamily="34" charset="0"/>
                <a:ea typeface="Calibri" pitchFamily="34" charset="-122"/>
                <a:cs typeface="Calibri" pitchFamily="34" charset="-120"/>
              </a:rPr>
              <a:t>merge (k=10)</a:t>
            </a:r>
            <a:endParaRPr lang="en-US" sz="1150" dirty="0"/>
          </a:p>
        </p:txBody>
      </p:sp>
      <p:sp>
        <p:nvSpPr>
          <p:cNvPr id="25" name="Text 23"/>
          <p:cNvSpPr txBox="1"/>
          <p:nvPr/>
        </p:nvSpPr>
        <p:spPr>
          <a:xfrm>
            <a:off x="731520" y="4215384"/>
            <a:ext cx="2011680" cy="274320"/>
          </a:xfrm>
          <a:prstGeom prst="rect">
            <a:avLst/>
          </a:prstGeom>
          <a:noFill/>
          <a:ln/>
        </p:spPr>
        <p:txBody>
          <a:bodyPr wrap="square" lIns="0" tIns="0" rIns="0" bIns="0" rtlCol="0" anchor="ctr"/>
          <a:lstStyle/>
          <a:p>
            <a:pPr algn="r" indent="0" marL="0">
              <a:buNone/>
            </a:pPr>
            <a:r>
              <a:rPr lang="en-US" sz="1150" dirty="0">
                <a:solidFill>
                  <a:srgbClr val="FFB627"/>
                </a:solidFill>
                <a:latin typeface="Calibri" pitchFamily="34" charset="0"/>
                <a:ea typeface="Calibri" pitchFamily="34" charset="-122"/>
                <a:cs typeface="Calibri" pitchFamily="34" charset="-120"/>
              </a:rPr>
              <a:t>merge - final answer</a:t>
            </a:r>
            <a:endParaRPr lang="en-US" sz="1150" dirty="0"/>
          </a:p>
        </p:txBody>
      </p:sp>
      <p:sp>
        <p:nvSpPr>
          <p:cNvPr id="26" name="Text 24"/>
          <p:cNvSpPr txBox="1"/>
          <p:nvPr/>
        </p:nvSpPr>
        <p:spPr>
          <a:xfrm>
            <a:off x="8138160" y="2468880"/>
            <a:ext cx="1188720" cy="237744"/>
          </a:xfrm>
          <a:prstGeom prst="rect">
            <a:avLst/>
          </a:prstGeom>
          <a:noFill/>
          <a:ln/>
        </p:spPr>
        <p:txBody>
          <a:bodyPr wrap="square" lIns="0" tIns="0" rIns="0" bIns="0" rtlCol="0" anchor="ctr"/>
          <a:lstStyle/>
          <a:p>
            <a:pPr indent="0" marL="0">
              <a:buNone/>
            </a:pPr>
            <a:r>
              <a:rPr lang="en-US" sz="1100" i="1" dirty="0">
                <a:solidFill>
                  <a:srgbClr val="6E6A85"/>
                </a:solidFill>
                <a:latin typeface="Calibri" pitchFamily="34" charset="0"/>
                <a:ea typeface="Calibri" pitchFamily="34" charset="-122"/>
                <a:cs typeface="Calibri" pitchFamily="34" charset="-120"/>
              </a:rPr>
              <a:t>fan out</a:t>
            </a:r>
            <a:endParaRPr lang="en-US" sz="1100" dirty="0"/>
          </a:p>
        </p:txBody>
      </p:sp>
      <p:sp>
        <p:nvSpPr>
          <p:cNvPr id="27" name="Text 25"/>
          <p:cNvSpPr txBox="1"/>
          <p:nvPr/>
        </p:nvSpPr>
        <p:spPr>
          <a:xfrm>
            <a:off x="8138160" y="3886200"/>
            <a:ext cx="1371600" cy="237744"/>
          </a:xfrm>
          <a:prstGeom prst="rect">
            <a:avLst/>
          </a:prstGeom>
          <a:noFill/>
          <a:ln/>
        </p:spPr>
        <p:txBody>
          <a:bodyPr wrap="square" lIns="0" tIns="0" rIns="0" bIns="0" rtlCol="0" anchor="ctr"/>
          <a:lstStyle/>
          <a:p>
            <a:pPr indent="0" marL="0">
              <a:buNone/>
            </a:pPr>
            <a:r>
              <a:rPr lang="en-US" sz="1100" b="1" i="1" dirty="0">
                <a:solidFill>
                  <a:srgbClr val="FFB627"/>
                </a:solidFill>
                <a:latin typeface="Calibri" pitchFamily="34" charset="0"/>
                <a:ea typeface="Calibri" pitchFamily="34" charset="-122"/>
                <a:cs typeface="Calibri" pitchFamily="34" charset="-120"/>
              </a:rPr>
              <a:t>fan back in</a:t>
            </a:r>
            <a:endParaRPr lang="en-US" sz="1100" dirty="0"/>
          </a:p>
        </p:txBody>
      </p:sp>
      <p:sp>
        <p:nvSpPr>
          <p:cNvPr id="28" name="Shape 26"/>
          <p:cNvSpPr/>
          <p:nvPr/>
        </p:nvSpPr>
        <p:spPr>
          <a:xfrm>
            <a:off x="9646920" y="1874520"/>
            <a:ext cx="1874520" cy="1234440"/>
          </a:xfrm>
          <a:prstGeom prst="roundRect">
            <a:avLst>
              <a:gd name="adj" fmla="val 4444"/>
            </a:avLst>
          </a:prstGeom>
          <a:solidFill>
            <a:srgbClr val="F6F4FD"/>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29" name="Text 27"/>
          <p:cNvSpPr txBox="1"/>
          <p:nvPr/>
        </p:nvSpPr>
        <p:spPr>
          <a:xfrm>
            <a:off x="9646920" y="1984248"/>
            <a:ext cx="1874520" cy="566928"/>
          </a:xfrm>
          <a:prstGeom prst="rect">
            <a:avLst/>
          </a:prstGeom>
          <a:noFill/>
          <a:ln/>
        </p:spPr>
        <p:txBody>
          <a:bodyPr wrap="square" lIns="0" tIns="0" rIns="0" bIns="0" rtlCol="0" anchor="ctr"/>
          <a:lstStyle/>
          <a:p>
            <a:pPr algn="ctr" indent="0" marL="0">
              <a:buNone/>
            </a:pPr>
            <a:r>
              <a:rPr lang="en-US" sz="3400" b="1" dirty="0">
                <a:solidFill>
                  <a:srgbClr val="6D4AFF"/>
                </a:solidFill>
                <a:latin typeface="Cambria" pitchFamily="34" charset="0"/>
                <a:ea typeface="Cambria" pitchFamily="34" charset="-122"/>
                <a:cs typeface="Cambria" pitchFamily="34" charset="-120"/>
              </a:rPr>
              <a:t>39</a:t>
            </a:r>
            <a:endParaRPr lang="en-US" sz="3400" dirty="0"/>
          </a:p>
        </p:txBody>
      </p:sp>
      <p:sp>
        <p:nvSpPr>
          <p:cNvPr id="30" name="Text 28"/>
          <p:cNvSpPr txBox="1"/>
          <p:nvPr/>
        </p:nvSpPr>
        <p:spPr>
          <a:xfrm>
            <a:off x="9646920" y="2569464"/>
            <a:ext cx="1874520" cy="420624"/>
          </a:xfrm>
          <a:prstGeom prst="rect">
            <a:avLst/>
          </a:prstGeom>
          <a:noFill/>
          <a:ln/>
        </p:spPr>
        <p:txBody>
          <a:bodyPr wrap="square" lIns="0" tIns="0" rIns="0" bIns="0" rtlCol="0" anchor="ctr"/>
          <a:lstStyle/>
          <a:p>
            <a:pPr algn="ctr" indent="0" marL="0">
              <a:buNone/>
            </a:pPr>
            <a:r>
              <a:rPr lang="en-US" sz="1050" dirty="0">
                <a:solidFill>
                  <a:srgbClr val="6E6A85"/>
                </a:solidFill>
                <a:latin typeface="Calibri" pitchFamily="34" charset="0"/>
                <a:ea typeface="Calibri" pitchFamily="34" charset="-122"/>
                <a:cs typeface="Calibri" pitchFamily="34" charset="-120"/>
              </a:rPr>
              <a:t>thoughts per</a:t>
            </a:r>
            <a:endParaRPr lang="en-US" sz="1050" dirty="0"/>
          </a:p>
          <a:p>
            <a:pPr algn="ctr" indent="0" marL="0">
              <a:buNone/>
            </a:pPr>
            <a:r>
              <a:rPr lang="en-US" sz="1050" dirty="0">
                <a:solidFill>
                  <a:srgbClr val="6E6A85"/>
                </a:solidFill>
                <a:latin typeface="Calibri" pitchFamily="34" charset="0"/>
                <a:ea typeface="Calibri" pitchFamily="34" charset="-122"/>
                <a:cs typeface="Calibri" pitchFamily="34" charset="-120"/>
              </a:rPr>
              <a:t>instance</a:t>
            </a:r>
            <a:endParaRPr lang="en-US" sz="1050" dirty="0"/>
          </a:p>
        </p:txBody>
      </p:sp>
      <p:sp>
        <p:nvSpPr>
          <p:cNvPr id="31" name="Shape 29"/>
          <p:cNvSpPr/>
          <p:nvPr/>
        </p:nvSpPr>
        <p:spPr>
          <a:xfrm>
            <a:off x="9646920" y="3291840"/>
            <a:ext cx="1874520" cy="1234440"/>
          </a:xfrm>
          <a:prstGeom prst="roundRect">
            <a:avLst>
              <a:gd name="adj" fmla="val 4444"/>
            </a:avLst>
          </a:prstGeom>
          <a:solidFill>
            <a:srgbClr val="FFF6E6"/>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32" name="Text 30"/>
          <p:cNvSpPr txBox="1"/>
          <p:nvPr/>
        </p:nvSpPr>
        <p:spPr>
          <a:xfrm>
            <a:off x="9646920" y="3401568"/>
            <a:ext cx="1874520" cy="566928"/>
          </a:xfrm>
          <a:prstGeom prst="rect">
            <a:avLst/>
          </a:prstGeom>
          <a:noFill/>
          <a:ln/>
        </p:spPr>
        <p:txBody>
          <a:bodyPr wrap="square" lIns="0" tIns="0" rIns="0" bIns="0" rtlCol="0" anchor="ctr"/>
          <a:lstStyle/>
          <a:p>
            <a:pPr algn="ctr" indent="0" marL="0">
              <a:buNone/>
            </a:pPr>
            <a:r>
              <a:rPr lang="en-US" sz="3400" b="1" dirty="0">
                <a:solidFill>
                  <a:srgbClr val="FFB627"/>
                </a:solidFill>
                <a:latin typeface="Cambria" pitchFamily="34" charset="0"/>
                <a:ea typeface="Cambria" pitchFamily="34" charset="-122"/>
                <a:cs typeface="Cambria" pitchFamily="34" charset="-120"/>
              </a:rPr>
              <a:t>15</a:t>
            </a:r>
            <a:endParaRPr lang="en-US" sz="3400" dirty="0"/>
          </a:p>
        </p:txBody>
      </p:sp>
      <p:sp>
        <p:nvSpPr>
          <p:cNvPr id="33" name="Text 31"/>
          <p:cNvSpPr txBox="1"/>
          <p:nvPr/>
        </p:nvSpPr>
        <p:spPr>
          <a:xfrm>
            <a:off x="9646920" y="3986784"/>
            <a:ext cx="1874520" cy="420624"/>
          </a:xfrm>
          <a:prstGeom prst="rect">
            <a:avLst/>
          </a:prstGeom>
          <a:noFill/>
          <a:ln/>
        </p:spPr>
        <p:txBody>
          <a:bodyPr wrap="square" lIns="0" tIns="0" rIns="0" bIns="0" rtlCol="0" anchor="ctr"/>
          <a:lstStyle/>
          <a:p>
            <a:pPr algn="ctr" indent="0" marL="0">
              <a:buNone/>
            </a:pPr>
            <a:r>
              <a:rPr lang="en-US" sz="1050" dirty="0">
                <a:solidFill>
                  <a:srgbClr val="6E6A85"/>
                </a:solidFill>
                <a:latin typeface="Calibri" pitchFamily="34" charset="0"/>
                <a:ea typeface="Calibri" pitchFamily="34" charset="-122"/>
                <a:cs typeface="Calibri" pitchFamily="34" charset="-120"/>
              </a:rPr>
              <a:t>aggregations</a:t>
            </a:r>
            <a:endParaRPr lang="en-US" sz="1050" dirty="0"/>
          </a:p>
          <a:p>
            <a:pPr algn="ctr" indent="0" marL="0">
              <a:buNone/>
            </a:pPr>
            <a:r>
              <a:rPr lang="en-US" sz="1050" dirty="0">
                <a:solidFill>
                  <a:srgbClr val="6E6A85"/>
                </a:solidFill>
                <a:latin typeface="Calibri" pitchFamily="34" charset="0"/>
                <a:ea typeface="Calibri" pitchFamily="34" charset="-122"/>
                <a:cs typeface="Calibri" pitchFamily="34" charset="-120"/>
              </a:rPr>
              <a:t>(ToT has 0)</a:t>
            </a:r>
            <a:endParaRPr lang="en-US" sz="1050" dirty="0"/>
          </a:p>
        </p:txBody>
      </p:sp>
      <p:sp>
        <p:nvSpPr>
          <p:cNvPr id="34" name="Shape 32"/>
          <p:cNvSpPr/>
          <p:nvPr/>
        </p:nvSpPr>
        <p:spPr>
          <a:xfrm>
            <a:off x="685800" y="5120640"/>
            <a:ext cx="10835640" cy="914400"/>
          </a:xfrm>
          <a:prstGeom prst="roundRect">
            <a:avLst>
              <a:gd name="adj" fmla="val 6000"/>
            </a:avLst>
          </a:prstGeom>
          <a:solidFill>
            <a:srgbClr val="F6F4FD"/>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35" name="Text 33"/>
          <p:cNvSpPr txBox="1"/>
          <p:nvPr/>
        </p:nvSpPr>
        <p:spPr>
          <a:xfrm>
            <a:off x="960120" y="5321808"/>
            <a:ext cx="10287000" cy="457200"/>
          </a:xfrm>
          <a:prstGeom prst="rect">
            <a:avLst/>
          </a:prstGeom>
          <a:noFill/>
          <a:ln/>
        </p:spPr>
        <p:txBody>
          <a:bodyPr wrap="square" lIns="0" tIns="0" rIns="0" bIns="0" rtlCol="0" anchor="ctr"/>
          <a:lstStyle/>
          <a:p>
            <a:pPr indent="0" marL="0">
              <a:buNone/>
            </a:pPr>
            <a:r>
              <a:rPr lang="en-US" sz="1350" b="1" dirty="0">
                <a:solidFill>
                  <a:srgbClr val="6D4AFF"/>
                </a:solidFill>
                <a:latin typeface="Calibri" pitchFamily="34" charset="0"/>
                <a:ea typeface="Calibri" pitchFamily="34" charset="-122"/>
                <a:cs typeface="Calibri" pitchFamily="34" charset="-120"/>
              </a:rPr>
              <a:t>Sorting 16 numbers is reliable. Merging two sorted lists is reliable. Sorting 64 from scratch is not. So perform only the reliable operations.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881360" cy="621792"/>
          </a:xfrm>
          <a:prstGeom prst="rect">
            <a:avLst/>
          </a:prstGeom>
          <a:noFill/>
          <a:ln/>
        </p:spPr>
        <p:txBody>
          <a:bodyPr wrap="square" lIns="0" tIns="0" rIns="0" bIns="0" rtlCol="0" anchor="ctr"/>
          <a:lstStyle/>
          <a:p>
            <a:pPr indent="0" marL="0">
              <a:buNone/>
            </a:pPr>
            <a:r>
              <a:rPr lang="en-US" sz="3200" b="1" dirty="0">
                <a:solidFill>
                  <a:srgbClr val="1F1A38"/>
                </a:solidFill>
                <a:latin typeface="Cambria" pitchFamily="34" charset="0"/>
                <a:ea typeface="Cambria" pitchFamily="34" charset="-122"/>
                <a:cs typeface="Cambria" pitchFamily="34" charset="-120"/>
              </a:rPr>
              <a:t>Datasets</a:t>
            </a:r>
            <a:endParaRPr lang="en-US" sz="3200" dirty="0"/>
          </a:p>
        </p:txBody>
      </p:sp>
      <p:sp>
        <p:nvSpPr>
          <p:cNvPr id="3" name="Text 1"/>
          <p:cNvSpPr txBox="1"/>
          <p:nvPr/>
        </p:nvSpPr>
        <p:spPr>
          <a:xfrm>
            <a:off x="640080" y="1005840"/>
            <a:ext cx="10881360" cy="365760"/>
          </a:xfrm>
          <a:prstGeom prst="rect">
            <a:avLst/>
          </a:prstGeom>
          <a:noFill/>
          <a:ln/>
        </p:spPr>
        <p:txBody>
          <a:bodyPr wrap="square" lIns="0" tIns="0" rIns="0" bIns="0" rtlCol="0" anchor="ctr"/>
          <a:lstStyle/>
          <a:p>
            <a:pPr indent="0" marL="0">
              <a:buNone/>
            </a:pPr>
            <a:r>
              <a:rPr lang="en-US" sz="1350" dirty="0">
                <a:solidFill>
                  <a:srgbClr val="6E6A85"/>
                </a:solidFill>
                <a:latin typeface="Calibri" pitchFamily="34" charset="0"/>
                <a:ea typeface="Calibri" pitchFamily="34" charset="-122"/>
                <a:cs typeface="Calibri" pitchFamily="34" charset="-120"/>
              </a:rPr>
              <a:t>All tasks are synthetic, with computed ground truth - and the authors publish the exact files they ran</a:t>
            </a:r>
            <a:endParaRPr lang="en-US" sz="13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85800" y="1645920"/>
          <a:ext cx="7040880" cy="914400"/>
        </p:xfrm>
        <a:graphic>
          <a:graphicData uri="http://schemas.openxmlformats.org/drawingml/2006/table">
            <a:tbl>
              <a:tblPr/>
              <a:tblGrid>
                <a:gridCol w="1737360"/>
                <a:gridCol w="2606040"/>
                <a:gridCol w="1600200"/>
                <a:gridCol w="109728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Task</a:t>
                      </a:r>
                      <a:endParaRPr lang="en-US" sz="120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6D4AF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Input</a:t>
                      </a:r>
                      <a:endParaRPr lang="en-US" sz="120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6D4AF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Sizes</a:t>
                      </a:r>
                      <a:endParaRPr lang="en-US" sz="120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6D4AF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Instances</a:t>
                      </a:r>
                      <a:endParaRPr lang="en-US" sz="120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6D4AFF"/>
                    </a:solidFill>
                  </a:tcPr>
                </a:tc>
              </a:tr>
              <a:tr h="384048">
                <a:tc>
                  <a:txBody>
                    <a:bodyPr/>
                    <a:lstStyle/>
                    <a:p>
                      <a:pPr indent="0" marL="0">
                        <a:buNone/>
                      </a:pPr>
                      <a:r>
                        <a:rPr lang="en-US" sz="1200" b="1" dirty="0">
                          <a:solidFill>
                            <a:srgbClr val="1F1A38"/>
                          </a:solidFill>
                          <a:latin typeface="Calibri" pitchFamily="34" charset="0"/>
                          <a:ea typeface="Calibri" pitchFamily="34" charset="-122"/>
                          <a:cs typeface="Calibri" pitchFamily="34" charset="-120"/>
                        </a:rPr>
                        <a:t>Sorting</a:t>
                      </a:r>
                      <a:endParaRPr lang="en-US" sz="120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6F4FD"/>
                    </a:solidFill>
                  </a:tcPr>
                </a:tc>
                <a:tc>
                  <a:txBody>
                    <a:bodyPr/>
                    <a:lstStyle/>
                    <a:p>
                      <a:pPr indent="0" marL="0">
                        <a:buNone/>
                      </a:pPr>
                      <a:r>
                        <a:rPr lang="en-US" sz="1200" dirty="0">
                          <a:solidFill>
                            <a:srgbClr val="1F1A38"/>
                          </a:solidFill>
                          <a:latin typeface="Calibri" pitchFamily="34" charset="0"/>
                          <a:ea typeface="Calibri" pitchFamily="34" charset="-122"/>
                          <a:cs typeface="Calibri" pitchFamily="34" charset="-120"/>
                        </a:rPr>
                        <a:t>digits 0-9, with duplicates</a:t>
                      </a:r>
                      <a:endParaRPr lang="en-US" sz="120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6F4FD"/>
                    </a:solidFill>
                  </a:tcPr>
                </a:tc>
                <a:tc>
                  <a:txBody>
                    <a:bodyPr/>
                    <a:lstStyle/>
                    <a:p>
                      <a:pPr indent="0" marL="0">
                        <a:buNone/>
                      </a:pPr>
                      <a:r>
                        <a:rPr lang="en-US" sz="1200" dirty="0">
                          <a:solidFill>
                            <a:srgbClr val="1F1A38"/>
                          </a:solidFill>
                          <a:latin typeface="Calibri" pitchFamily="34" charset="0"/>
                          <a:ea typeface="Calibri" pitchFamily="34" charset="-122"/>
                          <a:cs typeface="Calibri" pitchFamily="34" charset="-120"/>
                        </a:rPr>
                        <a:t>32 / 64 / 128</a:t>
                      </a:r>
                      <a:endParaRPr lang="en-US" sz="120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6F4FD"/>
                    </a:solidFill>
                  </a:tcPr>
                </a:tc>
                <a:tc>
                  <a:txBody>
                    <a:bodyPr/>
                    <a:lstStyle/>
                    <a:p>
                      <a:pPr indent="0" marL="0">
                        <a:buNone/>
                      </a:pPr>
                      <a:r>
                        <a:rPr lang="en-US" sz="1200" dirty="0">
                          <a:solidFill>
                            <a:srgbClr val="1F1A38"/>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6F4FD"/>
                    </a:solidFill>
                  </a:tcPr>
                </a:tc>
              </a:tr>
              <a:tr h="384048">
                <a:tc>
                  <a:txBody>
                    <a:bodyPr/>
                    <a:lstStyle/>
                    <a:p>
                      <a:pPr indent="0" marL="0">
                        <a:buNone/>
                      </a:pPr>
                      <a:r>
                        <a:rPr lang="en-US" sz="1200" b="1" dirty="0">
                          <a:solidFill>
                            <a:srgbClr val="1F1A38"/>
                          </a:solidFill>
                          <a:latin typeface="Calibri" pitchFamily="34" charset="0"/>
                          <a:ea typeface="Calibri" pitchFamily="34" charset="-122"/>
                          <a:cs typeface="Calibri" pitchFamily="34" charset="-120"/>
                        </a:rPr>
                        <a:t>Set intersection</a:t>
                      </a:r>
                      <a:endParaRPr lang="en-US" sz="120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FFFF"/>
                    </a:solidFill>
                  </a:tcPr>
                </a:tc>
                <a:tc>
                  <a:txBody>
                    <a:bodyPr/>
                    <a:lstStyle/>
                    <a:p>
                      <a:pPr indent="0" marL="0">
                        <a:buNone/>
                      </a:pPr>
                      <a:r>
                        <a:rPr lang="en-US" sz="1200" dirty="0">
                          <a:solidFill>
                            <a:srgbClr val="1F1A38"/>
                          </a:solidFill>
                          <a:latin typeface="Calibri" pitchFamily="34" charset="0"/>
                          <a:ea typeface="Calibri" pitchFamily="34" charset="-122"/>
                          <a:cs typeface="Calibri" pitchFamily="34" charset="-120"/>
                        </a:rPr>
                        <a:t>two sets, 25-75% overlap</a:t>
                      </a:r>
                      <a:endParaRPr lang="en-US" sz="120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FFFF"/>
                    </a:solidFill>
                  </a:tcPr>
                </a:tc>
                <a:tc>
                  <a:txBody>
                    <a:bodyPr/>
                    <a:lstStyle/>
                    <a:p>
                      <a:pPr indent="0" marL="0">
                        <a:buNone/>
                      </a:pPr>
                      <a:r>
                        <a:rPr lang="en-US" sz="1200" dirty="0">
                          <a:solidFill>
                            <a:srgbClr val="1F1A38"/>
                          </a:solidFill>
                          <a:latin typeface="Calibri" pitchFamily="34" charset="0"/>
                          <a:ea typeface="Calibri" pitchFamily="34" charset="-122"/>
                          <a:cs typeface="Calibri" pitchFamily="34" charset="-120"/>
                        </a:rPr>
                        <a:t>32 / 64 / 128</a:t>
                      </a:r>
                      <a:endParaRPr lang="en-US" sz="120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FFFF"/>
                    </a:solidFill>
                  </a:tcPr>
                </a:tc>
                <a:tc>
                  <a:txBody>
                    <a:bodyPr/>
                    <a:lstStyle/>
                    <a:p>
                      <a:pPr indent="0" marL="0">
                        <a:buNone/>
                      </a:pPr>
                      <a:r>
                        <a:rPr lang="en-US" sz="1200" dirty="0">
                          <a:solidFill>
                            <a:srgbClr val="1F1A38"/>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1A38"/>
                          </a:solidFill>
                          <a:latin typeface="Calibri" pitchFamily="34" charset="0"/>
                          <a:ea typeface="Calibri" pitchFamily="34" charset="-122"/>
                          <a:cs typeface="Calibri" pitchFamily="34" charset="-120"/>
                        </a:rPr>
                        <a:t>Keyword counting</a:t>
                      </a:r>
                      <a:endParaRPr lang="en-US" sz="120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6F4FD"/>
                    </a:solidFill>
                  </a:tcPr>
                </a:tc>
                <a:tc>
                  <a:txBody>
                    <a:bodyPr/>
                    <a:lstStyle/>
                    <a:p>
                      <a:pPr indent="0" marL="0">
                        <a:buNone/>
                      </a:pPr>
                      <a:r>
                        <a:rPr lang="en-US" sz="1200" dirty="0">
                          <a:solidFill>
                            <a:srgbClr val="1F1A38"/>
                          </a:solidFill>
                          <a:latin typeface="Calibri" pitchFamily="34" charset="0"/>
                          <a:ea typeface="Calibri" pitchFamily="34" charset="-122"/>
                          <a:cs typeface="Calibri" pitchFamily="34" charset="-120"/>
                        </a:rPr>
                        <a:t>country mentions in text</a:t>
                      </a:r>
                      <a:endParaRPr lang="en-US" sz="120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6F4FD"/>
                    </a:solidFill>
                  </a:tcPr>
                </a:tc>
                <a:tc>
                  <a:txBody>
                    <a:bodyPr/>
                    <a:lstStyle/>
                    <a:p>
                      <a:pPr indent="0" marL="0">
                        <a:buNone/>
                      </a:pPr>
                      <a:r>
                        <a:rPr lang="en-US" sz="1200" dirty="0">
                          <a:solidFill>
                            <a:srgbClr val="1F1A38"/>
                          </a:solidFill>
                          <a:latin typeface="Calibri" pitchFamily="34" charset="0"/>
                          <a:ea typeface="Calibri" pitchFamily="34" charset="-122"/>
                          <a:cs typeface="Calibri" pitchFamily="34" charset="-120"/>
                        </a:rPr>
                        <a:t>4 / 8 / 16 sentences</a:t>
                      </a:r>
                      <a:endParaRPr lang="en-US" sz="120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6F4FD"/>
                    </a:solidFill>
                  </a:tcPr>
                </a:tc>
                <a:tc>
                  <a:txBody>
                    <a:bodyPr/>
                    <a:lstStyle/>
                    <a:p>
                      <a:pPr indent="0" marL="0">
                        <a:buNone/>
                      </a:pPr>
                      <a:r>
                        <a:rPr lang="en-US" sz="1200" dirty="0">
                          <a:solidFill>
                            <a:srgbClr val="1F1A3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6F4FD"/>
                    </a:solidFill>
                  </a:tcPr>
                </a:tc>
              </a:tr>
              <a:tr h="384048">
                <a:tc>
                  <a:txBody>
                    <a:bodyPr/>
                    <a:lstStyle/>
                    <a:p>
                      <a:pPr indent="0" marL="0">
                        <a:buNone/>
                      </a:pPr>
                      <a:r>
                        <a:rPr lang="en-US" sz="1200" b="1" dirty="0">
                          <a:solidFill>
                            <a:srgbClr val="1F1A38"/>
                          </a:solidFill>
                          <a:latin typeface="Calibri" pitchFamily="34" charset="0"/>
                          <a:ea typeface="Calibri" pitchFamily="34" charset="-122"/>
                          <a:cs typeface="Calibri" pitchFamily="34" charset="-120"/>
                        </a:rPr>
                        <a:t>Document merging</a:t>
                      </a:r>
                      <a:endParaRPr lang="en-US" sz="120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FFFF"/>
                    </a:solidFill>
                  </a:tcPr>
                </a:tc>
                <a:tc>
                  <a:txBody>
                    <a:bodyPr/>
                    <a:lstStyle/>
                    <a:p>
                      <a:pPr indent="0" marL="0">
                        <a:buNone/>
                      </a:pPr>
                      <a:r>
                        <a:rPr lang="en-US" sz="1200" dirty="0">
                          <a:solidFill>
                            <a:srgbClr val="1F1A38"/>
                          </a:solidFill>
                          <a:latin typeface="Calibri" pitchFamily="34" charset="0"/>
                          <a:ea typeface="Calibri" pitchFamily="34" charset="-122"/>
                          <a:cs typeface="Calibri" pitchFamily="34" charset="-120"/>
                        </a:rPr>
                        <a:t>overlapping NDA documents</a:t>
                      </a:r>
                      <a:endParaRPr lang="en-US" sz="120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FFFF"/>
                    </a:solidFill>
                  </a:tcPr>
                </a:tc>
                <a:tc>
                  <a:txBody>
                    <a:bodyPr/>
                    <a:lstStyle/>
                    <a:p>
                      <a:pPr indent="0" marL="0">
                        <a:buNone/>
                      </a:pPr>
                      <a:r>
                        <a:rPr lang="en-US" sz="1200" dirty="0">
                          <a:solidFill>
                            <a:srgbClr val="1F1A38"/>
                          </a:solidFill>
                          <a:latin typeface="Calibri" pitchFamily="34" charset="0"/>
                          <a:ea typeface="Calibri" pitchFamily="34" charset="-122"/>
                          <a:cs typeface="Calibri" pitchFamily="34" charset="-120"/>
                        </a:rPr>
                        <a:t>4 documents</a:t>
                      </a:r>
                      <a:endParaRPr lang="en-US" sz="120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FFFF"/>
                    </a:solidFill>
                  </a:tcPr>
                </a:tc>
                <a:tc>
                  <a:txBody>
                    <a:bodyPr/>
                    <a:lstStyle/>
                    <a:p>
                      <a:pPr indent="0" marL="0">
                        <a:buNone/>
                      </a:pPr>
                      <a:r>
                        <a:rPr lang="en-US" sz="1200" dirty="0">
                          <a:solidFill>
                            <a:srgbClr val="1F1A3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85800" y="3749040"/>
            <a:ext cx="7040880" cy="114300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F1A38"/>
                </a:solidFill>
                <a:latin typeface="Calibri" pitchFamily="34" charset="0"/>
                <a:ea typeface="Calibri" pitchFamily="34" charset="-122"/>
                <a:cs typeface="Calibri" pitchFamily="34" charset="-120"/>
              </a:rPr>
              <a:t>No public benchmark - ground truth is computed, never annotated</a:t>
            </a:r>
            <a:endParaRPr lang="en-US" sz="1250" dirty="0"/>
          </a:p>
          <a:p>
            <a:pPr marL="342900" indent="-342900">
              <a:spcAft>
                <a:spcPts val="800"/>
              </a:spcAft>
              <a:buSzPct val="100000"/>
              <a:buChar char="•"/>
            </a:pPr>
            <a:r>
              <a:rPr lang="en-US" sz="1250" dirty="0">
                <a:solidFill>
                  <a:srgbClr val="1F1A38"/>
                </a:solidFill>
                <a:latin typeface="Calibri" pitchFamily="34" charset="0"/>
                <a:ea typeface="Calibri" pitchFamily="34" charset="-122"/>
                <a:cs typeface="Calibri" pitchFamily="34" charset="-120"/>
              </a:rPr>
              <a:t>Randomly generated, so no possibility of training-data contamination</a:t>
            </a:r>
            <a:endParaRPr lang="en-US" sz="1250" dirty="0"/>
          </a:p>
          <a:p>
            <a:pPr marL="342900" indent="-342900">
              <a:spcAft>
                <a:spcPts val="800"/>
              </a:spcAft>
              <a:buSzPct val="100000"/>
              <a:buChar char="•"/>
            </a:pPr>
            <a:r>
              <a:rPr lang="en-US" sz="1250" dirty="0">
                <a:solidFill>
                  <a:srgbClr val="1F1A38"/>
                </a:solidFill>
                <a:latin typeface="Calibri" pitchFamily="34" charset="0"/>
                <a:ea typeface="Calibri" pitchFamily="34" charset="-122"/>
                <a:cs typeface="Calibri" pitchFamily="34" charset="-120"/>
              </a:rPr>
              <a:t>Difficulty is a controlled variable: 32 - 64 - 128 elements</a:t>
            </a:r>
            <a:endParaRPr lang="en-US" sz="1250" dirty="0"/>
          </a:p>
        </p:txBody>
      </p:sp>
      <p:sp>
        <p:nvSpPr>
          <p:cNvPr id="6" name="Shape 3"/>
          <p:cNvSpPr/>
          <p:nvPr/>
        </p:nvSpPr>
        <p:spPr>
          <a:xfrm>
            <a:off x="8001000" y="1645920"/>
            <a:ext cx="3520440" cy="2148840"/>
          </a:xfrm>
          <a:prstGeom prst="roundRect">
            <a:avLst>
              <a:gd name="adj" fmla="val 2553"/>
            </a:avLst>
          </a:prstGeom>
          <a:solidFill>
            <a:srgbClr val="F6F4FD"/>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7" name="Text 4"/>
          <p:cNvSpPr txBox="1"/>
          <p:nvPr/>
        </p:nvSpPr>
        <p:spPr>
          <a:xfrm>
            <a:off x="8229600" y="1801368"/>
            <a:ext cx="3063240" cy="274320"/>
          </a:xfrm>
          <a:prstGeom prst="rect">
            <a:avLst/>
          </a:prstGeom>
          <a:noFill/>
          <a:ln/>
        </p:spPr>
        <p:txBody>
          <a:bodyPr wrap="square" lIns="0" tIns="0" rIns="0" bIns="0" rtlCol="0" anchor="ctr"/>
          <a:lstStyle/>
          <a:p>
            <a:pPr indent="0" marL="0">
              <a:buNone/>
            </a:pPr>
            <a:r>
              <a:rPr lang="en-US" sz="1300" b="1" dirty="0">
                <a:solidFill>
                  <a:srgbClr val="6D4AFF"/>
                </a:solidFill>
                <a:latin typeface="Calibri" pitchFamily="34" charset="0"/>
                <a:ea typeface="Calibri" pitchFamily="34" charset="-122"/>
                <a:cs typeface="Calibri" pitchFamily="34" charset="-120"/>
              </a:rPr>
              <a:t>What we ran</a:t>
            </a:r>
            <a:endParaRPr lang="en-US" sz="1300" dirty="0"/>
          </a:p>
        </p:txBody>
      </p:sp>
      <p:sp>
        <p:nvSpPr>
          <p:cNvPr id="8" name="Text 5"/>
          <p:cNvSpPr txBox="1"/>
          <p:nvPr/>
        </p:nvSpPr>
        <p:spPr>
          <a:xfrm>
            <a:off x="8229600" y="2103120"/>
            <a:ext cx="3108960" cy="365760"/>
          </a:xfrm>
          <a:prstGeom prst="rect">
            <a:avLst/>
          </a:prstGeom>
          <a:noFill/>
          <a:ln/>
        </p:spPr>
        <p:txBody>
          <a:bodyPr wrap="square" lIns="0" tIns="0" rIns="0" bIns="0" rtlCol="0" anchor="ctr"/>
          <a:lstStyle/>
          <a:p>
            <a:pPr indent="0" marL="0">
              <a:buNone/>
            </a:pPr>
            <a:r>
              <a:rPr lang="en-US" sz="1150" dirty="0">
                <a:solidFill>
                  <a:srgbClr val="1F1A38"/>
                </a:solidFill>
                <a:latin typeface="Calibri" pitchFamily="34" charset="0"/>
                <a:ea typeface="Calibri" pitchFamily="34" charset="-122"/>
                <a:cs typeface="Calibri" pitchFamily="34" charset="-120"/>
              </a:rPr>
              <a:t>The authors' own CSV files, byte for byte:</a:t>
            </a:r>
            <a:endParaRPr lang="en-US" sz="1150" dirty="0"/>
          </a:p>
        </p:txBody>
      </p:sp>
      <p:sp>
        <p:nvSpPr>
          <p:cNvPr id="9" name="Text 6"/>
          <p:cNvSpPr txBox="1"/>
          <p:nvPr/>
        </p:nvSpPr>
        <p:spPr>
          <a:xfrm>
            <a:off x="8229600" y="2542032"/>
            <a:ext cx="3108960" cy="658368"/>
          </a:xfrm>
          <a:prstGeom prst="rect">
            <a:avLst/>
          </a:prstGeom>
          <a:noFill/>
          <a:ln/>
        </p:spPr>
        <p:txBody>
          <a:bodyPr wrap="square" lIns="0" tIns="0" rIns="0" bIns="0" rtlCol="0" anchor="ctr"/>
          <a:lstStyle/>
          <a:p>
            <a:pPr indent="0" marL="0">
              <a:buNone/>
            </a:pPr>
            <a:r>
              <a:rPr lang="en-US" sz="1000" dirty="0">
                <a:solidFill>
                  <a:srgbClr val="6D4AFF"/>
                </a:solidFill>
                <a:latin typeface="Courier New" pitchFamily="34" charset="0"/>
                <a:ea typeface="Courier New" pitchFamily="34" charset="-122"/>
                <a:cs typeface="Courier New" pitchFamily="34" charset="-120"/>
              </a:rPr>
              <a:t>data/official/</a:t>
            </a:r>
            <a:endParaRPr lang="en-US" sz="1000" dirty="0"/>
          </a:p>
          <a:p>
            <a:pPr indent="0" marL="0">
              <a:buNone/>
            </a:pPr>
            <a:r>
              <a:rPr lang="en-US" sz="1000" dirty="0">
                <a:solidFill>
                  <a:srgbClr val="6D4AFF"/>
                </a:solidFill>
                <a:latin typeface="Courier New" pitchFamily="34" charset="0"/>
                <a:ea typeface="Courier New" pitchFamily="34" charset="-122"/>
                <a:cs typeface="Courier New" pitchFamily="34" charset="-120"/>
              </a:rPr>
              <a:t>  sorting_064.csv</a:t>
            </a:r>
            <a:endParaRPr lang="en-US" sz="1000" dirty="0"/>
          </a:p>
          <a:p>
            <a:pPr indent="0" marL="0">
              <a:buNone/>
            </a:pPr>
            <a:r>
              <a:rPr lang="en-US" sz="1000" dirty="0">
                <a:solidFill>
                  <a:srgbClr val="6D4AFF"/>
                </a:solidFill>
                <a:latin typeface="Courier New" pitchFamily="34" charset="0"/>
                <a:ea typeface="Courier New" pitchFamily="34" charset="-122"/>
                <a:cs typeface="Courier New" pitchFamily="34" charset="-120"/>
              </a:rPr>
              <a:t>  set_intersection_032.csv</a:t>
            </a:r>
            <a:endParaRPr lang="en-US" sz="1000" dirty="0"/>
          </a:p>
        </p:txBody>
      </p:sp>
      <p:sp>
        <p:nvSpPr>
          <p:cNvPr id="10" name="Text 7"/>
          <p:cNvSpPr txBox="1"/>
          <p:nvPr/>
        </p:nvSpPr>
        <p:spPr>
          <a:xfrm>
            <a:off x="8229600" y="3246120"/>
            <a:ext cx="3108960" cy="457200"/>
          </a:xfrm>
          <a:prstGeom prst="rect">
            <a:avLst/>
          </a:prstGeom>
          <a:noFill/>
          <a:ln/>
        </p:spPr>
        <p:txBody>
          <a:bodyPr wrap="square" lIns="0" tIns="0" rIns="0" bIns="0" rtlCol="0" anchor="ctr"/>
          <a:lstStyle/>
          <a:p>
            <a:pPr indent="0" marL="0">
              <a:buNone/>
            </a:pPr>
            <a:r>
              <a:rPr lang="en-US" sz="1050" i="1" dirty="0">
                <a:solidFill>
                  <a:srgbClr val="6E6A85"/>
                </a:solidFill>
                <a:latin typeface="Calibri" pitchFamily="34" charset="0"/>
                <a:ea typeface="Calibri" pitchFamily="34" charset="-122"/>
                <a:cs typeface="Calibri" pitchFamily="34" charset="-120"/>
              </a:rPr>
              <a:t>Eliminates "different random data" as an explanation for any discrepancy.</a:t>
            </a:r>
            <a:endParaRPr lang="en-US" sz="1050" dirty="0"/>
          </a:p>
        </p:txBody>
      </p:sp>
      <p:sp>
        <p:nvSpPr>
          <p:cNvPr id="11" name="Shape 8"/>
          <p:cNvSpPr/>
          <p:nvPr/>
        </p:nvSpPr>
        <p:spPr>
          <a:xfrm>
            <a:off x="8001000" y="3977640"/>
            <a:ext cx="3520440" cy="1828800"/>
          </a:xfrm>
          <a:prstGeom prst="roundRect">
            <a:avLst>
              <a:gd name="adj" fmla="val 3000"/>
            </a:avLst>
          </a:prstGeom>
          <a:solidFill>
            <a:srgbClr val="FFFFFF"/>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12" name="Text 9"/>
          <p:cNvSpPr txBox="1"/>
          <p:nvPr/>
        </p:nvSpPr>
        <p:spPr>
          <a:xfrm>
            <a:off x="8229600" y="4133088"/>
            <a:ext cx="3063240" cy="274320"/>
          </a:xfrm>
          <a:prstGeom prst="rect">
            <a:avLst/>
          </a:prstGeom>
          <a:noFill/>
          <a:ln/>
        </p:spPr>
        <p:txBody>
          <a:bodyPr wrap="square" lIns="0" tIns="0" rIns="0" bIns="0" rtlCol="0" anchor="ctr"/>
          <a:lstStyle/>
          <a:p>
            <a:pPr indent="0" marL="0">
              <a:buNone/>
            </a:pPr>
            <a:r>
              <a:rPr lang="en-US" sz="1300" b="1" dirty="0">
                <a:solidFill>
                  <a:srgbClr val="3DDC97"/>
                </a:solidFill>
                <a:latin typeface="Calibri" pitchFamily="34" charset="0"/>
                <a:ea typeface="Calibri" pitchFamily="34" charset="-122"/>
                <a:cs typeface="Calibri" pitchFamily="34" charset="-120"/>
              </a:rPr>
              <a:t>Also regenerable</a:t>
            </a:r>
            <a:endParaRPr lang="en-US" sz="1300" dirty="0"/>
          </a:p>
        </p:txBody>
      </p:sp>
      <p:sp>
        <p:nvSpPr>
          <p:cNvPr id="13" name="Text 10"/>
          <p:cNvSpPr txBox="1"/>
          <p:nvPr/>
        </p:nvSpPr>
        <p:spPr>
          <a:xfrm>
            <a:off x="8229600" y="4443984"/>
            <a:ext cx="3108960" cy="256032"/>
          </a:xfrm>
          <a:prstGeom prst="rect">
            <a:avLst/>
          </a:prstGeom>
          <a:noFill/>
          <a:ln/>
        </p:spPr>
        <p:txBody>
          <a:bodyPr wrap="square" lIns="0" tIns="0" rIns="0" bIns="0" rtlCol="0" anchor="ctr"/>
          <a:lstStyle/>
          <a:p>
            <a:pPr indent="0" marL="0">
              <a:buNone/>
            </a:pPr>
            <a:r>
              <a:rPr lang="en-US" sz="1000" dirty="0">
                <a:solidFill>
                  <a:srgbClr val="1F1A38"/>
                </a:solidFill>
                <a:latin typeface="Courier New" pitchFamily="34" charset="0"/>
                <a:ea typeface="Courier New" pitchFamily="34" charset="-122"/>
                <a:cs typeface="Courier New" pitchFamily="34" charset="-120"/>
              </a:rPr>
              <a:t>generate_data.py --seed 42</a:t>
            </a:r>
            <a:endParaRPr lang="en-US" sz="1000" dirty="0"/>
          </a:p>
        </p:txBody>
      </p:sp>
      <p:sp>
        <p:nvSpPr>
          <p:cNvPr id="14" name="Text 11"/>
          <p:cNvSpPr txBox="1"/>
          <p:nvPr/>
        </p:nvSpPr>
        <p:spPr>
          <a:xfrm>
            <a:off x="8229600" y="4754880"/>
            <a:ext cx="3108960" cy="914400"/>
          </a:xfrm>
          <a:prstGeom prst="rect">
            <a:avLst/>
          </a:prstGeom>
          <a:noFill/>
          <a:ln/>
        </p:spPr>
        <p:txBody>
          <a:bodyPr wrap="square" lIns="0" tIns="0" rIns="0" bIns="0" rtlCol="0" anchor="ctr"/>
          <a:lstStyle/>
          <a:p>
            <a:pPr indent="0" marL="0">
              <a:buNone/>
            </a:pPr>
            <a:r>
              <a:rPr lang="en-US" sz="1050" dirty="0">
                <a:solidFill>
                  <a:srgbClr val="6E6A85"/>
                </a:solidFill>
                <a:latin typeface="Calibri" pitchFamily="34" charset="0"/>
                <a:ea typeface="Calibri" pitchFamily="34" charset="-122"/>
                <a:cs typeface="Calibri" pitchFamily="34" charset="-120"/>
              </a:rPr>
              <a:t>Byte-identical on any machine, so laptop and GPU results are directly comparable - and we can test sizes the authors never published.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881360" cy="621792"/>
          </a:xfrm>
          <a:prstGeom prst="rect">
            <a:avLst/>
          </a:prstGeom>
          <a:noFill/>
          <a:ln/>
        </p:spPr>
        <p:txBody>
          <a:bodyPr wrap="square" lIns="0" tIns="0" rIns="0" bIns="0" rtlCol="0" anchor="ctr"/>
          <a:lstStyle/>
          <a:p>
            <a:pPr indent="0" marL="0">
              <a:buNone/>
            </a:pPr>
            <a:r>
              <a:rPr lang="en-US" sz="3200" b="1" dirty="0">
                <a:solidFill>
                  <a:srgbClr val="1F1A38"/>
                </a:solidFill>
                <a:latin typeface="Cambria" pitchFamily="34" charset="0"/>
                <a:ea typeface="Cambria" pitchFamily="34" charset="-122"/>
                <a:cs typeface="Cambria" pitchFamily="34" charset="-120"/>
              </a:rPr>
              <a:t>Experimental setup</a:t>
            </a:r>
            <a:endParaRPr lang="en-US" sz="3200" dirty="0"/>
          </a:p>
        </p:txBody>
      </p:sp>
      <p:sp>
        <p:nvSpPr>
          <p:cNvPr id="3" name="Text 1"/>
          <p:cNvSpPr txBox="1"/>
          <p:nvPr/>
        </p:nvSpPr>
        <p:spPr>
          <a:xfrm>
            <a:off x="640080" y="1005840"/>
            <a:ext cx="10881360" cy="365760"/>
          </a:xfrm>
          <a:prstGeom prst="rect">
            <a:avLst/>
          </a:prstGeom>
          <a:noFill/>
          <a:ln/>
        </p:spPr>
        <p:txBody>
          <a:bodyPr wrap="square" lIns="0" tIns="0" rIns="0" bIns="0" rtlCol="0" anchor="ctr"/>
          <a:lstStyle/>
          <a:p>
            <a:pPr indent="0" marL="0">
              <a:buNone/>
            </a:pPr>
            <a:r>
              <a:rPr lang="en-US" sz="1350" dirty="0">
                <a:solidFill>
                  <a:srgbClr val="6E6A85"/>
                </a:solidFill>
                <a:latin typeface="Calibri" pitchFamily="34" charset="0"/>
                <a:ea typeface="Calibri" pitchFamily="34" charset="-122"/>
                <a:cs typeface="Calibri" pitchFamily="34" charset="-120"/>
              </a:rPr>
              <a:t>The original model is closed and deprecated - so we replicate the claims, not the exact figures</a:t>
            </a:r>
            <a:endParaRPr lang="en-US" sz="1350" dirty="0"/>
          </a:p>
        </p:txBody>
      </p:sp>
      <p:sp>
        <p:nvSpPr>
          <p:cNvPr id="4" name="Shape 2"/>
          <p:cNvSpPr/>
          <p:nvPr/>
        </p:nvSpPr>
        <p:spPr>
          <a:xfrm>
            <a:off x="685800" y="1645920"/>
            <a:ext cx="5303520" cy="2194560"/>
          </a:xfrm>
          <a:prstGeom prst="roundRect">
            <a:avLst>
              <a:gd name="adj" fmla="val 2500"/>
            </a:avLst>
          </a:prstGeom>
          <a:solidFill>
            <a:srgbClr val="F6F4FD"/>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5" name="Text 3"/>
          <p:cNvSpPr txBox="1"/>
          <p:nvPr/>
        </p:nvSpPr>
        <p:spPr>
          <a:xfrm>
            <a:off x="960120" y="1801368"/>
            <a:ext cx="4754880" cy="274320"/>
          </a:xfrm>
          <a:prstGeom prst="rect">
            <a:avLst/>
          </a:prstGeom>
          <a:noFill/>
          <a:ln/>
        </p:spPr>
        <p:txBody>
          <a:bodyPr wrap="square" lIns="0" tIns="0" rIns="0" bIns="0" rtlCol="0" anchor="ctr"/>
          <a:lstStyle/>
          <a:p>
            <a:pPr indent="0" marL="0">
              <a:buNone/>
            </a:pPr>
            <a:r>
              <a:rPr lang="en-US" sz="1450" b="1" dirty="0">
                <a:solidFill>
                  <a:srgbClr val="6E6A85"/>
                </a:solidFill>
                <a:latin typeface="Calibri" pitchFamily="34" charset="0"/>
                <a:ea typeface="Calibri" pitchFamily="34" charset="-122"/>
                <a:cs typeface="Calibri" pitchFamily="34" charset="-120"/>
              </a:rPr>
              <a:t>Original paper</a:t>
            </a:r>
            <a:endParaRPr lang="en-US" sz="1450" dirty="0"/>
          </a:p>
        </p:txBody>
      </p:sp>
      <p:sp>
        <p:nvSpPr>
          <p:cNvPr id="6" name="Text 4"/>
          <p:cNvSpPr txBox="1"/>
          <p:nvPr/>
        </p:nvSpPr>
        <p:spPr>
          <a:xfrm>
            <a:off x="960120" y="2148840"/>
            <a:ext cx="4754880" cy="155448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3C3757"/>
                </a:solidFill>
                <a:latin typeface="Calibri" pitchFamily="34" charset="0"/>
                <a:ea typeface="Calibri" pitchFamily="34" charset="-122"/>
                <a:cs typeface="Calibri" pitchFamily="34" charset="-120"/>
              </a:rPr>
              <a:t>ChatGPT-3.5 via paid API</a:t>
            </a:r>
            <a:endParaRPr lang="en-US" sz="1250" dirty="0"/>
          </a:p>
          <a:p>
            <a:pPr marL="342900" indent="-342900">
              <a:spcAft>
                <a:spcPts val="800"/>
              </a:spcAft>
              <a:buSzPct val="100000"/>
              <a:buChar char="•"/>
            </a:pPr>
            <a:r>
              <a:rPr lang="en-US" sz="1250" dirty="0">
                <a:solidFill>
                  <a:srgbClr val="3C3757"/>
                </a:solidFill>
                <a:latin typeface="Calibri" pitchFamily="34" charset="0"/>
                <a:ea typeface="Calibri" pitchFamily="34" charset="-122"/>
                <a:cs typeface="Calibri" pitchFamily="34" charset="-120"/>
              </a:rPr>
              <a:t>Temperature 1.0, 4k context window</a:t>
            </a:r>
            <a:endParaRPr lang="en-US" sz="1250" dirty="0"/>
          </a:p>
          <a:p>
            <a:pPr marL="342900" indent="-342900">
              <a:spcAft>
                <a:spcPts val="800"/>
              </a:spcAft>
              <a:buSzPct val="100000"/>
              <a:buChar char="•"/>
            </a:pPr>
            <a:r>
              <a:rPr lang="en-US" sz="1250" dirty="0">
                <a:solidFill>
                  <a:srgbClr val="3C3757"/>
                </a:solidFill>
                <a:latin typeface="Calibri" pitchFamily="34" charset="0"/>
                <a:ea typeface="Calibri" pitchFamily="34" charset="-122"/>
                <a:cs typeface="Calibri" pitchFamily="34" charset="-120"/>
              </a:rPr>
              <a:t>100 samples per configuration</a:t>
            </a:r>
            <a:endParaRPr lang="en-US" sz="1250" dirty="0"/>
          </a:p>
          <a:p>
            <a:pPr marL="342900" indent="-342900">
              <a:spcAft>
                <a:spcPts val="800"/>
              </a:spcAft>
              <a:buSzPct val="100000"/>
              <a:buChar char="•"/>
            </a:pPr>
            <a:r>
              <a:rPr lang="en-US" sz="1250" dirty="0">
                <a:solidFill>
                  <a:srgbClr val="3C3757"/>
                </a:solidFill>
                <a:latin typeface="Calibri" pitchFamily="34" charset="0"/>
                <a:ea typeface="Calibri" pitchFamily="34" charset="-122"/>
                <a:cs typeface="Calibri" pitchFamily="34" charset="-120"/>
              </a:rPr>
              <a:t>Llama-2 attempted, then abandoned</a:t>
            </a:r>
            <a:endParaRPr lang="en-US" sz="1250" dirty="0"/>
          </a:p>
        </p:txBody>
      </p:sp>
      <p:sp>
        <p:nvSpPr>
          <p:cNvPr id="7" name="Shape 5"/>
          <p:cNvSpPr/>
          <p:nvPr/>
        </p:nvSpPr>
        <p:spPr>
          <a:xfrm>
            <a:off x="6217920" y="1645920"/>
            <a:ext cx="5303520" cy="2194560"/>
          </a:xfrm>
          <a:prstGeom prst="roundRect">
            <a:avLst>
              <a:gd name="adj" fmla="val 2500"/>
            </a:avLst>
          </a:prstGeom>
          <a:solidFill>
            <a:srgbClr val="FFFFFF"/>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8" name="Text 6"/>
          <p:cNvSpPr txBox="1"/>
          <p:nvPr/>
        </p:nvSpPr>
        <p:spPr>
          <a:xfrm>
            <a:off x="6492240" y="1801368"/>
            <a:ext cx="4754880" cy="274320"/>
          </a:xfrm>
          <a:prstGeom prst="rect">
            <a:avLst/>
          </a:prstGeom>
          <a:noFill/>
          <a:ln/>
        </p:spPr>
        <p:txBody>
          <a:bodyPr wrap="square" lIns="0" tIns="0" rIns="0" bIns="0" rtlCol="0" anchor="ctr"/>
          <a:lstStyle/>
          <a:p>
            <a:pPr indent="0" marL="0">
              <a:buNone/>
            </a:pPr>
            <a:r>
              <a:rPr lang="en-US" sz="1450" b="1" dirty="0">
                <a:solidFill>
                  <a:srgbClr val="3DDC97"/>
                </a:solidFill>
                <a:latin typeface="Calibri" pitchFamily="34" charset="0"/>
                <a:ea typeface="Calibri" pitchFamily="34" charset="-122"/>
                <a:cs typeface="Calibri" pitchFamily="34" charset="-120"/>
              </a:rPr>
              <a:t>This work</a:t>
            </a:r>
            <a:endParaRPr lang="en-US" sz="1450" dirty="0"/>
          </a:p>
        </p:txBody>
      </p:sp>
      <p:sp>
        <p:nvSpPr>
          <p:cNvPr id="9" name="Text 7"/>
          <p:cNvSpPr txBox="1"/>
          <p:nvPr/>
        </p:nvSpPr>
        <p:spPr>
          <a:xfrm>
            <a:off x="6492240" y="2148840"/>
            <a:ext cx="4754880" cy="155448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F1A38"/>
                </a:solidFill>
                <a:latin typeface="Calibri" pitchFamily="34" charset="0"/>
                <a:ea typeface="Calibri" pitchFamily="34" charset="-122"/>
                <a:cs typeface="Calibri" pitchFamily="34" charset="-120"/>
              </a:rPr>
              <a:t>Qwen2.5-7B-Instruct, open weights</a:t>
            </a:r>
            <a:endParaRPr lang="en-US" sz="1250" dirty="0"/>
          </a:p>
          <a:p>
            <a:pPr marL="342900" indent="-342900">
              <a:spcAft>
                <a:spcPts val="800"/>
              </a:spcAft>
              <a:buSzPct val="100000"/>
              <a:buChar char="•"/>
            </a:pPr>
            <a:r>
              <a:rPr lang="en-US" sz="1250" dirty="0">
                <a:solidFill>
                  <a:srgbClr val="1F1A38"/>
                </a:solidFill>
                <a:latin typeface="Calibri" pitchFamily="34" charset="0"/>
                <a:ea typeface="Calibri" pitchFamily="34" charset="-122"/>
                <a:cs typeface="Calibri" pitchFamily="34" charset="-120"/>
              </a:rPr>
              <a:t>Identical temperature and sample count</a:t>
            </a:r>
            <a:endParaRPr lang="en-US" sz="1250" dirty="0"/>
          </a:p>
          <a:p>
            <a:pPr marL="342900" indent="-342900">
              <a:spcAft>
                <a:spcPts val="800"/>
              </a:spcAft>
              <a:buSzPct val="100000"/>
              <a:buChar char="•"/>
            </a:pPr>
            <a:r>
              <a:rPr lang="en-US" sz="1250" dirty="0">
                <a:solidFill>
                  <a:srgbClr val="1F1A38"/>
                </a:solidFill>
                <a:latin typeface="Calibri" pitchFamily="34" charset="0"/>
                <a:ea typeface="Calibri" pitchFamily="34" charset="-122"/>
                <a:cs typeface="Calibri" pitchFamily="34" charset="-120"/>
              </a:rPr>
              <a:t>vLLM inference on NVIDIA RTX A6000</a:t>
            </a:r>
            <a:endParaRPr lang="en-US" sz="1250" dirty="0"/>
          </a:p>
          <a:p>
            <a:pPr marL="342900" indent="-342900">
              <a:spcAft>
                <a:spcPts val="800"/>
              </a:spcAft>
              <a:buSzPct val="100000"/>
              <a:buChar char="•"/>
            </a:pPr>
            <a:r>
              <a:rPr lang="en-US" sz="1250" dirty="0">
                <a:solidFill>
                  <a:srgbClr val="1F1A38"/>
                </a:solidFill>
                <a:latin typeface="Calibri" pitchFamily="34" charset="0"/>
                <a:ea typeface="Calibri" pitchFamily="34" charset="-122"/>
                <a:cs typeface="Calibri" pitchFamily="34" charset="-120"/>
              </a:rPr>
              <a:t>No API keys, fully self-hosted</a:t>
            </a:r>
            <a:endParaRPr lang="en-US" sz="1250" dirty="0"/>
          </a:p>
        </p:txBody>
      </p:sp>
      <p:sp>
        <p:nvSpPr>
          <p:cNvPr id="10" name="Shape 8"/>
          <p:cNvSpPr/>
          <p:nvPr/>
        </p:nvSpPr>
        <p:spPr>
          <a:xfrm>
            <a:off x="685800" y="4069080"/>
            <a:ext cx="3456432" cy="1463040"/>
          </a:xfrm>
          <a:prstGeom prst="roundRect">
            <a:avLst>
              <a:gd name="adj" fmla="val 3750"/>
            </a:avLst>
          </a:prstGeom>
          <a:solidFill>
            <a:srgbClr val="FFFFFF"/>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11" name="Text 9"/>
          <p:cNvSpPr txBox="1"/>
          <p:nvPr/>
        </p:nvSpPr>
        <p:spPr>
          <a:xfrm>
            <a:off x="914400" y="4224528"/>
            <a:ext cx="960120" cy="658368"/>
          </a:xfrm>
          <a:prstGeom prst="rect">
            <a:avLst/>
          </a:prstGeom>
          <a:noFill/>
          <a:ln/>
        </p:spPr>
        <p:txBody>
          <a:bodyPr wrap="square" lIns="0" tIns="0" rIns="0" bIns="0" rtlCol="0" anchor="ctr"/>
          <a:lstStyle/>
          <a:p>
            <a:pPr indent="0" marL="0">
              <a:buNone/>
            </a:pPr>
            <a:r>
              <a:rPr lang="en-US" sz="3600" b="1" dirty="0">
                <a:solidFill>
                  <a:srgbClr val="6D4AFF"/>
                </a:solidFill>
                <a:latin typeface="Cambria" pitchFamily="34" charset="0"/>
                <a:ea typeface="Cambria" pitchFamily="34" charset="-122"/>
                <a:cs typeface="Cambria" pitchFamily="34" charset="-120"/>
              </a:rPr>
              <a:t>4</a:t>
            </a:r>
            <a:endParaRPr lang="en-US" sz="3600" dirty="0"/>
          </a:p>
        </p:txBody>
      </p:sp>
      <p:sp>
        <p:nvSpPr>
          <p:cNvPr id="12" name="Text 10"/>
          <p:cNvSpPr txBox="1"/>
          <p:nvPr/>
        </p:nvSpPr>
        <p:spPr>
          <a:xfrm>
            <a:off x="1874520" y="4343400"/>
            <a:ext cx="2103120" cy="822960"/>
          </a:xfrm>
          <a:prstGeom prst="rect">
            <a:avLst/>
          </a:prstGeom>
          <a:noFill/>
          <a:ln/>
        </p:spPr>
        <p:txBody>
          <a:bodyPr wrap="square" lIns="0" tIns="0" rIns="0" bIns="0" rtlCol="0" anchor="ctr"/>
          <a:lstStyle/>
          <a:p>
            <a:pPr indent="0" marL="0">
              <a:buNone/>
            </a:pPr>
            <a:r>
              <a:rPr lang="en-US" sz="1100" dirty="0">
                <a:solidFill>
                  <a:srgbClr val="1F1A38"/>
                </a:solidFill>
                <a:latin typeface="Calibri" pitchFamily="34" charset="0"/>
                <a:ea typeface="Calibri" pitchFamily="34" charset="-122"/>
                <a:cs typeface="Calibri" pitchFamily="34" charset="-120"/>
              </a:rPr>
              <a:t>interchangeable backends</a:t>
            </a:r>
            <a:endParaRPr lang="en-US" sz="1100" dirty="0"/>
          </a:p>
          <a:p>
            <a:pPr indent="0" marL="0">
              <a:buNone/>
            </a:pPr>
            <a:r>
              <a:rPr lang="en-US" sz="1100" dirty="0">
                <a:solidFill>
                  <a:srgbClr val="1F1A38"/>
                </a:solidFill>
                <a:latin typeface="Calibri" pitchFamily="34" charset="0"/>
                <a:ea typeface="Calibri" pitchFamily="34" charset="-122"/>
                <a:cs typeface="Calibri" pitchFamily="34" charset="-120"/>
              </a:rPr>
              <a:t>mock / llama.cpp / HF / vLLM</a:t>
            </a:r>
            <a:endParaRPr lang="en-US" sz="1100" dirty="0"/>
          </a:p>
        </p:txBody>
      </p:sp>
      <p:sp>
        <p:nvSpPr>
          <p:cNvPr id="13" name="Shape 11"/>
          <p:cNvSpPr/>
          <p:nvPr/>
        </p:nvSpPr>
        <p:spPr>
          <a:xfrm>
            <a:off x="4370832" y="4069080"/>
            <a:ext cx="3456432" cy="1463040"/>
          </a:xfrm>
          <a:prstGeom prst="roundRect">
            <a:avLst>
              <a:gd name="adj" fmla="val 3750"/>
            </a:avLst>
          </a:prstGeom>
          <a:solidFill>
            <a:srgbClr val="FFFFFF"/>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14" name="Text 12"/>
          <p:cNvSpPr txBox="1"/>
          <p:nvPr/>
        </p:nvSpPr>
        <p:spPr>
          <a:xfrm>
            <a:off x="4599432" y="4224528"/>
            <a:ext cx="960120" cy="658368"/>
          </a:xfrm>
          <a:prstGeom prst="rect">
            <a:avLst/>
          </a:prstGeom>
          <a:noFill/>
          <a:ln/>
        </p:spPr>
        <p:txBody>
          <a:bodyPr wrap="square" lIns="0" tIns="0" rIns="0" bIns="0" rtlCol="0" anchor="ctr"/>
          <a:lstStyle/>
          <a:p>
            <a:pPr indent="0" marL="0">
              <a:buNone/>
            </a:pPr>
            <a:r>
              <a:rPr lang="en-US" sz="3600" b="1" dirty="0">
                <a:solidFill>
                  <a:srgbClr val="3DDC97"/>
                </a:solidFill>
                <a:latin typeface="Cambria" pitchFamily="34" charset="0"/>
                <a:ea typeface="Cambria" pitchFamily="34" charset="-122"/>
                <a:cs typeface="Cambria" pitchFamily="34" charset="-120"/>
              </a:rPr>
              <a:t>5</a:t>
            </a:r>
            <a:endParaRPr lang="en-US" sz="3600" dirty="0"/>
          </a:p>
        </p:txBody>
      </p:sp>
      <p:sp>
        <p:nvSpPr>
          <p:cNvPr id="15" name="Text 13"/>
          <p:cNvSpPr txBox="1"/>
          <p:nvPr/>
        </p:nvSpPr>
        <p:spPr>
          <a:xfrm>
            <a:off x="5559552" y="4343400"/>
            <a:ext cx="2103120" cy="822960"/>
          </a:xfrm>
          <a:prstGeom prst="rect">
            <a:avLst/>
          </a:prstGeom>
          <a:noFill/>
          <a:ln/>
        </p:spPr>
        <p:txBody>
          <a:bodyPr wrap="square" lIns="0" tIns="0" rIns="0" bIns="0" rtlCol="0" anchor="ctr"/>
          <a:lstStyle/>
          <a:p>
            <a:pPr indent="0" marL="0">
              <a:buNone/>
            </a:pPr>
            <a:r>
              <a:rPr lang="en-US" sz="1100" dirty="0">
                <a:solidFill>
                  <a:srgbClr val="1F1A38"/>
                </a:solidFill>
                <a:latin typeface="Calibri" pitchFamily="34" charset="0"/>
                <a:ea typeface="Calibri" pitchFamily="34" charset="-122"/>
                <a:cs typeface="Calibri" pitchFamily="34" charset="-120"/>
              </a:rPr>
              <a:t>schemes on one engine</a:t>
            </a:r>
            <a:endParaRPr lang="en-US" sz="1100" dirty="0"/>
          </a:p>
          <a:p>
            <a:pPr indent="0" marL="0">
              <a:buNone/>
            </a:pPr>
            <a:r>
              <a:rPr lang="en-US" sz="1100" dirty="0">
                <a:solidFill>
                  <a:srgbClr val="1F1A38"/>
                </a:solidFill>
                <a:latin typeface="Calibri" pitchFamily="34" charset="0"/>
                <a:ea typeface="Calibri" pitchFamily="34" charset="-122"/>
                <a:cs typeface="Calibri" pitchFamily="34" charset="-120"/>
              </a:rPr>
              <a:t>IO, CoT, CoT-SC, ToT, GoT</a:t>
            </a:r>
            <a:endParaRPr lang="en-US" sz="1100" dirty="0"/>
          </a:p>
        </p:txBody>
      </p:sp>
      <p:sp>
        <p:nvSpPr>
          <p:cNvPr id="16" name="Shape 14"/>
          <p:cNvSpPr/>
          <p:nvPr/>
        </p:nvSpPr>
        <p:spPr>
          <a:xfrm>
            <a:off x="8055864" y="4069080"/>
            <a:ext cx="3456432" cy="1463040"/>
          </a:xfrm>
          <a:prstGeom prst="roundRect">
            <a:avLst>
              <a:gd name="adj" fmla="val 3750"/>
            </a:avLst>
          </a:prstGeom>
          <a:solidFill>
            <a:srgbClr val="FFFFFF"/>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17" name="Text 15"/>
          <p:cNvSpPr txBox="1"/>
          <p:nvPr/>
        </p:nvSpPr>
        <p:spPr>
          <a:xfrm>
            <a:off x="8284464" y="4224528"/>
            <a:ext cx="960120" cy="658368"/>
          </a:xfrm>
          <a:prstGeom prst="rect">
            <a:avLst/>
          </a:prstGeom>
          <a:noFill/>
          <a:ln/>
        </p:spPr>
        <p:txBody>
          <a:bodyPr wrap="square" lIns="0" tIns="0" rIns="0" bIns="0" rtlCol="0" anchor="ctr"/>
          <a:lstStyle/>
          <a:p>
            <a:pPr indent="0" marL="0">
              <a:buNone/>
            </a:pPr>
            <a:r>
              <a:rPr lang="en-US" sz="3600" b="1" dirty="0">
                <a:solidFill>
                  <a:srgbClr val="FFB627"/>
                </a:solidFill>
                <a:latin typeface="Cambria" pitchFamily="34" charset="0"/>
                <a:ea typeface="Cambria" pitchFamily="34" charset="-122"/>
                <a:cs typeface="Cambria" pitchFamily="34" charset="-120"/>
              </a:rPr>
              <a:t>60</a:t>
            </a:r>
            <a:endParaRPr lang="en-US" sz="3600" dirty="0"/>
          </a:p>
        </p:txBody>
      </p:sp>
      <p:sp>
        <p:nvSpPr>
          <p:cNvPr id="18" name="Text 16"/>
          <p:cNvSpPr txBox="1"/>
          <p:nvPr/>
        </p:nvSpPr>
        <p:spPr>
          <a:xfrm>
            <a:off x="9244584" y="4343400"/>
            <a:ext cx="2103120" cy="822960"/>
          </a:xfrm>
          <a:prstGeom prst="rect">
            <a:avLst/>
          </a:prstGeom>
          <a:noFill/>
          <a:ln/>
        </p:spPr>
        <p:txBody>
          <a:bodyPr wrap="square" lIns="0" tIns="0" rIns="0" bIns="0" rtlCol="0" anchor="ctr"/>
          <a:lstStyle/>
          <a:p>
            <a:pPr indent="0" marL="0">
              <a:buNone/>
            </a:pPr>
            <a:r>
              <a:rPr lang="en-US" sz="1100" dirty="0">
                <a:solidFill>
                  <a:srgbClr val="1F1A38"/>
                </a:solidFill>
                <a:latin typeface="Calibri" pitchFamily="34" charset="0"/>
                <a:ea typeface="Calibri" pitchFamily="34" charset="-122"/>
                <a:cs typeface="Calibri" pitchFamily="34" charset="-120"/>
              </a:rPr>
              <a:t>automated tests, run</a:t>
            </a:r>
            <a:endParaRPr lang="en-US" sz="1100" dirty="0"/>
          </a:p>
          <a:p>
            <a:pPr indent="0" marL="0">
              <a:buNone/>
            </a:pPr>
            <a:r>
              <a:rPr lang="en-US" sz="1100" dirty="0">
                <a:solidFill>
                  <a:srgbClr val="1F1A38"/>
                </a:solidFill>
                <a:latin typeface="Calibri" pitchFamily="34" charset="0"/>
                <a:ea typeface="Calibri" pitchFamily="34" charset="-122"/>
                <a:cs typeface="Calibri" pitchFamily="34" charset="-120"/>
              </a:rPr>
              <a:t>before every GPU job</a:t>
            </a:r>
            <a:endParaRPr lang="en-US" sz="1100" dirty="0"/>
          </a:p>
        </p:txBody>
      </p:sp>
      <p:sp>
        <p:nvSpPr>
          <p:cNvPr id="19" name="Text 17"/>
          <p:cNvSpPr txBox="1"/>
          <p:nvPr/>
        </p:nvSpPr>
        <p:spPr>
          <a:xfrm>
            <a:off x="685800" y="5715000"/>
            <a:ext cx="10835640" cy="365760"/>
          </a:xfrm>
          <a:prstGeom prst="rect">
            <a:avLst/>
          </a:prstGeom>
          <a:noFill/>
          <a:ln/>
        </p:spPr>
        <p:txBody>
          <a:bodyPr wrap="square" lIns="0" tIns="0" rIns="0" bIns="0" rtlCol="0" anchor="ctr"/>
          <a:lstStyle/>
          <a:p>
            <a:pPr indent="0" marL="0">
              <a:buNone/>
            </a:pPr>
            <a:r>
              <a:rPr lang="en-US" sz="1200" i="1" dirty="0">
                <a:solidFill>
                  <a:srgbClr val="6E6A85"/>
                </a:solidFill>
                <a:latin typeface="Calibri" pitchFamily="34" charset="0"/>
                <a:ea typeface="Calibri" pitchFamily="34" charset="-122"/>
                <a:cs typeface="Calibri" pitchFamily="34" charset="-120"/>
              </a:rPr>
              <a:t>All five schemes share one controller, one backend, one prompt set and one scorer - so any measured difference is attributable to graph structure alone.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881360" cy="621792"/>
          </a:xfrm>
          <a:prstGeom prst="rect">
            <a:avLst/>
          </a:prstGeom>
          <a:noFill/>
          <a:ln/>
        </p:spPr>
        <p:txBody>
          <a:bodyPr wrap="square" lIns="0" tIns="0" rIns="0" bIns="0" rtlCol="0" anchor="ctr"/>
          <a:lstStyle/>
          <a:p>
            <a:pPr indent="0" marL="0">
              <a:buNone/>
            </a:pPr>
            <a:r>
              <a:rPr lang="en-US" sz="3200" b="1" dirty="0">
                <a:solidFill>
                  <a:srgbClr val="1F1A38"/>
                </a:solidFill>
                <a:latin typeface="Cambria" pitchFamily="34" charset="0"/>
                <a:ea typeface="Cambria" pitchFamily="34" charset="-122"/>
                <a:cs typeface="Cambria" pitchFamily="34" charset="-120"/>
              </a:rPr>
              <a:t>Result 1: structural claims hold exactly</a:t>
            </a:r>
            <a:endParaRPr lang="en-US" sz="3200" dirty="0"/>
          </a:p>
        </p:txBody>
      </p:sp>
      <p:sp>
        <p:nvSpPr>
          <p:cNvPr id="3" name="Text 1"/>
          <p:cNvSpPr txBox="1"/>
          <p:nvPr/>
        </p:nvSpPr>
        <p:spPr>
          <a:xfrm>
            <a:off x="640080" y="1005840"/>
            <a:ext cx="10881360" cy="365760"/>
          </a:xfrm>
          <a:prstGeom prst="rect">
            <a:avLst/>
          </a:prstGeom>
          <a:noFill/>
          <a:ln/>
        </p:spPr>
        <p:txBody>
          <a:bodyPr wrap="square" lIns="0" tIns="0" rIns="0" bIns="0" rtlCol="0" anchor="ctr"/>
          <a:lstStyle/>
          <a:p>
            <a:pPr indent="0" marL="0">
              <a:buNone/>
            </a:pPr>
            <a:r>
              <a:rPr lang="en-US" sz="1350" dirty="0">
                <a:solidFill>
                  <a:srgbClr val="6E6A85"/>
                </a:solidFill>
                <a:latin typeface="Calibri" pitchFamily="34" charset="0"/>
                <a:ea typeface="Calibri" pitchFamily="34" charset="-122"/>
                <a:cs typeface="Calibri" pitchFamily="34" charset="-120"/>
              </a:rPr>
              <a:t>Volume and latency are properties of the graph, independent of the model</a:t>
            </a:r>
            <a:endParaRPr lang="en-US" sz="13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5943600" cy="914400"/>
        </p:xfrm>
        <a:graphic>
          <a:graphicData uri="http://schemas.openxmlformats.org/drawingml/2006/table">
            <a:tbl>
              <a:tblPr/>
              <a:tblGrid>
                <a:gridCol w="1554480"/>
                <a:gridCol w="1417320"/>
                <a:gridCol w="1417320"/>
                <a:gridCol w="1554480"/>
              </a:tblGrid>
              <a:tr h="40233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Scheme</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6D4AF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Volume</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6D4AF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Latency</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6D4AF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Aggregations</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6D4AFF"/>
                    </a:solidFill>
                  </a:tcPr>
                </a:tc>
              </a:tr>
              <a:tr h="402336">
                <a:tc>
                  <a:txBody>
                    <a:bodyPr/>
                    <a:lstStyle/>
                    <a:p>
                      <a:pPr indent="0" marL="0">
                        <a:buNone/>
                      </a:pPr>
                      <a:r>
                        <a:rPr lang="en-US" sz="1250" b="1" dirty="0">
                          <a:solidFill>
                            <a:srgbClr val="1F1A38"/>
                          </a:solidFill>
                          <a:latin typeface="Calibri" pitchFamily="34" charset="0"/>
                          <a:ea typeface="Calibri" pitchFamily="34" charset="-122"/>
                          <a:cs typeface="Calibri" pitchFamily="34" charset="-120"/>
                        </a:rPr>
                        <a:t>IO</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6F4FD"/>
                    </a:solidFill>
                  </a:tcPr>
                </a:tc>
                <a:tc>
                  <a:txBody>
                    <a:bodyPr/>
                    <a:lstStyle/>
                    <a:p>
                      <a:pPr indent="0" marL="0">
                        <a:buNone/>
                      </a:pPr>
                      <a:r>
                        <a:rPr lang="en-US" sz="1250" dirty="0">
                          <a:solidFill>
                            <a:srgbClr val="1F1A38"/>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6F4FD"/>
                    </a:solidFill>
                  </a:tcPr>
                </a:tc>
                <a:tc>
                  <a:txBody>
                    <a:bodyPr/>
                    <a:lstStyle/>
                    <a:p>
                      <a:pPr indent="0" marL="0">
                        <a:buNone/>
                      </a:pPr>
                      <a:r>
                        <a:rPr lang="en-US" sz="1250" dirty="0">
                          <a:solidFill>
                            <a:srgbClr val="1F1A38"/>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6F4FD"/>
                    </a:solidFill>
                  </a:tcPr>
                </a:tc>
                <a:tc>
                  <a:txBody>
                    <a:bodyPr/>
                    <a:lstStyle/>
                    <a:p>
                      <a:pPr indent="0" marL="0">
                        <a:buNone/>
                      </a:pPr>
                      <a:r>
                        <a:rPr lang="en-US" sz="1250" dirty="0">
                          <a:solidFill>
                            <a:srgbClr val="1F1A38"/>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6F4FD"/>
                    </a:solidFill>
                  </a:tcPr>
                </a:tc>
              </a:tr>
              <a:tr h="402336">
                <a:tc>
                  <a:txBody>
                    <a:bodyPr/>
                    <a:lstStyle/>
                    <a:p>
                      <a:pPr indent="0" marL="0">
                        <a:buNone/>
                      </a:pPr>
                      <a:r>
                        <a:rPr lang="en-US" sz="1250" b="1" dirty="0">
                          <a:solidFill>
                            <a:srgbClr val="1F1A38"/>
                          </a:solidFill>
                          <a:latin typeface="Calibri" pitchFamily="34" charset="0"/>
                          <a:ea typeface="Calibri" pitchFamily="34" charset="-122"/>
                          <a:cs typeface="Calibri" pitchFamily="34" charset="-120"/>
                        </a:rPr>
                        <a:t>CoT</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FFFF"/>
                    </a:solidFill>
                  </a:tcPr>
                </a:tc>
                <a:tc>
                  <a:txBody>
                    <a:bodyPr/>
                    <a:lstStyle/>
                    <a:p>
                      <a:pPr indent="0" marL="0">
                        <a:buNone/>
                      </a:pPr>
                      <a:r>
                        <a:rPr lang="en-US" sz="1250" dirty="0">
                          <a:solidFill>
                            <a:srgbClr val="1F1A38"/>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FFFF"/>
                    </a:solidFill>
                  </a:tcPr>
                </a:tc>
                <a:tc>
                  <a:txBody>
                    <a:bodyPr/>
                    <a:lstStyle/>
                    <a:p>
                      <a:pPr indent="0" marL="0">
                        <a:buNone/>
                      </a:pPr>
                      <a:r>
                        <a:rPr lang="en-US" sz="1250" dirty="0">
                          <a:solidFill>
                            <a:srgbClr val="1F1A38"/>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FFFF"/>
                    </a:solidFill>
                  </a:tcPr>
                </a:tc>
                <a:tc>
                  <a:txBody>
                    <a:bodyPr/>
                    <a:lstStyle/>
                    <a:p>
                      <a:pPr indent="0" marL="0">
                        <a:buNone/>
                      </a:pPr>
                      <a:r>
                        <a:rPr lang="en-US" sz="1250" dirty="0">
                          <a:solidFill>
                            <a:srgbClr val="1F1A38"/>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FFFF"/>
                    </a:solidFill>
                  </a:tcPr>
                </a:tc>
              </a:tr>
              <a:tr h="402336">
                <a:tc>
                  <a:txBody>
                    <a:bodyPr/>
                    <a:lstStyle/>
                    <a:p>
                      <a:pPr indent="0" marL="0">
                        <a:buNone/>
                      </a:pPr>
                      <a:r>
                        <a:rPr lang="en-US" sz="1250" b="1" dirty="0">
                          <a:solidFill>
                            <a:srgbClr val="1F1A38"/>
                          </a:solidFill>
                          <a:latin typeface="Calibri" pitchFamily="34" charset="0"/>
                          <a:ea typeface="Calibri" pitchFamily="34" charset="-122"/>
                          <a:cs typeface="Calibri" pitchFamily="34" charset="-120"/>
                        </a:rPr>
                        <a:t>CoT-SC</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6F4FD"/>
                    </a:solidFill>
                  </a:tcPr>
                </a:tc>
                <a:tc>
                  <a:txBody>
                    <a:bodyPr/>
                    <a:lstStyle/>
                    <a:p>
                      <a:pPr indent="0" marL="0">
                        <a:buNone/>
                      </a:pPr>
                      <a:r>
                        <a:rPr lang="en-US" sz="1250" dirty="0">
                          <a:solidFill>
                            <a:srgbClr val="1F1A38"/>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6F4FD"/>
                    </a:solidFill>
                  </a:tcPr>
                </a:tc>
                <a:tc>
                  <a:txBody>
                    <a:bodyPr/>
                    <a:lstStyle/>
                    <a:p>
                      <a:pPr indent="0" marL="0">
                        <a:buNone/>
                      </a:pPr>
                      <a:r>
                        <a:rPr lang="en-US" sz="1250" dirty="0">
                          <a:solidFill>
                            <a:srgbClr val="1F1A38"/>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6F4FD"/>
                    </a:solidFill>
                  </a:tcPr>
                </a:tc>
                <a:tc>
                  <a:txBody>
                    <a:bodyPr/>
                    <a:lstStyle/>
                    <a:p>
                      <a:pPr indent="0" marL="0">
                        <a:buNone/>
                      </a:pPr>
                      <a:r>
                        <a:rPr lang="en-US" sz="1250" dirty="0">
                          <a:solidFill>
                            <a:srgbClr val="1F1A38"/>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6F4FD"/>
                    </a:solidFill>
                  </a:tcPr>
                </a:tc>
              </a:tr>
              <a:tr h="402336">
                <a:tc>
                  <a:txBody>
                    <a:bodyPr/>
                    <a:lstStyle/>
                    <a:p>
                      <a:pPr indent="0" marL="0">
                        <a:buNone/>
                      </a:pPr>
                      <a:r>
                        <a:rPr lang="en-US" sz="1250" b="1" dirty="0">
                          <a:solidFill>
                            <a:srgbClr val="1F1A38"/>
                          </a:solidFill>
                          <a:latin typeface="Calibri" pitchFamily="34" charset="0"/>
                          <a:ea typeface="Calibri" pitchFamily="34" charset="-122"/>
                          <a:cs typeface="Calibri" pitchFamily="34" charset="-120"/>
                        </a:rPr>
                        <a:t>ToT</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FFFF"/>
                    </a:solidFill>
                  </a:tcPr>
                </a:tc>
                <a:tc>
                  <a:txBody>
                    <a:bodyPr/>
                    <a:lstStyle/>
                    <a:p>
                      <a:pPr indent="0" marL="0">
                        <a:buNone/>
                      </a:pPr>
                      <a:r>
                        <a:rPr lang="en-US" sz="1250" dirty="0">
                          <a:solidFill>
                            <a:srgbClr val="1F1A38"/>
                          </a:solidFill>
                          <a:latin typeface="Calibri" pitchFamily="34" charset="0"/>
                          <a:ea typeface="Calibri" pitchFamily="34" charset="-122"/>
                          <a:cs typeface="Calibri" pitchFamily="34" charset="-120"/>
                        </a:rPr>
                        <a:t>6.0</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FFFF"/>
                    </a:solidFill>
                  </a:tcPr>
                </a:tc>
                <a:tc>
                  <a:txBody>
                    <a:bodyPr/>
                    <a:lstStyle/>
                    <a:p>
                      <a:pPr indent="0" marL="0">
                        <a:buNone/>
                      </a:pPr>
                      <a:r>
                        <a:rPr lang="en-US" sz="1250" dirty="0">
                          <a:solidFill>
                            <a:srgbClr val="1F1A38"/>
                          </a:solidFill>
                          <a:latin typeface="Calibri" pitchFamily="34" charset="0"/>
                          <a:ea typeface="Calibri" pitchFamily="34" charset="-122"/>
                          <a:cs typeface="Calibri" pitchFamily="34" charset="-120"/>
                        </a:rPr>
                        <a:t>6.0</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FFFF"/>
                    </a:solidFill>
                  </a:tcPr>
                </a:tc>
                <a:tc>
                  <a:txBody>
                    <a:bodyPr/>
                    <a:lstStyle/>
                    <a:p>
                      <a:pPr indent="0" marL="0">
                        <a:buNone/>
                      </a:pPr>
                      <a:r>
                        <a:rPr lang="en-US" sz="1250" dirty="0">
                          <a:solidFill>
                            <a:srgbClr val="1F1A38"/>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FFFF"/>
                    </a:solidFill>
                  </a:tcPr>
                </a:tc>
              </a:tr>
              <a:tr h="402336">
                <a:tc>
                  <a:txBody>
                    <a:bodyPr/>
                    <a:lstStyle/>
                    <a:p>
                      <a:pPr indent="0" marL="0">
                        <a:buNone/>
                      </a:pPr>
                      <a:r>
                        <a:rPr lang="en-US" sz="1250" b="1" dirty="0">
                          <a:solidFill>
                            <a:srgbClr val="FFB627"/>
                          </a:solidFill>
                          <a:latin typeface="Calibri" pitchFamily="34" charset="0"/>
                          <a:ea typeface="Calibri" pitchFamily="34" charset="-122"/>
                          <a:cs typeface="Calibri" pitchFamily="34" charset="-120"/>
                        </a:rPr>
                        <a:t>GoT</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F6E6"/>
                    </a:solidFill>
                  </a:tcPr>
                </a:tc>
                <a:tc>
                  <a:txBody>
                    <a:bodyPr/>
                    <a:lstStyle/>
                    <a:p>
                      <a:pPr indent="0" marL="0">
                        <a:buNone/>
                      </a:pPr>
                      <a:r>
                        <a:rPr lang="en-US" sz="1250" b="1" dirty="0">
                          <a:solidFill>
                            <a:srgbClr val="FFB627"/>
                          </a:solidFill>
                          <a:latin typeface="Calibri" pitchFamily="34" charset="0"/>
                          <a:ea typeface="Calibri" pitchFamily="34" charset="-122"/>
                          <a:cs typeface="Calibri" pitchFamily="34" charset="-120"/>
                        </a:rPr>
                        <a:t>20.0</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F6E6"/>
                    </a:solidFill>
                  </a:tcPr>
                </a:tc>
                <a:tc>
                  <a:txBody>
                    <a:bodyPr/>
                    <a:lstStyle/>
                    <a:p>
                      <a:pPr indent="0" marL="0">
                        <a:buNone/>
                      </a:pPr>
                      <a:r>
                        <a:rPr lang="en-US" sz="1250" b="1" dirty="0">
                          <a:solidFill>
                            <a:srgbClr val="FFB627"/>
                          </a:solidFill>
                          <a:latin typeface="Calibri" pitchFamily="34" charset="0"/>
                          <a:ea typeface="Calibri" pitchFamily="34" charset="-122"/>
                          <a:cs typeface="Calibri" pitchFamily="34" charset="-120"/>
                        </a:rPr>
                        <a:t>9.0</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F6E6"/>
                    </a:solidFill>
                  </a:tcPr>
                </a:tc>
                <a:tc>
                  <a:txBody>
                    <a:bodyPr/>
                    <a:lstStyle/>
                    <a:p>
                      <a:pPr indent="0" marL="0">
                        <a:buNone/>
                      </a:pPr>
                      <a:r>
                        <a:rPr lang="en-US" sz="1250" b="1" dirty="0">
                          <a:solidFill>
                            <a:srgbClr val="FFB627"/>
                          </a:solidFill>
                          <a:latin typeface="Calibri" pitchFamily="34" charset="0"/>
                          <a:ea typeface="Calibri" pitchFamily="34" charset="-122"/>
                          <a:cs typeface="Calibri" pitchFamily="34" charset="-120"/>
                        </a:rPr>
                        <a:t>15</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F6E6"/>
                    </a:solidFill>
                  </a:tcPr>
                </a:tc>
              </a:tr>
            </a:tbl>
          </a:graphicData>
        </a:graphic>
      </p:graphicFrame>
      <p:sp>
        <p:nvSpPr>
          <p:cNvPr id="5" name="Shape 2"/>
          <p:cNvSpPr/>
          <p:nvPr/>
        </p:nvSpPr>
        <p:spPr>
          <a:xfrm>
            <a:off x="7040880" y="1737360"/>
            <a:ext cx="4480560" cy="1325880"/>
          </a:xfrm>
          <a:prstGeom prst="roundRect">
            <a:avLst>
              <a:gd name="adj" fmla="val 4138"/>
            </a:avLst>
          </a:prstGeom>
          <a:solidFill>
            <a:srgbClr val="150E33"/>
          </a:solidFill>
          <a:ln w="12700">
            <a:solidFill>
              <a:srgbClr val="342A63"/>
            </a:solidFill>
            <a:prstDash val="solid"/>
          </a:ln>
        </p:spPr>
      </p:sp>
      <p:sp>
        <p:nvSpPr>
          <p:cNvPr id="6" name="Text 3"/>
          <p:cNvSpPr txBox="1"/>
          <p:nvPr/>
        </p:nvSpPr>
        <p:spPr>
          <a:xfrm>
            <a:off x="7040880" y="1865376"/>
            <a:ext cx="4480560" cy="54864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22 / 22</a:t>
            </a:r>
            <a:endParaRPr lang="en-US" sz="3400" dirty="0"/>
          </a:p>
        </p:txBody>
      </p:sp>
      <p:sp>
        <p:nvSpPr>
          <p:cNvPr id="7" name="Text 4"/>
          <p:cNvSpPr txBox="1"/>
          <p:nvPr/>
        </p:nvSpPr>
        <p:spPr>
          <a:xfrm>
            <a:off x="7269480" y="2432304"/>
            <a:ext cx="4023360" cy="457200"/>
          </a:xfrm>
          <a:prstGeom prst="rect">
            <a:avLst/>
          </a:prstGeom>
          <a:noFill/>
          <a:ln/>
        </p:spPr>
        <p:txBody>
          <a:bodyPr wrap="square" lIns="0" tIns="0" rIns="0" bIns="0" rtlCol="0" anchor="ctr"/>
          <a:lstStyle/>
          <a:p>
            <a:pPr algn="ctr" indent="0" marL="0">
              <a:buNone/>
            </a:pPr>
            <a:r>
              <a:rPr lang="en-US" sz="1100" dirty="0">
                <a:solidFill>
                  <a:srgbClr val="A79FCB"/>
                </a:solidFill>
                <a:latin typeface="Calibri" pitchFamily="34" charset="0"/>
                <a:ea typeface="Calibri" pitchFamily="34" charset="-122"/>
                <a:cs typeface="Calibri" pitchFamily="34" charset="-120"/>
              </a:rPr>
              <a:t>structural checks pass, verified automatically on every run</a:t>
            </a:r>
            <a:endParaRPr lang="en-US" sz="1100" dirty="0"/>
          </a:p>
        </p:txBody>
      </p:sp>
      <p:sp>
        <p:nvSpPr>
          <p:cNvPr id="8" name="Shape 5"/>
          <p:cNvSpPr/>
          <p:nvPr/>
        </p:nvSpPr>
        <p:spPr>
          <a:xfrm>
            <a:off x="7040880" y="3246120"/>
            <a:ext cx="4480560" cy="1691640"/>
          </a:xfrm>
          <a:prstGeom prst="roundRect">
            <a:avLst>
              <a:gd name="adj" fmla="val 3243"/>
            </a:avLst>
          </a:prstGeom>
          <a:solidFill>
            <a:srgbClr val="FFF6E6"/>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9" name="Text 6"/>
          <p:cNvSpPr txBox="1"/>
          <p:nvPr/>
        </p:nvSpPr>
        <p:spPr>
          <a:xfrm>
            <a:off x="7269480" y="3401568"/>
            <a:ext cx="4023360" cy="274320"/>
          </a:xfrm>
          <a:prstGeom prst="rect">
            <a:avLst/>
          </a:prstGeom>
          <a:noFill/>
          <a:ln/>
        </p:spPr>
        <p:txBody>
          <a:bodyPr wrap="square" lIns="0" tIns="0" rIns="0" bIns="0" rtlCol="0" anchor="ctr"/>
          <a:lstStyle/>
          <a:p>
            <a:pPr indent="0" marL="0">
              <a:buNone/>
            </a:pPr>
            <a:r>
              <a:rPr lang="en-US" sz="1300" b="1" dirty="0">
                <a:solidFill>
                  <a:srgbClr val="FFB627"/>
                </a:solidFill>
                <a:latin typeface="Calibri" pitchFamily="34" charset="0"/>
                <a:ea typeface="Calibri" pitchFamily="34" charset="-122"/>
                <a:cs typeface="Calibri" pitchFamily="34" charset="-120"/>
              </a:rPr>
              <a:t>The key measurement</a:t>
            </a:r>
            <a:endParaRPr lang="en-US" sz="1300" dirty="0"/>
          </a:p>
        </p:txBody>
      </p:sp>
      <p:sp>
        <p:nvSpPr>
          <p:cNvPr id="10" name="Text 7"/>
          <p:cNvSpPr txBox="1"/>
          <p:nvPr/>
        </p:nvSpPr>
        <p:spPr>
          <a:xfrm>
            <a:off x="7269480" y="3703320"/>
            <a:ext cx="4023360" cy="566928"/>
          </a:xfrm>
          <a:prstGeom prst="rect">
            <a:avLst/>
          </a:prstGeom>
          <a:noFill/>
          <a:ln/>
        </p:spPr>
        <p:txBody>
          <a:bodyPr wrap="square" lIns="0" tIns="0" rIns="0" bIns="0" rtlCol="0" anchor="ctr"/>
          <a:lstStyle/>
          <a:p>
            <a:pPr indent="0" marL="0">
              <a:buNone/>
            </a:pPr>
            <a:r>
              <a:rPr lang="en-US" sz="1250" dirty="0">
                <a:solidFill>
                  <a:srgbClr val="1F1A38"/>
                </a:solidFill>
                <a:latin typeface="Calibri" pitchFamily="34" charset="0"/>
                <a:ea typeface="Calibri" pitchFamily="34" charset="-122"/>
                <a:cs typeface="Calibri" pitchFamily="34" charset="-120"/>
              </a:rPr>
              <a:t>GoT achieves volume 20 at latency 9.</a:t>
            </a:r>
            <a:endParaRPr lang="en-US" sz="1250" dirty="0"/>
          </a:p>
          <a:p>
            <a:pPr indent="0" marL="0">
              <a:buNone/>
            </a:pPr>
            <a:r>
              <a:rPr lang="en-US" sz="1250" dirty="0">
                <a:solidFill>
                  <a:srgbClr val="1F1A38"/>
                </a:solidFill>
                <a:latin typeface="Calibri" pitchFamily="34" charset="0"/>
                <a:ea typeface="Calibri" pitchFamily="34" charset="-122"/>
                <a:cs typeface="Calibri" pitchFamily="34" charset="-120"/>
              </a:rPr>
              <a:t>ToT achieves volume 6 at latency 6.</a:t>
            </a:r>
            <a:endParaRPr lang="en-US" sz="1250" dirty="0"/>
          </a:p>
        </p:txBody>
      </p:sp>
      <p:sp>
        <p:nvSpPr>
          <p:cNvPr id="11" name="Text 8"/>
          <p:cNvSpPr txBox="1"/>
          <p:nvPr/>
        </p:nvSpPr>
        <p:spPr>
          <a:xfrm>
            <a:off x="7269480" y="4315968"/>
            <a:ext cx="4023360" cy="512064"/>
          </a:xfrm>
          <a:prstGeom prst="rect">
            <a:avLst/>
          </a:prstGeom>
          <a:noFill/>
          <a:ln/>
        </p:spPr>
        <p:txBody>
          <a:bodyPr wrap="square" lIns="0" tIns="0" rIns="0" bIns="0" rtlCol="0" anchor="ctr"/>
          <a:lstStyle/>
          <a:p>
            <a:pPr indent="0" marL="0">
              <a:buNone/>
            </a:pPr>
            <a:r>
              <a:rPr lang="en-US" sz="1200" b="1" dirty="0">
                <a:solidFill>
                  <a:srgbClr val="6D4AFF"/>
                </a:solidFill>
                <a:latin typeface="Calibri" pitchFamily="34" charset="0"/>
                <a:ea typeface="Calibri" pitchFamily="34" charset="-122"/>
                <a:cs typeface="Calibri" pitchFamily="34" charset="-120"/>
              </a:rPr>
              <a:t>Three times the information reaching the answer, for 1.5x the depth.</a:t>
            </a:r>
            <a:endParaRPr lang="en-US" sz="1200" dirty="0"/>
          </a:p>
        </p:txBody>
      </p:sp>
      <p:sp>
        <p:nvSpPr>
          <p:cNvPr id="12" name="Text 9"/>
          <p:cNvSpPr txBox="1"/>
          <p:nvPr/>
        </p:nvSpPr>
        <p:spPr>
          <a:xfrm>
            <a:off x="685800" y="5212080"/>
            <a:ext cx="10835640" cy="292608"/>
          </a:xfrm>
          <a:prstGeom prst="rect">
            <a:avLst/>
          </a:prstGeom>
          <a:noFill/>
          <a:ln/>
        </p:spPr>
        <p:txBody>
          <a:bodyPr wrap="square" lIns="0" tIns="0" rIns="0" bIns="0" rtlCol="0" anchor="ctr"/>
          <a:lstStyle/>
          <a:p>
            <a:pPr indent="0" marL="0">
              <a:buNone/>
            </a:pPr>
            <a:r>
              <a:rPr lang="en-US" sz="1150" i="1" dirty="0">
                <a:solidFill>
                  <a:srgbClr val="6E6A85"/>
                </a:solidFill>
                <a:latin typeface="Calibri" pitchFamily="34" charset="0"/>
                <a:ea typeface="Calibri" pitchFamily="34" charset="-122"/>
                <a:cs typeface="Calibri" pitchFamily="34" charset="-120"/>
              </a:rPr>
              <a:t>Volume = number of prior thoughts with a causal path to the final answer.    Latency = sequential model calls required.</a:t>
            </a:r>
            <a:endParaRPr lang="en-US" sz="1150" dirty="0"/>
          </a:p>
        </p:txBody>
      </p:sp>
      <p:sp>
        <p:nvSpPr>
          <p:cNvPr id="13" name="Text 10"/>
          <p:cNvSpPr txBox="1"/>
          <p:nvPr/>
        </p:nvSpPr>
        <p:spPr>
          <a:xfrm>
            <a:off x="685800" y="5559552"/>
            <a:ext cx="10835640" cy="292608"/>
          </a:xfrm>
          <a:prstGeom prst="rect">
            <a:avLst/>
          </a:prstGeom>
          <a:noFill/>
          <a:ln/>
        </p:spPr>
        <p:txBody>
          <a:bodyPr wrap="square" lIns="0" tIns="0" rIns="0" bIns="0" rtlCol="0" anchor="ctr"/>
          <a:lstStyle/>
          <a:p>
            <a:pPr indent="0" marL="0">
              <a:buNone/>
            </a:pPr>
            <a:r>
              <a:rPr lang="en-US" sz="1300" b="1" dirty="0">
                <a:solidFill>
                  <a:srgbClr val="1F1A38"/>
                </a:solidFill>
                <a:latin typeface="Calibri" pitchFamily="34" charset="0"/>
                <a:ea typeface="Calibri" pitchFamily="34" charset="-122"/>
                <a:cs typeface="Calibri" pitchFamily="34" charset="-120"/>
              </a:rPr>
              <a:t>GoT is the only scheme that aggregates - measured, not assumed. Every other scheme reports exactly zero.</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881360" cy="621792"/>
          </a:xfrm>
          <a:prstGeom prst="rect">
            <a:avLst/>
          </a:prstGeom>
          <a:noFill/>
          <a:ln/>
        </p:spPr>
        <p:txBody>
          <a:bodyPr wrap="square" lIns="0" tIns="0" rIns="0" bIns="0" rtlCol="0" anchor="ctr"/>
          <a:lstStyle/>
          <a:p>
            <a:pPr indent="0" marL="0">
              <a:buNone/>
            </a:pPr>
            <a:r>
              <a:rPr lang="en-US" sz="3200" b="1" dirty="0">
                <a:solidFill>
                  <a:srgbClr val="1F1A38"/>
                </a:solidFill>
                <a:latin typeface="Cambria" pitchFamily="34" charset="0"/>
                <a:ea typeface="Cambria" pitchFamily="34" charset="-122"/>
                <a:cs typeface="Cambria" pitchFamily="34" charset="-120"/>
              </a:rPr>
              <a:t>Result 2: quality on a 7B open model</a:t>
            </a:r>
            <a:endParaRPr lang="en-US" sz="3200" dirty="0"/>
          </a:p>
        </p:txBody>
      </p:sp>
      <p:sp>
        <p:nvSpPr>
          <p:cNvPr id="3" name="Text 1"/>
          <p:cNvSpPr txBox="1"/>
          <p:nvPr/>
        </p:nvSpPr>
        <p:spPr>
          <a:xfrm>
            <a:off x="640080" y="1005840"/>
            <a:ext cx="10881360" cy="365760"/>
          </a:xfrm>
          <a:prstGeom prst="rect">
            <a:avLst/>
          </a:prstGeom>
          <a:noFill/>
          <a:ln/>
        </p:spPr>
        <p:txBody>
          <a:bodyPr wrap="square" lIns="0" tIns="0" rIns="0" bIns="0" rtlCol="0" anchor="ctr"/>
          <a:lstStyle/>
          <a:p>
            <a:pPr indent="0" marL="0">
              <a:buNone/>
            </a:pPr>
            <a:r>
              <a:rPr lang="en-US" sz="1350" dirty="0">
                <a:solidFill>
                  <a:srgbClr val="6E6A85"/>
                </a:solidFill>
                <a:latin typeface="Calibri" pitchFamily="34" charset="0"/>
                <a:ea typeface="Calibri" pitchFamily="34" charset="-122"/>
                <a:cs typeface="Calibri" pitchFamily="34" charset="-120"/>
              </a:rPr>
              <a:t>100 instances, 64-element sorting, the authors' dataset, zero parse failures</a:t>
            </a:r>
            <a:endParaRPr lang="en-US" sz="1350" dirty="0"/>
          </a:p>
        </p:txBody>
      </p:sp>
      <p:graphicFrame>
        <p:nvGraphicFramePr>
          <p:cNvPr id="4" name="Chart 0" descr=""/>
          <p:cNvGraphicFramePr/>
          <p:nvPr/>
        </p:nvGraphicFramePr>
        <p:xfrm>
          <a:off x="685800" y="1691640"/>
          <a:ext cx="603504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040880" y="1691640"/>
            <a:ext cx="4480560" cy="1371600"/>
          </a:xfrm>
          <a:prstGeom prst="roundRect">
            <a:avLst>
              <a:gd name="adj" fmla="val 4000"/>
            </a:avLst>
          </a:prstGeom>
          <a:solidFill>
            <a:srgbClr val="FFF6E6"/>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6" name="Text 3"/>
          <p:cNvSpPr txBox="1"/>
          <p:nvPr/>
        </p:nvSpPr>
        <p:spPr>
          <a:xfrm>
            <a:off x="7269480" y="1847088"/>
            <a:ext cx="4023360" cy="274320"/>
          </a:xfrm>
          <a:prstGeom prst="rect">
            <a:avLst/>
          </a:prstGeom>
          <a:noFill/>
          <a:ln/>
        </p:spPr>
        <p:txBody>
          <a:bodyPr wrap="square" lIns="0" tIns="0" rIns="0" bIns="0" rtlCol="0" anchor="ctr"/>
          <a:lstStyle/>
          <a:p>
            <a:pPr indent="0" marL="0">
              <a:buNone/>
            </a:pPr>
            <a:r>
              <a:rPr lang="en-US" sz="1350" b="1" dirty="0">
                <a:solidFill>
                  <a:srgbClr val="FFB627"/>
                </a:solidFill>
                <a:latin typeface="Calibri" pitchFamily="34" charset="0"/>
                <a:ea typeface="Calibri" pitchFamily="34" charset="-122"/>
                <a:cs typeface="Calibri" pitchFamily="34" charset="-120"/>
              </a:rPr>
              <a:t>GoT ranks best</a:t>
            </a:r>
            <a:endParaRPr lang="en-US" sz="1350" dirty="0"/>
          </a:p>
        </p:txBody>
      </p:sp>
      <p:sp>
        <p:nvSpPr>
          <p:cNvPr id="7" name="Text 4"/>
          <p:cNvSpPr txBox="1"/>
          <p:nvPr/>
        </p:nvSpPr>
        <p:spPr>
          <a:xfrm>
            <a:off x="7269480" y="2148840"/>
            <a:ext cx="4023360" cy="822960"/>
          </a:xfrm>
          <a:prstGeom prst="rect">
            <a:avLst/>
          </a:prstGeom>
          <a:noFill/>
          <a:ln/>
        </p:spPr>
        <p:txBody>
          <a:bodyPr wrap="square" lIns="0" tIns="0" rIns="0" bIns="0" rtlCol="0" anchor="ctr"/>
          <a:lstStyle/>
          <a:p>
            <a:pPr indent="0" marL="0">
              <a:buNone/>
            </a:pPr>
            <a:r>
              <a:rPr lang="en-US" sz="1150" dirty="0">
                <a:solidFill>
                  <a:srgbClr val="1F1A38"/>
                </a:solidFill>
                <a:latin typeface="Calibri" pitchFamily="34" charset="0"/>
                <a:ea typeface="Calibri" pitchFamily="34" charset="-122"/>
                <a:cs typeface="Calibri" pitchFamily="34" charset="-120"/>
              </a:rPr>
              <a:t>Lowest error of all five schemes, with a 0% parse-failure rate - so the pipeline is sound and the ordering is meaningful.</a:t>
            </a:r>
            <a:endParaRPr lang="en-US" sz="1150" dirty="0"/>
          </a:p>
        </p:txBody>
      </p:sp>
      <p:sp>
        <p:nvSpPr>
          <p:cNvPr id="8" name="Shape 5"/>
          <p:cNvSpPr/>
          <p:nvPr/>
        </p:nvSpPr>
        <p:spPr>
          <a:xfrm>
            <a:off x="7040880" y="3200400"/>
            <a:ext cx="4480560" cy="1234440"/>
          </a:xfrm>
          <a:prstGeom prst="roundRect">
            <a:avLst>
              <a:gd name="adj" fmla="val 4444"/>
            </a:avLst>
          </a:prstGeom>
          <a:solidFill>
            <a:srgbClr val="FFFFFF"/>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9" name="Text 6"/>
          <p:cNvSpPr txBox="1"/>
          <p:nvPr/>
        </p:nvSpPr>
        <p:spPr>
          <a:xfrm>
            <a:off x="7269480" y="3355848"/>
            <a:ext cx="4023360" cy="274320"/>
          </a:xfrm>
          <a:prstGeom prst="rect">
            <a:avLst/>
          </a:prstGeom>
          <a:noFill/>
          <a:ln/>
        </p:spPr>
        <p:txBody>
          <a:bodyPr wrap="square" lIns="0" tIns="0" rIns="0" bIns="0" rtlCol="0" anchor="ctr"/>
          <a:lstStyle/>
          <a:p>
            <a:pPr indent="0" marL="0">
              <a:buNone/>
            </a:pPr>
            <a:r>
              <a:rPr lang="en-US" sz="1350" b="1" dirty="0">
                <a:solidFill>
                  <a:srgbClr val="6D4AFF"/>
                </a:solidFill>
                <a:latin typeface="Calibri" pitchFamily="34" charset="0"/>
                <a:ea typeface="Calibri" pitchFamily="34" charset="-122"/>
                <a:cs typeface="Calibri" pitchFamily="34" charset="-120"/>
              </a:rPr>
              <a:t>No exact solutions yet</a:t>
            </a:r>
            <a:endParaRPr lang="en-US" sz="1350" dirty="0"/>
          </a:p>
        </p:txBody>
      </p:sp>
      <p:sp>
        <p:nvSpPr>
          <p:cNvPr id="10" name="Text 7"/>
          <p:cNvSpPr txBox="1"/>
          <p:nvPr/>
        </p:nvSpPr>
        <p:spPr>
          <a:xfrm>
            <a:off x="7269480" y="3657600"/>
            <a:ext cx="4023360" cy="685800"/>
          </a:xfrm>
          <a:prstGeom prst="rect">
            <a:avLst/>
          </a:prstGeom>
          <a:noFill/>
          <a:ln/>
        </p:spPr>
        <p:txBody>
          <a:bodyPr wrap="square" lIns="0" tIns="0" rIns="0" bIns="0" rtlCol="0" anchor="ctr"/>
          <a:lstStyle/>
          <a:p>
            <a:pPr indent="0" marL="0">
              <a:buNone/>
            </a:pPr>
            <a:r>
              <a:rPr lang="en-US" sz="1150" dirty="0">
                <a:solidFill>
                  <a:srgbClr val="1F1A38"/>
                </a:solidFill>
                <a:latin typeface="Calibri" pitchFamily="34" charset="0"/>
                <a:ea typeface="Calibri" pitchFamily="34" charset="-122"/>
                <a:cs typeface="Calibri" pitchFamily="34" charset="-120"/>
              </a:rPr>
              <a:t>0% fully correct at 64 elements. Expected: reliable chain-of-thought is emergent above roughly 10B parameters.</a:t>
            </a:r>
            <a:endParaRPr lang="en-US" sz="1150" dirty="0"/>
          </a:p>
        </p:txBody>
      </p:sp>
      <p:sp>
        <p:nvSpPr>
          <p:cNvPr id="11" name="Shape 8"/>
          <p:cNvSpPr/>
          <p:nvPr/>
        </p:nvSpPr>
        <p:spPr>
          <a:xfrm>
            <a:off x="7040880" y="4572000"/>
            <a:ext cx="4480560" cy="1463040"/>
          </a:xfrm>
          <a:prstGeom prst="roundRect">
            <a:avLst>
              <a:gd name="adj" fmla="val 3750"/>
            </a:avLst>
          </a:prstGeom>
          <a:solidFill>
            <a:srgbClr val="221A4A"/>
          </a:solidFill>
          <a:ln w="12700">
            <a:solidFill>
              <a:srgbClr val="342A63"/>
            </a:solidFill>
            <a:prstDash val="solid"/>
          </a:ln>
        </p:spPr>
      </p:sp>
      <p:sp>
        <p:nvSpPr>
          <p:cNvPr id="12" name="Text 9"/>
          <p:cNvSpPr txBox="1"/>
          <p:nvPr/>
        </p:nvSpPr>
        <p:spPr>
          <a:xfrm>
            <a:off x="7269480" y="4709160"/>
            <a:ext cx="4023360" cy="274320"/>
          </a:xfrm>
          <a:prstGeom prst="rect">
            <a:avLst/>
          </a:prstGeom>
          <a:noFill/>
          <a:ln/>
        </p:spPr>
        <p:txBody>
          <a:bodyPr wrap="square" lIns="0" tIns="0" rIns="0" bIns="0" rtlCol="0" anchor="ctr"/>
          <a:lstStyle/>
          <a:p>
            <a:pPr indent="0" marL="0">
              <a:buNone/>
            </a:pPr>
            <a:r>
              <a:rPr lang="en-US" sz="1300" b="1" dirty="0">
                <a:solidFill>
                  <a:srgbClr val="FFB627"/>
                </a:solidFill>
                <a:latin typeface="Calibri" pitchFamily="34" charset="0"/>
                <a:ea typeface="Calibri" pitchFamily="34" charset="-122"/>
                <a:cs typeface="Calibri" pitchFamily="34" charset="-120"/>
              </a:rPr>
              <a:t>And the reason this project exists</a:t>
            </a:r>
            <a:endParaRPr lang="en-US" sz="1300" dirty="0"/>
          </a:p>
        </p:txBody>
      </p:sp>
      <p:sp>
        <p:nvSpPr>
          <p:cNvPr id="13" name="Text 10"/>
          <p:cNvSpPr txBox="1"/>
          <p:nvPr/>
        </p:nvSpPr>
        <p:spPr>
          <a:xfrm>
            <a:off x="7269480" y="5010912"/>
            <a:ext cx="4023360" cy="86868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GoT consumes 7,899 tokens per instance against 520 for direct prompting - a 15x cost for the best quality.</a:t>
            </a:r>
            <a:endParaRPr lang="en-US" sz="1150" dirty="0"/>
          </a:p>
        </p:txBody>
      </p:sp>
      <p:sp>
        <p:nvSpPr>
          <p:cNvPr id="14" name="Text 11"/>
          <p:cNvSpPr txBox="1"/>
          <p:nvPr/>
        </p:nvSpPr>
        <p:spPr>
          <a:xfrm>
            <a:off x="685800" y="5120640"/>
            <a:ext cx="6035040" cy="640080"/>
          </a:xfrm>
          <a:prstGeom prst="rect">
            <a:avLst/>
          </a:prstGeom>
          <a:noFill/>
          <a:ln/>
        </p:spPr>
        <p:txBody>
          <a:bodyPr wrap="square" lIns="0" tIns="0" rIns="0" bIns="0" rtlCol="0" anchor="ctr"/>
          <a:lstStyle/>
          <a:p>
            <a:pPr indent="0" marL="0">
              <a:buNone/>
            </a:pPr>
            <a:r>
              <a:rPr lang="en-US" sz="1150" i="1" dirty="0">
                <a:solidFill>
                  <a:srgbClr val="6E6A85"/>
                </a:solidFill>
                <a:latin typeface="Calibri" pitchFamily="34" charset="0"/>
                <a:ea typeface="Calibri" pitchFamily="34" charset="-122"/>
                <a:cs typeface="Calibri" pitchFamily="34" charset="-120"/>
              </a:rPr>
              <a:t>Reference point: the paper reports +62% over ToT on GPT-3.5. We reproduce the ordering on a model 25x smaller that the authors never evaluated.</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0E33"/>
        </a:solidFill>
      </p:bgPr>
    </p:bg>
    <p:spTree>
      <p:nvGrpSpPr>
        <p:cNvPr id="1" name=""/>
        <p:cNvGrpSpPr/>
        <p:nvPr/>
      </p:nvGrpSpPr>
      <p:grpSpPr>
        <a:xfrm>
          <a:off x="0" y="0"/>
          <a:ext cx="0" cy="0"/>
          <a:chOff x="0" y="0"/>
          <a:chExt cx="0" cy="0"/>
        </a:xfrm>
      </p:grpSpPr>
      <p:sp>
        <p:nvSpPr>
          <p:cNvPr id="2" name="Text 0"/>
          <p:cNvSpPr txBox="1"/>
          <p:nvPr/>
        </p:nvSpPr>
        <p:spPr>
          <a:xfrm>
            <a:off x="640080" y="365760"/>
            <a:ext cx="10881360" cy="621792"/>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problem we are actually solving</a:t>
            </a:r>
            <a:endParaRPr lang="en-US" sz="3200" dirty="0"/>
          </a:p>
        </p:txBody>
      </p:sp>
      <p:sp>
        <p:nvSpPr>
          <p:cNvPr id="3" name="Text 1"/>
          <p:cNvSpPr txBox="1"/>
          <p:nvPr/>
        </p:nvSpPr>
        <p:spPr>
          <a:xfrm>
            <a:off x="640080" y="1005840"/>
            <a:ext cx="10881360" cy="365760"/>
          </a:xfrm>
          <a:prstGeom prst="rect">
            <a:avLst/>
          </a:prstGeom>
          <a:noFill/>
          <a:ln/>
        </p:spPr>
        <p:txBody>
          <a:bodyPr wrap="square" lIns="0" tIns="0" rIns="0" bIns="0" rtlCol="0" anchor="ctr"/>
          <a:lstStyle/>
          <a:p>
            <a:pPr indent="0" marL="0">
              <a:buNone/>
            </a:pPr>
            <a:r>
              <a:rPr lang="en-US" sz="1350" dirty="0">
                <a:solidFill>
                  <a:srgbClr val="A79FCB"/>
                </a:solidFill>
                <a:latin typeface="Calibri" pitchFamily="34" charset="0"/>
                <a:ea typeface="Calibri" pitchFamily="34" charset="-122"/>
                <a:cs typeface="Calibri" pitchFamily="34" charset="-120"/>
              </a:rPr>
              <a:t>Accuracy is bought with redundancy, and redundancy is the cost</a:t>
            </a:r>
            <a:endParaRPr lang="en-US" sz="1350" dirty="0"/>
          </a:p>
        </p:txBody>
      </p:sp>
      <p:sp>
        <p:nvSpPr>
          <p:cNvPr id="4" name="Text 2"/>
          <p:cNvSpPr txBox="1"/>
          <p:nvPr/>
        </p:nvSpPr>
        <p:spPr>
          <a:xfrm>
            <a:off x="822960" y="1847088"/>
            <a:ext cx="9144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IO</a:t>
            </a:r>
            <a:endParaRPr lang="en-US" sz="1200" dirty="0"/>
          </a:p>
        </p:txBody>
      </p:sp>
      <p:sp>
        <p:nvSpPr>
          <p:cNvPr id="5" name="Shape 3"/>
          <p:cNvSpPr/>
          <p:nvPr/>
        </p:nvSpPr>
        <p:spPr>
          <a:xfrm>
            <a:off x="1783080" y="1828800"/>
            <a:ext cx="371113" cy="310896"/>
          </a:xfrm>
          <a:prstGeom prst="roundRect">
            <a:avLst>
              <a:gd name="adj" fmla="val 11765"/>
            </a:avLst>
          </a:prstGeom>
          <a:solidFill>
            <a:srgbClr val="4A3F7A"/>
          </a:solidFill>
          <a:ln w="12700">
            <a:solidFill>
              <a:srgbClr val="333333"/>
            </a:solidFill>
            <a:prstDash val="solid"/>
          </a:ln>
        </p:spPr>
      </p:sp>
      <p:sp>
        <p:nvSpPr>
          <p:cNvPr id="6" name="Text 4"/>
          <p:cNvSpPr txBox="1"/>
          <p:nvPr/>
        </p:nvSpPr>
        <p:spPr>
          <a:xfrm>
            <a:off x="2245633" y="1847088"/>
            <a:ext cx="1737360" cy="274320"/>
          </a:xfrm>
          <a:prstGeom prst="rect">
            <a:avLst/>
          </a:prstGeom>
          <a:noFill/>
          <a:ln/>
        </p:spPr>
        <p:txBody>
          <a:bodyPr wrap="square" lIns="0" tIns="0" rIns="0" bIns="0" rtlCol="0" anchor="ctr"/>
          <a:lstStyle/>
          <a:p>
            <a:pPr indent="0" marL="0">
              <a:buNone/>
            </a:pPr>
            <a:r>
              <a:rPr lang="en-US" sz="1100" dirty="0">
                <a:solidFill>
                  <a:srgbClr val="A79FCB"/>
                </a:solidFill>
                <a:latin typeface="Calibri" pitchFamily="34" charset="0"/>
                <a:ea typeface="Calibri" pitchFamily="34" charset="-122"/>
                <a:cs typeface="Calibri" pitchFamily="34" charset="-120"/>
              </a:rPr>
              <a:t>520 tokens</a:t>
            </a:r>
            <a:endParaRPr lang="en-US" sz="1100" dirty="0"/>
          </a:p>
        </p:txBody>
      </p:sp>
      <p:sp>
        <p:nvSpPr>
          <p:cNvPr id="7" name="Text 5"/>
          <p:cNvSpPr txBox="1"/>
          <p:nvPr/>
        </p:nvSpPr>
        <p:spPr>
          <a:xfrm>
            <a:off x="822960" y="2414016"/>
            <a:ext cx="9144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CoT</a:t>
            </a:r>
            <a:endParaRPr lang="en-US" sz="1200" dirty="0"/>
          </a:p>
        </p:txBody>
      </p:sp>
      <p:sp>
        <p:nvSpPr>
          <p:cNvPr id="8" name="Shape 6"/>
          <p:cNvSpPr/>
          <p:nvPr/>
        </p:nvSpPr>
        <p:spPr>
          <a:xfrm>
            <a:off x="1783080" y="2395728"/>
            <a:ext cx="834290" cy="310896"/>
          </a:xfrm>
          <a:prstGeom prst="roundRect">
            <a:avLst>
              <a:gd name="adj" fmla="val 11765"/>
            </a:avLst>
          </a:prstGeom>
          <a:solidFill>
            <a:srgbClr val="4A3F7A"/>
          </a:solidFill>
          <a:ln w="12700">
            <a:solidFill>
              <a:srgbClr val="333333"/>
            </a:solidFill>
            <a:prstDash val="solid"/>
          </a:ln>
        </p:spPr>
      </p:sp>
      <p:sp>
        <p:nvSpPr>
          <p:cNvPr id="9" name="Text 7"/>
          <p:cNvSpPr txBox="1"/>
          <p:nvPr/>
        </p:nvSpPr>
        <p:spPr>
          <a:xfrm>
            <a:off x="2708810" y="2414016"/>
            <a:ext cx="1737360" cy="274320"/>
          </a:xfrm>
          <a:prstGeom prst="rect">
            <a:avLst/>
          </a:prstGeom>
          <a:noFill/>
          <a:ln/>
        </p:spPr>
        <p:txBody>
          <a:bodyPr wrap="square" lIns="0" tIns="0" rIns="0" bIns="0" rtlCol="0" anchor="ctr"/>
          <a:lstStyle/>
          <a:p>
            <a:pPr indent="0" marL="0">
              <a:buNone/>
            </a:pPr>
            <a:r>
              <a:rPr lang="en-US" sz="1100" dirty="0">
                <a:solidFill>
                  <a:srgbClr val="A79FCB"/>
                </a:solidFill>
                <a:latin typeface="Calibri" pitchFamily="34" charset="0"/>
                <a:ea typeface="Calibri" pitchFamily="34" charset="-122"/>
                <a:cs typeface="Calibri" pitchFamily="34" charset="-120"/>
              </a:rPr>
              <a:t>1,169 tokens</a:t>
            </a:r>
            <a:endParaRPr lang="en-US" sz="1100" dirty="0"/>
          </a:p>
        </p:txBody>
      </p:sp>
      <p:sp>
        <p:nvSpPr>
          <p:cNvPr id="10" name="Text 8"/>
          <p:cNvSpPr txBox="1"/>
          <p:nvPr/>
        </p:nvSpPr>
        <p:spPr>
          <a:xfrm>
            <a:off x="822960" y="2980944"/>
            <a:ext cx="9144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CoT-SC</a:t>
            </a:r>
            <a:endParaRPr lang="en-US" sz="1200" dirty="0"/>
          </a:p>
        </p:txBody>
      </p:sp>
      <p:sp>
        <p:nvSpPr>
          <p:cNvPr id="11" name="Shape 9"/>
          <p:cNvSpPr/>
          <p:nvPr/>
        </p:nvSpPr>
        <p:spPr>
          <a:xfrm>
            <a:off x="1783080" y="2962656"/>
            <a:ext cx="633032" cy="310896"/>
          </a:xfrm>
          <a:prstGeom prst="roundRect">
            <a:avLst>
              <a:gd name="adj" fmla="val 11765"/>
            </a:avLst>
          </a:prstGeom>
          <a:solidFill>
            <a:srgbClr val="4A3F7A"/>
          </a:solidFill>
          <a:ln w="12700">
            <a:solidFill>
              <a:srgbClr val="333333"/>
            </a:solidFill>
            <a:prstDash val="solid"/>
          </a:ln>
        </p:spPr>
      </p:sp>
      <p:sp>
        <p:nvSpPr>
          <p:cNvPr id="12" name="Text 10"/>
          <p:cNvSpPr txBox="1"/>
          <p:nvPr/>
        </p:nvSpPr>
        <p:spPr>
          <a:xfrm>
            <a:off x="2507552" y="2980944"/>
            <a:ext cx="1737360" cy="274320"/>
          </a:xfrm>
          <a:prstGeom prst="rect">
            <a:avLst/>
          </a:prstGeom>
          <a:noFill/>
          <a:ln/>
        </p:spPr>
        <p:txBody>
          <a:bodyPr wrap="square" lIns="0" tIns="0" rIns="0" bIns="0" rtlCol="0" anchor="ctr"/>
          <a:lstStyle/>
          <a:p>
            <a:pPr indent="0" marL="0">
              <a:buNone/>
            </a:pPr>
            <a:r>
              <a:rPr lang="en-US" sz="1100" dirty="0">
                <a:solidFill>
                  <a:srgbClr val="A79FCB"/>
                </a:solidFill>
                <a:latin typeface="Calibri" pitchFamily="34" charset="0"/>
                <a:ea typeface="Calibri" pitchFamily="34" charset="-122"/>
                <a:cs typeface="Calibri" pitchFamily="34" charset="-120"/>
              </a:rPr>
              <a:t>887 tokens</a:t>
            </a:r>
            <a:endParaRPr lang="en-US" sz="1100" dirty="0"/>
          </a:p>
        </p:txBody>
      </p:sp>
      <p:sp>
        <p:nvSpPr>
          <p:cNvPr id="13" name="Text 11"/>
          <p:cNvSpPr txBox="1"/>
          <p:nvPr/>
        </p:nvSpPr>
        <p:spPr>
          <a:xfrm>
            <a:off x="822960" y="3547872"/>
            <a:ext cx="9144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ToT</a:t>
            </a:r>
            <a:endParaRPr lang="en-US" sz="1200" dirty="0"/>
          </a:p>
        </p:txBody>
      </p:sp>
      <p:sp>
        <p:nvSpPr>
          <p:cNvPr id="14" name="Shape 12"/>
          <p:cNvSpPr/>
          <p:nvPr/>
        </p:nvSpPr>
        <p:spPr>
          <a:xfrm>
            <a:off x="1783080" y="3529584"/>
            <a:ext cx="1564382" cy="310896"/>
          </a:xfrm>
          <a:prstGeom prst="roundRect">
            <a:avLst>
              <a:gd name="adj" fmla="val 11765"/>
            </a:avLst>
          </a:prstGeom>
          <a:solidFill>
            <a:srgbClr val="6D4AFF"/>
          </a:solidFill>
          <a:ln w="12700">
            <a:solidFill>
              <a:srgbClr val="333333"/>
            </a:solidFill>
            <a:prstDash val="solid"/>
          </a:ln>
        </p:spPr>
      </p:sp>
      <p:sp>
        <p:nvSpPr>
          <p:cNvPr id="15" name="Text 13"/>
          <p:cNvSpPr txBox="1"/>
          <p:nvPr/>
        </p:nvSpPr>
        <p:spPr>
          <a:xfrm>
            <a:off x="3438902" y="3547872"/>
            <a:ext cx="1737360" cy="274320"/>
          </a:xfrm>
          <a:prstGeom prst="rect">
            <a:avLst/>
          </a:prstGeom>
          <a:noFill/>
          <a:ln/>
        </p:spPr>
        <p:txBody>
          <a:bodyPr wrap="square" lIns="0" tIns="0" rIns="0" bIns="0" rtlCol="0" anchor="ctr"/>
          <a:lstStyle/>
          <a:p>
            <a:pPr indent="0" marL="0">
              <a:buNone/>
            </a:pPr>
            <a:r>
              <a:rPr lang="en-US" sz="1100" dirty="0">
                <a:solidFill>
                  <a:srgbClr val="A79FCB"/>
                </a:solidFill>
                <a:latin typeface="Calibri" pitchFamily="34" charset="0"/>
                <a:ea typeface="Calibri" pitchFamily="34" charset="-122"/>
                <a:cs typeface="Calibri" pitchFamily="34" charset="-120"/>
              </a:rPr>
              <a:t>2,192 tokens</a:t>
            </a:r>
            <a:endParaRPr lang="en-US" sz="1100" dirty="0"/>
          </a:p>
        </p:txBody>
      </p:sp>
      <p:sp>
        <p:nvSpPr>
          <p:cNvPr id="16" name="Text 14"/>
          <p:cNvSpPr txBox="1"/>
          <p:nvPr/>
        </p:nvSpPr>
        <p:spPr>
          <a:xfrm>
            <a:off x="822960" y="4114800"/>
            <a:ext cx="9144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GoT</a:t>
            </a:r>
            <a:endParaRPr lang="en-US" sz="1200" dirty="0"/>
          </a:p>
        </p:txBody>
      </p:sp>
      <p:sp>
        <p:nvSpPr>
          <p:cNvPr id="17" name="Shape 15"/>
          <p:cNvSpPr/>
          <p:nvPr/>
        </p:nvSpPr>
        <p:spPr>
          <a:xfrm>
            <a:off x="1783080" y="4096512"/>
            <a:ext cx="5637343" cy="310896"/>
          </a:xfrm>
          <a:prstGeom prst="roundRect">
            <a:avLst>
              <a:gd name="adj" fmla="val 11765"/>
            </a:avLst>
          </a:prstGeom>
          <a:solidFill>
            <a:srgbClr val="FFB627"/>
          </a:solidFill>
          <a:ln w="12700">
            <a:solidFill>
              <a:srgbClr val="333333"/>
            </a:solidFill>
            <a:prstDash val="solid"/>
          </a:ln>
        </p:spPr>
      </p:sp>
      <p:sp>
        <p:nvSpPr>
          <p:cNvPr id="18" name="Text 16"/>
          <p:cNvSpPr txBox="1"/>
          <p:nvPr/>
        </p:nvSpPr>
        <p:spPr>
          <a:xfrm>
            <a:off x="7511863" y="4114800"/>
            <a:ext cx="1737360" cy="274320"/>
          </a:xfrm>
          <a:prstGeom prst="rect">
            <a:avLst/>
          </a:prstGeom>
          <a:noFill/>
          <a:ln/>
        </p:spPr>
        <p:txBody>
          <a:bodyPr wrap="square" lIns="0" tIns="0" rIns="0" bIns="0" rtlCol="0" anchor="ctr"/>
          <a:lstStyle/>
          <a:p>
            <a:pPr indent="0" marL="0">
              <a:buNone/>
            </a:pPr>
            <a:r>
              <a:rPr lang="en-US" sz="1100" dirty="0">
                <a:solidFill>
                  <a:srgbClr val="FFB627"/>
                </a:solidFill>
                <a:latin typeface="Calibri" pitchFamily="34" charset="0"/>
                <a:ea typeface="Calibri" pitchFamily="34" charset="-122"/>
                <a:cs typeface="Calibri" pitchFamily="34" charset="-120"/>
              </a:rPr>
              <a:t>7,899 tokens</a:t>
            </a:r>
            <a:endParaRPr lang="en-US" sz="1100" dirty="0"/>
          </a:p>
        </p:txBody>
      </p:sp>
      <p:sp>
        <p:nvSpPr>
          <p:cNvPr id="19" name="Text 17"/>
          <p:cNvSpPr txBox="1"/>
          <p:nvPr/>
        </p:nvSpPr>
        <p:spPr>
          <a:xfrm>
            <a:off x="822960" y="4754880"/>
            <a:ext cx="6400800" cy="274320"/>
          </a:xfrm>
          <a:prstGeom prst="rect">
            <a:avLst/>
          </a:prstGeom>
          <a:noFill/>
          <a:ln/>
        </p:spPr>
        <p:txBody>
          <a:bodyPr wrap="square" lIns="0" tIns="0" rIns="0" bIns="0" rtlCol="0" anchor="ctr"/>
          <a:lstStyle/>
          <a:p>
            <a:pPr indent="0" marL="0">
              <a:buNone/>
            </a:pPr>
            <a:r>
              <a:rPr lang="en-US" sz="1100" i="1" dirty="0">
                <a:solidFill>
                  <a:srgbClr val="6E6A85"/>
                </a:solidFill>
                <a:latin typeface="Calibri" pitchFamily="34" charset="0"/>
                <a:ea typeface="Calibri" pitchFamily="34" charset="-122"/>
                <a:cs typeface="Calibri" pitchFamily="34" charset="-120"/>
              </a:rPr>
              <a:t>Mean tokens per instance, 64-element sorting, Qwen2.5-7B</a:t>
            </a:r>
            <a:endParaRPr lang="en-US" sz="1100" dirty="0"/>
          </a:p>
        </p:txBody>
      </p:sp>
      <p:sp>
        <p:nvSpPr>
          <p:cNvPr id="20" name="Shape 18"/>
          <p:cNvSpPr/>
          <p:nvPr/>
        </p:nvSpPr>
        <p:spPr>
          <a:xfrm>
            <a:off x="7452360" y="1783080"/>
            <a:ext cx="4069080" cy="1325880"/>
          </a:xfrm>
          <a:prstGeom prst="roundRect">
            <a:avLst>
              <a:gd name="adj" fmla="val 4138"/>
            </a:avLst>
          </a:prstGeom>
          <a:solidFill>
            <a:srgbClr val="221A4A"/>
          </a:solidFill>
          <a:ln w="12700">
            <a:solidFill>
              <a:srgbClr val="342A63"/>
            </a:solidFill>
            <a:prstDash val="solid"/>
          </a:ln>
        </p:spPr>
      </p:sp>
      <p:sp>
        <p:nvSpPr>
          <p:cNvPr id="21" name="Text 19"/>
          <p:cNvSpPr txBox="1"/>
          <p:nvPr/>
        </p:nvSpPr>
        <p:spPr>
          <a:xfrm>
            <a:off x="7452360" y="1901952"/>
            <a:ext cx="4069080" cy="548640"/>
          </a:xfrm>
          <a:prstGeom prst="rect">
            <a:avLst/>
          </a:prstGeom>
          <a:noFill/>
          <a:ln/>
        </p:spPr>
        <p:txBody>
          <a:bodyPr wrap="square" lIns="0" tIns="0" rIns="0" bIns="0" rtlCol="0" anchor="ctr"/>
          <a:lstStyle/>
          <a:p>
            <a:pPr algn="ctr" indent="0" marL="0">
              <a:buNone/>
            </a:pPr>
            <a:r>
              <a:rPr lang="en-US" sz="3400" b="1" dirty="0">
                <a:solidFill>
                  <a:srgbClr val="FFB627"/>
                </a:solidFill>
                <a:latin typeface="Cambria" pitchFamily="34" charset="0"/>
                <a:ea typeface="Cambria" pitchFamily="34" charset="-122"/>
                <a:cs typeface="Cambria" pitchFamily="34" charset="-120"/>
              </a:rPr>
              <a:t>15x</a:t>
            </a:r>
            <a:endParaRPr lang="en-US" sz="3400" dirty="0"/>
          </a:p>
        </p:txBody>
      </p:sp>
      <p:sp>
        <p:nvSpPr>
          <p:cNvPr id="22" name="Text 20"/>
          <p:cNvSpPr txBox="1"/>
          <p:nvPr/>
        </p:nvSpPr>
        <p:spPr>
          <a:xfrm>
            <a:off x="7452360" y="2468880"/>
            <a:ext cx="4069080" cy="274320"/>
          </a:xfrm>
          <a:prstGeom prst="rect">
            <a:avLst/>
          </a:prstGeom>
          <a:noFill/>
          <a:ln/>
        </p:spPr>
        <p:txBody>
          <a:bodyPr wrap="square" lIns="0" tIns="0" rIns="0" bIns="0" rtlCol="0" anchor="ctr"/>
          <a:lstStyle/>
          <a:p>
            <a:pPr algn="ctr" indent="0" marL="0">
              <a:buNone/>
            </a:pPr>
            <a:r>
              <a:rPr lang="en-US" sz="1150" dirty="0">
                <a:solidFill>
                  <a:srgbClr val="A79FCB"/>
                </a:solidFill>
                <a:latin typeface="Calibri" pitchFamily="34" charset="0"/>
                <a:ea typeface="Calibri" pitchFamily="34" charset="-122"/>
                <a:cs typeface="Calibri" pitchFamily="34" charset="-120"/>
              </a:rPr>
              <a:t>the cost of direct prompting</a:t>
            </a:r>
            <a:endParaRPr lang="en-US" sz="1150" dirty="0"/>
          </a:p>
        </p:txBody>
      </p:sp>
      <p:sp>
        <p:nvSpPr>
          <p:cNvPr id="23" name="Shape 21"/>
          <p:cNvSpPr/>
          <p:nvPr/>
        </p:nvSpPr>
        <p:spPr>
          <a:xfrm>
            <a:off x="7452360" y="3246120"/>
            <a:ext cx="4069080" cy="1325880"/>
          </a:xfrm>
          <a:prstGeom prst="roundRect">
            <a:avLst>
              <a:gd name="adj" fmla="val 4138"/>
            </a:avLst>
          </a:prstGeom>
          <a:solidFill>
            <a:srgbClr val="221A4A"/>
          </a:solidFill>
          <a:ln w="12700">
            <a:solidFill>
              <a:srgbClr val="342A63"/>
            </a:solidFill>
            <a:prstDash val="solid"/>
          </a:ln>
        </p:spPr>
      </p:sp>
      <p:sp>
        <p:nvSpPr>
          <p:cNvPr id="24" name="Text 22"/>
          <p:cNvSpPr txBox="1"/>
          <p:nvPr/>
        </p:nvSpPr>
        <p:spPr>
          <a:xfrm>
            <a:off x="7452360" y="3364992"/>
            <a:ext cx="4069080" cy="548640"/>
          </a:xfrm>
          <a:prstGeom prst="rect">
            <a:avLst/>
          </a:prstGeom>
          <a:noFill/>
          <a:ln/>
        </p:spPr>
        <p:txBody>
          <a:bodyPr wrap="square" lIns="0" tIns="0" rIns="0" bIns="0" rtlCol="0" anchor="ctr"/>
          <a:lstStyle/>
          <a:p>
            <a:pPr algn="ctr" indent="0" marL="0">
              <a:buNone/>
            </a:pPr>
            <a:r>
              <a:rPr lang="en-US" sz="3400" b="1" dirty="0">
                <a:solidFill>
                  <a:srgbClr val="6D4AFF"/>
                </a:solidFill>
                <a:latin typeface="Cambria" pitchFamily="34" charset="0"/>
                <a:ea typeface="Cambria" pitchFamily="34" charset="-122"/>
                <a:cs typeface="Cambria" pitchFamily="34" charset="-120"/>
              </a:rPr>
              <a:t>3.6x</a:t>
            </a:r>
            <a:endParaRPr lang="en-US" sz="3400" dirty="0"/>
          </a:p>
        </p:txBody>
      </p:sp>
      <p:sp>
        <p:nvSpPr>
          <p:cNvPr id="25" name="Text 23"/>
          <p:cNvSpPr txBox="1"/>
          <p:nvPr/>
        </p:nvSpPr>
        <p:spPr>
          <a:xfrm>
            <a:off x="7452360" y="3931920"/>
            <a:ext cx="4069080" cy="274320"/>
          </a:xfrm>
          <a:prstGeom prst="rect">
            <a:avLst/>
          </a:prstGeom>
          <a:noFill/>
          <a:ln/>
        </p:spPr>
        <p:txBody>
          <a:bodyPr wrap="square" lIns="0" tIns="0" rIns="0" bIns="0" rtlCol="0" anchor="ctr"/>
          <a:lstStyle/>
          <a:p>
            <a:pPr algn="ctr" indent="0" marL="0">
              <a:buNone/>
            </a:pPr>
            <a:r>
              <a:rPr lang="en-US" sz="1150" dirty="0">
                <a:solidFill>
                  <a:srgbClr val="A79FCB"/>
                </a:solidFill>
                <a:latin typeface="Calibri" pitchFamily="34" charset="0"/>
                <a:ea typeface="Calibri" pitchFamily="34" charset="-122"/>
                <a:cs typeface="Calibri" pitchFamily="34" charset="-120"/>
              </a:rPr>
              <a:t>the cost of Tree of Thoughts</a:t>
            </a:r>
            <a:endParaRPr lang="en-US" sz="1150" dirty="0"/>
          </a:p>
        </p:txBody>
      </p:sp>
      <p:sp>
        <p:nvSpPr>
          <p:cNvPr id="26" name="Shape 24"/>
          <p:cNvSpPr/>
          <p:nvPr/>
        </p:nvSpPr>
        <p:spPr>
          <a:xfrm>
            <a:off x="7452360" y="4709160"/>
            <a:ext cx="4069080" cy="1371600"/>
          </a:xfrm>
          <a:prstGeom prst="roundRect">
            <a:avLst>
              <a:gd name="adj" fmla="val 4000"/>
            </a:avLst>
          </a:prstGeom>
          <a:solidFill>
            <a:srgbClr val="221A4A"/>
          </a:solidFill>
          <a:ln w="12700">
            <a:solidFill>
              <a:srgbClr val="342A63"/>
            </a:solidFill>
            <a:prstDash val="solid"/>
          </a:ln>
        </p:spPr>
      </p:sp>
      <p:sp>
        <p:nvSpPr>
          <p:cNvPr id="27" name="Text 25"/>
          <p:cNvSpPr txBox="1"/>
          <p:nvPr/>
        </p:nvSpPr>
        <p:spPr>
          <a:xfrm>
            <a:off x="7726680" y="4892040"/>
            <a:ext cx="3566160" cy="9601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39 vertices, 15 aggregations, 8 sequential model calls - for one sorted list.</a:t>
            </a:r>
            <a:endParaRPr lang="en-US" sz="1200" dirty="0"/>
          </a:p>
        </p:txBody>
      </p:sp>
      <p:sp>
        <p:nvSpPr>
          <p:cNvPr id="28" name="Text 26"/>
          <p:cNvSpPr txBox="1"/>
          <p:nvPr/>
        </p:nvSpPr>
        <p:spPr>
          <a:xfrm>
            <a:off x="822960" y="5257800"/>
            <a:ext cx="6400800" cy="731520"/>
          </a:xfrm>
          <a:prstGeom prst="rect">
            <a:avLst/>
          </a:prstGeom>
          <a:noFill/>
          <a:ln/>
        </p:spPr>
        <p:txBody>
          <a:bodyPr wrap="square" lIns="0" tIns="0" rIns="0" bIns="0" rtlCol="0" anchor="ctr"/>
          <a:lstStyle/>
          <a:p>
            <a:pPr indent="0" marL="0">
              <a:buNone/>
            </a:pPr>
            <a:r>
              <a:rPr lang="en-US" sz="1300" b="1" dirty="0">
                <a:solidFill>
                  <a:srgbClr val="FFB627"/>
                </a:solidFill>
                <a:latin typeface="Calibri" pitchFamily="34" charset="0"/>
                <a:ea typeface="Calibri" pitchFamily="34" charset="-122"/>
                <a:cs typeface="Calibri" pitchFamily="34" charset="-120"/>
              </a:rPr>
              <a:t>GoT wins on quality and loses on cost. Every practical deployment question is therefore: how much of this graph is actually necessary?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881360" cy="621792"/>
          </a:xfrm>
          <a:prstGeom prst="rect">
            <a:avLst/>
          </a:prstGeom>
          <a:noFill/>
          <a:ln/>
        </p:spPr>
        <p:txBody>
          <a:bodyPr wrap="square" lIns="0" tIns="0" rIns="0" bIns="0" rtlCol="0" anchor="ctr"/>
          <a:lstStyle/>
          <a:p>
            <a:pPr indent="0" marL="0">
              <a:buNone/>
            </a:pPr>
            <a:r>
              <a:rPr lang="en-US" sz="3200" b="1" dirty="0">
                <a:solidFill>
                  <a:srgbClr val="1F1A38"/>
                </a:solidFill>
                <a:latin typeface="Cambria" pitchFamily="34" charset="0"/>
                <a:ea typeface="Cambria" pitchFamily="34" charset="-122"/>
                <a:cs typeface="Cambria" pitchFamily="34" charset="-120"/>
              </a:rPr>
              <a:t>Naive compression, and why it fails</a:t>
            </a:r>
            <a:endParaRPr lang="en-US" sz="3200" dirty="0"/>
          </a:p>
        </p:txBody>
      </p:sp>
      <p:sp>
        <p:nvSpPr>
          <p:cNvPr id="3" name="Text 1"/>
          <p:cNvSpPr txBox="1"/>
          <p:nvPr/>
        </p:nvSpPr>
        <p:spPr>
          <a:xfrm>
            <a:off x="640080" y="1005840"/>
            <a:ext cx="10881360" cy="365760"/>
          </a:xfrm>
          <a:prstGeom prst="rect">
            <a:avLst/>
          </a:prstGeom>
          <a:noFill/>
          <a:ln/>
        </p:spPr>
        <p:txBody>
          <a:bodyPr wrap="square" lIns="0" tIns="0" rIns="0" bIns="0" rtlCol="0" anchor="ctr"/>
          <a:lstStyle/>
          <a:p>
            <a:pPr indent="0" marL="0">
              <a:buNone/>
            </a:pPr>
            <a:r>
              <a:rPr lang="en-US" sz="1350" dirty="0">
                <a:solidFill>
                  <a:srgbClr val="6E6A85"/>
                </a:solidFill>
                <a:latin typeface="Calibri" pitchFamily="34" charset="0"/>
                <a:ea typeface="Calibri" pitchFamily="34" charset="-122"/>
                <a:cs typeface="Calibri" pitchFamily="34" charset="-120"/>
              </a:rPr>
              <a:t>Turning the knobs down reduces cost - and destroys the structure that produced the quality</a:t>
            </a:r>
            <a:endParaRPr lang="en-US" sz="13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 y="1691640"/>
          <a:ext cx="5760720" cy="914400"/>
        </p:xfrm>
        <a:graphic>
          <a:graphicData uri="http://schemas.openxmlformats.org/drawingml/2006/table">
            <a:tbl>
              <a:tblPr/>
              <a:tblGrid>
                <a:gridCol w="1920240"/>
                <a:gridCol w="1371600"/>
                <a:gridCol w="1234440"/>
                <a:gridCol w="1234440"/>
              </a:tblGrid>
              <a:tr h="40233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Configuration</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6D4AF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Tokens</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6D4AF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Volume</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6D4AF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Error</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6D4AFF"/>
                    </a:solidFill>
                  </a:tcPr>
                </a:tc>
              </a:tr>
              <a:tr h="402336">
                <a:tc>
                  <a:txBody>
                    <a:bodyPr/>
                    <a:lstStyle/>
                    <a:p>
                      <a:pPr indent="0" marL="0">
                        <a:buNone/>
                      </a:pPr>
                      <a:r>
                        <a:rPr lang="en-US" sz="1250" b="1" dirty="0">
                          <a:solidFill>
                            <a:srgbClr val="1F1A38"/>
                          </a:solidFill>
                          <a:latin typeface="Calibri" pitchFamily="34" charset="0"/>
                          <a:ea typeface="Calibri" pitchFamily="34" charset="-122"/>
                          <a:cs typeface="Calibri" pitchFamily="34" charset="-120"/>
                        </a:rPr>
                        <a:t>8 chunks</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6F4FD"/>
                    </a:solidFill>
                  </a:tcPr>
                </a:tc>
                <a:tc>
                  <a:txBody>
                    <a:bodyPr/>
                    <a:lstStyle/>
                    <a:p>
                      <a:pPr indent="0" marL="0">
                        <a:buNone/>
                      </a:pPr>
                      <a:r>
                        <a:rPr lang="en-US" sz="1250" dirty="0">
                          <a:solidFill>
                            <a:srgbClr val="1F1A38"/>
                          </a:solidFill>
                          <a:latin typeface="Calibri" pitchFamily="34" charset="0"/>
                          <a:ea typeface="Calibri" pitchFamily="34" charset="-122"/>
                          <a:cs typeface="Calibri" pitchFamily="34" charset="-120"/>
                        </a:rPr>
                        <a:t>14,384</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6F4FD"/>
                    </a:solidFill>
                  </a:tcPr>
                </a:tc>
                <a:tc>
                  <a:txBody>
                    <a:bodyPr/>
                    <a:lstStyle/>
                    <a:p>
                      <a:pPr indent="0" marL="0">
                        <a:buNone/>
                      </a:pPr>
                      <a:r>
                        <a:rPr lang="en-US" sz="1250" dirty="0">
                          <a:solidFill>
                            <a:srgbClr val="1F1A38"/>
                          </a:solidFill>
                          <a:latin typeface="Calibri" pitchFamily="34" charset="0"/>
                          <a:ea typeface="Calibri" pitchFamily="34" charset="-122"/>
                          <a:cs typeface="Calibri" pitchFamily="34" charset="-120"/>
                        </a:rPr>
                        <a:t>39.9</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6F4FD"/>
                    </a:solidFill>
                  </a:tcPr>
                </a:tc>
                <a:tc>
                  <a:txBody>
                    <a:bodyPr/>
                    <a:lstStyle/>
                    <a:p>
                      <a:pPr indent="0" marL="0">
                        <a:buNone/>
                      </a:pPr>
                      <a:r>
                        <a:rPr lang="en-US" sz="1250" dirty="0">
                          <a:solidFill>
                            <a:srgbClr val="1F1A38"/>
                          </a:solidFill>
                          <a:latin typeface="Calibri" pitchFamily="34" charset="0"/>
                          <a:ea typeface="Calibri" pitchFamily="34" charset="-122"/>
                          <a:cs typeface="Calibri" pitchFamily="34" charset="-120"/>
                        </a:rPr>
                        <a:t>2.88</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6F4FD"/>
                    </a:solidFill>
                  </a:tcPr>
                </a:tc>
              </a:tr>
              <a:tr h="402336">
                <a:tc>
                  <a:txBody>
                    <a:bodyPr/>
                    <a:lstStyle/>
                    <a:p>
                      <a:pPr indent="0" marL="0">
                        <a:buNone/>
                      </a:pPr>
                      <a:r>
                        <a:rPr lang="en-US" sz="1250" b="1" dirty="0">
                          <a:solidFill>
                            <a:srgbClr val="1F1A38"/>
                          </a:solidFill>
                          <a:latin typeface="Calibri" pitchFamily="34" charset="0"/>
                          <a:ea typeface="Calibri" pitchFamily="34" charset="-122"/>
                          <a:cs typeface="Calibri" pitchFamily="34" charset="-120"/>
                        </a:rPr>
                        <a:t>4 chunks (paper)</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FFFF"/>
                    </a:solidFill>
                  </a:tcPr>
                </a:tc>
                <a:tc>
                  <a:txBody>
                    <a:bodyPr/>
                    <a:lstStyle/>
                    <a:p>
                      <a:pPr indent="0" marL="0">
                        <a:buNone/>
                      </a:pPr>
                      <a:r>
                        <a:rPr lang="en-US" sz="1250" dirty="0">
                          <a:solidFill>
                            <a:srgbClr val="1F1A38"/>
                          </a:solidFill>
                          <a:latin typeface="Calibri" pitchFamily="34" charset="0"/>
                          <a:ea typeface="Calibri" pitchFamily="34" charset="-122"/>
                          <a:cs typeface="Calibri" pitchFamily="34" charset="-120"/>
                        </a:rPr>
                        <a:t>8,565</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FFFF"/>
                    </a:solidFill>
                  </a:tcPr>
                </a:tc>
                <a:tc>
                  <a:txBody>
                    <a:bodyPr/>
                    <a:lstStyle/>
                    <a:p>
                      <a:pPr indent="0" marL="0">
                        <a:buNone/>
                      </a:pPr>
                      <a:r>
                        <a:rPr lang="en-US" sz="1250" dirty="0">
                          <a:solidFill>
                            <a:srgbClr val="1F1A38"/>
                          </a:solidFill>
                          <a:latin typeface="Calibri" pitchFamily="34" charset="0"/>
                          <a:ea typeface="Calibri" pitchFamily="34" charset="-122"/>
                          <a:cs typeface="Calibri" pitchFamily="34" charset="-120"/>
                        </a:rPr>
                        <a:t>19.9</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FFFF"/>
                    </a:solidFill>
                  </a:tcPr>
                </a:tc>
                <a:tc>
                  <a:txBody>
                    <a:bodyPr/>
                    <a:lstStyle/>
                    <a:p>
                      <a:pPr indent="0" marL="0">
                        <a:buNone/>
                      </a:pPr>
                      <a:r>
                        <a:rPr lang="en-US" sz="1250" dirty="0">
                          <a:solidFill>
                            <a:srgbClr val="1F1A38"/>
                          </a:solidFill>
                          <a:latin typeface="Calibri" pitchFamily="34" charset="0"/>
                          <a:ea typeface="Calibri" pitchFamily="34" charset="-122"/>
                          <a:cs typeface="Calibri" pitchFamily="34" charset="-120"/>
                        </a:rPr>
                        <a:t>3.20</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FFFF"/>
                    </a:solidFill>
                  </a:tcPr>
                </a:tc>
              </a:tr>
              <a:tr h="402336">
                <a:tc>
                  <a:txBody>
                    <a:bodyPr/>
                    <a:lstStyle/>
                    <a:p>
                      <a:pPr indent="0" marL="0">
                        <a:buNone/>
                      </a:pPr>
                      <a:r>
                        <a:rPr lang="en-US" sz="1250" b="1" dirty="0">
                          <a:solidFill>
                            <a:srgbClr val="1F1A38"/>
                          </a:solidFill>
                          <a:latin typeface="Calibri" pitchFamily="34" charset="0"/>
                          <a:ea typeface="Calibri" pitchFamily="34" charset="-122"/>
                          <a:cs typeface="Calibri" pitchFamily="34" charset="-120"/>
                        </a:rPr>
                        <a:t>2 chunks</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6F4FD"/>
                    </a:solidFill>
                  </a:tcPr>
                </a:tc>
                <a:tc>
                  <a:txBody>
                    <a:bodyPr/>
                    <a:lstStyle/>
                    <a:p>
                      <a:pPr indent="0" marL="0">
                        <a:buNone/>
                      </a:pPr>
                      <a:r>
                        <a:rPr lang="en-US" sz="1250" dirty="0">
                          <a:solidFill>
                            <a:srgbClr val="1F1A38"/>
                          </a:solidFill>
                          <a:latin typeface="Calibri" pitchFamily="34" charset="0"/>
                          <a:ea typeface="Calibri" pitchFamily="34" charset="-122"/>
                          <a:cs typeface="Calibri" pitchFamily="34" charset="-120"/>
                        </a:rPr>
                        <a:t>5,163</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6F4FD"/>
                    </a:solidFill>
                  </a:tcPr>
                </a:tc>
                <a:tc>
                  <a:txBody>
                    <a:bodyPr/>
                    <a:lstStyle/>
                    <a:p>
                      <a:pPr indent="0" marL="0">
                        <a:buNone/>
                      </a:pPr>
                      <a:r>
                        <a:rPr lang="en-US" sz="1250" dirty="0">
                          <a:solidFill>
                            <a:srgbClr val="1F1A38"/>
                          </a:solidFill>
                          <a:latin typeface="Calibri" pitchFamily="34" charset="0"/>
                          <a:ea typeface="Calibri" pitchFamily="34" charset="-122"/>
                          <a:cs typeface="Calibri" pitchFamily="34" charset="-120"/>
                        </a:rPr>
                        <a:t>9.9</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6F4FD"/>
                    </a:solidFill>
                  </a:tcPr>
                </a:tc>
                <a:tc>
                  <a:txBody>
                    <a:bodyPr/>
                    <a:lstStyle/>
                    <a:p>
                      <a:pPr indent="0" marL="0">
                        <a:buNone/>
                      </a:pPr>
                      <a:r>
                        <a:rPr lang="en-US" sz="1250" dirty="0">
                          <a:solidFill>
                            <a:srgbClr val="1F1A38"/>
                          </a:solidFill>
                          <a:latin typeface="Calibri" pitchFamily="34" charset="0"/>
                          <a:ea typeface="Calibri" pitchFamily="34" charset="-122"/>
                          <a:cs typeface="Calibri" pitchFamily="34" charset="-120"/>
                        </a:rPr>
                        <a:t>3.38</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6F4FD"/>
                    </a:solidFill>
                  </a:tcPr>
                </a:tc>
              </a:tr>
              <a:tr h="402336">
                <a:tc>
                  <a:txBody>
                    <a:bodyPr/>
                    <a:lstStyle/>
                    <a:p>
                      <a:pPr indent="0" marL="0">
                        <a:buNone/>
                      </a:pPr>
                      <a:r>
                        <a:rPr lang="en-US" sz="1250" b="1" dirty="0">
                          <a:solidFill>
                            <a:srgbClr val="FF4D6D"/>
                          </a:solidFill>
                          <a:latin typeface="Calibri" pitchFamily="34" charset="0"/>
                          <a:ea typeface="Calibri" pitchFamily="34" charset="-122"/>
                          <a:cs typeface="Calibri" pitchFamily="34" charset="-120"/>
                        </a:rPr>
                        <a:t>stripped down</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EEF1"/>
                    </a:solidFill>
                  </a:tcPr>
                </a:tc>
                <a:tc>
                  <a:txBody>
                    <a:bodyPr/>
                    <a:lstStyle/>
                    <a:p>
                      <a:pPr indent="0" marL="0">
                        <a:buNone/>
                      </a:pPr>
                      <a:r>
                        <a:rPr lang="en-US" sz="1250" b="1" dirty="0">
                          <a:solidFill>
                            <a:srgbClr val="FF4D6D"/>
                          </a:solidFill>
                          <a:latin typeface="Calibri" pitchFamily="34" charset="0"/>
                          <a:ea typeface="Calibri" pitchFamily="34" charset="-122"/>
                          <a:cs typeface="Calibri" pitchFamily="34" charset="-120"/>
                        </a:rPr>
                        <a:t>950</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EEF1"/>
                    </a:solidFill>
                  </a:tcPr>
                </a:tc>
                <a:tc>
                  <a:txBody>
                    <a:bodyPr/>
                    <a:lstStyle/>
                    <a:p>
                      <a:pPr indent="0" marL="0">
                        <a:buNone/>
                      </a:pPr>
                      <a:r>
                        <a:rPr lang="en-US" sz="1250" b="1" dirty="0">
                          <a:solidFill>
                            <a:srgbClr val="FF4D6D"/>
                          </a:solidFill>
                          <a:latin typeface="Calibri" pitchFamily="34" charset="0"/>
                          <a:ea typeface="Calibri" pitchFamily="34" charset="-122"/>
                          <a:cs typeface="Calibri" pitchFamily="34" charset="-120"/>
                        </a:rPr>
                        <a:t>8.0</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EEF1"/>
                    </a:solidFill>
                  </a:tcPr>
                </a:tc>
                <a:tc>
                  <a:txBody>
                    <a:bodyPr/>
                    <a:lstStyle/>
                    <a:p>
                      <a:pPr indent="0" marL="0">
                        <a:buNone/>
                      </a:pPr>
                      <a:r>
                        <a:rPr lang="en-US" sz="1250" b="1" dirty="0">
                          <a:solidFill>
                            <a:srgbClr val="FF4D6D"/>
                          </a:solidFill>
                          <a:latin typeface="Calibri" pitchFamily="34" charset="0"/>
                          <a:ea typeface="Calibri" pitchFamily="34" charset="-122"/>
                          <a:cs typeface="Calibri" pitchFamily="34" charset="-120"/>
                        </a:rPr>
                        <a:t>10.50</a:t>
                      </a:r>
                      <a:endParaRPr lang="en-US" sz="1250" dirty="0">
                        <a:latin typeface="Calibri" charset="0"/>
                        <a:ea typeface="Calibri" charset="0"/>
                        <a:cs typeface="Calibri" charset="0"/>
                      </a:endParaRPr>
                    </a:p>
                  </a:txBody>
                  <a:tcPr marL="91440" marR="91440" marT="45720" marB="45720" anchor="ctr">
                    <a:lnL w="12700" cap="flat" cmpd="sng" algn="ctr">
                      <a:solidFill>
                        <a:srgbClr val="E2DCF6"/>
                      </a:solidFill>
                      <a:prstDash val="solid"/>
                      <a:round/>
                      <a:headEnd type="none" w="med" len="med"/>
                      <a:tailEnd type="none" w="med" len="med"/>
                    </a:lnL>
                    <a:lnR w="12700" cap="flat" cmpd="sng" algn="ctr">
                      <a:solidFill>
                        <a:srgbClr val="E2DCF6"/>
                      </a:solidFill>
                      <a:prstDash val="solid"/>
                      <a:round/>
                      <a:headEnd type="none" w="med" len="med"/>
                      <a:tailEnd type="none" w="med" len="med"/>
                    </a:lnR>
                    <a:lnT w="12700" cap="flat" cmpd="sng" algn="ctr">
                      <a:solidFill>
                        <a:srgbClr val="E2DCF6"/>
                      </a:solidFill>
                      <a:prstDash val="solid"/>
                      <a:round/>
                      <a:headEnd type="none" w="med" len="med"/>
                      <a:tailEnd type="none" w="med" len="med"/>
                    </a:lnT>
                    <a:lnB w="12700" cap="flat" cmpd="sng" algn="ctr">
                      <a:solidFill>
                        <a:srgbClr val="E2DCF6"/>
                      </a:solidFill>
                      <a:prstDash val="solid"/>
                      <a:round/>
                      <a:headEnd type="none" w="med" len="med"/>
                      <a:tailEnd type="none" w="med" len="med"/>
                    </a:lnB>
                    <a:solidFill>
                      <a:srgbClr val="FFEEF1"/>
                    </a:solidFill>
                  </a:tcPr>
                </a:tc>
              </a:tr>
            </a:tbl>
          </a:graphicData>
        </a:graphic>
      </p:graphicFrame>
      <p:sp>
        <p:nvSpPr>
          <p:cNvPr id="5" name="Shape 2"/>
          <p:cNvSpPr/>
          <p:nvPr/>
        </p:nvSpPr>
        <p:spPr>
          <a:xfrm>
            <a:off x="685800" y="3886200"/>
            <a:ext cx="5760720" cy="1051560"/>
          </a:xfrm>
          <a:prstGeom prst="roundRect">
            <a:avLst>
              <a:gd name="adj" fmla="val 5217"/>
            </a:avLst>
          </a:prstGeom>
          <a:solidFill>
            <a:srgbClr val="FFEEF1"/>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6" name="Text 3"/>
          <p:cNvSpPr txBox="1"/>
          <p:nvPr/>
        </p:nvSpPr>
        <p:spPr>
          <a:xfrm>
            <a:off x="914400" y="4069080"/>
            <a:ext cx="5349240" cy="685800"/>
          </a:xfrm>
          <a:prstGeom prst="rect">
            <a:avLst/>
          </a:prstGeom>
          <a:noFill/>
          <a:ln/>
        </p:spPr>
        <p:txBody>
          <a:bodyPr wrap="square" lIns="0" tIns="0" rIns="0" bIns="0" rtlCol="0" anchor="ctr"/>
          <a:lstStyle/>
          <a:p>
            <a:pPr indent="0" marL="0">
              <a:buNone/>
            </a:pPr>
            <a:r>
              <a:rPr lang="en-US" sz="1250" b="1" dirty="0">
                <a:solidFill>
                  <a:srgbClr val="FF4D6D"/>
                </a:solidFill>
                <a:latin typeface="Calibri" pitchFamily="34" charset="0"/>
                <a:ea typeface="Calibri" pitchFamily="34" charset="-122"/>
                <a:cs typeface="Calibri" pitchFamily="34" charset="-120"/>
              </a:rPr>
              <a:t>Cut cost 9x and the error rises to 10.50 - worse than using no reasoning structure at all (IO scores 9.83).</a:t>
            </a:r>
            <a:endParaRPr lang="en-US" sz="1250" dirty="0"/>
          </a:p>
        </p:txBody>
      </p:sp>
      <p:sp>
        <p:nvSpPr>
          <p:cNvPr id="7" name="Text 4"/>
          <p:cNvSpPr txBox="1"/>
          <p:nvPr/>
        </p:nvSpPr>
        <p:spPr>
          <a:xfrm>
            <a:off x="685800" y="5074920"/>
            <a:ext cx="5760720" cy="548640"/>
          </a:xfrm>
          <a:prstGeom prst="rect">
            <a:avLst/>
          </a:prstGeom>
          <a:noFill/>
          <a:ln/>
        </p:spPr>
        <p:txBody>
          <a:bodyPr wrap="square" lIns="0" tIns="0" rIns="0" bIns="0" rtlCol="0" anchor="ctr"/>
          <a:lstStyle/>
          <a:p>
            <a:pPr indent="0" marL="0">
              <a:buNone/>
            </a:pPr>
            <a:r>
              <a:rPr lang="en-US" sz="1200" i="1" dirty="0">
                <a:solidFill>
                  <a:srgbClr val="6E6A85"/>
                </a:solidFill>
                <a:latin typeface="Calibri" pitchFamily="34" charset="0"/>
                <a:ea typeface="Calibri" pitchFamily="34" charset="-122"/>
                <a:cs typeface="Calibri" pitchFamily="34" charset="-120"/>
              </a:rPr>
              <a:t>Uniform pruning is structure-blind: it removes useful and redundant computation at the same rate.</a:t>
            </a:r>
            <a:endParaRPr lang="en-US" sz="1200" dirty="0"/>
          </a:p>
        </p:txBody>
      </p:sp>
      <p:sp>
        <p:nvSpPr>
          <p:cNvPr id="8" name="Shape 5"/>
          <p:cNvSpPr/>
          <p:nvPr/>
        </p:nvSpPr>
        <p:spPr>
          <a:xfrm>
            <a:off x="6858000" y="1691640"/>
            <a:ext cx="4663440" cy="4251960"/>
          </a:xfrm>
          <a:prstGeom prst="roundRect">
            <a:avLst>
              <a:gd name="adj" fmla="val 1290"/>
            </a:avLst>
          </a:prstGeom>
          <a:solidFill>
            <a:srgbClr val="F6F4FD"/>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9" name="Text 6"/>
          <p:cNvSpPr txBox="1"/>
          <p:nvPr/>
        </p:nvSpPr>
        <p:spPr>
          <a:xfrm>
            <a:off x="7132320" y="1847088"/>
            <a:ext cx="4114800" cy="292608"/>
          </a:xfrm>
          <a:prstGeom prst="rect">
            <a:avLst/>
          </a:prstGeom>
          <a:noFill/>
          <a:ln/>
        </p:spPr>
        <p:txBody>
          <a:bodyPr wrap="square" lIns="0" tIns="0" rIns="0" bIns="0" rtlCol="0" anchor="ctr"/>
          <a:lstStyle/>
          <a:p>
            <a:pPr indent="0" marL="0">
              <a:buNone/>
            </a:pPr>
            <a:r>
              <a:rPr lang="en-US" sz="1450" b="1" dirty="0">
                <a:solidFill>
                  <a:srgbClr val="FFB627"/>
                </a:solidFill>
                <a:latin typeface="Calibri" pitchFamily="34" charset="0"/>
                <a:ea typeface="Calibri" pitchFamily="34" charset="-122"/>
                <a:cs typeface="Calibri" pitchFamily="34" charset="-120"/>
              </a:rPr>
              <a:t>Our approach</a:t>
            </a:r>
            <a:endParaRPr lang="en-US" sz="1450" dirty="0"/>
          </a:p>
        </p:txBody>
      </p:sp>
      <p:sp>
        <p:nvSpPr>
          <p:cNvPr id="10" name="Text 7"/>
          <p:cNvSpPr txBox="1"/>
          <p:nvPr/>
        </p:nvSpPr>
        <p:spPr>
          <a:xfrm>
            <a:off x="7132320" y="2157984"/>
            <a:ext cx="4114800" cy="274320"/>
          </a:xfrm>
          <a:prstGeom prst="rect">
            <a:avLst/>
          </a:prstGeom>
          <a:noFill/>
          <a:ln/>
        </p:spPr>
        <p:txBody>
          <a:bodyPr wrap="square" lIns="0" tIns="0" rIns="0" bIns="0" rtlCol="0" anchor="ctr"/>
          <a:lstStyle/>
          <a:p>
            <a:pPr indent="0" marL="0">
              <a:buNone/>
            </a:pPr>
            <a:r>
              <a:rPr lang="en-US" sz="1200" i="1" dirty="0">
                <a:solidFill>
                  <a:srgbClr val="6E6A85"/>
                </a:solidFill>
                <a:latin typeface="Calibri" pitchFamily="34" charset="0"/>
                <a:ea typeface="Calibri" pitchFamily="34" charset="-122"/>
                <a:cs typeface="Calibri" pitchFamily="34" charset="-120"/>
              </a:rPr>
              <a:t>Causality-preserving graph coarsening</a:t>
            </a:r>
            <a:endParaRPr lang="en-US" sz="1200" dirty="0"/>
          </a:p>
        </p:txBody>
      </p:sp>
      <p:sp>
        <p:nvSpPr>
          <p:cNvPr id="11" name="Shape 8"/>
          <p:cNvSpPr/>
          <p:nvPr/>
        </p:nvSpPr>
        <p:spPr>
          <a:xfrm flipV="1">
            <a:off x="7438644" y="2820924"/>
            <a:ext cx="274320" cy="548640"/>
          </a:xfrm>
          <a:prstGeom prst="line">
            <a:avLst/>
          </a:prstGeom>
          <a:noFill/>
          <a:ln w="11430">
            <a:solidFill>
              <a:srgbClr val="C7BFE6"/>
            </a:solidFill>
            <a:prstDash val="solid"/>
          </a:ln>
        </p:spPr>
      </p:sp>
      <p:sp>
        <p:nvSpPr>
          <p:cNvPr id="12" name="Shape 9"/>
          <p:cNvSpPr/>
          <p:nvPr/>
        </p:nvSpPr>
        <p:spPr>
          <a:xfrm>
            <a:off x="7712964" y="2820924"/>
            <a:ext cx="274320" cy="548640"/>
          </a:xfrm>
          <a:prstGeom prst="line">
            <a:avLst/>
          </a:prstGeom>
          <a:noFill/>
          <a:ln w="11430">
            <a:solidFill>
              <a:srgbClr val="C7BFE6"/>
            </a:solidFill>
            <a:prstDash val="solid"/>
          </a:ln>
        </p:spPr>
      </p:sp>
      <p:sp>
        <p:nvSpPr>
          <p:cNvPr id="13" name="Shape 10"/>
          <p:cNvSpPr/>
          <p:nvPr/>
        </p:nvSpPr>
        <p:spPr>
          <a:xfrm>
            <a:off x="7438644" y="3369564"/>
            <a:ext cx="548640" cy="0"/>
          </a:xfrm>
          <a:prstGeom prst="line">
            <a:avLst/>
          </a:prstGeom>
          <a:noFill/>
          <a:ln w="11430">
            <a:solidFill>
              <a:srgbClr val="C7BFE6"/>
            </a:solidFill>
            <a:prstDash val="solid"/>
          </a:ln>
        </p:spPr>
      </p:sp>
      <p:sp>
        <p:nvSpPr>
          <p:cNvPr id="14" name="Shape 11"/>
          <p:cNvSpPr/>
          <p:nvPr/>
        </p:nvSpPr>
        <p:spPr>
          <a:xfrm flipV="1">
            <a:off x="7301484" y="3369564"/>
            <a:ext cx="137160" cy="548640"/>
          </a:xfrm>
          <a:prstGeom prst="line">
            <a:avLst/>
          </a:prstGeom>
          <a:noFill/>
          <a:ln w="11430">
            <a:solidFill>
              <a:srgbClr val="C7BFE6"/>
            </a:solidFill>
            <a:prstDash val="solid"/>
          </a:ln>
        </p:spPr>
      </p:sp>
      <p:sp>
        <p:nvSpPr>
          <p:cNvPr id="15" name="Shape 12"/>
          <p:cNvSpPr/>
          <p:nvPr/>
        </p:nvSpPr>
        <p:spPr>
          <a:xfrm>
            <a:off x="7438644" y="3369564"/>
            <a:ext cx="411480" cy="548640"/>
          </a:xfrm>
          <a:prstGeom prst="line">
            <a:avLst/>
          </a:prstGeom>
          <a:noFill/>
          <a:ln w="11430">
            <a:solidFill>
              <a:srgbClr val="C7BFE6"/>
            </a:solidFill>
            <a:prstDash val="solid"/>
          </a:ln>
        </p:spPr>
      </p:sp>
      <p:sp>
        <p:nvSpPr>
          <p:cNvPr id="16" name="Shape 13"/>
          <p:cNvSpPr/>
          <p:nvPr/>
        </p:nvSpPr>
        <p:spPr>
          <a:xfrm>
            <a:off x="7438644" y="3369564"/>
            <a:ext cx="960120" cy="548640"/>
          </a:xfrm>
          <a:prstGeom prst="line">
            <a:avLst/>
          </a:prstGeom>
          <a:noFill/>
          <a:ln w="11430">
            <a:solidFill>
              <a:srgbClr val="C7BFE6"/>
            </a:solidFill>
            <a:prstDash val="solid"/>
          </a:ln>
        </p:spPr>
      </p:sp>
      <p:sp>
        <p:nvSpPr>
          <p:cNvPr id="17" name="Shape 14"/>
          <p:cNvSpPr/>
          <p:nvPr/>
        </p:nvSpPr>
        <p:spPr>
          <a:xfrm flipV="1">
            <a:off x="7301484" y="3369564"/>
            <a:ext cx="685800" cy="548640"/>
          </a:xfrm>
          <a:prstGeom prst="line">
            <a:avLst/>
          </a:prstGeom>
          <a:noFill/>
          <a:ln w="11430">
            <a:solidFill>
              <a:srgbClr val="C7BFE6"/>
            </a:solidFill>
            <a:prstDash val="solid"/>
          </a:ln>
        </p:spPr>
      </p:sp>
      <p:sp>
        <p:nvSpPr>
          <p:cNvPr id="18" name="Shape 15"/>
          <p:cNvSpPr/>
          <p:nvPr/>
        </p:nvSpPr>
        <p:spPr>
          <a:xfrm flipV="1">
            <a:off x="7850124" y="3369564"/>
            <a:ext cx="137160" cy="548640"/>
          </a:xfrm>
          <a:prstGeom prst="line">
            <a:avLst/>
          </a:prstGeom>
          <a:noFill/>
          <a:ln w="11430">
            <a:solidFill>
              <a:srgbClr val="C7BFE6"/>
            </a:solidFill>
            <a:prstDash val="solid"/>
          </a:ln>
        </p:spPr>
      </p:sp>
      <p:sp>
        <p:nvSpPr>
          <p:cNvPr id="19" name="Shape 16"/>
          <p:cNvSpPr/>
          <p:nvPr/>
        </p:nvSpPr>
        <p:spPr>
          <a:xfrm>
            <a:off x="7987284" y="3369564"/>
            <a:ext cx="411480" cy="548640"/>
          </a:xfrm>
          <a:prstGeom prst="line">
            <a:avLst/>
          </a:prstGeom>
          <a:noFill/>
          <a:ln w="11430">
            <a:solidFill>
              <a:srgbClr val="C7BFE6"/>
            </a:solidFill>
            <a:prstDash val="solid"/>
          </a:ln>
        </p:spPr>
      </p:sp>
      <p:sp>
        <p:nvSpPr>
          <p:cNvPr id="20" name="Shape 17"/>
          <p:cNvSpPr/>
          <p:nvPr/>
        </p:nvSpPr>
        <p:spPr>
          <a:xfrm>
            <a:off x="7301484" y="3918204"/>
            <a:ext cx="548640" cy="0"/>
          </a:xfrm>
          <a:prstGeom prst="line">
            <a:avLst/>
          </a:prstGeom>
          <a:noFill/>
          <a:ln w="11430">
            <a:solidFill>
              <a:srgbClr val="C7BFE6"/>
            </a:solidFill>
            <a:prstDash val="solid"/>
          </a:ln>
        </p:spPr>
      </p:sp>
      <p:sp>
        <p:nvSpPr>
          <p:cNvPr id="21" name="Shape 18"/>
          <p:cNvSpPr/>
          <p:nvPr/>
        </p:nvSpPr>
        <p:spPr>
          <a:xfrm>
            <a:off x="7301484" y="3918204"/>
            <a:ext cx="1097280" cy="0"/>
          </a:xfrm>
          <a:prstGeom prst="line">
            <a:avLst/>
          </a:prstGeom>
          <a:noFill/>
          <a:ln w="11430">
            <a:solidFill>
              <a:srgbClr val="C7BFE6"/>
            </a:solidFill>
            <a:prstDash val="solid"/>
          </a:ln>
        </p:spPr>
      </p:sp>
      <p:sp>
        <p:nvSpPr>
          <p:cNvPr id="22" name="Shape 19"/>
          <p:cNvSpPr/>
          <p:nvPr/>
        </p:nvSpPr>
        <p:spPr>
          <a:xfrm>
            <a:off x="7301484" y="3918204"/>
            <a:ext cx="411480" cy="548640"/>
          </a:xfrm>
          <a:prstGeom prst="line">
            <a:avLst/>
          </a:prstGeom>
          <a:noFill/>
          <a:ln w="11430">
            <a:solidFill>
              <a:srgbClr val="C7BFE6"/>
            </a:solidFill>
            <a:prstDash val="solid"/>
          </a:ln>
        </p:spPr>
      </p:sp>
      <p:sp>
        <p:nvSpPr>
          <p:cNvPr id="23" name="Shape 20"/>
          <p:cNvSpPr/>
          <p:nvPr/>
        </p:nvSpPr>
        <p:spPr>
          <a:xfrm>
            <a:off x="7850124" y="3918204"/>
            <a:ext cx="548640" cy="0"/>
          </a:xfrm>
          <a:prstGeom prst="line">
            <a:avLst/>
          </a:prstGeom>
          <a:noFill/>
          <a:ln w="11430">
            <a:solidFill>
              <a:srgbClr val="C7BFE6"/>
            </a:solidFill>
            <a:prstDash val="solid"/>
          </a:ln>
        </p:spPr>
      </p:sp>
      <p:sp>
        <p:nvSpPr>
          <p:cNvPr id="24" name="Shape 21"/>
          <p:cNvSpPr/>
          <p:nvPr/>
        </p:nvSpPr>
        <p:spPr>
          <a:xfrm flipV="1">
            <a:off x="7712964" y="3918204"/>
            <a:ext cx="137160" cy="548640"/>
          </a:xfrm>
          <a:prstGeom prst="line">
            <a:avLst/>
          </a:prstGeom>
          <a:noFill/>
          <a:ln w="11430">
            <a:solidFill>
              <a:srgbClr val="C7BFE6"/>
            </a:solidFill>
            <a:prstDash val="solid"/>
          </a:ln>
        </p:spPr>
      </p:sp>
      <p:sp>
        <p:nvSpPr>
          <p:cNvPr id="25" name="Shape 22"/>
          <p:cNvSpPr/>
          <p:nvPr/>
        </p:nvSpPr>
        <p:spPr>
          <a:xfrm flipV="1">
            <a:off x="7712964" y="3918204"/>
            <a:ext cx="685800" cy="548640"/>
          </a:xfrm>
          <a:prstGeom prst="line">
            <a:avLst/>
          </a:prstGeom>
          <a:noFill/>
          <a:ln w="11430">
            <a:solidFill>
              <a:srgbClr val="C7BFE6"/>
            </a:solidFill>
            <a:prstDash val="solid"/>
          </a:ln>
        </p:spPr>
      </p:sp>
      <p:sp>
        <p:nvSpPr>
          <p:cNvPr id="26" name="Shape 23"/>
          <p:cNvSpPr/>
          <p:nvPr/>
        </p:nvSpPr>
        <p:spPr>
          <a:xfrm>
            <a:off x="7635240" y="2743200"/>
            <a:ext cx="155448" cy="155448"/>
          </a:xfrm>
          <a:prstGeom prst="ellipse">
            <a:avLst/>
          </a:prstGeom>
          <a:solidFill>
            <a:srgbClr val="6D4AFF"/>
          </a:solidFill>
          <a:ln w="12700">
            <a:solidFill>
              <a:srgbClr val="6D4AFF"/>
            </a:solidFill>
            <a:prstDash val="solid"/>
          </a:ln>
        </p:spPr>
      </p:sp>
      <p:sp>
        <p:nvSpPr>
          <p:cNvPr id="27" name="Shape 24"/>
          <p:cNvSpPr/>
          <p:nvPr/>
        </p:nvSpPr>
        <p:spPr>
          <a:xfrm>
            <a:off x="7360920" y="3291840"/>
            <a:ext cx="155448" cy="155448"/>
          </a:xfrm>
          <a:prstGeom prst="ellipse">
            <a:avLst/>
          </a:prstGeom>
          <a:solidFill>
            <a:srgbClr val="6D4AFF"/>
          </a:solidFill>
          <a:ln w="12700">
            <a:solidFill>
              <a:srgbClr val="6D4AFF"/>
            </a:solidFill>
            <a:prstDash val="solid"/>
          </a:ln>
        </p:spPr>
      </p:sp>
      <p:sp>
        <p:nvSpPr>
          <p:cNvPr id="28" name="Shape 25"/>
          <p:cNvSpPr/>
          <p:nvPr/>
        </p:nvSpPr>
        <p:spPr>
          <a:xfrm>
            <a:off x="7909560" y="3291840"/>
            <a:ext cx="155448" cy="155448"/>
          </a:xfrm>
          <a:prstGeom prst="ellipse">
            <a:avLst/>
          </a:prstGeom>
          <a:solidFill>
            <a:srgbClr val="6D4AFF"/>
          </a:solidFill>
          <a:ln w="12700">
            <a:solidFill>
              <a:srgbClr val="6D4AFF"/>
            </a:solidFill>
            <a:prstDash val="solid"/>
          </a:ln>
        </p:spPr>
      </p:sp>
      <p:sp>
        <p:nvSpPr>
          <p:cNvPr id="29" name="Shape 26"/>
          <p:cNvSpPr/>
          <p:nvPr/>
        </p:nvSpPr>
        <p:spPr>
          <a:xfrm>
            <a:off x="7223760" y="3840480"/>
            <a:ext cx="155448" cy="155448"/>
          </a:xfrm>
          <a:prstGeom prst="ellipse">
            <a:avLst/>
          </a:prstGeom>
          <a:solidFill>
            <a:srgbClr val="6D4AFF"/>
          </a:solidFill>
          <a:ln w="12700">
            <a:solidFill>
              <a:srgbClr val="6D4AFF"/>
            </a:solidFill>
            <a:prstDash val="solid"/>
          </a:ln>
        </p:spPr>
      </p:sp>
      <p:sp>
        <p:nvSpPr>
          <p:cNvPr id="30" name="Shape 27"/>
          <p:cNvSpPr/>
          <p:nvPr/>
        </p:nvSpPr>
        <p:spPr>
          <a:xfrm>
            <a:off x="7772400" y="3840480"/>
            <a:ext cx="155448" cy="155448"/>
          </a:xfrm>
          <a:prstGeom prst="ellipse">
            <a:avLst/>
          </a:prstGeom>
          <a:solidFill>
            <a:srgbClr val="6D4AFF"/>
          </a:solidFill>
          <a:ln w="12700">
            <a:solidFill>
              <a:srgbClr val="6D4AFF"/>
            </a:solidFill>
            <a:prstDash val="solid"/>
          </a:ln>
        </p:spPr>
      </p:sp>
      <p:sp>
        <p:nvSpPr>
          <p:cNvPr id="31" name="Shape 28"/>
          <p:cNvSpPr/>
          <p:nvPr/>
        </p:nvSpPr>
        <p:spPr>
          <a:xfrm>
            <a:off x="8321040" y="3840480"/>
            <a:ext cx="155448" cy="155448"/>
          </a:xfrm>
          <a:prstGeom prst="ellipse">
            <a:avLst/>
          </a:prstGeom>
          <a:solidFill>
            <a:srgbClr val="6D4AFF"/>
          </a:solidFill>
          <a:ln w="12700">
            <a:solidFill>
              <a:srgbClr val="6D4AFF"/>
            </a:solidFill>
            <a:prstDash val="solid"/>
          </a:ln>
        </p:spPr>
      </p:sp>
      <p:sp>
        <p:nvSpPr>
          <p:cNvPr id="32" name="Shape 29"/>
          <p:cNvSpPr/>
          <p:nvPr/>
        </p:nvSpPr>
        <p:spPr>
          <a:xfrm>
            <a:off x="7635240" y="4389120"/>
            <a:ext cx="155448" cy="155448"/>
          </a:xfrm>
          <a:prstGeom prst="ellipse">
            <a:avLst/>
          </a:prstGeom>
          <a:solidFill>
            <a:srgbClr val="6D4AFF"/>
          </a:solidFill>
          <a:ln w="12700">
            <a:solidFill>
              <a:srgbClr val="6D4AFF"/>
            </a:solidFill>
            <a:prstDash val="solid"/>
          </a:ln>
        </p:spPr>
      </p:sp>
      <p:sp>
        <p:nvSpPr>
          <p:cNvPr id="33" name="Text 30"/>
          <p:cNvSpPr txBox="1"/>
          <p:nvPr/>
        </p:nvSpPr>
        <p:spPr>
          <a:xfrm>
            <a:off x="6995160" y="4709160"/>
            <a:ext cx="1371600" cy="237744"/>
          </a:xfrm>
          <a:prstGeom prst="rect">
            <a:avLst/>
          </a:prstGeom>
          <a:noFill/>
          <a:ln/>
        </p:spPr>
        <p:txBody>
          <a:bodyPr wrap="square" lIns="0" tIns="0" rIns="0" bIns="0" rtlCol="0" anchor="ctr"/>
          <a:lstStyle/>
          <a:p>
            <a:pPr algn="ctr" indent="0" marL="0">
              <a:buNone/>
            </a:pPr>
            <a:r>
              <a:rPr lang="en-US" sz="1050" dirty="0">
                <a:solidFill>
                  <a:srgbClr val="6E6A85"/>
                </a:solidFill>
                <a:latin typeface="Calibri" pitchFamily="34" charset="0"/>
                <a:ea typeface="Calibri" pitchFamily="34" charset="-122"/>
                <a:cs typeface="Calibri" pitchFamily="34" charset="-120"/>
              </a:rPr>
              <a:t>39 vertices</a:t>
            </a:r>
            <a:endParaRPr lang="en-US" sz="1050" dirty="0"/>
          </a:p>
        </p:txBody>
      </p:sp>
      <p:sp>
        <p:nvSpPr>
          <p:cNvPr id="34" name="Shape 31"/>
          <p:cNvSpPr/>
          <p:nvPr/>
        </p:nvSpPr>
        <p:spPr>
          <a:xfrm>
            <a:off x="8823960" y="3493008"/>
            <a:ext cx="658368" cy="274320"/>
          </a:xfrm>
          <a:prstGeom prst="rightArrow">
            <a:avLst/>
          </a:prstGeom>
          <a:solidFill>
            <a:srgbClr val="FFB627"/>
          </a:solidFill>
          <a:ln w="12700">
            <a:solidFill>
              <a:srgbClr val="333333"/>
            </a:solidFill>
            <a:prstDash val="solid"/>
          </a:ln>
        </p:spPr>
      </p:sp>
      <p:sp>
        <p:nvSpPr>
          <p:cNvPr id="35" name="Shape 32"/>
          <p:cNvSpPr/>
          <p:nvPr/>
        </p:nvSpPr>
        <p:spPr>
          <a:xfrm flipV="1">
            <a:off x="9907524" y="2820924"/>
            <a:ext cx="365760" cy="685800"/>
          </a:xfrm>
          <a:prstGeom prst="line">
            <a:avLst/>
          </a:prstGeom>
          <a:noFill/>
          <a:ln w="22860">
            <a:solidFill>
              <a:srgbClr val="FFB627"/>
            </a:solidFill>
            <a:prstDash val="solid"/>
          </a:ln>
        </p:spPr>
      </p:sp>
      <p:sp>
        <p:nvSpPr>
          <p:cNvPr id="36" name="Shape 33"/>
          <p:cNvSpPr/>
          <p:nvPr/>
        </p:nvSpPr>
        <p:spPr>
          <a:xfrm>
            <a:off x="9907524" y="3506724"/>
            <a:ext cx="365760" cy="960120"/>
          </a:xfrm>
          <a:prstGeom prst="line">
            <a:avLst/>
          </a:prstGeom>
          <a:noFill/>
          <a:ln w="22860">
            <a:solidFill>
              <a:srgbClr val="FFB627"/>
            </a:solidFill>
            <a:prstDash val="solid"/>
          </a:ln>
        </p:spPr>
      </p:sp>
      <p:sp>
        <p:nvSpPr>
          <p:cNvPr id="37" name="Shape 34"/>
          <p:cNvSpPr/>
          <p:nvPr/>
        </p:nvSpPr>
        <p:spPr>
          <a:xfrm>
            <a:off x="10273284" y="2820924"/>
            <a:ext cx="365760" cy="685800"/>
          </a:xfrm>
          <a:prstGeom prst="line">
            <a:avLst/>
          </a:prstGeom>
          <a:noFill/>
          <a:ln w="22860">
            <a:solidFill>
              <a:srgbClr val="FFB627"/>
            </a:solidFill>
            <a:prstDash val="solid"/>
          </a:ln>
        </p:spPr>
      </p:sp>
      <p:sp>
        <p:nvSpPr>
          <p:cNvPr id="38" name="Shape 35"/>
          <p:cNvSpPr/>
          <p:nvPr/>
        </p:nvSpPr>
        <p:spPr>
          <a:xfrm flipV="1">
            <a:off x="10273284" y="3506724"/>
            <a:ext cx="365760" cy="960120"/>
          </a:xfrm>
          <a:prstGeom prst="line">
            <a:avLst/>
          </a:prstGeom>
          <a:noFill/>
          <a:ln w="22860">
            <a:solidFill>
              <a:srgbClr val="FFB627"/>
            </a:solidFill>
            <a:prstDash val="solid"/>
          </a:ln>
        </p:spPr>
      </p:sp>
      <p:sp>
        <p:nvSpPr>
          <p:cNvPr id="39" name="Shape 36"/>
          <p:cNvSpPr/>
          <p:nvPr/>
        </p:nvSpPr>
        <p:spPr>
          <a:xfrm>
            <a:off x="10195560" y="2743200"/>
            <a:ext cx="182880" cy="182880"/>
          </a:xfrm>
          <a:prstGeom prst="ellipse">
            <a:avLst/>
          </a:prstGeom>
          <a:solidFill>
            <a:srgbClr val="FFB627"/>
          </a:solidFill>
          <a:ln w="12700">
            <a:solidFill>
              <a:srgbClr val="FFB627"/>
            </a:solidFill>
            <a:prstDash val="solid"/>
          </a:ln>
        </p:spPr>
      </p:sp>
      <p:sp>
        <p:nvSpPr>
          <p:cNvPr id="40" name="Shape 37"/>
          <p:cNvSpPr/>
          <p:nvPr/>
        </p:nvSpPr>
        <p:spPr>
          <a:xfrm>
            <a:off x="9829800" y="3429000"/>
            <a:ext cx="182880" cy="182880"/>
          </a:xfrm>
          <a:prstGeom prst="ellipse">
            <a:avLst/>
          </a:prstGeom>
          <a:solidFill>
            <a:srgbClr val="FFB627"/>
          </a:solidFill>
          <a:ln w="12700">
            <a:solidFill>
              <a:srgbClr val="FFB627"/>
            </a:solidFill>
            <a:prstDash val="solid"/>
          </a:ln>
        </p:spPr>
      </p:sp>
      <p:sp>
        <p:nvSpPr>
          <p:cNvPr id="41" name="Shape 38"/>
          <p:cNvSpPr/>
          <p:nvPr/>
        </p:nvSpPr>
        <p:spPr>
          <a:xfrm>
            <a:off x="10561320" y="3429000"/>
            <a:ext cx="182880" cy="182880"/>
          </a:xfrm>
          <a:prstGeom prst="ellipse">
            <a:avLst/>
          </a:prstGeom>
          <a:solidFill>
            <a:srgbClr val="FFB627"/>
          </a:solidFill>
          <a:ln w="12700">
            <a:solidFill>
              <a:srgbClr val="FFB627"/>
            </a:solidFill>
            <a:prstDash val="solid"/>
          </a:ln>
        </p:spPr>
      </p:sp>
      <p:sp>
        <p:nvSpPr>
          <p:cNvPr id="42" name="Shape 39"/>
          <p:cNvSpPr/>
          <p:nvPr/>
        </p:nvSpPr>
        <p:spPr>
          <a:xfrm>
            <a:off x="10195560" y="4389120"/>
            <a:ext cx="182880" cy="182880"/>
          </a:xfrm>
          <a:prstGeom prst="ellipse">
            <a:avLst/>
          </a:prstGeom>
          <a:solidFill>
            <a:srgbClr val="FFB627"/>
          </a:solidFill>
          <a:ln w="12700">
            <a:solidFill>
              <a:srgbClr val="FFB627"/>
            </a:solidFill>
            <a:prstDash val="solid"/>
          </a:ln>
        </p:spPr>
      </p:sp>
      <p:sp>
        <p:nvSpPr>
          <p:cNvPr id="43" name="Text 40"/>
          <p:cNvSpPr txBox="1"/>
          <p:nvPr/>
        </p:nvSpPr>
        <p:spPr>
          <a:xfrm>
            <a:off x="9509760" y="4709160"/>
            <a:ext cx="1737360" cy="411480"/>
          </a:xfrm>
          <a:prstGeom prst="rect">
            <a:avLst/>
          </a:prstGeom>
          <a:noFill/>
          <a:ln/>
        </p:spPr>
        <p:txBody>
          <a:bodyPr wrap="square" lIns="0" tIns="0" rIns="0" bIns="0" rtlCol="0" anchor="ctr"/>
          <a:lstStyle/>
          <a:p>
            <a:pPr algn="ctr" indent="0" marL="0">
              <a:buNone/>
            </a:pPr>
            <a:r>
              <a:rPr lang="en-US" sz="1050" dirty="0">
                <a:solidFill>
                  <a:srgbClr val="FFB627"/>
                </a:solidFill>
                <a:latin typeface="Calibri" pitchFamily="34" charset="0"/>
                <a:ea typeface="Calibri" pitchFamily="34" charset="-122"/>
                <a:cs typeface="Calibri" pitchFamily="34" charset="-120"/>
              </a:rPr>
              <a:t>fewer vertices,</a:t>
            </a:r>
            <a:endParaRPr lang="en-US" sz="1050" dirty="0"/>
          </a:p>
          <a:p>
            <a:pPr algn="ctr" indent="0" marL="0">
              <a:buNone/>
            </a:pPr>
            <a:r>
              <a:rPr lang="en-US" sz="1050" dirty="0">
                <a:solidFill>
                  <a:srgbClr val="FFB627"/>
                </a:solidFill>
                <a:latin typeface="Calibri" pitchFamily="34" charset="0"/>
                <a:ea typeface="Calibri" pitchFamily="34" charset="-122"/>
                <a:cs typeface="Calibri" pitchFamily="34" charset="-120"/>
              </a:rPr>
              <a:t>same causal paths</a:t>
            </a:r>
            <a:endParaRPr lang="en-US" sz="1050" dirty="0"/>
          </a:p>
        </p:txBody>
      </p:sp>
      <p:sp>
        <p:nvSpPr>
          <p:cNvPr id="44" name="Text 41"/>
          <p:cNvSpPr txBox="1"/>
          <p:nvPr/>
        </p:nvSpPr>
        <p:spPr>
          <a:xfrm>
            <a:off x="7132320" y="5212080"/>
            <a:ext cx="4206240" cy="731520"/>
          </a:xfrm>
          <a:prstGeom prst="rect">
            <a:avLst/>
          </a:prstGeom>
          <a:noFill/>
          <a:ln/>
        </p:spPr>
        <p:txBody>
          <a:bodyPr wrap="square" lIns="0" tIns="0" rIns="0" bIns="0" rtlCol="0" anchor="ctr"/>
          <a:lstStyle/>
          <a:p>
            <a:pPr marL="342900" indent="-342900">
              <a:spcAft>
                <a:spcPts val="800"/>
              </a:spcAft>
              <a:buSzPct val="100000"/>
              <a:buChar char="•"/>
            </a:pPr>
            <a:r>
              <a:rPr lang="en-US" sz="1100" dirty="0">
                <a:solidFill>
                  <a:srgbClr val="1F1A38"/>
                </a:solidFill>
                <a:latin typeface="Calibri" pitchFamily="34" charset="0"/>
                <a:ea typeface="Calibri" pitchFamily="34" charset="-122"/>
                <a:cs typeface="Calibri" pitchFamily="34" charset="-120"/>
              </a:rPr>
              <a:t>Edges are causal, not associative - (a,b) means a produced b</a:t>
            </a:r>
            <a:endParaRPr lang="en-US" sz="1100" dirty="0"/>
          </a:p>
          <a:p>
            <a:pPr marL="342900" indent="-342900">
              <a:spcAft>
                <a:spcPts val="800"/>
              </a:spcAft>
              <a:buSzPct val="100000"/>
              <a:buChar char="•"/>
            </a:pPr>
            <a:r>
              <a:rPr lang="en-US" sz="1100" dirty="0">
                <a:solidFill>
                  <a:srgbClr val="1F1A38"/>
                </a:solidFill>
                <a:latin typeface="Calibri" pitchFamily="34" charset="0"/>
                <a:ea typeface="Calibri" pitchFamily="34" charset="-122"/>
                <a:cs typeface="Calibri" pitchFamily="34" charset="-120"/>
              </a:rPr>
              <a:t>Coarsen vertices while preserving reachability to the answer</a:t>
            </a:r>
            <a:endParaRPr lang="en-US" sz="1100" dirty="0"/>
          </a:p>
          <a:p>
            <a:pPr marL="342900" indent="-342900">
              <a:spcAft>
                <a:spcPts val="800"/>
              </a:spcAft>
              <a:buSzPct val="100000"/>
              <a:buChar char="•"/>
            </a:pPr>
            <a:r>
              <a:rPr lang="en-US" sz="1100" dirty="0">
                <a:solidFill>
                  <a:srgbClr val="1F1A38"/>
                </a:solidFill>
                <a:latin typeface="Calibri" pitchFamily="34" charset="0"/>
                <a:ea typeface="Calibri" pitchFamily="34" charset="-122"/>
                <a:cs typeface="Calibri" pitchFamily="34" charset="-120"/>
              </a:rPr>
              <a:t>Target: GoT accuracy at a cost approaching ToT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10881360" cy="621792"/>
          </a:xfrm>
          <a:prstGeom prst="rect">
            <a:avLst/>
          </a:prstGeom>
          <a:noFill/>
          <a:ln/>
        </p:spPr>
        <p:txBody>
          <a:bodyPr wrap="square" lIns="0" tIns="0" rIns="0" bIns="0" rtlCol="0" anchor="ctr"/>
          <a:lstStyle/>
          <a:p>
            <a:pPr indent="0" marL="0">
              <a:buNone/>
            </a:pPr>
            <a:r>
              <a:rPr lang="en-US" sz="3200" b="1" dirty="0">
                <a:solidFill>
                  <a:srgbClr val="1F1A38"/>
                </a:solidFill>
                <a:latin typeface="Cambria" pitchFamily="34" charset="0"/>
                <a:ea typeface="Cambria" pitchFamily="34" charset="-122"/>
                <a:cs typeface="Cambria" pitchFamily="34" charset="-120"/>
              </a:rPr>
              <a:t>Literature review</a:t>
            </a:r>
            <a:endParaRPr lang="en-US" sz="3200" dirty="0"/>
          </a:p>
        </p:txBody>
      </p:sp>
      <p:sp>
        <p:nvSpPr>
          <p:cNvPr id="3" name="Text 1"/>
          <p:cNvSpPr txBox="1"/>
          <p:nvPr/>
        </p:nvSpPr>
        <p:spPr>
          <a:xfrm>
            <a:off x="640080" y="1005840"/>
            <a:ext cx="10881360" cy="365760"/>
          </a:xfrm>
          <a:prstGeom prst="rect">
            <a:avLst/>
          </a:prstGeom>
          <a:noFill/>
          <a:ln/>
        </p:spPr>
        <p:txBody>
          <a:bodyPr wrap="square" lIns="0" tIns="0" rIns="0" bIns="0" rtlCol="0" anchor="ctr"/>
          <a:lstStyle/>
          <a:p>
            <a:pPr indent="0" marL="0">
              <a:buNone/>
            </a:pPr>
            <a:r>
              <a:rPr lang="en-US" sz="1350" dirty="0">
                <a:solidFill>
                  <a:srgbClr val="6E6A85"/>
                </a:solidFill>
                <a:latin typeface="Calibri" pitchFamily="34" charset="0"/>
                <a:ea typeface="Calibri" pitchFamily="34" charset="-122"/>
                <a:cs typeface="Calibri" pitchFamily="34" charset="-120"/>
              </a:rPr>
              <a:t>Two lines of work meet in this project: reasoning structure, and graph reduction</a:t>
            </a:r>
            <a:endParaRPr lang="en-US" sz="1350" dirty="0"/>
          </a:p>
        </p:txBody>
      </p:sp>
      <p:sp>
        <p:nvSpPr>
          <p:cNvPr id="4" name="Shape 2"/>
          <p:cNvSpPr/>
          <p:nvPr/>
        </p:nvSpPr>
        <p:spPr>
          <a:xfrm>
            <a:off x="685800" y="1645920"/>
            <a:ext cx="5349240" cy="3794760"/>
          </a:xfrm>
          <a:prstGeom prst="roundRect">
            <a:avLst>
              <a:gd name="adj" fmla="val 1446"/>
            </a:avLst>
          </a:prstGeom>
          <a:solidFill>
            <a:srgbClr val="F6F4FD"/>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5" name="Text 3"/>
          <p:cNvSpPr txBox="1"/>
          <p:nvPr/>
        </p:nvSpPr>
        <p:spPr>
          <a:xfrm>
            <a:off x="914400" y="1801368"/>
            <a:ext cx="4892040" cy="274320"/>
          </a:xfrm>
          <a:prstGeom prst="rect">
            <a:avLst/>
          </a:prstGeom>
          <a:noFill/>
          <a:ln/>
        </p:spPr>
        <p:txBody>
          <a:bodyPr wrap="square" lIns="0" tIns="0" rIns="0" bIns="0" rtlCol="0" anchor="ctr"/>
          <a:lstStyle/>
          <a:p>
            <a:pPr indent="0" marL="0">
              <a:buNone/>
            </a:pPr>
            <a:r>
              <a:rPr lang="en-US" sz="1350" b="1" dirty="0">
                <a:solidFill>
                  <a:srgbClr val="6D4AFF"/>
                </a:solidFill>
                <a:latin typeface="Calibri" pitchFamily="34" charset="0"/>
                <a:ea typeface="Calibri" pitchFamily="34" charset="-122"/>
                <a:cs typeface="Calibri" pitchFamily="34" charset="-120"/>
              </a:rPr>
              <a:t>Structured reasoning in LLMs</a:t>
            </a:r>
            <a:endParaRPr lang="en-US" sz="1350" dirty="0"/>
          </a:p>
        </p:txBody>
      </p:sp>
      <p:sp>
        <p:nvSpPr>
          <p:cNvPr id="6" name="Text 4"/>
          <p:cNvSpPr txBox="1"/>
          <p:nvPr/>
        </p:nvSpPr>
        <p:spPr>
          <a:xfrm>
            <a:off x="914400" y="2148840"/>
            <a:ext cx="4892040" cy="219456"/>
          </a:xfrm>
          <a:prstGeom prst="rect">
            <a:avLst/>
          </a:prstGeom>
          <a:noFill/>
          <a:ln/>
        </p:spPr>
        <p:txBody>
          <a:bodyPr wrap="square" lIns="0" tIns="0" rIns="0" bIns="0" rtlCol="0" anchor="ctr"/>
          <a:lstStyle/>
          <a:p>
            <a:pPr indent="0" marL="0">
              <a:buNone/>
            </a:pPr>
            <a:r>
              <a:rPr lang="en-US" sz="1150" b="1" dirty="0">
                <a:solidFill>
                  <a:srgbClr val="1F1A38"/>
                </a:solidFill>
                <a:latin typeface="Calibri" pitchFamily="34" charset="0"/>
                <a:ea typeface="Calibri" pitchFamily="34" charset="-122"/>
                <a:cs typeface="Calibri" pitchFamily="34" charset="-120"/>
              </a:rPr>
              <a:t>Wei et al., 2022</a:t>
            </a:r>
            <a:endParaRPr lang="en-US" sz="1150" dirty="0"/>
          </a:p>
        </p:txBody>
      </p:sp>
      <p:sp>
        <p:nvSpPr>
          <p:cNvPr id="7" name="Text 5"/>
          <p:cNvSpPr txBox="1"/>
          <p:nvPr/>
        </p:nvSpPr>
        <p:spPr>
          <a:xfrm>
            <a:off x="914400" y="2350008"/>
            <a:ext cx="4892040" cy="256032"/>
          </a:xfrm>
          <a:prstGeom prst="rect">
            <a:avLst/>
          </a:prstGeom>
          <a:noFill/>
          <a:ln/>
        </p:spPr>
        <p:txBody>
          <a:bodyPr wrap="square" lIns="0" tIns="0" rIns="0" bIns="0" rtlCol="0" anchor="ctr"/>
          <a:lstStyle/>
          <a:p>
            <a:pPr indent="0" marL="0">
              <a:buNone/>
            </a:pPr>
            <a:r>
              <a:rPr lang="en-US" sz="950" dirty="0">
                <a:solidFill>
                  <a:srgbClr val="6E6A85"/>
                </a:solidFill>
                <a:latin typeface="Calibri" pitchFamily="34" charset="0"/>
                <a:ea typeface="Calibri" pitchFamily="34" charset="-122"/>
                <a:cs typeface="Calibri" pitchFamily="34" charset="-120"/>
              </a:rPr>
              <a:t>Chain-of-Thought Prompting Elicits Reasoning in LLMs. NeurIPS. arXiv:2201.11903</a:t>
            </a:r>
            <a:endParaRPr lang="en-US" sz="950" dirty="0"/>
          </a:p>
        </p:txBody>
      </p:sp>
      <p:sp>
        <p:nvSpPr>
          <p:cNvPr id="8" name="Text 6"/>
          <p:cNvSpPr txBox="1"/>
          <p:nvPr/>
        </p:nvSpPr>
        <p:spPr>
          <a:xfrm>
            <a:off x="914400" y="2551176"/>
            <a:ext cx="4892040" cy="219456"/>
          </a:xfrm>
          <a:prstGeom prst="rect">
            <a:avLst/>
          </a:prstGeom>
          <a:noFill/>
          <a:ln/>
        </p:spPr>
        <p:txBody>
          <a:bodyPr wrap="square" lIns="0" tIns="0" rIns="0" bIns="0" rtlCol="0" anchor="ctr"/>
          <a:lstStyle/>
          <a:p>
            <a:pPr indent="0" marL="0">
              <a:buNone/>
            </a:pPr>
            <a:r>
              <a:rPr lang="en-US" sz="950" i="1" dirty="0">
                <a:solidFill>
                  <a:srgbClr val="6D4AFF"/>
                </a:solidFill>
                <a:latin typeface="Calibri" pitchFamily="34" charset="0"/>
                <a:ea typeface="Calibri" pitchFamily="34" charset="-122"/>
                <a:cs typeface="Calibri" pitchFamily="34" charset="-120"/>
              </a:rPr>
              <a:t>Intermediate steps as computation</a:t>
            </a:r>
            <a:endParaRPr lang="en-US" sz="950" dirty="0"/>
          </a:p>
        </p:txBody>
      </p:sp>
      <p:sp>
        <p:nvSpPr>
          <p:cNvPr id="9" name="Text 7"/>
          <p:cNvSpPr txBox="1"/>
          <p:nvPr/>
        </p:nvSpPr>
        <p:spPr>
          <a:xfrm>
            <a:off x="914400" y="2807208"/>
            <a:ext cx="4892040" cy="219456"/>
          </a:xfrm>
          <a:prstGeom prst="rect">
            <a:avLst/>
          </a:prstGeom>
          <a:noFill/>
          <a:ln/>
        </p:spPr>
        <p:txBody>
          <a:bodyPr wrap="square" lIns="0" tIns="0" rIns="0" bIns="0" rtlCol="0" anchor="ctr"/>
          <a:lstStyle/>
          <a:p>
            <a:pPr indent="0" marL="0">
              <a:buNone/>
            </a:pPr>
            <a:r>
              <a:rPr lang="en-US" sz="1150" b="1" dirty="0">
                <a:solidFill>
                  <a:srgbClr val="1F1A38"/>
                </a:solidFill>
                <a:latin typeface="Calibri" pitchFamily="34" charset="0"/>
                <a:ea typeface="Calibri" pitchFamily="34" charset="-122"/>
                <a:cs typeface="Calibri" pitchFamily="34" charset="-120"/>
              </a:rPr>
              <a:t>Wang et al., 2023</a:t>
            </a:r>
            <a:endParaRPr lang="en-US" sz="1150" dirty="0"/>
          </a:p>
        </p:txBody>
      </p:sp>
      <p:sp>
        <p:nvSpPr>
          <p:cNvPr id="10" name="Text 8"/>
          <p:cNvSpPr txBox="1"/>
          <p:nvPr/>
        </p:nvSpPr>
        <p:spPr>
          <a:xfrm>
            <a:off x="914400" y="3008376"/>
            <a:ext cx="4892040" cy="256032"/>
          </a:xfrm>
          <a:prstGeom prst="rect">
            <a:avLst/>
          </a:prstGeom>
          <a:noFill/>
          <a:ln/>
        </p:spPr>
        <p:txBody>
          <a:bodyPr wrap="square" lIns="0" tIns="0" rIns="0" bIns="0" rtlCol="0" anchor="ctr"/>
          <a:lstStyle/>
          <a:p>
            <a:pPr indent="0" marL="0">
              <a:buNone/>
            </a:pPr>
            <a:r>
              <a:rPr lang="en-US" sz="950" dirty="0">
                <a:solidFill>
                  <a:srgbClr val="6E6A85"/>
                </a:solidFill>
                <a:latin typeface="Calibri" pitchFamily="34" charset="0"/>
                <a:ea typeface="Calibri" pitchFamily="34" charset="-122"/>
                <a:cs typeface="Calibri" pitchFamily="34" charset="-120"/>
              </a:rPr>
              <a:t>Self-Consistency Improves Chain of Thought Reasoning. ICLR. arXiv:2203.11171</a:t>
            </a:r>
            <a:endParaRPr lang="en-US" sz="950" dirty="0"/>
          </a:p>
        </p:txBody>
      </p:sp>
      <p:sp>
        <p:nvSpPr>
          <p:cNvPr id="11" name="Text 9"/>
          <p:cNvSpPr txBox="1"/>
          <p:nvPr/>
        </p:nvSpPr>
        <p:spPr>
          <a:xfrm>
            <a:off x="914400" y="3209544"/>
            <a:ext cx="4892040" cy="219456"/>
          </a:xfrm>
          <a:prstGeom prst="rect">
            <a:avLst/>
          </a:prstGeom>
          <a:noFill/>
          <a:ln/>
        </p:spPr>
        <p:txBody>
          <a:bodyPr wrap="square" lIns="0" tIns="0" rIns="0" bIns="0" rtlCol="0" anchor="ctr"/>
          <a:lstStyle/>
          <a:p>
            <a:pPr indent="0" marL="0">
              <a:buNone/>
            </a:pPr>
            <a:r>
              <a:rPr lang="en-US" sz="950" i="1" dirty="0">
                <a:solidFill>
                  <a:srgbClr val="6D4AFF"/>
                </a:solidFill>
                <a:latin typeface="Calibri" pitchFamily="34" charset="0"/>
                <a:ea typeface="Calibri" pitchFamily="34" charset="-122"/>
                <a:cs typeface="Calibri" pitchFamily="34" charset="-120"/>
              </a:rPr>
              <a:t>Sample k chains, select the best</a:t>
            </a:r>
            <a:endParaRPr lang="en-US" sz="950" dirty="0"/>
          </a:p>
        </p:txBody>
      </p:sp>
      <p:sp>
        <p:nvSpPr>
          <p:cNvPr id="12" name="Text 10"/>
          <p:cNvSpPr txBox="1"/>
          <p:nvPr/>
        </p:nvSpPr>
        <p:spPr>
          <a:xfrm>
            <a:off x="914400" y="3465576"/>
            <a:ext cx="4892040" cy="219456"/>
          </a:xfrm>
          <a:prstGeom prst="rect">
            <a:avLst/>
          </a:prstGeom>
          <a:noFill/>
          <a:ln/>
        </p:spPr>
        <p:txBody>
          <a:bodyPr wrap="square" lIns="0" tIns="0" rIns="0" bIns="0" rtlCol="0" anchor="ctr"/>
          <a:lstStyle/>
          <a:p>
            <a:pPr indent="0" marL="0">
              <a:buNone/>
            </a:pPr>
            <a:r>
              <a:rPr lang="en-US" sz="1150" b="1" dirty="0">
                <a:solidFill>
                  <a:srgbClr val="1F1A38"/>
                </a:solidFill>
                <a:latin typeface="Calibri" pitchFamily="34" charset="0"/>
                <a:ea typeface="Calibri" pitchFamily="34" charset="-122"/>
                <a:cs typeface="Calibri" pitchFamily="34" charset="-120"/>
              </a:rPr>
              <a:t>Yao et al., 2023</a:t>
            </a:r>
            <a:endParaRPr lang="en-US" sz="1150" dirty="0"/>
          </a:p>
        </p:txBody>
      </p:sp>
      <p:sp>
        <p:nvSpPr>
          <p:cNvPr id="13" name="Text 11"/>
          <p:cNvSpPr txBox="1"/>
          <p:nvPr/>
        </p:nvSpPr>
        <p:spPr>
          <a:xfrm>
            <a:off x="914400" y="3666744"/>
            <a:ext cx="4892040" cy="256032"/>
          </a:xfrm>
          <a:prstGeom prst="rect">
            <a:avLst/>
          </a:prstGeom>
          <a:noFill/>
          <a:ln/>
        </p:spPr>
        <p:txBody>
          <a:bodyPr wrap="square" lIns="0" tIns="0" rIns="0" bIns="0" rtlCol="0" anchor="ctr"/>
          <a:lstStyle/>
          <a:p>
            <a:pPr indent="0" marL="0">
              <a:buNone/>
            </a:pPr>
            <a:r>
              <a:rPr lang="en-US" sz="950" dirty="0">
                <a:solidFill>
                  <a:srgbClr val="6E6A85"/>
                </a:solidFill>
                <a:latin typeface="Calibri" pitchFamily="34" charset="0"/>
                <a:ea typeface="Calibri" pitchFamily="34" charset="-122"/>
                <a:cs typeface="Calibri" pitchFamily="34" charset="-120"/>
              </a:rPr>
              <a:t>Tree of Thoughts: Deliberate Problem Solving. NeurIPS. arXiv:2305.10601</a:t>
            </a:r>
            <a:endParaRPr lang="en-US" sz="950" dirty="0"/>
          </a:p>
        </p:txBody>
      </p:sp>
      <p:sp>
        <p:nvSpPr>
          <p:cNvPr id="14" name="Text 12"/>
          <p:cNvSpPr txBox="1"/>
          <p:nvPr/>
        </p:nvSpPr>
        <p:spPr>
          <a:xfrm>
            <a:off x="914400" y="3867912"/>
            <a:ext cx="4892040" cy="219456"/>
          </a:xfrm>
          <a:prstGeom prst="rect">
            <a:avLst/>
          </a:prstGeom>
          <a:noFill/>
          <a:ln/>
        </p:spPr>
        <p:txBody>
          <a:bodyPr wrap="square" lIns="0" tIns="0" rIns="0" bIns="0" rtlCol="0" anchor="ctr"/>
          <a:lstStyle/>
          <a:p>
            <a:pPr indent="0" marL="0">
              <a:buNone/>
            </a:pPr>
            <a:r>
              <a:rPr lang="en-US" sz="950" i="1" dirty="0">
                <a:solidFill>
                  <a:srgbClr val="6D4AFF"/>
                </a:solidFill>
                <a:latin typeface="Calibri" pitchFamily="34" charset="0"/>
                <a:ea typeface="Calibri" pitchFamily="34" charset="-122"/>
                <a:cs typeface="Calibri" pitchFamily="34" charset="-120"/>
              </a:rPr>
              <a:t>Branching and backtracking search</a:t>
            </a:r>
            <a:endParaRPr lang="en-US" sz="950" dirty="0"/>
          </a:p>
        </p:txBody>
      </p:sp>
      <p:sp>
        <p:nvSpPr>
          <p:cNvPr id="15" name="Text 13"/>
          <p:cNvSpPr txBox="1"/>
          <p:nvPr/>
        </p:nvSpPr>
        <p:spPr>
          <a:xfrm>
            <a:off x="914400" y="4123944"/>
            <a:ext cx="4892040" cy="219456"/>
          </a:xfrm>
          <a:prstGeom prst="rect">
            <a:avLst/>
          </a:prstGeom>
          <a:noFill/>
          <a:ln/>
        </p:spPr>
        <p:txBody>
          <a:bodyPr wrap="square" lIns="0" tIns="0" rIns="0" bIns="0" rtlCol="0" anchor="ctr"/>
          <a:lstStyle/>
          <a:p>
            <a:pPr indent="0" marL="0">
              <a:buNone/>
            </a:pPr>
            <a:r>
              <a:rPr lang="en-US" sz="1150" b="1" dirty="0">
                <a:solidFill>
                  <a:srgbClr val="1F1A38"/>
                </a:solidFill>
                <a:latin typeface="Calibri" pitchFamily="34" charset="0"/>
                <a:ea typeface="Calibri" pitchFamily="34" charset="-122"/>
                <a:cs typeface="Calibri" pitchFamily="34" charset="-120"/>
              </a:rPr>
              <a:t>Besta et al., 2024</a:t>
            </a:r>
            <a:endParaRPr lang="en-US" sz="1150" dirty="0"/>
          </a:p>
        </p:txBody>
      </p:sp>
      <p:sp>
        <p:nvSpPr>
          <p:cNvPr id="16" name="Text 14"/>
          <p:cNvSpPr txBox="1"/>
          <p:nvPr/>
        </p:nvSpPr>
        <p:spPr>
          <a:xfrm>
            <a:off x="914400" y="4325112"/>
            <a:ext cx="4892040" cy="256032"/>
          </a:xfrm>
          <a:prstGeom prst="rect">
            <a:avLst/>
          </a:prstGeom>
          <a:noFill/>
          <a:ln/>
        </p:spPr>
        <p:txBody>
          <a:bodyPr wrap="square" lIns="0" tIns="0" rIns="0" bIns="0" rtlCol="0" anchor="ctr"/>
          <a:lstStyle/>
          <a:p>
            <a:pPr indent="0" marL="0">
              <a:buNone/>
            </a:pPr>
            <a:r>
              <a:rPr lang="en-US" sz="950" dirty="0">
                <a:solidFill>
                  <a:srgbClr val="6E6A85"/>
                </a:solidFill>
                <a:latin typeface="Calibri" pitchFamily="34" charset="0"/>
                <a:ea typeface="Calibri" pitchFamily="34" charset="-122"/>
                <a:cs typeface="Calibri" pitchFamily="34" charset="-120"/>
              </a:rPr>
              <a:t>Graph of Thoughts: Solving Elaborate Problems with LLMs. AAAI. arXiv:2308.09687</a:t>
            </a:r>
            <a:endParaRPr lang="en-US" sz="950" dirty="0"/>
          </a:p>
        </p:txBody>
      </p:sp>
      <p:sp>
        <p:nvSpPr>
          <p:cNvPr id="17" name="Text 15"/>
          <p:cNvSpPr txBox="1"/>
          <p:nvPr/>
        </p:nvSpPr>
        <p:spPr>
          <a:xfrm>
            <a:off x="914400" y="4526280"/>
            <a:ext cx="4892040" cy="219456"/>
          </a:xfrm>
          <a:prstGeom prst="rect">
            <a:avLst/>
          </a:prstGeom>
          <a:noFill/>
          <a:ln/>
        </p:spPr>
        <p:txBody>
          <a:bodyPr wrap="square" lIns="0" tIns="0" rIns="0" bIns="0" rtlCol="0" anchor="ctr"/>
          <a:lstStyle/>
          <a:p>
            <a:pPr indent="0" marL="0">
              <a:buNone/>
            </a:pPr>
            <a:r>
              <a:rPr lang="en-US" sz="950" i="1" dirty="0">
                <a:solidFill>
                  <a:srgbClr val="6D4AFF"/>
                </a:solidFill>
                <a:latin typeface="Calibri" pitchFamily="34" charset="0"/>
                <a:ea typeface="Calibri" pitchFamily="34" charset="-122"/>
                <a:cs typeface="Calibri" pitchFamily="34" charset="-120"/>
              </a:rPr>
              <a:t>Aggregation; our baseline</a:t>
            </a:r>
            <a:endParaRPr lang="en-US" sz="950" dirty="0"/>
          </a:p>
        </p:txBody>
      </p:sp>
      <p:sp>
        <p:nvSpPr>
          <p:cNvPr id="18" name="Text 16"/>
          <p:cNvSpPr txBox="1"/>
          <p:nvPr/>
        </p:nvSpPr>
        <p:spPr>
          <a:xfrm>
            <a:off x="914400" y="4782312"/>
            <a:ext cx="4892040" cy="219456"/>
          </a:xfrm>
          <a:prstGeom prst="rect">
            <a:avLst/>
          </a:prstGeom>
          <a:noFill/>
          <a:ln/>
        </p:spPr>
        <p:txBody>
          <a:bodyPr wrap="square" lIns="0" tIns="0" rIns="0" bIns="0" rtlCol="0" anchor="ctr"/>
          <a:lstStyle/>
          <a:p>
            <a:pPr indent="0" marL="0">
              <a:buNone/>
            </a:pPr>
            <a:r>
              <a:rPr lang="en-US" sz="1150" b="1" dirty="0">
                <a:solidFill>
                  <a:srgbClr val="1F1A38"/>
                </a:solidFill>
                <a:latin typeface="Calibri" pitchFamily="34" charset="0"/>
                <a:ea typeface="Calibri" pitchFamily="34" charset="-122"/>
                <a:cs typeface="Calibri" pitchFamily="34" charset="-120"/>
              </a:rPr>
              <a:t>Zhang et al., 2024</a:t>
            </a:r>
            <a:endParaRPr lang="en-US" sz="1150" dirty="0"/>
          </a:p>
        </p:txBody>
      </p:sp>
      <p:sp>
        <p:nvSpPr>
          <p:cNvPr id="19" name="Text 17"/>
          <p:cNvSpPr txBox="1"/>
          <p:nvPr/>
        </p:nvSpPr>
        <p:spPr>
          <a:xfrm>
            <a:off x="914400" y="4983480"/>
            <a:ext cx="4892040" cy="256032"/>
          </a:xfrm>
          <a:prstGeom prst="rect">
            <a:avLst/>
          </a:prstGeom>
          <a:noFill/>
          <a:ln/>
        </p:spPr>
        <p:txBody>
          <a:bodyPr wrap="square" lIns="0" tIns="0" rIns="0" bIns="0" rtlCol="0" anchor="ctr"/>
          <a:lstStyle/>
          <a:p>
            <a:pPr indent="0" marL="0">
              <a:buNone/>
            </a:pPr>
            <a:r>
              <a:rPr lang="en-US" sz="950" dirty="0">
                <a:solidFill>
                  <a:srgbClr val="6E6A85"/>
                </a:solidFill>
                <a:latin typeface="Calibri" pitchFamily="34" charset="0"/>
                <a:ea typeface="Calibri" pitchFamily="34" charset="-122"/>
                <a:cs typeface="Calibri" pitchFamily="34" charset="-120"/>
              </a:rPr>
              <a:t>Multimodal Chain-of-Thought Reasoning. TMLR. arXiv:2302.00923</a:t>
            </a:r>
            <a:endParaRPr lang="en-US" sz="950" dirty="0"/>
          </a:p>
        </p:txBody>
      </p:sp>
      <p:sp>
        <p:nvSpPr>
          <p:cNvPr id="20" name="Text 18"/>
          <p:cNvSpPr txBox="1"/>
          <p:nvPr/>
        </p:nvSpPr>
        <p:spPr>
          <a:xfrm>
            <a:off x="914400" y="5184648"/>
            <a:ext cx="4892040" cy="219456"/>
          </a:xfrm>
          <a:prstGeom prst="rect">
            <a:avLst/>
          </a:prstGeom>
          <a:noFill/>
          <a:ln/>
        </p:spPr>
        <p:txBody>
          <a:bodyPr wrap="square" lIns="0" tIns="0" rIns="0" bIns="0" rtlCol="0" anchor="ctr"/>
          <a:lstStyle/>
          <a:p>
            <a:pPr indent="0" marL="0">
              <a:buNone/>
            </a:pPr>
            <a:r>
              <a:rPr lang="en-US" sz="950" i="1" dirty="0">
                <a:solidFill>
                  <a:srgbClr val="6D4AFF"/>
                </a:solidFill>
                <a:latin typeface="Calibri" pitchFamily="34" charset="0"/>
                <a:ea typeface="Calibri" pitchFamily="34" charset="-122"/>
                <a:cs typeface="Calibri" pitchFamily="34" charset="-120"/>
              </a:rPr>
              <a:t>Two-stage rationale then answer</a:t>
            </a:r>
            <a:endParaRPr lang="en-US" sz="950" dirty="0"/>
          </a:p>
        </p:txBody>
      </p:sp>
      <p:sp>
        <p:nvSpPr>
          <p:cNvPr id="21" name="Shape 19"/>
          <p:cNvSpPr/>
          <p:nvPr/>
        </p:nvSpPr>
        <p:spPr>
          <a:xfrm>
            <a:off x="6355080" y="1645920"/>
            <a:ext cx="5166360" cy="3794760"/>
          </a:xfrm>
          <a:prstGeom prst="roundRect">
            <a:avLst>
              <a:gd name="adj" fmla="val 1446"/>
            </a:avLst>
          </a:prstGeom>
          <a:solidFill>
            <a:srgbClr val="FFFFFF"/>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22" name="Text 20"/>
          <p:cNvSpPr txBox="1"/>
          <p:nvPr/>
        </p:nvSpPr>
        <p:spPr>
          <a:xfrm>
            <a:off x="6583680" y="1801368"/>
            <a:ext cx="4709160" cy="274320"/>
          </a:xfrm>
          <a:prstGeom prst="rect">
            <a:avLst/>
          </a:prstGeom>
          <a:noFill/>
          <a:ln/>
        </p:spPr>
        <p:txBody>
          <a:bodyPr wrap="square" lIns="0" tIns="0" rIns="0" bIns="0" rtlCol="0" anchor="ctr"/>
          <a:lstStyle/>
          <a:p>
            <a:pPr indent="0" marL="0">
              <a:buNone/>
            </a:pPr>
            <a:r>
              <a:rPr lang="en-US" sz="1350" b="1" dirty="0">
                <a:solidFill>
                  <a:srgbClr val="FFB627"/>
                </a:solidFill>
                <a:latin typeface="Calibri" pitchFamily="34" charset="0"/>
                <a:ea typeface="Calibri" pitchFamily="34" charset="-122"/>
                <a:cs typeface="Calibri" pitchFamily="34" charset="-120"/>
              </a:rPr>
              <a:t>Graph reduction and efficiency</a:t>
            </a:r>
            <a:endParaRPr lang="en-US" sz="1350" dirty="0"/>
          </a:p>
        </p:txBody>
      </p:sp>
      <p:sp>
        <p:nvSpPr>
          <p:cNvPr id="23" name="Text 21"/>
          <p:cNvSpPr txBox="1"/>
          <p:nvPr/>
        </p:nvSpPr>
        <p:spPr>
          <a:xfrm>
            <a:off x="6583680" y="2148840"/>
            <a:ext cx="4709160" cy="219456"/>
          </a:xfrm>
          <a:prstGeom prst="rect">
            <a:avLst/>
          </a:prstGeom>
          <a:noFill/>
          <a:ln/>
        </p:spPr>
        <p:txBody>
          <a:bodyPr wrap="square" lIns="0" tIns="0" rIns="0" bIns="0" rtlCol="0" anchor="ctr"/>
          <a:lstStyle/>
          <a:p>
            <a:pPr indent="0" marL="0">
              <a:buNone/>
            </a:pPr>
            <a:r>
              <a:rPr lang="en-US" sz="1150" b="1" dirty="0">
                <a:solidFill>
                  <a:srgbClr val="1F1A38"/>
                </a:solidFill>
                <a:latin typeface="Calibri" pitchFamily="34" charset="0"/>
                <a:ea typeface="Calibri" pitchFamily="34" charset="-122"/>
                <a:cs typeface="Calibri" pitchFamily="34" charset="-120"/>
              </a:rPr>
              <a:t>Loukas, 2019</a:t>
            </a:r>
            <a:endParaRPr lang="en-US" sz="1150" dirty="0"/>
          </a:p>
        </p:txBody>
      </p:sp>
      <p:sp>
        <p:nvSpPr>
          <p:cNvPr id="24" name="Text 22"/>
          <p:cNvSpPr txBox="1"/>
          <p:nvPr/>
        </p:nvSpPr>
        <p:spPr>
          <a:xfrm>
            <a:off x="6583680" y="2350008"/>
            <a:ext cx="4709160" cy="274320"/>
          </a:xfrm>
          <a:prstGeom prst="rect">
            <a:avLst/>
          </a:prstGeom>
          <a:noFill/>
          <a:ln/>
        </p:spPr>
        <p:txBody>
          <a:bodyPr wrap="square" lIns="0" tIns="0" rIns="0" bIns="0" rtlCol="0" anchor="ctr"/>
          <a:lstStyle/>
          <a:p>
            <a:pPr indent="0" marL="0">
              <a:buNone/>
            </a:pPr>
            <a:r>
              <a:rPr lang="en-US" sz="950" dirty="0">
                <a:solidFill>
                  <a:srgbClr val="6E6A85"/>
                </a:solidFill>
                <a:latin typeface="Calibri" pitchFamily="34" charset="0"/>
                <a:ea typeface="Calibri" pitchFamily="34" charset="-122"/>
                <a:cs typeface="Calibri" pitchFamily="34" charset="-120"/>
              </a:rPr>
              <a:t>Graph Reduction with Spectral and Cut Guarantees. JMLR 20(116).</a:t>
            </a:r>
            <a:endParaRPr lang="en-US" sz="950" dirty="0"/>
          </a:p>
        </p:txBody>
      </p:sp>
      <p:sp>
        <p:nvSpPr>
          <p:cNvPr id="25" name="Text 23"/>
          <p:cNvSpPr txBox="1"/>
          <p:nvPr/>
        </p:nvSpPr>
        <p:spPr>
          <a:xfrm>
            <a:off x="6583680" y="2569464"/>
            <a:ext cx="4709160" cy="219456"/>
          </a:xfrm>
          <a:prstGeom prst="rect">
            <a:avLst/>
          </a:prstGeom>
          <a:noFill/>
          <a:ln/>
        </p:spPr>
        <p:txBody>
          <a:bodyPr wrap="square" lIns="0" tIns="0" rIns="0" bIns="0" rtlCol="0" anchor="ctr"/>
          <a:lstStyle/>
          <a:p>
            <a:pPr indent="0" marL="0">
              <a:buNone/>
            </a:pPr>
            <a:r>
              <a:rPr lang="en-US" sz="950" i="1" dirty="0">
                <a:solidFill>
                  <a:srgbClr val="FFB627"/>
                </a:solidFill>
                <a:latin typeface="Calibri" pitchFamily="34" charset="0"/>
                <a:ea typeface="Calibri" pitchFamily="34" charset="-122"/>
                <a:cs typeface="Calibri" pitchFamily="34" charset="-120"/>
              </a:rPr>
              <a:t>Coarsening with provable bounds</a:t>
            </a:r>
            <a:endParaRPr lang="en-US" sz="950" dirty="0"/>
          </a:p>
        </p:txBody>
      </p:sp>
      <p:sp>
        <p:nvSpPr>
          <p:cNvPr id="26" name="Text 24"/>
          <p:cNvSpPr txBox="1"/>
          <p:nvPr/>
        </p:nvSpPr>
        <p:spPr>
          <a:xfrm>
            <a:off x="6583680" y="2880360"/>
            <a:ext cx="4709160" cy="219456"/>
          </a:xfrm>
          <a:prstGeom prst="rect">
            <a:avLst/>
          </a:prstGeom>
          <a:noFill/>
          <a:ln/>
        </p:spPr>
        <p:txBody>
          <a:bodyPr wrap="square" lIns="0" tIns="0" rIns="0" bIns="0" rtlCol="0" anchor="ctr"/>
          <a:lstStyle/>
          <a:p>
            <a:pPr indent="0" marL="0">
              <a:buNone/>
            </a:pPr>
            <a:r>
              <a:rPr lang="en-US" sz="1150" b="1" dirty="0">
                <a:solidFill>
                  <a:srgbClr val="1F1A38"/>
                </a:solidFill>
                <a:latin typeface="Calibri" pitchFamily="34" charset="0"/>
                <a:ea typeface="Calibri" pitchFamily="34" charset="-122"/>
                <a:cs typeface="Calibri" pitchFamily="34" charset="-120"/>
              </a:rPr>
              <a:t>Huang et al., 2021</a:t>
            </a:r>
            <a:endParaRPr lang="en-US" sz="1150" dirty="0"/>
          </a:p>
        </p:txBody>
      </p:sp>
      <p:sp>
        <p:nvSpPr>
          <p:cNvPr id="27" name="Text 25"/>
          <p:cNvSpPr txBox="1"/>
          <p:nvPr/>
        </p:nvSpPr>
        <p:spPr>
          <a:xfrm>
            <a:off x="6583680" y="3081528"/>
            <a:ext cx="4709160" cy="274320"/>
          </a:xfrm>
          <a:prstGeom prst="rect">
            <a:avLst/>
          </a:prstGeom>
          <a:noFill/>
          <a:ln/>
        </p:spPr>
        <p:txBody>
          <a:bodyPr wrap="square" lIns="0" tIns="0" rIns="0" bIns="0" rtlCol="0" anchor="ctr"/>
          <a:lstStyle/>
          <a:p>
            <a:pPr indent="0" marL="0">
              <a:buNone/>
            </a:pPr>
            <a:r>
              <a:rPr lang="en-US" sz="950" dirty="0">
                <a:solidFill>
                  <a:srgbClr val="6E6A85"/>
                </a:solidFill>
                <a:latin typeface="Calibri" pitchFamily="34" charset="0"/>
                <a:ea typeface="Calibri" pitchFamily="34" charset="-122"/>
                <a:cs typeface="Calibri" pitchFamily="34" charset="-120"/>
              </a:rPr>
              <a:t>Scaling Up Graph Neural Networks Via Graph Coarsening. KDD.</a:t>
            </a:r>
            <a:endParaRPr lang="en-US" sz="950" dirty="0"/>
          </a:p>
        </p:txBody>
      </p:sp>
      <p:sp>
        <p:nvSpPr>
          <p:cNvPr id="28" name="Text 26"/>
          <p:cNvSpPr txBox="1"/>
          <p:nvPr/>
        </p:nvSpPr>
        <p:spPr>
          <a:xfrm>
            <a:off x="6583680" y="3300984"/>
            <a:ext cx="4709160" cy="219456"/>
          </a:xfrm>
          <a:prstGeom prst="rect">
            <a:avLst/>
          </a:prstGeom>
          <a:noFill/>
          <a:ln/>
        </p:spPr>
        <p:txBody>
          <a:bodyPr wrap="square" lIns="0" tIns="0" rIns="0" bIns="0" rtlCol="0" anchor="ctr"/>
          <a:lstStyle/>
          <a:p>
            <a:pPr indent="0" marL="0">
              <a:buNone/>
            </a:pPr>
            <a:r>
              <a:rPr lang="en-US" sz="950" i="1" dirty="0">
                <a:solidFill>
                  <a:srgbClr val="FFB627"/>
                </a:solidFill>
                <a:latin typeface="Calibri" pitchFamily="34" charset="0"/>
                <a:ea typeface="Calibri" pitchFamily="34" charset="-122"/>
                <a:cs typeface="Calibri" pitchFamily="34" charset="-120"/>
              </a:rPr>
              <a:t>Coarsening applied to learning</a:t>
            </a:r>
            <a:endParaRPr lang="en-US" sz="950" dirty="0"/>
          </a:p>
        </p:txBody>
      </p:sp>
      <p:sp>
        <p:nvSpPr>
          <p:cNvPr id="29" name="Text 27"/>
          <p:cNvSpPr txBox="1"/>
          <p:nvPr/>
        </p:nvSpPr>
        <p:spPr>
          <a:xfrm>
            <a:off x="6583680" y="3611880"/>
            <a:ext cx="4709160" cy="219456"/>
          </a:xfrm>
          <a:prstGeom prst="rect">
            <a:avLst/>
          </a:prstGeom>
          <a:noFill/>
          <a:ln/>
        </p:spPr>
        <p:txBody>
          <a:bodyPr wrap="square" lIns="0" tIns="0" rIns="0" bIns="0" rtlCol="0" anchor="ctr"/>
          <a:lstStyle/>
          <a:p>
            <a:pPr indent="0" marL="0">
              <a:buNone/>
            </a:pPr>
            <a:r>
              <a:rPr lang="en-US" sz="1150" b="1" dirty="0">
                <a:solidFill>
                  <a:srgbClr val="1F1A38"/>
                </a:solidFill>
                <a:latin typeface="Calibri" pitchFamily="34" charset="0"/>
                <a:ea typeface="Calibri" pitchFamily="34" charset="-122"/>
                <a:cs typeface="Calibri" pitchFamily="34" charset="-120"/>
              </a:rPr>
              <a:t>Kwon et al., 2023</a:t>
            </a:r>
            <a:endParaRPr lang="en-US" sz="1150" dirty="0"/>
          </a:p>
        </p:txBody>
      </p:sp>
      <p:sp>
        <p:nvSpPr>
          <p:cNvPr id="30" name="Text 28"/>
          <p:cNvSpPr txBox="1"/>
          <p:nvPr/>
        </p:nvSpPr>
        <p:spPr>
          <a:xfrm>
            <a:off x="6583680" y="3813048"/>
            <a:ext cx="4709160" cy="274320"/>
          </a:xfrm>
          <a:prstGeom prst="rect">
            <a:avLst/>
          </a:prstGeom>
          <a:noFill/>
          <a:ln/>
        </p:spPr>
        <p:txBody>
          <a:bodyPr wrap="square" lIns="0" tIns="0" rIns="0" bIns="0" rtlCol="0" anchor="ctr"/>
          <a:lstStyle/>
          <a:p>
            <a:pPr indent="0" marL="0">
              <a:buNone/>
            </a:pPr>
            <a:r>
              <a:rPr lang="en-US" sz="950" dirty="0">
                <a:solidFill>
                  <a:srgbClr val="6E6A85"/>
                </a:solidFill>
                <a:latin typeface="Calibri" pitchFamily="34" charset="0"/>
                <a:ea typeface="Calibri" pitchFamily="34" charset="-122"/>
                <a:cs typeface="Calibri" pitchFamily="34" charset="-120"/>
              </a:rPr>
              <a:t>Efficient Memory Management for LLM Serving with PagedAttention. SOSP. arXiv:2309.06180</a:t>
            </a:r>
            <a:endParaRPr lang="en-US" sz="950" dirty="0"/>
          </a:p>
        </p:txBody>
      </p:sp>
      <p:sp>
        <p:nvSpPr>
          <p:cNvPr id="31" name="Text 29"/>
          <p:cNvSpPr txBox="1"/>
          <p:nvPr/>
        </p:nvSpPr>
        <p:spPr>
          <a:xfrm>
            <a:off x="6583680" y="4032504"/>
            <a:ext cx="4709160" cy="219456"/>
          </a:xfrm>
          <a:prstGeom prst="rect">
            <a:avLst/>
          </a:prstGeom>
          <a:noFill/>
          <a:ln/>
        </p:spPr>
        <p:txBody>
          <a:bodyPr wrap="square" lIns="0" tIns="0" rIns="0" bIns="0" rtlCol="0" anchor="ctr"/>
          <a:lstStyle/>
          <a:p>
            <a:pPr indent="0" marL="0">
              <a:buNone/>
            </a:pPr>
            <a:r>
              <a:rPr lang="en-US" sz="950" i="1" dirty="0">
                <a:solidFill>
                  <a:srgbClr val="FFB627"/>
                </a:solidFill>
                <a:latin typeface="Calibri" pitchFamily="34" charset="0"/>
                <a:ea typeface="Calibri" pitchFamily="34" charset="-122"/>
                <a:cs typeface="Calibri" pitchFamily="34" charset="-120"/>
              </a:rPr>
              <a:t>vLLM; our inference engine</a:t>
            </a:r>
            <a:endParaRPr lang="en-US" sz="950" dirty="0"/>
          </a:p>
        </p:txBody>
      </p:sp>
      <p:sp>
        <p:nvSpPr>
          <p:cNvPr id="32" name="Shape 30"/>
          <p:cNvSpPr/>
          <p:nvPr/>
        </p:nvSpPr>
        <p:spPr>
          <a:xfrm>
            <a:off x="6583680" y="4434840"/>
            <a:ext cx="4709160" cy="841248"/>
          </a:xfrm>
          <a:prstGeom prst="roundRect">
            <a:avLst>
              <a:gd name="adj" fmla="val 6522"/>
            </a:avLst>
          </a:prstGeom>
          <a:solidFill>
            <a:srgbClr val="FFF6E6"/>
          </a:solidFill>
          <a:ln w="12700">
            <a:solidFill>
              <a:srgbClr val="E2DCF6"/>
            </a:solidFill>
            <a:prstDash val="solid"/>
          </a:ln>
          <a:effectLst>
            <a:outerShdw sx="100000" sy="100000" kx="0" ky="0" algn="bl" rotWithShape="0" blurRad="101600" dist="12700" dir="5400000">
              <a:srgbClr val="9B92C4">
                <a:alpha val="18000"/>
              </a:srgbClr>
            </a:outerShdw>
          </a:effectLst>
        </p:spPr>
      </p:sp>
      <p:sp>
        <p:nvSpPr>
          <p:cNvPr id="33" name="Text 31"/>
          <p:cNvSpPr txBox="1"/>
          <p:nvPr/>
        </p:nvSpPr>
        <p:spPr>
          <a:xfrm>
            <a:off x="6812280" y="4572000"/>
            <a:ext cx="4297680" cy="594360"/>
          </a:xfrm>
          <a:prstGeom prst="rect">
            <a:avLst/>
          </a:prstGeom>
          <a:noFill/>
          <a:ln/>
        </p:spPr>
        <p:txBody>
          <a:bodyPr wrap="square" lIns="0" tIns="0" rIns="0" bIns="0" rtlCol="0" anchor="ctr"/>
          <a:lstStyle/>
          <a:p>
            <a:pPr indent="0" marL="0">
              <a:buNone/>
            </a:pPr>
            <a:r>
              <a:rPr lang="en-US" sz="1100" b="1" dirty="0">
                <a:solidFill>
                  <a:srgbClr val="1F1A38"/>
                </a:solidFill>
                <a:latin typeface="Calibri" pitchFamily="34" charset="0"/>
                <a:ea typeface="Calibri" pitchFamily="34" charset="-122"/>
                <a:cs typeface="Calibri" pitchFamily="34" charset="-120"/>
              </a:rPr>
              <a:t>The gap: coarsening is well studied for data graphs, not for reasoning graphs where edges carry causality.</a:t>
            </a:r>
            <a:endParaRPr lang="en-US" sz="1100" dirty="0"/>
          </a:p>
        </p:txBody>
      </p:sp>
      <p:sp>
        <p:nvSpPr>
          <p:cNvPr id="34" name="Text 32"/>
          <p:cNvSpPr txBox="1"/>
          <p:nvPr/>
        </p:nvSpPr>
        <p:spPr>
          <a:xfrm>
            <a:off x="685800" y="5669280"/>
            <a:ext cx="10835640" cy="274320"/>
          </a:xfrm>
          <a:prstGeom prst="rect">
            <a:avLst/>
          </a:prstGeom>
          <a:noFill/>
          <a:ln/>
        </p:spPr>
        <p:txBody>
          <a:bodyPr wrap="square" lIns="0" tIns="0" rIns="0" bIns="0" rtlCol="0" anchor="ctr"/>
          <a:lstStyle/>
          <a:p>
            <a:pPr indent="0" marL="0">
              <a:buNone/>
            </a:pPr>
            <a:r>
              <a:rPr lang="en-US" sz="1100" dirty="0">
                <a:solidFill>
                  <a:srgbClr val="6E6A85"/>
                </a:solidFill>
                <a:latin typeface="Calibri" pitchFamily="34" charset="0"/>
                <a:ea typeface="Calibri" pitchFamily="34" charset="-122"/>
                <a:cs typeface="Calibri" pitchFamily="34" charset="-120"/>
              </a:rPr>
              <a:t>Code and full derivations:  github.com/TREX4096/Graph_of_Thought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Causality-Preserving Graph Coarsening for Efficient LLM Reasoning</dc:title>
  <dc:subject>PptxGenJS Presentation</dc:subject>
  <dc:creator>Prasoon Raj, Nikhil Bansal</dc:creator>
  <cp:lastModifiedBy>Prasoon Raj, Nikhil Bansal</cp:lastModifiedBy>
  <cp:revision>1</cp:revision>
  <dcterms:created xsi:type="dcterms:W3CDTF">2026-09-25T06:29:56Z</dcterms:created>
  <dcterms:modified xsi:type="dcterms:W3CDTF">2026-09-25T06:29:56Z</dcterms:modified>
</cp:coreProperties>
</file>
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1.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charts/chart2.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16181D"/>
                </a:solidFill>
                <a:latin typeface="Montserrat"/>
              </a:defRPr>
            </a:pPr>
            <a:r>
              <a:rPr sz="1100" b="0" i="0" u="none" strike="noStrike">
                <a:solidFill>
                  <a:srgbClr val="16181D"/>
                </a:solidFill>
                <a:latin typeface="Montserrat"/>
              </a:rPr>
              <a:t>Volume vs latency per scheme</a:t>
            </a:r>
          </a:p>
        </c:rich>
      </c:tx>
      <c:layout/>
      <c:overlay val="0"/>
    </c:title>
    <c:autoTitleDeleted val="0"/>
    <c:plotArea>
      <c:layout/>
      <c:barChart>
        <c:barDir val="col"/>
        <c:grouping val="clustered"/>
        <c:varyColors val="0"/>
        <c:ser>
          <c:idx val="0"/>
          <c:order val="0"/>
          <c:tx>
            <c:strRef>
              <c:f>Sheet1!$B$1</c:f>
              <c:strCache>
                <c:ptCount val="1"/>
                <c:pt idx="0">
                  <c:v>Volume</c:v>
                </c:pt>
              </c:strCache>
            </c:strRef>
          </c:tx>
          <c:spPr>
            <a:solidFill>
              <a:srgbClr val="D98A1F"/>
            </a:solidFill>
            <a:effectLst/>
          </c:spPr>
          <c:invertIfNegative val="0"/>
          <c:dLbls>
            <c:numFmt formatCode="#,##0" sourceLinked="0"/>
            <c:txPr>
              <a:bodyPr/>
              <a:lstStyle/>
              <a:p>
                <a:pPr>
                  <a:defRPr b="0" i="0" strike="noStrike" sz="850" u="none">
                    <a:solidFill>
                      <a:srgbClr val="16181D"/>
                    </a:solidFill>
                    <a:latin typeface="Arial"/>
                  </a:defRPr>
                </a:pPr>
              </a:p>
            </c:txPr>
            <c:showLegendKey val="0"/>
            <c:showVal val="1"/>
            <c:showCatName val="0"/>
            <c:showSerName val="0"/>
            <c:showPercent val="0"/>
            <c:showBubbleSize val="0"/>
            <c:showLeaderLines val="0"/>
          </c:dLbls>
          <c:cat>
            <c:multiLvlStrRef>
              <c:f>Sheet1!$A$2:$A$6</c:f>
              <c:multiLvlStrCache>
                <c:ptCount val="5"/>
                <c:lvl>
                  <c:pt idx="0">
                    <c:v>IO</c:v>
                  </c:pt>
                  <c:pt idx="1">
                    <c:v>CoT</c:v>
                  </c:pt>
                  <c:pt idx="2">
                    <c:v>CoT-SC</c:v>
                  </c:pt>
                  <c:pt idx="3">
                    <c:v>ToT</c:v>
                  </c:pt>
                  <c:pt idx="4">
                    <c:v>GoT</c:v>
                  </c:pt>
                </c:lvl>
              </c:multiLvlStrCache>
            </c:multiLvlStrRef>
          </c:cat>
          <c:val>
            <c:numRef>
              <c:f>Sheet1!$B$2:$B$6</c:f>
              <c:numCache>
                <c:formatCode>General</c:formatCode>
                <c:ptCount val="5"/>
                <c:pt idx="0">
                  <c:v>1</c:v>
                </c:pt>
                <c:pt idx="1">
                  <c:v>2</c:v>
                </c:pt>
                <c:pt idx="2">
                  <c:v>2</c:v>
                </c:pt>
                <c:pt idx="3">
                  <c:v>5.3</c:v>
                </c:pt>
                <c:pt idx="4">
                  <c:v>20</c:v>
                </c:pt>
              </c:numCache>
            </c:numRef>
          </c:val>
        </c:ser>
        <c:ser>
          <c:idx val="1"/>
          <c:order val="1"/>
          <c:tx>
            <c:strRef>
              <c:f>Sheet1!$C$1</c:f>
              <c:strCache>
                <c:ptCount val="1"/>
                <c:pt idx="0">
                  <c:v>Latency</c:v>
                </c:pt>
              </c:strCache>
            </c:strRef>
          </c:tx>
          <c:spPr>
            <a:solidFill>
              <a:srgbClr val="23408E"/>
            </a:solidFill>
            <a:effectLst/>
          </c:spPr>
          <c:invertIfNegative val="0"/>
          <c:dLbls>
            <c:numFmt formatCode="#,##0" sourceLinked="0"/>
            <c:txPr>
              <a:bodyPr/>
              <a:lstStyle/>
              <a:p>
                <a:pPr>
                  <a:defRPr b="0" i="0" strike="noStrike" sz="850" u="none">
                    <a:solidFill>
                      <a:srgbClr val="16181D"/>
                    </a:solidFill>
                    <a:latin typeface="Arial"/>
                  </a:defRPr>
                </a:pPr>
              </a:p>
            </c:txPr>
            <c:showLegendKey val="0"/>
            <c:showVal val="1"/>
            <c:showCatName val="0"/>
            <c:showSerName val="0"/>
            <c:showPercent val="0"/>
            <c:showBubbleSize val="0"/>
            <c:showLeaderLines val="0"/>
          </c:dLbls>
          <c:cat>
            <c:multiLvlStrRef>
              <c:f>Sheet1!$A$2:$A$6</c:f>
              <c:multiLvlStrCache>
                <c:ptCount val="5"/>
                <c:lvl>
                  <c:pt idx="0">
                    <c:v>IO</c:v>
                  </c:pt>
                  <c:pt idx="1">
                    <c:v>CoT</c:v>
                  </c:pt>
                  <c:pt idx="2">
                    <c:v>CoT-SC</c:v>
                  </c:pt>
                  <c:pt idx="3">
                    <c:v>ToT</c:v>
                  </c:pt>
                  <c:pt idx="4">
                    <c:v>GoT</c:v>
                  </c:pt>
                </c:lvl>
              </c:multiLvlStrCache>
            </c:multiLvlStrRef>
          </c:cat>
          <c:val>
            <c:numRef>
              <c:f>Sheet1!$C$2:$C$6</c:f>
              <c:numCache>
                <c:formatCode>General</c:formatCode>
                <c:ptCount val="5"/>
                <c:pt idx="0">
                  <c:v>1</c:v>
                </c:pt>
                <c:pt idx="1">
                  <c:v>2</c:v>
                </c:pt>
                <c:pt idx="2">
                  <c:v>2</c:v>
                </c:pt>
                <c:pt idx="3">
                  <c:v>5.3</c:v>
                </c:pt>
                <c:pt idx="4">
                  <c:v>9</c:v>
                </c:pt>
              </c:numCache>
            </c:numRef>
          </c:val>
        </c:ser>
        <c:dLbls>
          <c:numFmt formatCode="#,##0" sourceLinked="0"/>
          <c:txPr>
            <a:bodyPr/>
            <a:lstStyle/>
            <a:p>
              <a:pPr>
                <a:defRPr b="0" i="0" strike="noStrike" sz="850" u="none">
                  <a:solidFill>
                    <a:srgbClr val="16181D"/>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50" b="0" i="0" u="none" strike="noStrike">
                <a:solidFill>
                  <a:srgbClr val="63697A"/>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EDF0F7"/>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850" b="0" i="0" u="none" strike="noStrike">
                <a:solidFill>
                  <a:srgbClr val="63697A"/>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950">      </a:defRPr>
          </a:pPr>
          <a:endParaRPr lang="en-US"/>
        </a:p>
      </c:txPr>
    </c:legend>
    <c:plotVisOnly val="1"/>
    <c:dispBlanksAs val="span"/>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16181D"/>
                </a:solidFill>
                <a:latin typeface="Montserrat"/>
              </a:defRPr>
            </a:pPr>
            <a:r>
              <a:rPr sz="1100" b="0" i="0" u="none" strike="noStrike">
                <a:solidFill>
                  <a:srgbClr val="16181D"/>
                </a:solidFill>
                <a:latin typeface="Montserrat"/>
              </a:rPr>
              <a:t>Mean error scope, 100 instances (lower is better)</a:t>
            </a:r>
          </a:p>
        </c:rich>
      </c:tx>
      <c:layout/>
      <c:overlay val="0"/>
    </c:title>
    <c:autoTitleDeleted val="0"/>
    <c:plotArea>
      <c:layout/>
      <c:barChart>
        <c:barDir val="col"/>
        <c:grouping val="clustered"/>
        <c:varyColors val="0"/>
        <c:ser>
          <c:idx val="0"/>
          <c:order val="0"/>
          <c:tx>
            <c:strRef>
              <c:f>Sheet1!$B$1</c:f>
              <c:strCache>
                <c:ptCount val="1"/>
                <c:pt idx="0">
                  <c:v>Error scope</c:v>
                </c:pt>
              </c:strCache>
            </c:strRef>
          </c:tx>
          <c:spPr>
            <a:solidFill>
              <a:srgbClr val="23408E"/>
            </a:solidFill>
            <a:effectLst/>
          </c:spPr>
          <c:invertIfNegative val="0"/>
          <c:dLbls>
            <c:numFmt formatCode="0.00" sourceLinked="0"/>
            <c:txPr>
              <a:bodyPr/>
              <a:lstStyle/>
              <a:p>
                <a:pPr>
                  <a:defRPr b="0" i="0" strike="noStrike" sz="950" u="none">
                    <a:solidFill>
                      <a:srgbClr val="16181D"/>
                    </a:solidFill>
                    <a:latin typeface="Arial"/>
                  </a:defRPr>
                </a:pPr>
              </a:p>
            </c:txPr>
            <c:showLegendKey val="0"/>
            <c:showVal val="1"/>
            <c:showCatName val="0"/>
            <c:showSerName val="0"/>
            <c:showPercent val="0"/>
            <c:showBubbleSize val="0"/>
            <c:showLeaderLines val="0"/>
          </c:dLbls>
          <c:dPt>
            <c:idx val="0"/>
            <c:invertIfNegative val="0"/>
            <c:bubble3D val="0"/>
            <c:spPr>
              <a:solidFill>
                <a:srgbClr val="23408E"/>
              </a:solidFill>
              <a:effectLst/>
            </c:spPr>
          </c:dPt>
          <c:dPt>
            <c:idx val="1"/>
            <c:invertIfNegative val="0"/>
            <c:bubble3D val="0"/>
            <c:spPr>
              <a:solidFill>
                <a:srgbClr val="23408E"/>
              </a:solidFill>
              <a:effectLst/>
            </c:spPr>
          </c:dPt>
          <c:dPt>
            <c:idx val="2"/>
            <c:invertIfNegative val="0"/>
            <c:bubble3D val="0"/>
            <c:spPr>
              <a:solidFill>
                <a:srgbClr val="23408E"/>
              </a:solidFill>
              <a:effectLst/>
            </c:spPr>
          </c:dPt>
          <c:dPt>
            <c:idx val="3"/>
            <c:invertIfNegative val="0"/>
            <c:bubble3D val="0"/>
            <c:spPr>
              <a:solidFill>
                <a:srgbClr val="0F7B6C"/>
              </a:solidFill>
              <a:effectLst/>
            </c:spPr>
          </c:dPt>
          <c:dPt>
            <c:idx val="4"/>
            <c:invertIfNegative val="0"/>
            <c:bubble3D val="0"/>
            <c:spPr>
              <a:solidFill>
                <a:srgbClr val="D98A1F"/>
              </a:solidFill>
              <a:effectLst/>
            </c:spPr>
          </c:dPt>
          <c:cat>
            <c:multiLvlStrRef>
              <c:f>Sheet1!$A$2:$A$6</c:f>
              <c:multiLvlStrCache>
                <c:ptCount val="5"/>
                <c:lvl>
                  <c:pt idx="0">
                    <c:v>IO</c:v>
                  </c:pt>
                  <c:pt idx="1">
                    <c:v>CoT</c:v>
                  </c:pt>
                  <c:pt idx="2">
                    <c:v>CoT-SC</c:v>
                  </c:pt>
                  <c:pt idx="3">
                    <c:v>ToT</c:v>
                  </c:pt>
                  <c:pt idx="4">
                    <c:v>GoT</c:v>
                  </c:pt>
                </c:lvl>
              </c:multiLvlStrCache>
            </c:multiLvlStrRef>
          </c:cat>
          <c:val>
            <c:numRef>
              <c:f>Sheet1!$B$2:$B$6</c:f>
              <c:numCache>
                <c:formatCode>General</c:formatCode>
                <c:ptCount val="5"/>
                <c:pt idx="0">
                  <c:v>9.83</c:v>
                </c:pt>
                <c:pt idx="1">
                  <c:v>10.34</c:v>
                </c:pt>
                <c:pt idx="2">
                  <c:v>8.17</c:v>
                </c:pt>
                <c:pt idx="3">
                  <c:v>7.45</c:v>
                </c:pt>
                <c:pt idx="4">
                  <c:v>8.28</c:v>
                </c:pt>
              </c:numCache>
            </c:numRef>
          </c:val>
        </c:ser>
        <c:dLbls>
          <c:numFmt formatCode="0.00" sourceLinked="0"/>
          <c:txPr>
            <a:bodyPr/>
            <a:lstStyle/>
            <a:p>
              <a:pPr>
                <a:defRPr b="0" i="0" strike="noStrike" sz="950" u="none">
                  <a:solidFill>
                    <a:srgbClr val="16181D"/>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3697A"/>
                </a:solidFill>
                <a:latin typeface="Arial"/>
              </a:defRPr>
            </a:pPr>
            <a:endParaRPr lang="en-US"/>
          </a:p>
        </c:txPr>
        <c:crossAx val="2094734552"/>
        <c:crosses val="autoZero"/>
        <c:auto val="1"/>
        <c:lblAlgn val="ctr"/>
        <c:noMultiLvlLbl val="1"/>
      </c:catAx>
      <c:valAx>
        <c:axId val="2094734552"/>
        <c:scaling>
          <c:orientation val="minMax"/>
          <c:max val="12"/>
        </c:scaling>
        <c:delete val="0"/>
        <c:axPos val="l"/>
        <c:majorGridlines>
          <c:spPr>
            <a:ln w="12700" cap="flat">
              <a:solidFill>
                <a:srgbClr val="EDF0F7"/>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850" b="0" i="0" u="none" strike="noStrike">
                <a:solidFill>
                  <a:srgbClr val="63697A"/>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Reasoning graphs make language models more accurate but far more expensive. Our aim is to shrink the graph without destroying the causal structure that makes it work. This review covers the replication that establishes the baseline, and the compression method it motivates.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the problem as cost, not capability. The structural advantage of graph reasoning is established; what is not established is that anyone can afford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foundational result. The emergence threshold matters for us: it explains why our 7B experiments behave differently from the paper's GPT-3.5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one-parent constraint is exactly what Graph of Thoughts removes. It is also why a tree wastes most of what it computes.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paper we replicated. The merge steps, in amber, are the operation no tree can express - and also where most of the cost sits.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key literature insight. Chain compression is a large and fast-moving field, but it all shrinks a step. Reducing the number of steps requires structure, which only a graph has.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of seven objectives are complete. The remaining three are the contribution itself, and the measurements already made define their target.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Worked example on 32 numbers: the first merge level creates 20 vertices but 40 edges, because each merge draws an edge from both inputs. That fan-in is what a coarsening step has to account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paper's model is deprecated and closed, so exact figures cannot be reproduced. What can be reproduced are the relative claims, and those are what we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gap between the amber and blue bars for GoT is the whole point of the paper: high volume at low latency. Every other scheme has the bars equal, because a chain or tree wastes what it computes.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 this honestly - a negative result that survives a corrected baseline is stronger evidence than a confirmation. It also sharpens the motivation: the graph is being paid for and, at this scale, is not earning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right panel is the useful diagnostic: cost is concentrated in aggregation, not in chunk sorting. That tells us where both compression axes should be aimed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run-length figure is measured with Qwen2.5's own tokenizer, not estimated. A 64-element list costs exactly 192 tokens - three per element, being the digit, the comma and the space. Run-length encoded it costs 50. That is 3.8x, losslessly, because the encoding is exact. It is chain-of-draft applied to a graph vertex.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third question is the one a committee is most likely to press on, and we should be candid that we cannot yet answer it - the 7B result may be a scale artefact.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Items 1 to 4 are the reasoning-structure lineage we replicated; 5 to 7 are the chain-compression methods we intend to transfer; 8 and 9 are the graph-reduction theory and the serving infrastructure.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0149840" y="-502920"/>
            <a:ext cx="2377440" cy="960120"/>
          </a:xfrm>
          <a:prstGeom prst="roundRect">
            <a:avLst>
              <a:gd name="adj" fmla="val 38095"/>
            </a:avLst>
          </a:prstGeom>
          <a:solidFill>
            <a:srgbClr val="C9D8F5"/>
          </a:solidFill>
          <a:ln w="12700">
            <a:solidFill>
              <a:srgbClr val="333333"/>
            </a:solidFill>
            <a:prstDash val="solid"/>
          </a:ln>
        </p:spPr>
      </p:sp>
      <p:sp>
        <p:nvSpPr>
          <p:cNvPr id="3" name="Shape 1"/>
          <p:cNvSpPr/>
          <p:nvPr/>
        </p:nvSpPr>
        <p:spPr>
          <a:xfrm>
            <a:off x="10881360" y="0"/>
            <a:ext cx="2011680" cy="566928"/>
          </a:xfrm>
          <a:prstGeom prst="roundRect">
            <a:avLst>
              <a:gd name="adj" fmla="val 48387"/>
            </a:avLst>
          </a:prstGeom>
          <a:solidFill>
            <a:srgbClr val="23408E"/>
          </a:solidFill>
          <a:ln w="12700">
            <a:solidFill>
              <a:srgbClr val="333333"/>
            </a:solidFill>
            <a:prstDash val="solid"/>
          </a:ln>
        </p:spPr>
      </p:sp>
      <p:sp>
        <p:nvSpPr>
          <p:cNvPr id="4" name="Shape 2"/>
          <p:cNvSpPr/>
          <p:nvPr/>
        </p:nvSpPr>
        <p:spPr>
          <a:xfrm>
            <a:off x="-731520" y="6355080"/>
            <a:ext cx="1828800" cy="822960"/>
          </a:xfrm>
          <a:prstGeom prst="roundRect">
            <a:avLst>
              <a:gd name="adj" fmla="val 38889"/>
            </a:avLst>
          </a:prstGeom>
          <a:solidFill>
            <a:srgbClr val="23408E"/>
          </a:solidFill>
          <a:ln w="12700">
            <a:solidFill>
              <a:srgbClr val="333333"/>
            </a:solidFill>
            <a:prstDash val="solid"/>
          </a:ln>
        </p:spPr>
      </p:sp>
      <p:sp>
        <p:nvSpPr>
          <p:cNvPr id="5" name="Shape 3"/>
          <p:cNvSpPr/>
          <p:nvPr/>
        </p:nvSpPr>
        <p:spPr>
          <a:xfrm>
            <a:off x="320040" y="6583680"/>
            <a:ext cx="2743200" cy="731520"/>
          </a:xfrm>
          <a:prstGeom prst="roundRect">
            <a:avLst>
              <a:gd name="adj" fmla="val 43750"/>
            </a:avLst>
          </a:prstGeom>
          <a:solidFill>
            <a:srgbClr val="C9D8F5"/>
          </a:solidFill>
          <a:ln w="12700">
            <a:solidFill>
              <a:srgbClr val="333333"/>
            </a:solidFill>
            <a:prstDash val="solid"/>
          </a:ln>
        </p:spPr>
      </p:sp>
      <p:sp>
        <p:nvSpPr>
          <p:cNvPr id="6" name="Text 4"/>
          <p:cNvSpPr txBox="1"/>
          <p:nvPr/>
        </p:nvSpPr>
        <p:spPr>
          <a:xfrm>
            <a:off x="502920" y="219456"/>
            <a:ext cx="2377440" cy="274320"/>
          </a:xfrm>
          <a:prstGeom prst="rect">
            <a:avLst/>
          </a:prstGeom>
          <a:noFill/>
          <a:ln/>
        </p:spPr>
        <p:txBody>
          <a:bodyPr wrap="square" lIns="0" tIns="0" rIns="0" bIns="0" rtlCol="0" anchor="ctr"/>
          <a:lstStyle/>
          <a:p>
            <a:pPr indent="0" marL="0">
              <a:buNone/>
            </a:pPr>
            <a:r>
              <a:rPr lang="en-US" sz="1400" b="1" spc="200" kern="0" dirty="0">
                <a:solidFill>
                  <a:srgbClr val="23408E"/>
                </a:solidFill>
                <a:latin typeface="Montserrat" pitchFamily="34" charset="0"/>
                <a:ea typeface="Montserrat" pitchFamily="34" charset="-122"/>
                <a:cs typeface="Montserrat" pitchFamily="34" charset="-120"/>
              </a:rPr>
              <a:t>IIT DELHI</a:t>
            </a:r>
            <a:endParaRPr lang="en-US" sz="1400" dirty="0"/>
          </a:p>
        </p:txBody>
      </p:sp>
      <p:sp>
        <p:nvSpPr>
          <p:cNvPr id="7" name="Text 5"/>
          <p:cNvSpPr txBox="1"/>
          <p:nvPr/>
        </p:nvSpPr>
        <p:spPr>
          <a:xfrm>
            <a:off x="502920" y="512064"/>
            <a:ext cx="3108960" cy="237744"/>
          </a:xfrm>
          <a:prstGeom prst="rect">
            <a:avLst/>
          </a:prstGeom>
          <a:noFill/>
          <a:ln/>
        </p:spPr>
        <p:txBody>
          <a:bodyPr wrap="square" lIns="0" tIns="0" rIns="0" bIns="0" rtlCol="0" anchor="ctr"/>
          <a:lstStyle/>
          <a:p>
            <a:pPr indent="0" marL="0">
              <a:buNone/>
            </a:pPr>
            <a:r>
              <a:rPr lang="en-US" sz="850" dirty="0">
                <a:solidFill>
                  <a:srgbClr val="63697A"/>
                </a:solidFill>
                <a:latin typeface="Montserrat" pitchFamily="34" charset="0"/>
                <a:ea typeface="Montserrat" pitchFamily="34" charset="-122"/>
                <a:cs typeface="Montserrat" pitchFamily="34" charset="-120"/>
              </a:rPr>
              <a:t>Department of Electrical Engineering</a:t>
            </a:r>
            <a:endParaRPr lang="en-US" sz="850" dirty="0"/>
          </a:p>
        </p:txBody>
      </p:sp>
      <p:sp>
        <p:nvSpPr>
          <p:cNvPr id="8" name="Shape 6"/>
          <p:cNvSpPr/>
          <p:nvPr/>
        </p:nvSpPr>
        <p:spPr>
          <a:xfrm>
            <a:off x="685800" y="1051560"/>
            <a:ext cx="10789920" cy="4526280"/>
          </a:xfrm>
          <a:prstGeom prst="roundRect">
            <a:avLst>
              <a:gd name="adj" fmla="val 1010"/>
            </a:avLst>
          </a:prstGeom>
          <a:solidFill>
            <a:srgbClr val="FFFFFF"/>
          </a:solidFill>
          <a:ln w="15240">
            <a:solidFill>
              <a:srgbClr val="16181D"/>
            </a:solidFill>
            <a:prstDash val="solid"/>
          </a:ln>
        </p:spPr>
      </p:sp>
      <p:sp>
        <p:nvSpPr>
          <p:cNvPr id="9" name="Text 7"/>
          <p:cNvSpPr txBox="1"/>
          <p:nvPr/>
        </p:nvSpPr>
        <p:spPr>
          <a:xfrm>
            <a:off x="1188720" y="1508760"/>
            <a:ext cx="9784080" cy="1371600"/>
          </a:xfrm>
          <a:prstGeom prst="rect">
            <a:avLst/>
          </a:prstGeom>
          <a:noFill/>
          <a:ln/>
        </p:spPr>
        <p:txBody>
          <a:bodyPr wrap="square" lIns="0" tIns="0" rIns="0" bIns="0" rtlCol="0" anchor="ctr"/>
          <a:lstStyle/>
          <a:p>
            <a:pPr algn="ctr" indent="0" marL="0">
              <a:lnSpc>
                <a:spcPct val="114000"/>
              </a:lnSpc>
              <a:buNone/>
            </a:pPr>
            <a:r>
              <a:rPr lang="en-US" sz="2900" b="1" dirty="0">
                <a:solidFill>
                  <a:srgbClr val="23408E"/>
                </a:solidFill>
                <a:latin typeface="Montserrat" pitchFamily="34" charset="0"/>
                <a:ea typeface="Montserrat" pitchFamily="34" charset="-122"/>
                <a:cs typeface="Montserrat" pitchFamily="34" charset="-120"/>
              </a:rPr>
              <a:t>Causality-Preserving Graph Coarsening</a:t>
            </a:r>
            <a:endParaRPr lang="en-US" sz="2900" dirty="0"/>
          </a:p>
          <a:p>
            <a:pPr algn="ctr" indent="0" marL="0">
              <a:lnSpc>
                <a:spcPct val="114000"/>
              </a:lnSpc>
              <a:buNone/>
            </a:pPr>
            <a:r>
              <a:rPr lang="en-US" sz="2900" b="1" dirty="0">
                <a:solidFill>
                  <a:srgbClr val="23408E"/>
                </a:solidFill>
                <a:latin typeface="Montserrat" pitchFamily="34" charset="0"/>
                <a:ea typeface="Montserrat" pitchFamily="34" charset="-122"/>
                <a:cs typeface="Montserrat" pitchFamily="34" charset="-120"/>
              </a:rPr>
              <a:t>for Efficient LLM Reasoning</a:t>
            </a:r>
            <a:endParaRPr lang="en-US" sz="2900" dirty="0"/>
          </a:p>
        </p:txBody>
      </p:sp>
      <p:sp>
        <p:nvSpPr>
          <p:cNvPr id="10" name="Text 8"/>
          <p:cNvSpPr txBox="1"/>
          <p:nvPr/>
        </p:nvSpPr>
        <p:spPr>
          <a:xfrm>
            <a:off x="1188720" y="2944368"/>
            <a:ext cx="9784080" cy="384048"/>
          </a:xfrm>
          <a:prstGeom prst="rect">
            <a:avLst/>
          </a:prstGeom>
          <a:noFill/>
          <a:ln/>
        </p:spPr>
        <p:txBody>
          <a:bodyPr wrap="square" lIns="0" tIns="0" rIns="0" bIns="0" rtlCol="0" anchor="ctr"/>
          <a:lstStyle/>
          <a:p>
            <a:pPr algn="ctr" indent="0" marL="0">
              <a:buNone/>
            </a:pPr>
            <a:r>
              <a:rPr lang="en-US" sz="1800" b="1" dirty="0">
                <a:solidFill>
                  <a:srgbClr val="16181D"/>
                </a:solidFill>
                <a:latin typeface="Montserrat" pitchFamily="34" charset="0"/>
                <a:ea typeface="Montserrat" pitchFamily="34" charset="-122"/>
                <a:cs typeface="Montserrat" pitchFamily="34" charset="-120"/>
              </a:rPr>
              <a:t>Mid Term Review</a:t>
            </a:r>
            <a:endParaRPr lang="en-US" sz="1800" dirty="0"/>
          </a:p>
        </p:txBody>
      </p:sp>
      <p:sp>
        <p:nvSpPr>
          <p:cNvPr id="11" name="Text 9"/>
          <p:cNvSpPr txBox="1"/>
          <p:nvPr/>
        </p:nvSpPr>
        <p:spPr>
          <a:xfrm>
            <a:off x="1188720" y="3657600"/>
            <a:ext cx="9784080" cy="292608"/>
          </a:xfrm>
          <a:prstGeom prst="rect">
            <a:avLst/>
          </a:prstGeom>
          <a:noFill/>
          <a:ln/>
        </p:spPr>
        <p:txBody>
          <a:bodyPr wrap="square" lIns="0" tIns="0" rIns="0" bIns="0" rtlCol="0" anchor="ctr"/>
          <a:lstStyle/>
          <a:p>
            <a:pPr algn="ctr" indent="0" marL="0">
              <a:buNone/>
            </a:pPr>
            <a:r>
              <a:rPr lang="en-US" sz="1300" dirty="0">
                <a:solidFill>
                  <a:srgbClr val="16181D"/>
                </a:solidFill>
                <a:latin typeface="Montserrat" pitchFamily="34" charset="0"/>
                <a:ea typeface="Montserrat" pitchFamily="34" charset="-122"/>
                <a:cs typeface="Montserrat" pitchFamily="34" charset="-120"/>
              </a:rPr>
              <a:t>Presented by  -  Prasoon Raj (2023EE10708),  Nikhil Bansal (2023EE10787)</a:t>
            </a:r>
            <a:endParaRPr lang="en-US" sz="1300" dirty="0"/>
          </a:p>
        </p:txBody>
      </p:sp>
      <p:sp>
        <p:nvSpPr>
          <p:cNvPr id="12" name="Text 10"/>
          <p:cNvSpPr txBox="1"/>
          <p:nvPr/>
        </p:nvSpPr>
        <p:spPr>
          <a:xfrm>
            <a:off x="1188720" y="4059936"/>
            <a:ext cx="9784080" cy="292608"/>
          </a:xfrm>
          <a:prstGeom prst="rect">
            <a:avLst/>
          </a:prstGeom>
          <a:noFill/>
          <a:ln/>
        </p:spPr>
        <p:txBody>
          <a:bodyPr wrap="square" lIns="0" tIns="0" rIns="0" bIns="0" rtlCol="0" anchor="ctr"/>
          <a:lstStyle/>
          <a:p>
            <a:pPr algn="ctr" indent="0" marL="0">
              <a:buNone/>
            </a:pPr>
            <a:r>
              <a:rPr lang="en-US" sz="1300" dirty="0">
                <a:solidFill>
                  <a:srgbClr val="16181D"/>
                </a:solidFill>
                <a:latin typeface="Montserrat" pitchFamily="34" charset="0"/>
                <a:ea typeface="Montserrat" pitchFamily="34" charset="-122"/>
                <a:cs typeface="Montserrat" pitchFamily="34" charset="-120"/>
              </a:rPr>
              <a:t>Guided by  -  Subhanu Halder (PhD Scholar)</a:t>
            </a:r>
            <a:endParaRPr lang="en-US" sz="1300" dirty="0"/>
          </a:p>
        </p:txBody>
      </p:sp>
      <p:sp>
        <p:nvSpPr>
          <p:cNvPr id="13" name="Text 11"/>
          <p:cNvSpPr txBox="1"/>
          <p:nvPr/>
        </p:nvSpPr>
        <p:spPr>
          <a:xfrm>
            <a:off x="1188720" y="4462272"/>
            <a:ext cx="9784080" cy="292608"/>
          </a:xfrm>
          <a:prstGeom prst="rect">
            <a:avLst/>
          </a:prstGeom>
          <a:noFill/>
          <a:ln/>
        </p:spPr>
        <p:txBody>
          <a:bodyPr wrap="square" lIns="0" tIns="0" rIns="0" bIns="0" rtlCol="0" anchor="ctr"/>
          <a:lstStyle/>
          <a:p>
            <a:pPr algn="ctr" indent="0" marL="0">
              <a:buNone/>
            </a:pPr>
            <a:r>
              <a:rPr lang="en-US" sz="1300" dirty="0">
                <a:solidFill>
                  <a:srgbClr val="16181D"/>
                </a:solidFill>
                <a:latin typeface="Montserrat" pitchFamily="34" charset="0"/>
                <a:ea typeface="Montserrat" pitchFamily="34" charset="-122"/>
                <a:cs typeface="Montserrat" pitchFamily="34" charset="-120"/>
              </a:rPr>
              <a:t>Supervisor  -  Prof. Sandeep Kumar</a:t>
            </a:r>
            <a:endParaRPr lang="en-US" sz="1300" dirty="0"/>
          </a:p>
        </p:txBody>
      </p:sp>
      <p:sp>
        <p:nvSpPr>
          <p:cNvPr id="14" name="Text 12"/>
          <p:cNvSpPr txBox="1"/>
          <p:nvPr/>
        </p:nvSpPr>
        <p:spPr>
          <a:xfrm>
            <a:off x="1188720" y="4983480"/>
            <a:ext cx="9784080" cy="274320"/>
          </a:xfrm>
          <a:prstGeom prst="rect">
            <a:avLst/>
          </a:prstGeom>
          <a:noFill/>
          <a:ln/>
        </p:spPr>
        <p:txBody>
          <a:bodyPr wrap="square" lIns="0" tIns="0" rIns="0" bIns="0" rtlCol="0" anchor="ctr"/>
          <a:lstStyle/>
          <a:p>
            <a:pPr algn="ctr" indent="0" marL="0">
              <a:buNone/>
            </a:pPr>
            <a:r>
              <a:rPr lang="en-US" sz="1100" dirty="0">
                <a:solidFill>
                  <a:srgbClr val="63697A"/>
                </a:solidFill>
                <a:latin typeface="Montserrat" pitchFamily="34" charset="0"/>
                <a:ea typeface="Montserrat" pitchFamily="34" charset="-122"/>
                <a:cs typeface="Montserrat" pitchFamily="34" charset="-120"/>
              </a:rPr>
              <a:t>Department of Electrical Engineering,  Indian Institute of Technology Delhi</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0149840" y="-502920"/>
            <a:ext cx="2377440" cy="960120"/>
          </a:xfrm>
          <a:prstGeom prst="roundRect">
            <a:avLst>
              <a:gd name="adj" fmla="val 38095"/>
            </a:avLst>
          </a:prstGeom>
          <a:solidFill>
            <a:srgbClr val="C9D8F5"/>
          </a:solidFill>
          <a:ln w="12700">
            <a:solidFill>
              <a:srgbClr val="333333"/>
            </a:solidFill>
            <a:prstDash val="solid"/>
          </a:ln>
        </p:spPr>
      </p:sp>
      <p:sp>
        <p:nvSpPr>
          <p:cNvPr id="3" name="Shape 1"/>
          <p:cNvSpPr/>
          <p:nvPr/>
        </p:nvSpPr>
        <p:spPr>
          <a:xfrm>
            <a:off x="10881360" y="0"/>
            <a:ext cx="2011680" cy="566928"/>
          </a:xfrm>
          <a:prstGeom prst="roundRect">
            <a:avLst>
              <a:gd name="adj" fmla="val 48387"/>
            </a:avLst>
          </a:prstGeom>
          <a:solidFill>
            <a:srgbClr val="23408E"/>
          </a:solidFill>
          <a:ln w="12700">
            <a:solidFill>
              <a:srgbClr val="333333"/>
            </a:solidFill>
            <a:prstDash val="solid"/>
          </a:ln>
        </p:spPr>
      </p:sp>
      <p:sp>
        <p:nvSpPr>
          <p:cNvPr id="4" name="Shape 2"/>
          <p:cNvSpPr/>
          <p:nvPr/>
        </p:nvSpPr>
        <p:spPr>
          <a:xfrm>
            <a:off x="-731520" y="6355080"/>
            <a:ext cx="1828800" cy="822960"/>
          </a:xfrm>
          <a:prstGeom prst="roundRect">
            <a:avLst>
              <a:gd name="adj" fmla="val 38889"/>
            </a:avLst>
          </a:prstGeom>
          <a:solidFill>
            <a:srgbClr val="23408E"/>
          </a:solidFill>
          <a:ln w="12700">
            <a:solidFill>
              <a:srgbClr val="333333"/>
            </a:solidFill>
            <a:prstDash val="solid"/>
          </a:ln>
        </p:spPr>
      </p:sp>
      <p:sp>
        <p:nvSpPr>
          <p:cNvPr id="5" name="Shape 3"/>
          <p:cNvSpPr/>
          <p:nvPr/>
        </p:nvSpPr>
        <p:spPr>
          <a:xfrm>
            <a:off x="320040" y="6583680"/>
            <a:ext cx="2743200" cy="731520"/>
          </a:xfrm>
          <a:prstGeom prst="roundRect">
            <a:avLst>
              <a:gd name="adj" fmla="val 43750"/>
            </a:avLst>
          </a:prstGeom>
          <a:solidFill>
            <a:srgbClr val="C9D8F5"/>
          </a:solidFill>
          <a:ln w="12700">
            <a:solidFill>
              <a:srgbClr val="333333"/>
            </a:solidFill>
            <a:prstDash val="solid"/>
          </a:ln>
        </p:spPr>
      </p:sp>
      <p:sp>
        <p:nvSpPr>
          <p:cNvPr id="6" name="Text 4"/>
          <p:cNvSpPr txBox="1"/>
          <p:nvPr/>
        </p:nvSpPr>
        <p:spPr>
          <a:xfrm>
            <a:off x="566928" y="237744"/>
            <a:ext cx="9052560" cy="603504"/>
          </a:xfrm>
          <a:prstGeom prst="rect">
            <a:avLst/>
          </a:prstGeom>
          <a:noFill/>
          <a:ln/>
        </p:spPr>
        <p:txBody>
          <a:bodyPr wrap="square" lIns="0" tIns="0" rIns="0" bIns="0" rtlCol="0" anchor="ctr"/>
          <a:lstStyle/>
          <a:p>
            <a:pPr indent="0" marL="0">
              <a:buNone/>
            </a:pPr>
            <a:r>
              <a:rPr lang="en-US" sz="3000" b="1" dirty="0">
                <a:solidFill>
                  <a:srgbClr val="23408E"/>
                </a:solidFill>
                <a:latin typeface="Montserrat" pitchFamily="34" charset="0"/>
                <a:ea typeface="Montserrat" pitchFamily="34" charset="-122"/>
                <a:cs typeface="Montserrat" pitchFamily="34" charset="-120"/>
              </a:rPr>
              <a:t>Problem Statement</a:t>
            </a:r>
            <a:endParaRPr lang="en-US" sz="3000" dirty="0"/>
          </a:p>
        </p:txBody>
      </p:sp>
      <p:sp>
        <p:nvSpPr>
          <p:cNvPr id="7" name="Shape 5"/>
          <p:cNvSpPr/>
          <p:nvPr/>
        </p:nvSpPr>
        <p:spPr>
          <a:xfrm>
            <a:off x="621792" y="914400"/>
            <a:ext cx="5669280" cy="0"/>
          </a:xfrm>
          <a:prstGeom prst="line">
            <a:avLst/>
          </a:prstGeom>
          <a:noFill/>
          <a:ln w="20320">
            <a:solidFill>
              <a:srgbClr val="16181D"/>
            </a:solidFill>
            <a:prstDash val="solid"/>
          </a:ln>
        </p:spPr>
      </p:sp>
      <p:sp>
        <p:nvSpPr>
          <p:cNvPr id="8" name="Shape 6"/>
          <p:cNvSpPr/>
          <p:nvPr/>
        </p:nvSpPr>
        <p:spPr>
          <a:xfrm>
            <a:off x="548640" y="859536"/>
            <a:ext cx="118872" cy="118872"/>
          </a:xfrm>
          <a:prstGeom prst="ellipse">
            <a:avLst/>
          </a:prstGeom>
          <a:solidFill>
            <a:srgbClr val="16181D"/>
          </a:solidFill>
          <a:ln w="12700">
            <a:solidFill>
              <a:srgbClr val="333333"/>
            </a:solidFill>
            <a:prstDash val="solid"/>
          </a:ln>
        </p:spPr>
      </p:sp>
      <p:sp>
        <p:nvSpPr>
          <p:cNvPr id="9" name="Shape 7"/>
          <p:cNvSpPr/>
          <p:nvPr/>
        </p:nvSpPr>
        <p:spPr>
          <a:xfrm>
            <a:off x="6236208" y="859536"/>
            <a:ext cx="118872" cy="118872"/>
          </a:xfrm>
          <a:prstGeom prst="ellipse">
            <a:avLst/>
          </a:prstGeom>
          <a:solidFill>
            <a:srgbClr val="16181D"/>
          </a:solidFill>
          <a:ln w="12700">
            <a:solidFill>
              <a:srgbClr val="333333"/>
            </a:solidFill>
            <a:prstDash val="solid"/>
          </a:ln>
        </p:spPr>
      </p:sp>
      <p:sp>
        <p:nvSpPr>
          <p:cNvPr id="10" name="Text 8"/>
          <p:cNvSpPr txBox="1"/>
          <p:nvPr/>
        </p:nvSpPr>
        <p:spPr>
          <a:xfrm>
            <a:off x="685800" y="1207008"/>
            <a:ext cx="6766560" cy="310896"/>
          </a:xfrm>
          <a:prstGeom prst="rect">
            <a:avLst/>
          </a:prstGeom>
          <a:noFill/>
          <a:ln/>
        </p:spPr>
        <p:txBody>
          <a:bodyPr wrap="square" lIns="0" tIns="0" rIns="0" bIns="0" rtlCol="0" anchor="ctr"/>
          <a:lstStyle/>
          <a:p>
            <a:pPr indent="0" marL="0">
              <a:buNone/>
            </a:pPr>
            <a:r>
              <a:rPr lang="en-US" sz="1450" b="1" dirty="0">
                <a:solidFill>
                  <a:srgbClr val="23408E"/>
                </a:solidFill>
                <a:latin typeface="Montserrat" pitchFamily="34" charset="0"/>
                <a:ea typeface="Montserrat" pitchFamily="34" charset="-122"/>
                <a:cs typeface="Montserrat" pitchFamily="34" charset="-120"/>
              </a:rPr>
              <a:t>Why does LLM reasoning cost matter ?</a:t>
            </a:r>
            <a:endParaRPr lang="en-US" sz="1450" dirty="0"/>
          </a:p>
        </p:txBody>
      </p:sp>
      <p:sp>
        <p:nvSpPr>
          <p:cNvPr id="11" name="Text 9"/>
          <p:cNvSpPr txBox="1"/>
          <p:nvPr/>
        </p:nvSpPr>
        <p:spPr>
          <a:xfrm>
            <a:off x="685800" y="1627632"/>
            <a:ext cx="6766560" cy="2377440"/>
          </a:xfrm>
          <a:prstGeom prst="rect">
            <a:avLst/>
          </a:prstGeom>
          <a:noFill/>
          <a:ln/>
        </p:spPr>
        <p:txBody>
          <a:bodyPr wrap="square" lIns="0" tIns="0" rIns="0" bIns="0" rtlCol="0" anchor="ctr"/>
          <a:lstStyle/>
          <a:p>
            <a:pPr marL="342900" indent="-342900">
              <a:lnSpc>
                <a:spcPct val="110000"/>
              </a:lnSpc>
              <a:spcAft>
                <a:spcPts val="700"/>
              </a:spcAft>
              <a:buSzPct val="100000"/>
              <a:buChar char="•"/>
            </a:pPr>
            <a:r>
              <a:rPr lang="en-US" sz="1150" dirty="0">
                <a:solidFill>
                  <a:srgbClr val="16181D"/>
                </a:solidFill>
                <a:latin typeface="Montserrat" pitchFamily="34" charset="0"/>
                <a:ea typeface="Montserrat" pitchFamily="34" charset="-122"/>
                <a:cs typeface="Montserrat" pitchFamily="34" charset="-120"/>
              </a:rPr>
              <a:t>A language model spends identical computation on every token, and cannot allocate more effort to a harder question.</a:t>
            </a:r>
            <a:endParaRPr lang="en-US" sz="1150" dirty="0"/>
          </a:p>
          <a:p>
            <a:pPr marL="342900" indent="-342900">
              <a:lnSpc>
                <a:spcPct val="110000"/>
              </a:lnSpc>
              <a:spcAft>
                <a:spcPts val="700"/>
              </a:spcAft>
              <a:buSzPct val="100000"/>
              <a:buChar char="•"/>
            </a:pPr>
            <a:r>
              <a:rPr lang="en-US" sz="1150" dirty="0">
                <a:solidFill>
                  <a:srgbClr val="16181D"/>
                </a:solidFill>
                <a:latin typeface="Montserrat" pitchFamily="34" charset="0"/>
                <a:ea typeface="Montserrat" pitchFamily="34" charset="-122"/>
                <a:cs typeface="Montserrat" pitchFamily="34" charset="-120"/>
              </a:rPr>
              <a:t>Structured prompting - Chain, Tree and Graph of Thoughts - buys accuracy by generating many intermediate thoughts.</a:t>
            </a:r>
            <a:endParaRPr lang="en-US" sz="1150" dirty="0"/>
          </a:p>
          <a:p>
            <a:pPr marL="342900" indent="-342900">
              <a:lnSpc>
                <a:spcPct val="110000"/>
              </a:lnSpc>
              <a:spcAft>
                <a:spcPts val="700"/>
              </a:spcAft>
              <a:buSzPct val="100000"/>
              <a:buChar char="•"/>
            </a:pPr>
            <a:r>
              <a:rPr lang="en-US" sz="1150" dirty="0">
                <a:solidFill>
                  <a:srgbClr val="16181D"/>
                </a:solidFill>
                <a:latin typeface="Montserrat" pitchFamily="34" charset="0"/>
                <a:ea typeface="Montserrat" pitchFamily="34" charset="-122"/>
                <a:cs typeface="Montserrat" pitchFamily="34" charset="-120"/>
              </a:rPr>
              <a:t>Cost scales with the number of thoughts and the length of each. We measure Graph of Thoughts at 15x the tokens of direct prompting.</a:t>
            </a:r>
            <a:endParaRPr lang="en-US" sz="1150" dirty="0"/>
          </a:p>
          <a:p>
            <a:pPr marL="342900" indent="-342900">
              <a:lnSpc>
                <a:spcPct val="110000"/>
              </a:lnSpc>
              <a:spcAft>
                <a:spcPts val="700"/>
              </a:spcAft>
              <a:buSzPct val="100000"/>
              <a:buChar char="•"/>
            </a:pPr>
            <a:r>
              <a:rPr lang="en-US" sz="1150" dirty="0">
                <a:solidFill>
                  <a:srgbClr val="16181D"/>
                </a:solidFill>
                <a:latin typeface="Montserrat" pitchFamily="34" charset="0"/>
                <a:ea typeface="Montserrat" pitchFamily="34" charset="-122"/>
                <a:cs typeface="Montserrat" pitchFamily="34" charset="-120"/>
              </a:rPr>
              <a:t>Inference cost, not accuracy, is what currently blocks deployment of graph-structured reasoning.</a:t>
            </a:r>
            <a:endParaRPr lang="en-US" sz="1150" dirty="0"/>
          </a:p>
        </p:txBody>
      </p:sp>
      <p:sp>
        <p:nvSpPr>
          <p:cNvPr id="12" name="Text 10"/>
          <p:cNvSpPr txBox="1"/>
          <p:nvPr/>
        </p:nvSpPr>
        <p:spPr>
          <a:xfrm>
            <a:off x="685800" y="4206240"/>
            <a:ext cx="6766560" cy="310896"/>
          </a:xfrm>
          <a:prstGeom prst="rect">
            <a:avLst/>
          </a:prstGeom>
          <a:noFill/>
          <a:ln/>
        </p:spPr>
        <p:txBody>
          <a:bodyPr wrap="square" lIns="0" tIns="0" rIns="0" bIns="0" rtlCol="0" anchor="ctr"/>
          <a:lstStyle/>
          <a:p>
            <a:pPr indent="0" marL="0">
              <a:buNone/>
            </a:pPr>
            <a:r>
              <a:rPr lang="en-US" sz="1450" b="1" dirty="0">
                <a:solidFill>
                  <a:srgbClr val="23408E"/>
                </a:solidFill>
                <a:latin typeface="Montserrat" pitchFamily="34" charset="0"/>
                <a:ea typeface="Montserrat" pitchFamily="34" charset="-122"/>
                <a:cs typeface="Montserrat" pitchFamily="34" charset="-120"/>
              </a:rPr>
              <a:t>Statement</a:t>
            </a:r>
            <a:endParaRPr lang="en-US" sz="1450" dirty="0"/>
          </a:p>
        </p:txBody>
      </p:sp>
      <p:sp>
        <p:nvSpPr>
          <p:cNvPr id="13" name="Text 11"/>
          <p:cNvSpPr txBox="1"/>
          <p:nvPr/>
        </p:nvSpPr>
        <p:spPr>
          <a:xfrm>
            <a:off x="685800" y="4617720"/>
            <a:ext cx="6766560" cy="1188720"/>
          </a:xfrm>
          <a:prstGeom prst="rect">
            <a:avLst/>
          </a:prstGeom>
          <a:noFill/>
          <a:ln/>
        </p:spPr>
        <p:txBody>
          <a:bodyPr wrap="square" lIns="0" tIns="0" rIns="0" bIns="0" rtlCol="0" anchor="ctr"/>
          <a:lstStyle/>
          <a:p>
            <a:pPr indent="0" marL="0">
              <a:lnSpc>
                <a:spcPct val="112000"/>
              </a:lnSpc>
              <a:buNone/>
            </a:pPr>
            <a:r>
              <a:rPr lang="en-US" sz="1200" dirty="0">
                <a:solidFill>
                  <a:srgbClr val="16181D"/>
                </a:solidFill>
                <a:latin typeface="Montserrat" pitchFamily="34" charset="0"/>
                <a:ea typeface="Montserrat" pitchFamily="34" charset="-122"/>
                <a:cs typeface="Montserrat" pitchFamily="34" charset="-120"/>
              </a:rPr>
              <a:t>To compress the reasoning graph of Graph of Thoughts - reducing both the number of vertices and the tokens per vertex - while preserving the causal dependencies that carry information to the final answer.</a:t>
            </a:r>
            <a:endParaRPr lang="en-US" sz="1200" dirty="0"/>
          </a:p>
        </p:txBody>
      </p:sp>
      <p:sp>
        <p:nvSpPr>
          <p:cNvPr id="14" name="Shape 12"/>
          <p:cNvSpPr/>
          <p:nvPr/>
        </p:nvSpPr>
        <p:spPr>
          <a:xfrm>
            <a:off x="7863840" y="1207008"/>
            <a:ext cx="3657600" cy="4297680"/>
          </a:xfrm>
          <a:prstGeom prst="roundRect">
            <a:avLst>
              <a:gd name="adj" fmla="val 1250"/>
            </a:avLst>
          </a:prstGeom>
          <a:solidFill>
            <a:srgbClr val="F4F6FB"/>
          </a:solidFill>
          <a:ln w="12700">
            <a:solidFill>
              <a:srgbClr val="D8DEEC"/>
            </a:solidFill>
            <a:prstDash val="solid"/>
          </a:ln>
        </p:spPr>
      </p:sp>
      <p:sp>
        <p:nvSpPr>
          <p:cNvPr id="15" name="Text 13"/>
          <p:cNvSpPr txBox="1"/>
          <p:nvPr/>
        </p:nvSpPr>
        <p:spPr>
          <a:xfrm>
            <a:off x="8092440" y="1353312"/>
            <a:ext cx="3200400" cy="274320"/>
          </a:xfrm>
          <a:prstGeom prst="rect">
            <a:avLst/>
          </a:prstGeom>
          <a:noFill/>
          <a:ln/>
        </p:spPr>
        <p:txBody>
          <a:bodyPr wrap="square" lIns="0" tIns="0" rIns="0" bIns="0" rtlCol="0" anchor="ctr"/>
          <a:lstStyle/>
          <a:p>
            <a:pPr indent="0" marL="0">
              <a:buNone/>
            </a:pPr>
            <a:r>
              <a:rPr lang="en-US" sz="1100" b="1" dirty="0">
                <a:solidFill>
                  <a:srgbClr val="23408E"/>
                </a:solidFill>
                <a:latin typeface="Montserrat" pitchFamily="34" charset="0"/>
                <a:ea typeface="Montserrat" pitchFamily="34" charset="-122"/>
                <a:cs typeface="Montserrat" pitchFamily="34" charset="-120"/>
              </a:rPr>
              <a:t>Measured cost per instance</a:t>
            </a:r>
            <a:endParaRPr lang="en-US" sz="1100" dirty="0"/>
          </a:p>
        </p:txBody>
      </p:sp>
      <p:sp>
        <p:nvSpPr>
          <p:cNvPr id="16" name="Text 14"/>
          <p:cNvSpPr txBox="1"/>
          <p:nvPr/>
        </p:nvSpPr>
        <p:spPr>
          <a:xfrm>
            <a:off x="8092440" y="1609344"/>
            <a:ext cx="3200400" cy="365760"/>
          </a:xfrm>
          <a:prstGeom prst="rect">
            <a:avLst/>
          </a:prstGeom>
          <a:noFill/>
          <a:ln/>
        </p:spPr>
        <p:txBody>
          <a:bodyPr wrap="square" lIns="0" tIns="0" rIns="0" bIns="0" rtlCol="0" anchor="ctr"/>
          <a:lstStyle/>
          <a:p>
            <a:pPr indent="0" marL="0">
              <a:buNone/>
            </a:pPr>
            <a:r>
              <a:rPr lang="en-US" sz="850" dirty="0">
                <a:solidFill>
                  <a:srgbClr val="63697A"/>
                </a:solidFill>
                <a:latin typeface="Montserrat" pitchFamily="34" charset="0"/>
                <a:ea typeface="Montserrat" pitchFamily="34" charset="-122"/>
                <a:cs typeface="Montserrat" pitchFamily="34" charset="-120"/>
              </a:rPr>
              <a:t>64-element sorting, Qwen2.5-7B, 100 instances</a:t>
            </a:r>
            <a:endParaRPr lang="en-US" sz="850" dirty="0"/>
          </a:p>
        </p:txBody>
      </p:sp>
      <p:sp>
        <p:nvSpPr>
          <p:cNvPr id="17" name="Text 15"/>
          <p:cNvSpPr txBox="1"/>
          <p:nvPr/>
        </p:nvSpPr>
        <p:spPr>
          <a:xfrm>
            <a:off x="8092440" y="2121408"/>
            <a:ext cx="777240" cy="237744"/>
          </a:xfrm>
          <a:prstGeom prst="rect">
            <a:avLst/>
          </a:prstGeom>
          <a:noFill/>
          <a:ln/>
        </p:spPr>
        <p:txBody>
          <a:bodyPr wrap="square" lIns="0" tIns="0" rIns="0" bIns="0" rtlCol="0" anchor="ctr"/>
          <a:lstStyle/>
          <a:p>
            <a:pPr indent="0" marL="0">
              <a:buNone/>
            </a:pPr>
            <a:r>
              <a:rPr lang="en-US" sz="1000" dirty="0">
                <a:solidFill>
                  <a:srgbClr val="16181D"/>
                </a:solidFill>
                <a:latin typeface="Montserrat" pitchFamily="34" charset="0"/>
                <a:ea typeface="Montserrat" pitchFamily="34" charset="-122"/>
                <a:cs typeface="Montserrat" pitchFamily="34" charset="-120"/>
              </a:rPr>
              <a:t>IO</a:t>
            </a:r>
            <a:endParaRPr lang="en-US" sz="1000" dirty="0"/>
          </a:p>
        </p:txBody>
      </p:sp>
      <p:sp>
        <p:nvSpPr>
          <p:cNvPr id="18" name="Shape 16"/>
          <p:cNvSpPr/>
          <p:nvPr/>
        </p:nvSpPr>
        <p:spPr>
          <a:xfrm>
            <a:off x="8887968" y="2103120"/>
            <a:ext cx="115973" cy="246888"/>
          </a:xfrm>
          <a:prstGeom prst="roundRect">
            <a:avLst>
              <a:gd name="adj" fmla="val 23654"/>
            </a:avLst>
          </a:prstGeom>
          <a:solidFill>
            <a:srgbClr val="23408E"/>
          </a:solidFill>
          <a:ln w="12700">
            <a:solidFill>
              <a:srgbClr val="333333"/>
            </a:solidFill>
            <a:prstDash val="solid"/>
          </a:ln>
        </p:spPr>
      </p:sp>
      <p:sp>
        <p:nvSpPr>
          <p:cNvPr id="19" name="Text 17"/>
          <p:cNvSpPr txBox="1"/>
          <p:nvPr/>
        </p:nvSpPr>
        <p:spPr>
          <a:xfrm>
            <a:off x="9058805" y="2121408"/>
            <a:ext cx="868680" cy="237744"/>
          </a:xfrm>
          <a:prstGeom prst="rect">
            <a:avLst/>
          </a:prstGeom>
          <a:noFill/>
          <a:ln/>
        </p:spPr>
        <p:txBody>
          <a:bodyPr wrap="square" lIns="0" tIns="0" rIns="0" bIns="0" rtlCol="0" anchor="ctr"/>
          <a:lstStyle/>
          <a:p>
            <a:pPr indent="0" marL="0">
              <a:buNone/>
            </a:pPr>
            <a:r>
              <a:rPr lang="en-US" sz="850" dirty="0">
                <a:solidFill>
                  <a:srgbClr val="63697A"/>
                </a:solidFill>
                <a:latin typeface="Montserrat" pitchFamily="34" charset="0"/>
                <a:ea typeface="Montserrat" pitchFamily="34" charset="-122"/>
                <a:cs typeface="Montserrat" pitchFamily="34" charset="-120"/>
              </a:rPr>
              <a:t>520</a:t>
            </a:r>
            <a:endParaRPr lang="en-US" sz="850" dirty="0"/>
          </a:p>
        </p:txBody>
      </p:sp>
      <p:sp>
        <p:nvSpPr>
          <p:cNvPr id="20" name="Text 18"/>
          <p:cNvSpPr txBox="1"/>
          <p:nvPr/>
        </p:nvSpPr>
        <p:spPr>
          <a:xfrm>
            <a:off x="8092440" y="2743200"/>
            <a:ext cx="777240" cy="237744"/>
          </a:xfrm>
          <a:prstGeom prst="rect">
            <a:avLst/>
          </a:prstGeom>
          <a:noFill/>
          <a:ln/>
        </p:spPr>
        <p:txBody>
          <a:bodyPr wrap="square" lIns="0" tIns="0" rIns="0" bIns="0" rtlCol="0" anchor="ctr"/>
          <a:lstStyle/>
          <a:p>
            <a:pPr indent="0" marL="0">
              <a:buNone/>
            </a:pPr>
            <a:r>
              <a:rPr lang="en-US" sz="1000" dirty="0">
                <a:solidFill>
                  <a:srgbClr val="16181D"/>
                </a:solidFill>
                <a:latin typeface="Montserrat" pitchFamily="34" charset="0"/>
                <a:ea typeface="Montserrat" pitchFamily="34" charset="-122"/>
                <a:cs typeface="Montserrat" pitchFamily="34" charset="-120"/>
              </a:rPr>
              <a:t>CoT</a:t>
            </a:r>
            <a:endParaRPr lang="en-US" sz="1000" dirty="0"/>
          </a:p>
        </p:txBody>
      </p:sp>
      <p:sp>
        <p:nvSpPr>
          <p:cNvPr id="21" name="Shape 19"/>
          <p:cNvSpPr/>
          <p:nvPr/>
        </p:nvSpPr>
        <p:spPr>
          <a:xfrm>
            <a:off x="8887968" y="2724912"/>
            <a:ext cx="260716" cy="246888"/>
          </a:xfrm>
          <a:prstGeom prst="roundRect">
            <a:avLst>
              <a:gd name="adj" fmla="val 11111"/>
            </a:avLst>
          </a:prstGeom>
          <a:solidFill>
            <a:srgbClr val="23408E"/>
          </a:solidFill>
          <a:ln w="12700">
            <a:solidFill>
              <a:srgbClr val="333333"/>
            </a:solidFill>
            <a:prstDash val="solid"/>
          </a:ln>
        </p:spPr>
      </p:sp>
      <p:sp>
        <p:nvSpPr>
          <p:cNvPr id="22" name="Text 20"/>
          <p:cNvSpPr txBox="1"/>
          <p:nvPr/>
        </p:nvSpPr>
        <p:spPr>
          <a:xfrm>
            <a:off x="9203548" y="2743200"/>
            <a:ext cx="868680" cy="237744"/>
          </a:xfrm>
          <a:prstGeom prst="rect">
            <a:avLst/>
          </a:prstGeom>
          <a:noFill/>
          <a:ln/>
        </p:spPr>
        <p:txBody>
          <a:bodyPr wrap="square" lIns="0" tIns="0" rIns="0" bIns="0" rtlCol="0" anchor="ctr"/>
          <a:lstStyle/>
          <a:p>
            <a:pPr indent="0" marL="0">
              <a:buNone/>
            </a:pPr>
            <a:r>
              <a:rPr lang="en-US" sz="850" dirty="0">
                <a:solidFill>
                  <a:srgbClr val="63697A"/>
                </a:solidFill>
                <a:latin typeface="Montserrat" pitchFamily="34" charset="0"/>
                <a:ea typeface="Montserrat" pitchFamily="34" charset="-122"/>
                <a:cs typeface="Montserrat" pitchFamily="34" charset="-120"/>
              </a:rPr>
              <a:t>1,169</a:t>
            </a:r>
            <a:endParaRPr lang="en-US" sz="850" dirty="0"/>
          </a:p>
        </p:txBody>
      </p:sp>
      <p:sp>
        <p:nvSpPr>
          <p:cNvPr id="23" name="Text 21"/>
          <p:cNvSpPr txBox="1"/>
          <p:nvPr/>
        </p:nvSpPr>
        <p:spPr>
          <a:xfrm>
            <a:off x="8092440" y="3364992"/>
            <a:ext cx="777240" cy="237744"/>
          </a:xfrm>
          <a:prstGeom prst="rect">
            <a:avLst/>
          </a:prstGeom>
          <a:noFill/>
          <a:ln/>
        </p:spPr>
        <p:txBody>
          <a:bodyPr wrap="square" lIns="0" tIns="0" rIns="0" bIns="0" rtlCol="0" anchor="ctr"/>
          <a:lstStyle/>
          <a:p>
            <a:pPr indent="0" marL="0">
              <a:buNone/>
            </a:pPr>
            <a:r>
              <a:rPr lang="en-US" sz="1000" dirty="0">
                <a:solidFill>
                  <a:srgbClr val="16181D"/>
                </a:solidFill>
                <a:latin typeface="Montserrat" pitchFamily="34" charset="0"/>
                <a:ea typeface="Montserrat" pitchFamily="34" charset="-122"/>
                <a:cs typeface="Montserrat" pitchFamily="34" charset="-120"/>
              </a:rPr>
              <a:t>CoT-SC</a:t>
            </a:r>
            <a:endParaRPr lang="en-US" sz="1000" dirty="0"/>
          </a:p>
        </p:txBody>
      </p:sp>
      <p:sp>
        <p:nvSpPr>
          <p:cNvPr id="24" name="Shape 22"/>
          <p:cNvSpPr/>
          <p:nvPr/>
        </p:nvSpPr>
        <p:spPr>
          <a:xfrm>
            <a:off x="8887968" y="3346704"/>
            <a:ext cx="197823" cy="246888"/>
          </a:xfrm>
          <a:prstGeom prst="roundRect">
            <a:avLst>
              <a:gd name="adj" fmla="val 13867"/>
            </a:avLst>
          </a:prstGeom>
          <a:solidFill>
            <a:srgbClr val="23408E"/>
          </a:solidFill>
          <a:ln w="12700">
            <a:solidFill>
              <a:srgbClr val="333333"/>
            </a:solidFill>
            <a:prstDash val="solid"/>
          </a:ln>
        </p:spPr>
      </p:sp>
      <p:sp>
        <p:nvSpPr>
          <p:cNvPr id="25" name="Text 23"/>
          <p:cNvSpPr txBox="1"/>
          <p:nvPr/>
        </p:nvSpPr>
        <p:spPr>
          <a:xfrm>
            <a:off x="9140655" y="3364992"/>
            <a:ext cx="868680" cy="237744"/>
          </a:xfrm>
          <a:prstGeom prst="rect">
            <a:avLst/>
          </a:prstGeom>
          <a:noFill/>
          <a:ln/>
        </p:spPr>
        <p:txBody>
          <a:bodyPr wrap="square" lIns="0" tIns="0" rIns="0" bIns="0" rtlCol="0" anchor="ctr"/>
          <a:lstStyle/>
          <a:p>
            <a:pPr indent="0" marL="0">
              <a:buNone/>
            </a:pPr>
            <a:r>
              <a:rPr lang="en-US" sz="850" dirty="0">
                <a:solidFill>
                  <a:srgbClr val="63697A"/>
                </a:solidFill>
                <a:latin typeface="Montserrat" pitchFamily="34" charset="0"/>
                <a:ea typeface="Montserrat" pitchFamily="34" charset="-122"/>
                <a:cs typeface="Montserrat" pitchFamily="34" charset="-120"/>
              </a:rPr>
              <a:t>887</a:t>
            </a:r>
            <a:endParaRPr lang="en-US" sz="850" dirty="0"/>
          </a:p>
        </p:txBody>
      </p:sp>
      <p:sp>
        <p:nvSpPr>
          <p:cNvPr id="26" name="Text 24"/>
          <p:cNvSpPr txBox="1"/>
          <p:nvPr/>
        </p:nvSpPr>
        <p:spPr>
          <a:xfrm>
            <a:off x="8092440" y="3986784"/>
            <a:ext cx="777240" cy="237744"/>
          </a:xfrm>
          <a:prstGeom prst="rect">
            <a:avLst/>
          </a:prstGeom>
          <a:noFill/>
          <a:ln/>
        </p:spPr>
        <p:txBody>
          <a:bodyPr wrap="square" lIns="0" tIns="0" rIns="0" bIns="0" rtlCol="0" anchor="ctr"/>
          <a:lstStyle/>
          <a:p>
            <a:pPr indent="0" marL="0">
              <a:buNone/>
            </a:pPr>
            <a:r>
              <a:rPr lang="en-US" sz="1000" dirty="0">
                <a:solidFill>
                  <a:srgbClr val="16181D"/>
                </a:solidFill>
                <a:latin typeface="Montserrat" pitchFamily="34" charset="0"/>
                <a:ea typeface="Montserrat" pitchFamily="34" charset="-122"/>
                <a:cs typeface="Montserrat" pitchFamily="34" charset="-120"/>
              </a:rPr>
              <a:t>ToT</a:t>
            </a:r>
            <a:endParaRPr lang="en-US" sz="1000" dirty="0"/>
          </a:p>
        </p:txBody>
      </p:sp>
      <p:sp>
        <p:nvSpPr>
          <p:cNvPr id="27" name="Shape 25"/>
          <p:cNvSpPr/>
          <p:nvPr/>
        </p:nvSpPr>
        <p:spPr>
          <a:xfrm>
            <a:off x="8887968" y="3968496"/>
            <a:ext cx="487308" cy="246888"/>
          </a:xfrm>
          <a:prstGeom prst="roundRect">
            <a:avLst>
              <a:gd name="adj" fmla="val 11111"/>
            </a:avLst>
          </a:prstGeom>
          <a:solidFill>
            <a:srgbClr val="23408E"/>
          </a:solidFill>
          <a:ln w="12700">
            <a:solidFill>
              <a:srgbClr val="333333"/>
            </a:solidFill>
            <a:prstDash val="solid"/>
          </a:ln>
        </p:spPr>
      </p:sp>
      <p:sp>
        <p:nvSpPr>
          <p:cNvPr id="28" name="Text 26"/>
          <p:cNvSpPr txBox="1"/>
          <p:nvPr/>
        </p:nvSpPr>
        <p:spPr>
          <a:xfrm>
            <a:off x="9430140" y="3986784"/>
            <a:ext cx="868680" cy="237744"/>
          </a:xfrm>
          <a:prstGeom prst="rect">
            <a:avLst/>
          </a:prstGeom>
          <a:noFill/>
          <a:ln/>
        </p:spPr>
        <p:txBody>
          <a:bodyPr wrap="square" lIns="0" tIns="0" rIns="0" bIns="0" rtlCol="0" anchor="ctr"/>
          <a:lstStyle/>
          <a:p>
            <a:pPr indent="0" marL="0">
              <a:buNone/>
            </a:pPr>
            <a:r>
              <a:rPr lang="en-US" sz="850" dirty="0">
                <a:solidFill>
                  <a:srgbClr val="63697A"/>
                </a:solidFill>
                <a:latin typeface="Montserrat" pitchFamily="34" charset="0"/>
                <a:ea typeface="Montserrat" pitchFamily="34" charset="-122"/>
                <a:cs typeface="Montserrat" pitchFamily="34" charset="-120"/>
              </a:rPr>
              <a:t>2,185</a:t>
            </a:r>
            <a:endParaRPr lang="en-US" sz="850" dirty="0"/>
          </a:p>
        </p:txBody>
      </p:sp>
      <p:sp>
        <p:nvSpPr>
          <p:cNvPr id="29" name="Text 27"/>
          <p:cNvSpPr txBox="1"/>
          <p:nvPr/>
        </p:nvSpPr>
        <p:spPr>
          <a:xfrm>
            <a:off x="8092440" y="4608576"/>
            <a:ext cx="777240" cy="237744"/>
          </a:xfrm>
          <a:prstGeom prst="rect">
            <a:avLst/>
          </a:prstGeom>
          <a:noFill/>
          <a:ln/>
        </p:spPr>
        <p:txBody>
          <a:bodyPr wrap="square" lIns="0" tIns="0" rIns="0" bIns="0" rtlCol="0" anchor="ctr"/>
          <a:lstStyle/>
          <a:p>
            <a:pPr indent="0" marL="0">
              <a:buNone/>
            </a:pPr>
            <a:r>
              <a:rPr lang="en-US" sz="1000" dirty="0">
                <a:solidFill>
                  <a:srgbClr val="16181D"/>
                </a:solidFill>
                <a:latin typeface="Montserrat" pitchFamily="34" charset="0"/>
                <a:ea typeface="Montserrat" pitchFamily="34" charset="-122"/>
                <a:cs typeface="Montserrat" pitchFamily="34" charset="-120"/>
              </a:rPr>
              <a:t>GoT</a:t>
            </a:r>
            <a:endParaRPr lang="en-US" sz="1000" dirty="0"/>
          </a:p>
        </p:txBody>
      </p:sp>
      <p:sp>
        <p:nvSpPr>
          <p:cNvPr id="30" name="Shape 28"/>
          <p:cNvSpPr/>
          <p:nvPr/>
        </p:nvSpPr>
        <p:spPr>
          <a:xfrm>
            <a:off x="8887968" y="4590288"/>
            <a:ext cx="1764123" cy="246888"/>
          </a:xfrm>
          <a:prstGeom prst="roundRect">
            <a:avLst>
              <a:gd name="adj" fmla="val 11111"/>
            </a:avLst>
          </a:prstGeom>
          <a:solidFill>
            <a:srgbClr val="D98A1F"/>
          </a:solidFill>
          <a:ln w="12700">
            <a:solidFill>
              <a:srgbClr val="333333"/>
            </a:solidFill>
            <a:prstDash val="solid"/>
          </a:ln>
        </p:spPr>
      </p:sp>
      <p:sp>
        <p:nvSpPr>
          <p:cNvPr id="31" name="Text 29"/>
          <p:cNvSpPr txBox="1"/>
          <p:nvPr/>
        </p:nvSpPr>
        <p:spPr>
          <a:xfrm>
            <a:off x="10706955" y="4608576"/>
            <a:ext cx="868680" cy="237744"/>
          </a:xfrm>
          <a:prstGeom prst="rect">
            <a:avLst/>
          </a:prstGeom>
          <a:noFill/>
          <a:ln/>
        </p:spPr>
        <p:txBody>
          <a:bodyPr wrap="square" lIns="0" tIns="0" rIns="0" bIns="0" rtlCol="0" anchor="ctr"/>
          <a:lstStyle/>
          <a:p>
            <a:pPr indent="0" marL="0">
              <a:buNone/>
            </a:pPr>
            <a:r>
              <a:rPr lang="en-US" sz="850" dirty="0">
                <a:solidFill>
                  <a:srgbClr val="D98A1F"/>
                </a:solidFill>
                <a:latin typeface="Montserrat" pitchFamily="34" charset="0"/>
                <a:ea typeface="Montserrat" pitchFamily="34" charset="-122"/>
                <a:cs typeface="Montserrat" pitchFamily="34" charset="-120"/>
              </a:rPr>
              <a:t>7,910</a:t>
            </a:r>
            <a:endParaRPr lang="en-US" sz="850" dirty="0"/>
          </a:p>
        </p:txBody>
      </p:sp>
      <p:sp>
        <p:nvSpPr>
          <p:cNvPr id="32" name="Text 30"/>
          <p:cNvSpPr txBox="1"/>
          <p:nvPr/>
        </p:nvSpPr>
        <p:spPr>
          <a:xfrm>
            <a:off x="8092440" y="5193792"/>
            <a:ext cx="3200400" cy="219456"/>
          </a:xfrm>
          <a:prstGeom prst="rect">
            <a:avLst/>
          </a:prstGeom>
          <a:noFill/>
          <a:ln/>
        </p:spPr>
        <p:txBody>
          <a:bodyPr wrap="square" lIns="0" tIns="0" rIns="0" bIns="0" rtlCol="0" anchor="ctr"/>
          <a:lstStyle/>
          <a:p>
            <a:pPr indent="0" marL="0">
              <a:buNone/>
            </a:pPr>
            <a:r>
              <a:rPr lang="en-US" sz="850" i="1" dirty="0">
                <a:solidFill>
                  <a:srgbClr val="63697A"/>
                </a:solidFill>
                <a:latin typeface="Montserrat" pitchFamily="34" charset="0"/>
                <a:ea typeface="Montserrat" pitchFamily="34" charset="-122"/>
                <a:cs typeface="Montserrat" pitchFamily="34" charset="-120"/>
              </a:rPr>
              <a:t>mean tokens consumed</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0149840" y="-502920"/>
            <a:ext cx="2377440" cy="960120"/>
          </a:xfrm>
          <a:prstGeom prst="roundRect">
            <a:avLst>
              <a:gd name="adj" fmla="val 38095"/>
            </a:avLst>
          </a:prstGeom>
          <a:solidFill>
            <a:srgbClr val="C9D8F5"/>
          </a:solidFill>
          <a:ln w="12700">
            <a:solidFill>
              <a:srgbClr val="333333"/>
            </a:solidFill>
            <a:prstDash val="solid"/>
          </a:ln>
        </p:spPr>
      </p:sp>
      <p:sp>
        <p:nvSpPr>
          <p:cNvPr id="3" name="Shape 1"/>
          <p:cNvSpPr/>
          <p:nvPr/>
        </p:nvSpPr>
        <p:spPr>
          <a:xfrm>
            <a:off x="10881360" y="0"/>
            <a:ext cx="2011680" cy="566928"/>
          </a:xfrm>
          <a:prstGeom prst="roundRect">
            <a:avLst>
              <a:gd name="adj" fmla="val 48387"/>
            </a:avLst>
          </a:prstGeom>
          <a:solidFill>
            <a:srgbClr val="23408E"/>
          </a:solidFill>
          <a:ln w="12700">
            <a:solidFill>
              <a:srgbClr val="333333"/>
            </a:solidFill>
            <a:prstDash val="solid"/>
          </a:ln>
        </p:spPr>
      </p:sp>
      <p:sp>
        <p:nvSpPr>
          <p:cNvPr id="4" name="Shape 2"/>
          <p:cNvSpPr/>
          <p:nvPr/>
        </p:nvSpPr>
        <p:spPr>
          <a:xfrm>
            <a:off x="-731520" y="6355080"/>
            <a:ext cx="1828800" cy="822960"/>
          </a:xfrm>
          <a:prstGeom prst="roundRect">
            <a:avLst>
              <a:gd name="adj" fmla="val 38889"/>
            </a:avLst>
          </a:prstGeom>
          <a:solidFill>
            <a:srgbClr val="23408E"/>
          </a:solidFill>
          <a:ln w="12700">
            <a:solidFill>
              <a:srgbClr val="333333"/>
            </a:solidFill>
            <a:prstDash val="solid"/>
          </a:ln>
        </p:spPr>
      </p:sp>
      <p:sp>
        <p:nvSpPr>
          <p:cNvPr id="5" name="Shape 3"/>
          <p:cNvSpPr/>
          <p:nvPr/>
        </p:nvSpPr>
        <p:spPr>
          <a:xfrm>
            <a:off x="320040" y="6583680"/>
            <a:ext cx="2743200" cy="731520"/>
          </a:xfrm>
          <a:prstGeom prst="roundRect">
            <a:avLst>
              <a:gd name="adj" fmla="val 43750"/>
            </a:avLst>
          </a:prstGeom>
          <a:solidFill>
            <a:srgbClr val="C9D8F5"/>
          </a:solidFill>
          <a:ln w="12700">
            <a:solidFill>
              <a:srgbClr val="333333"/>
            </a:solidFill>
            <a:prstDash val="solid"/>
          </a:ln>
        </p:spPr>
      </p:sp>
      <p:sp>
        <p:nvSpPr>
          <p:cNvPr id="6" name="Text 4"/>
          <p:cNvSpPr txBox="1"/>
          <p:nvPr/>
        </p:nvSpPr>
        <p:spPr>
          <a:xfrm>
            <a:off x="566928" y="237744"/>
            <a:ext cx="9052560" cy="603504"/>
          </a:xfrm>
          <a:prstGeom prst="rect">
            <a:avLst/>
          </a:prstGeom>
          <a:noFill/>
          <a:ln/>
        </p:spPr>
        <p:txBody>
          <a:bodyPr wrap="square" lIns="0" tIns="0" rIns="0" bIns="0" rtlCol="0" anchor="ctr"/>
          <a:lstStyle/>
          <a:p>
            <a:pPr indent="0" marL="0">
              <a:buNone/>
            </a:pPr>
            <a:r>
              <a:rPr lang="en-US" sz="3000" b="1" dirty="0">
                <a:solidFill>
                  <a:srgbClr val="23408E"/>
                </a:solidFill>
                <a:latin typeface="Montserrat" pitchFamily="34" charset="0"/>
                <a:ea typeface="Montserrat" pitchFamily="34" charset="-122"/>
                <a:cs typeface="Montserrat" pitchFamily="34" charset="-120"/>
              </a:rPr>
              <a:t>Study Summaries</a:t>
            </a:r>
            <a:endParaRPr lang="en-US" sz="3000" dirty="0"/>
          </a:p>
        </p:txBody>
      </p:sp>
      <p:sp>
        <p:nvSpPr>
          <p:cNvPr id="7" name="Shape 5"/>
          <p:cNvSpPr/>
          <p:nvPr/>
        </p:nvSpPr>
        <p:spPr>
          <a:xfrm>
            <a:off x="621792" y="914400"/>
            <a:ext cx="5120640" cy="0"/>
          </a:xfrm>
          <a:prstGeom prst="line">
            <a:avLst/>
          </a:prstGeom>
          <a:noFill/>
          <a:ln w="20320">
            <a:solidFill>
              <a:srgbClr val="16181D"/>
            </a:solidFill>
            <a:prstDash val="solid"/>
          </a:ln>
        </p:spPr>
      </p:sp>
      <p:sp>
        <p:nvSpPr>
          <p:cNvPr id="8" name="Shape 6"/>
          <p:cNvSpPr/>
          <p:nvPr/>
        </p:nvSpPr>
        <p:spPr>
          <a:xfrm>
            <a:off x="548640" y="859536"/>
            <a:ext cx="118872" cy="118872"/>
          </a:xfrm>
          <a:prstGeom prst="ellipse">
            <a:avLst/>
          </a:prstGeom>
          <a:solidFill>
            <a:srgbClr val="16181D"/>
          </a:solidFill>
          <a:ln w="12700">
            <a:solidFill>
              <a:srgbClr val="333333"/>
            </a:solidFill>
            <a:prstDash val="solid"/>
          </a:ln>
        </p:spPr>
      </p:sp>
      <p:sp>
        <p:nvSpPr>
          <p:cNvPr id="9" name="Shape 7"/>
          <p:cNvSpPr/>
          <p:nvPr/>
        </p:nvSpPr>
        <p:spPr>
          <a:xfrm>
            <a:off x="5687568" y="859536"/>
            <a:ext cx="118872" cy="118872"/>
          </a:xfrm>
          <a:prstGeom prst="ellipse">
            <a:avLst/>
          </a:prstGeom>
          <a:solidFill>
            <a:srgbClr val="16181D"/>
          </a:solidFill>
          <a:ln w="12700">
            <a:solidFill>
              <a:srgbClr val="333333"/>
            </a:solidFill>
            <a:prstDash val="solid"/>
          </a:ln>
        </p:spPr>
      </p:sp>
      <p:sp>
        <p:nvSpPr>
          <p:cNvPr id="10" name="Text 8"/>
          <p:cNvSpPr txBox="1"/>
          <p:nvPr/>
        </p:nvSpPr>
        <p:spPr>
          <a:xfrm>
            <a:off x="685800" y="1188720"/>
            <a:ext cx="10058400" cy="310896"/>
          </a:xfrm>
          <a:prstGeom prst="rect">
            <a:avLst/>
          </a:prstGeom>
          <a:noFill/>
          <a:ln/>
        </p:spPr>
        <p:txBody>
          <a:bodyPr wrap="square" lIns="0" tIns="0" rIns="0" bIns="0" rtlCol="0" anchor="ctr"/>
          <a:lstStyle/>
          <a:p>
            <a:pPr indent="0" marL="0">
              <a:buNone/>
            </a:pPr>
            <a:r>
              <a:rPr lang="en-US" sz="1450" b="1" dirty="0">
                <a:solidFill>
                  <a:srgbClr val="23408E"/>
                </a:solidFill>
                <a:latin typeface="Montserrat" pitchFamily="34" charset="0"/>
                <a:ea typeface="Montserrat" pitchFamily="34" charset="-122"/>
                <a:cs typeface="Montserrat" pitchFamily="34" charset="-120"/>
              </a:rPr>
              <a:t>Paper 1 : Chain-of-Thought Prompting Elicits Reasoning in Large Language Models</a:t>
            </a:r>
            <a:endParaRPr lang="en-US" sz="1450" dirty="0"/>
          </a:p>
        </p:txBody>
      </p:sp>
      <p:sp>
        <p:nvSpPr>
          <p:cNvPr id="11" name="Text 9"/>
          <p:cNvSpPr txBox="1"/>
          <p:nvPr/>
        </p:nvSpPr>
        <p:spPr>
          <a:xfrm>
            <a:off x="685800" y="1499616"/>
            <a:ext cx="10058400" cy="256032"/>
          </a:xfrm>
          <a:prstGeom prst="rect">
            <a:avLst/>
          </a:prstGeom>
          <a:noFill/>
          <a:ln/>
        </p:spPr>
        <p:txBody>
          <a:bodyPr wrap="square" lIns="0" tIns="0" rIns="0" bIns="0" rtlCol="0" anchor="ctr"/>
          <a:lstStyle/>
          <a:p>
            <a:pPr indent="0" marL="0">
              <a:buNone/>
            </a:pPr>
            <a:r>
              <a:rPr lang="en-US" sz="1100" i="1" dirty="0">
                <a:solidFill>
                  <a:srgbClr val="63697A"/>
                </a:solidFill>
                <a:latin typeface="Montserrat" pitchFamily="34" charset="0"/>
                <a:ea typeface="Montserrat" pitchFamily="34" charset="-122"/>
                <a:cs typeface="Montserrat" pitchFamily="34" charset="-120"/>
              </a:rPr>
              <a:t>( Chain structure - intermediate steps written into the prompt )</a:t>
            </a:r>
            <a:endParaRPr lang="en-US" sz="1100" dirty="0"/>
          </a:p>
        </p:txBody>
      </p:sp>
      <p:sp>
        <p:nvSpPr>
          <p:cNvPr id="12" name="Text 10"/>
          <p:cNvSpPr txBox="1"/>
          <p:nvPr/>
        </p:nvSpPr>
        <p:spPr>
          <a:xfrm>
            <a:off x="685800" y="1920240"/>
            <a:ext cx="5943600" cy="2743200"/>
          </a:xfrm>
          <a:prstGeom prst="rect">
            <a:avLst/>
          </a:prstGeom>
          <a:noFill/>
          <a:ln/>
        </p:spPr>
        <p:txBody>
          <a:bodyPr wrap="square" lIns="0" tIns="0" rIns="0" bIns="0" rtlCol="0" anchor="ctr"/>
          <a:lstStyle/>
          <a:p>
            <a:pPr marL="342900" indent="-342900">
              <a:lnSpc>
                <a:spcPct val="110000"/>
              </a:lnSpc>
              <a:spcAft>
                <a:spcPts val="700"/>
              </a:spcAft>
              <a:buSzPct val="100000"/>
              <a:buChar char="•"/>
            </a:pPr>
            <a:r>
              <a:rPr lang="en-US" sz="1150" dirty="0">
                <a:solidFill>
                  <a:srgbClr val="16181D"/>
                </a:solidFill>
                <a:latin typeface="Montserrat" pitchFamily="34" charset="0"/>
                <a:ea typeface="Montserrat" pitchFamily="34" charset="-122"/>
                <a:cs typeface="Montserrat" pitchFamily="34" charset="-120"/>
              </a:rPr>
              <a:t>Intermediate reasoning steps are emitted before the answer, with no change to model weights.</a:t>
            </a:r>
            <a:endParaRPr lang="en-US" sz="1150" dirty="0"/>
          </a:p>
          <a:p>
            <a:pPr marL="342900" indent="-342900">
              <a:lnSpc>
                <a:spcPct val="110000"/>
              </a:lnSpc>
              <a:spcAft>
                <a:spcPts val="700"/>
              </a:spcAft>
              <a:buSzPct val="100000"/>
              <a:buChar char="•"/>
            </a:pPr>
            <a:r>
              <a:rPr lang="en-US" sz="1150" dirty="0">
                <a:solidFill>
                  <a:srgbClr val="16181D"/>
                </a:solidFill>
                <a:latin typeface="Montserrat" pitchFamily="34" charset="0"/>
                <a:ea typeface="Montserrat" pitchFamily="34" charset="-122"/>
                <a:cs typeface="Montserrat" pitchFamily="34" charset="-120"/>
              </a:rPr>
              <a:t>More tokens means more forward passes - the written chain IS the additional computation.</a:t>
            </a:r>
            <a:endParaRPr lang="en-US" sz="1150" dirty="0"/>
          </a:p>
          <a:p>
            <a:pPr marL="342900" indent="-342900">
              <a:lnSpc>
                <a:spcPct val="110000"/>
              </a:lnSpc>
              <a:spcAft>
                <a:spcPts val="700"/>
              </a:spcAft>
              <a:buSzPct val="100000"/>
              <a:buChar char="•"/>
            </a:pPr>
            <a:r>
              <a:rPr lang="en-US" sz="1150" dirty="0">
                <a:solidFill>
                  <a:srgbClr val="16181D"/>
                </a:solidFill>
                <a:latin typeface="Montserrat" pitchFamily="34" charset="0"/>
                <a:ea typeface="Montserrat" pitchFamily="34" charset="-122"/>
                <a:cs typeface="Montserrat" pitchFamily="34" charset="-120"/>
              </a:rPr>
              <a:t>GSM8K solve rate rises from 18% to 57% on PaLM-540B under chain-of-thought prompting.</a:t>
            </a:r>
            <a:endParaRPr lang="en-US" sz="1150" dirty="0"/>
          </a:p>
          <a:p>
            <a:pPr marL="342900" indent="-342900">
              <a:lnSpc>
                <a:spcPct val="110000"/>
              </a:lnSpc>
              <a:spcAft>
                <a:spcPts val="700"/>
              </a:spcAft>
              <a:buSzPct val="100000"/>
              <a:buChar char="•"/>
            </a:pPr>
            <a:r>
              <a:rPr lang="en-US" sz="1150" dirty="0">
                <a:solidFill>
                  <a:srgbClr val="16181D"/>
                </a:solidFill>
                <a:latin typeface="Montserrat" pitchFamily="34" charset="0"/>
                <a:ea typeface="Montserrat" pitchFamily="34" charset="-122"/>
                <a:cs typeface="Montserrat" pitchFamily="34" charset="-120"/>
              </a:rPr>
              <a:t>The ability is emergent: below roughly 10B parameters chains are fluent but logically invalid, and accuracy can fall below direct prompting.</a:t>
            </a:r>
            <a:endParaRPr lang="en-US" sz="1150" dirty="0"/>
          </a:p>
        </p:txBody>
      </p:sp>
      <p:sp>
        <p:nvSpPr>
          <p:cNvPr id="13" name="Shape 11"/>
          <p:cNvSpPr/>
          <p:nvPr/>
        </p:nvSpPr>
        <p:spPr>
          <a:xfrm>
            <a:off x="6949440" y="1920240"/>
            <a:ext cx="4572000" cy="3291840"/>
          </a:xfrm>
          <a:prstGeom prst="roundRect">
            <a:avLst>
              <a:gd name="adj" fmla="val 1389"/>
            </a:avLst>
          </a:prstGeom>
          <a:solidFill>
            <a:srgbClr val="F4F6FB"/>
          </a:solidFill>
          <a:ln w="12700">
            <a:solidFill>
              <a:srgbClr val="D8DEEC"/>
            </a:solidFill>
            <a:prstDash val="solid"/>
          </a:ln>
        </p:spPr>
      </p:sp>
      <p:sp>
        <p:nvSpPr>
          <p:cNvPr id="14" name="Text 12"/>
          <p:cNvSpPr txBox="1"/>
          <p:nvPr/>
        </p:nvSpPr>
        <p:spPr>
          <a:xfrm>
            <a:off x="7178040" y="2066544"/>
            <a:ext cx="4114800" cy="256032"/>
          </a:xfrm>
          <a:prstGeom prst="rect">
            <a:avLst/>
          </a:prstGeom>
          <a:noFill/>
          <a:ln/>
        </p:spPr>
        <p:txBody>
          <a:bodyPr wrap="square" lIns="0" tIns="0" rIns="0" bIns="0" rtlCol="0" anchor="ctr"/>
          <a:lstStyle/>
          <a:p>
            <a:pPr indent="0" marL="0">
              <a:buNone/>
            </a:pPr>
            <a:r>
              <a:rPr lang="en-US" sz="1100" b="1" dirty="0">
                <a:solidFill>
                  <a:srgbClr val="23408E"/>
                </a:solidFill>
                <a:latin typeface="Montserrat" pitchFamily="34" charset="0"/>
                <a:ea typeface="Montserrat" pitchFamily="34" charset="-122"/>
                <a:cs typeface="Montserrat" pitchFamily="34" charset="-120"/>
              </a:rPr>
              <a:t>Structure</a:t>
            </a:r>
            <a:endParaRPr lang="en-US" sz="1100" dirty="0"/>
          </a:p>
        </p:txBody>
      </p:sp>
      <p:sp>
        <p:nvSpPr>
          <p:cNvPr id="15" name="Shape 13"/>
          <p:cNvSpPr/>
          <p:nvPr/>
        </p:nvSpPr>
        <p:spPr>
          <a:xfrm>
            <a:off x="7635240" y="2487168"/>
            <a:ext cx="192024" cy="192024"/>
          </a:xfrm>
          <a:prstGeom prst="ellipse">
            <a:avLst/>
          </a:prstGeom>
          <a:solidFill>
            <a:srgbClr val="23408E"/>
          </a:solidFill>
          <a:ln w="12700">
            <a:solidFill>
              <a:srgbClr val="23408E"/>
            </a:solidFill>
            <a:prstDash val="solid"/>
          </a:ln>
        </p:spPr>
      </p:sp>
      <p:sp>
        <p:nvSpPr>
          <p:cNvPr id="16" name="Shape 14"/>
          <p:cNvSpPr/>
          <p:nvPr/>
        </p:nvSpPr>
        <p:spPr>
          <a:xfrm>
            <a:off x="7731252" y="2583180"/>
            <a:ext cx="0" cy="548640"/>
          </a:xfrm>
          <a:prstGeom prst="line">
            <a:avLst/>
          </a:prstGeom>
          <a:noFill/>
          <a:ln w="17780">
            <a:solidFill>
              <a:srgbClr val="23408E"/>
            </a:solidFill>
            <a:prstDash val="solid"/>
          </a:ln>
        </p:spPr>
      </p:sp>
      <p:sp>
        <p:nvSpPr>
          <p:cNvPr id="17" name="Shape 15"/>
          <p:cNvSpPr/>
          <p:nvPr/>
        </p:nvSpPr>
        <p:spPr>
          <a:xfrm>
            <a:off x="7635240" y="3035808"/>
            <a:ext cx="192024" cy="192024"/>
          </a:xfrm>
          <a:prstGeom prst="ellipse">
            <a:avLst/>
          </a:prstGeom>
          <a:solidFill>
            <a:srgbClr val="23408E"/>
          </a:solidFill>
          <a:ln w="12700">
            <a:solidFill>
              <a:srgbClr val="23408E"/>
            </a:solidFill>
            <a:prstDash val="solid"/>
          </a:ln>
        </p:spPr>
      </p:sp>
      <p:sp>
        <p:nvSpPr>
          <p:cNvPr id="18" name="Shape 16"/>
          <p:cNvSpPr/>
          <p:nvPr/>
        </p:nvSpPr>
        <p:spPr>
          <a:xfrm>
            <a:off x="7731252" y="3131820"/>
            <a:ext cx="0" cy="548640"/>
          </a:xfrm>
          <a:prstGeom prst="line">
            <a:avLst/>
          </a:prstGeom>
          <a:noFill/>
          <a:ln w="17780">
            <a:solidFill>
              <a:srgbClr val="23408E"/>
            </a:solidFill>
            <a:prstDash val="solid"/>
          </a:ln>
        </p:spPr>
      </p:sp>
      <p:sp>
        <p:nvSpPr>
          <p:cNvPr id="19" name="Shape 17"/>
          <p:cNvSpPr/>
          <p:nvPr/>
        </p:nvSpPr>
        <p:spPr>
          <a:xfrm>
            <a:off x="7635240" y="3584448"/>
            <a:ext cx="192024" cy="192024"/>
          </a:xfrm>
          <a:prstGeom prst="ellipse">
            <a:avLst/>
          </a:prstGeom>
          <a:solidFill>
            <a:srgbClr val="23408E"/>
          </a:solidFill>
          <a:ln w="12700">
            <a:solidFill>
              <a:srgbClr val="23408E"/>
            </a:solidFill>
            <a:prstDash val="solid"/>
          </a:ln>
        </p:spPr>
      </p:sp>
      <p:sp>
        <p:nvSpPr>
          <p:cNvPr id="20" name="Shape 18"/>
          <p:cNvSpPr/>
          <p:nvPr/>
        </p:nvSpPr>
        <p:spPr>
          <a:xfrm>
            <a:off x="7731252" y="3680460"/>
            <a:ext cx="0" cy="548640"/>
          </a:xfrm>
          <a:prstGeom prst="line">
            <a:avLst/>
          </a:prstGeom>
          <a:noFill/>
          <a:ln w="17780">
            <a:solidFill>
              <a:srgbClr val="23408E"/>
            </a:solidFill>
            <a:prstDash val="solid"/>
          </a:ln>
        </p:spPr>
      </p:sp>
      <p:sp>
        <p:nvSpPr>
          <p:cNvPr id="21" name="Shape 19"/>
          <p:cNvSpPr/>
          <p:nvPr/>
        </p:nvSpPr>
        <p:spPr>
          <a:xfrm>
            <a:off x="7635240" y="4133088"/>
            <a:ext cx="192024" cy="192024"/>
          </a:xfrm>
          <a:prstGeom prst="ellipse">
            <a:avLst/>
          </a:prstGeom>
          <a:solidFill>
            <a:srgbClr val="23408E"/>
          </a:solidFill>
          <a:ln w="12700">
            <a:solidFill>
              <a:srgbClr val="23408E"/>
            </a:solidFill>
            <a:prstDash val="solid"/>
          </a:ln>
        </p:spPr>
      </p:sp>
      <p:sp>
        <p:nvSpPr>
          <p:cNvPr id="22" name="Shape 20"/>
          <p:cNvSpPr/>
          <p:nvPr/>
        </p:nvSpPr>
        <p:spPr>
          <a:xfrm>
            <a:off x="7731252" y="4229100"/>
            <a:ext cx="0" cy="548640"/>
          </a:xfrm>
          <a:prstGeom prst="line">
            <a:avLst/>
          </a:prstGeom>
          <a:noFill/>
          <a:ln w="17780">
            <a:solidFill>
              <a:srgbClr val="23408E"/>
            </a:solidFill>
            <a:prstDash val="solid"/>
          </a:ln>
        </p:spPr>
      </p:sp>
      <p:sp>
        <p:nvSpPr>
          <p:cNvPr id="23" name="Shape 21"/>
          <p:cNvSpPr/>
          <p:nvPr/>
        </p:nvSpPr>
        <p:spPr>
          <a:xfrm>
            <a:off x="7635240" y="4681728"/>
            <a:ext cx="192024" cy="192024"/>
          </a:xfrm>
          <a:prstGeom prst="ellipse">
            <a:avLst/>
          </a:prstGeom>
          <a:solidFill>
            <a:srgbClr val="D98A1F"/>
          </a:solidFill>
          <a:ln w="12700">
            <a:solidFill>
              <a:srgbClr val="D98A1F"/>
            </a:solidFill>
            <a:prstDash val="solid"/>
          </a:ln>
        </p:spPr>
      </p:sp>
      <p:sp>
        <p:nvSpPr>
          <p:cNvPr id="24" name="Text 22"/>
          <p:cNvSpPr txBox="1"/>
          <p:nvPr/>
        </p:nvSpPr>
        <p:spPr>
          <a:xfrm>
            <a:off x="8028432" y="2468880"/>
            <a:ext cx="3108960" cy="237744"/>
          </a:xfrm>
          <a:prstGeom prst="rect">
            <a:avLst/>
          </a:prstGeom>
          <a:noFill/>
          <a:ln/>
        </p:spPr>
        <p:txBody>
          <a:bodyPr wrap="square" lIns="0" tIns="0" rIns="0" bIns="0" rtlCol="0" anchor="ctr"/>
          <a:lstStyle/>
          <a:p>
            <a:pPr indent="0" marL="0">
              <a:buNone/>
            </a:pPr>
            <a:r>
              <a:rPr lang="en-US" sz="1000" dirty="0">
                <a:solidFill>
                  <a:srgbClr val="16181D"/>
                </a:solidFill>
                <a:latin typeface="Montserrat" pitchFamily="34" charset="0"/>
                <a:ea typeface="Montserrat" pitchFamily="34" charset="-122"/>
                <a:cs typeface="Montserrat" pitchFamily="34" charset="-120"/>
              </a:rPr>
              <a:t>input x</a:t>
            </a:r>
            <a:endParaRPr lang="en-US" sz="1000" dirty="0"/>
          </a:p>
        </p:txBody>
      </p:sp>
      <p:sp>
        <p:nvSpPr>
          <p:cNvPr id="25" name="Text 23"/>
          <p:cNvSpPr txBox="1"/>
          <p:nvPr/>
        </p:nvSpPr>
        <p:spPr>
          <a:xfrm>
            <a:off x="8028432" y="3017520"/>
            <a:ext cx="3108960" cy="237744"/>
          </a:xfrm>
          <a:prstGeom prst="rect">
            <a:avLst/>
          </a:prstGeom>
          <a:noFill/>
          <a:ln/>
        </p:spPr>
        <p:txBody>
          <a:bodyPr wrap="square" lIns="0" tIns="0" rIns="0" bIns="0" rtlCol="0" anchor="ctr"/>
          <a:lstStyle/>
          <a:p>
            <a:pPr indent="0" marL="0">
              <a:buNone/>
            </a:pPr>
            <a:r>
              <a:rPr lang="en-US" sz="1000" dirty="0">
                <a:solidFill>
                  <a:srgbClr val="16181D"/>
                </a:solidFill>
                <a:latin typeface="Montserrat" pitchFamily="34" charset="0"/>
                <a:ea typeface="Montserrat" pitchFamily="34" charset="-122"/>
                <a:cs typeface="Montserrat" pitchFamily="34" charset="-120"/>
              </a:rPr>
              <a:t>thought z1</a:t>
            </a:r>
            <a:endParaRPr lang="en-US" sz="1000" dirty="0"/>
          </a:p>
        </p:txBody>
      </p:sp>
      <p:sp>
        <p:nvSpPr>
          <p:cNvPr id="26" name="Text 24"/>
          <p:cNvSpPr txBox="1"/>
          <p:nvPr/>
        </p:nvSpPr>
        <p:spPr>
          <a:xfrm>
            <a:off x="8028432" y="3566160"/>
            <a:ext cx="3108960" cy="237744"/>
          </a:xfrm>
          <a:prstGeom prst="rect">
            <a:avLst/>
          </a:prstGeom>
          <a:noFill/>
          <a:ln/>
        </p:spPr>
        <p:txBody>
          <a:bodyPr wrap="square" lIns="0" tIns="0" rIns="0" bIns="0" rtlCol="0" anchor="ctr"/>
          <a:lstStyle/>
          <a:p>
            <a:pPr indent="0" marL="0">
              <a:buNone/>
            </a:pPr>
            <a:r>
              <a:rPr lang="en-US" sz="1000" dirty="0">
                <a:solidFill>
                  <a:srgbClr val="16181D"/>
                </a:solidFill>
                <a:latin typeface="Montserrat" pitchFamily="34" charset="0"/>
                <a:ea typeface="Montserrat" pitchFamily="34" charset="-122"/>
                <a:cs typeface="Montserrat" pitchFamily="34" charset="-120"/>
              </a:rPr>
              <a:t>thought z2</a:t>
            </a:r>
            <a:endParaRPr lang="en-US" sz="1000" dirty="0"/>
          </a:p>
        </p:txBody>
      </p:sp>
      <p:sp>
        <p:nvSpPr>
          <p:cNvPr id="27" name="Text 25"/>
          <p:cNvSpPr txBox="1"/>
          <p:nvPr/>
        </p:nvSpPr>
        <p:spPr>
          <a:xfrm>
            <a:off x="8028432" y="4114800"/>
            <a:ext cx="3108960" cy="237744"/>
          </a:xfrm>
          <a:prstGeom prst="rect">
            <a:avLst/>
          </a:prstGeom>
          <a:noFill/>
          <a:ln/>
        </p:spPr>
        <p:txBody>
          <a:bodyPr wrap="square" lIns="0" tIns="0" rIns="0" bIns="0" rtlCol="0" anchor="ctr"/>
          <a:lstStyle/>
          <a:p>
            <a:pPr indent="0" marL="0">
              <a:buNone/>
            </a:pPr>
            <a:r>
              <a:rPr lang="en-US" sz="1000" dirty="0">
                <a:solidFill>
                  <a:srgbClr val="16181D"/>
                </a:solidFill>
                <a:latin typeface="Montserrat" pitchFamily="34" charset="0"/>
                <a:ea typeface="Montserrat" pitchFamily="34" charset="-122"/>
                <a:cs typeface="Montserrat" pitchFamily="34" charset="-120"/>
              </a:rPr>
              <a:t>thought z3</a:t>
            </a:r>
            <a:endParaRPr lang="en-US" sz="1000" dirty="0"/>
          </a:p>
        </p:txBody>
      </p:sp>
      <p:sp>
        <p:nvSpPr>
          <p:cNvPr id="28" name="Text 26"/>
          <p:cNvSpPr txBox="1"/>
          <p:nvPr/>
        </p:nvSpPr>
        <p:spPr>
          <a:xfrm>
            <a:off x="8028432" y="4663440"/>
            <a:ext cx="3108960" cy="237744"/>
          </a:xfrm>
          <a:prstGeom prst="rect">
            <a:avLst/>
          </a:prstGeom>
          <a:noFill/>
          <a:ln/>
        </p:spPr>
        <p:txBody>
          <a:bodyPr wrap="square" lIns="0" tIns="0" rIns="0" bIns="0" rtlCol="0" anchor="ctr"/>
          <a:lstStyle/>
          <a:p>
            <a:pPr indent="0" marL="0">
              <a:buNone/>
            </a:pPr>
            <a:r>
              <a:rPr lang="en-US" sz="1000" dirty="0">
                <a:solidFill>
                  <a:srgbClr val="D98A1F"/>
                </a:solidFill>
                <a:latin typeface="Montserrat" pitchFamily="34" charset="0"/>
                <a:ea typeface="Montserrat" pitchFamily="34" charset="-122"/>
                <a:cs typeface="Montserrat" pitchFamily="34" charset="-120"/>
              </a:rPr>
              <a:t>answer y</a:t>
            </a:r>
            <a:endParaRPr lang="en-US" sz="1000" dirty="0"/>
          </a:p>
        </p:txBody>
      </p:sp>
      <p:sp>
        <p:nvSpPr>
          <p:cNvPr id="29" name="Text 27"/>
          <p:cNvSpPr txBox="1"/>
          <p:nvPr/>
        </p:nvSpPr>
        <p:spPr>
          <a:xfrm>
            <a:off x="7178040" y="4800600"/>
            <a:ext cx="4114800" cy="274320"/>
          </a:xfrm>
          <a:prstGeom prst="rect">
            <a:avLst/>
          </a:prstGeom>
          <a:noFill/>
          <a:ln/>
        </p:spPr>
        <p:txBody>
          <a:bodyPr wrap="square" lIns="0" tIns="0" rIns="0" bIns="0" rtlCol="0" anchor="ctr"/>
          <a:lstStyle/>
          <a:p>
            <a:pPr indent="0" marL="0">
              <a:buNone/>
            </a:pPr>
            <a:r>
              <a:rPr lang="en-US" sz="950" i="1" dirty="0">
                <a:solidFill>
                  <a:srgbClr val="63697A"/>
                </a:solidFill>
                <a:latin typeface="Montserrat" pitchFamily="34" charset="0"/>
                <a:ea typeface="Montserrat" pitchFamily="34" charset="-122"/>
                <a:cs typeface="Montserrat" pitchFamily="34" charset="-120"/>
              </a:rPr>
              <a:t>A single path. A wrong step is unrecoverable.</a:t>
            </a:r>
            <a:endParaRPr lang="en-US" sz="950" dirty="0"/>
          </a:p>
        </p:txBody>
      </p:sp>
      <p:sp>
        <p:nvSpPr>
          <p:cNvPr id="30" name="Text 28"/>
          <p:cNvSpPr txBox="1"/>
          <p:nvPr/>
        </p:nvSpPr>
        <p:spPr>
          <a:xfrm>
            <a:off x="4206240" y="6217920"/>
            <a:ext cx="7498080" cy="274320"/>
          </a:xfrm>
          <a:prstGeom prst="rect">
            <a:avLst/>
          </a:prstGeom>
          <a:noFill/>
          <a:ln/>
        </p:spPr>
        <p:txBody>
          <a:bodyPr wrap="square" lIns="0" tIns="0" rIns="0" bIns="0" rtlCol="0" anchor="ctr"/>
          <a:lstStyle/>
          <a:p>
            <a:pPr algn="r" indent="0" marL="0">
              <a:buNone/>
            </a:pPr>
            <a:r>
              <a:rPr lang="en-US" sz="900" i="1" dirty="0">
                <a:solidFill>
                  <a:srgbClr val="63697A"/>
                </a:solidFill>
                <a:latin typeface="Montserrat" pitchFamily="34" charset="0"/>
                <a:ea typeface="Montserrat" pitchFamily="34" charset="-122"/>
                <a:cs typeface="Montserrat" pitchFamily="34" charset="-120"/>
              </a:rPr>
              <a:t>Wei et al., NeurIPS 2022, arXiv:2201.11903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0149840" y="-502920"/>
            <a:ext cx="2377440" cy="960120"/>
          </a:xfrm>
          <a:prstGeom prst="roundRect">
            <a:avLst>
              <a:gd name="adj" fmla="val 38095"/>
            </a:avLst>
          </a:prstGeom>
          <a:solidFill>
            <a:srgbClr val="C9D8F5"/>
          </a:solidFill>
          <a:ln w="12700">
            <a:solidFill>
              <a:srgbClr val="333333"/>
            </a:solidFill>
            <a:prstDash val="solid"/>
          </a:ln>
        </p:spPr>
      </p:sp>
      <p:sp>
        <p:nvSpPr>
          <p:cNvPr id="3" name="Shape 1"/>
          <p:cNvSpPr/>
          <p:nvPr/>
        </p:nvSpPr>
        <p:spPr>
          <a:xfrm>
            <a:off x="10881360" y="0"/>
            <a:ext cx="2011680" cy="566928"/>
          </a:xfrm>
          <a:prstGeom prst="roundRect">
            <a:avLst>
              <a:gd name="adj" fmla="val 48387"/>
            </a:avLst>
          </a:prstGeom>
          <a:solidFill>
            <a:srgbClr val="23408E"/>
          </a:solidFill>
          <a:ln w="12700">
            <a:solidFill>
              <a:srgbClr val="333333"/>
            </a:solidFill>
            <a:prstDash val="solid"/>
          </a:ln>
        </p:spPr>
      </p:sp>
      <p:sp>
        <p:nvSpPr>
          <p:cNvPr id="4" name="Shape 2"/>
          <p:cNvSpPr/>
          <p:nvPr/>
        </p:nvSpPr>
        <p:spPr>
          <a:xfrm>
            <a:off x="-731520" y="6355080"/>
            <a:ext cx="1828800" cy="822960"/>
          </a:xfrm>
          <a:prstGeom prst="roundRect">
            <a:avLst>
              <a:gd name="adj" fmla="val 38889"/>
            </a:avLst>
          </a:prstGeom>
          <a:solidFill>
            <a:srgbClr val="23408E"/>
          </a:solidFill>
          <a:ln w="12700">
            <a:solidFill>
              <a:srgbClr val="333333"/>
            </a:solidFill>
            <a:prstDash val="solid"/>
          </a:ln>
        </p:spPr>
      </p:sp>
      <p:sp>
        <p:nvSpPr>
          <p:cNvPr id="5" name="Shape 3"/>
          <p:cNvSpPr/>
          <p:nvPr/>
        </p:nvSpPr>
        <p:spPr>
          <a:xfrm>
            <a:off x="320040" y="6583680"/>
            <a:ext cx="2743200" cy="731520"/>
          </a:xfrm>
          <a:prstGeom prst="roundRect">
            <a:avLst>
              <a:gd name="adj" fmla="val 43750"/>
            </a:avLst>
          </a:prstGeom>
          <a:solidFill>
            <a:srgbClr val="C9D8F5"/>
          </a:solidFill>
          <a:ln w="12700">
            <a:solidFill>
              <a:srgbClr val="333333"/>
            </a:solidFill>
            <a:prstDash val="solid"/>
          </a:ln>
        </p:spPr>
      </p:sp>
      <p:sp>
        <p:nvSpPr>
          <p:cNvPr id="6" name="Text 4"/>
          <p:cNvSpPr txBox="1"/>
          <p:nvPr/>
        </p:nvSpPr>
        <p:spPr>
          <a:xfrm>
            <a:off x="566928" y="237744"/>
            <a:ext cx="9052560" cy="603504"/>
          </a:xfrm>
          <a:prstGeom prst="rect">
            <a:avLst/>
          </a:prstGeom>
          <a:noFill/>
          <a:ln/>
        </p:spPr>
        <p:txBody>
          <a:bodyPr wrap="square" lIns="0" tIns="0" rIns="0" bIns="0" rtlCol="0" anchor="ctr"/>
          <a:lstStyle/>
          <a:p>
            <a:pPr indent="0" marL="0">
              <a:buNone/>
            </a:pPr>
            <a:r>
              <a:rPr lang="en-US" sz="3000" b="1" dirty="0">
                <a:solidFill>
                  <a:srgbClr val="23408E"/>
                </a:solidFill>
                <a:latin typeface="Montserrat" pitchFamily="34" charset="0"/>
                <a:ea typeface="Montserrat" pitchFamily="34" charset="-122"/>
                <a:cs typeface="Montserrat" pitchFamily="34" charset="-120"/>
              </a:rPr>
              <a:t>Study Summaries</a:t>
            </a:r>
            <a:endParaRPr lang="en-US" sz="3000" dirty="0"/>
          </a:p>
        </p:txBody>
      </p:sp>
      <p:sp>
        <p:nvSpPr>
          <p:cNvPr id="7" name="Shape 5"/>
          <p:cNvSpPr/>
          <p:nvPr/>
        </p:nvSpPr>
        <p:spPr>
          <a:xfrm>
            <a:off x="621792" y="914400"/>
            <a:ext cx="5120640" cy="0"/>
          </a:xfrm>
          <a:prstGeom prst="line">
            <a:avLst/>
          </a:prstGeom>
          <a:noFill/>
          <a:ln w="20320">
            <a:solidFill>
              <a:srgbClr val="16181D"/>
            </a:solidFill>
            <a:prstDash val="solid"/>
          </a:ln>
        </p:spPr>
      </p:sp>
      <p:sp>
        <p:nvSpPr>
          <p:cNvPr id="8" name="Shape 6"/>
          <p:cNvSpPr/>
          <p:nvPr/>
        </p:nvSpPr>
        <p:spPr>
          <a:xfrm>
            <a:off x="548640" y="859536"/>
            <a:ext cx="118872" cy="118872"/>
          </a:xfrm>
          <a:prstGeom prst="ellipse">
            <a:avLst/>
          </a:prstGeom>
          <a:solidFill>
            <a:srgbClr val="16181D"/>
          </a:solidFill>
          <a:ln w="12700">
            <a:solidFill>
              <a:srgbClr val="333333"/>
            </a:solidFill>
            <a:prstDash val="solid"/>
          </a:ln>
        </p:spPr>
      </p:sp>
      <p:sp>
        <p:nvSpPr>
          <p:cNvPr id="9" name="Shape 7"/>
          <p:cNvSpPr/>
          <p:nvPr/>
        </p:nvSpPr>
        <p:spPr>
          <a:xfrm>
            <a:off x="5687568" y="859536"/>
            <a:ext cx="118872" cy="118872"/>
          </a:xfrm>
          <a:prstGeom prst="ellipse">
            <a:avLst/>
          </a:prstGeom>
          <a:solidFill>
            <a:srgbClr val="16181D"/>
          </a:solidFill>
          <a:ln w="12700">
            <a:solidFill>
              <a:srgbClr val="333333"/>
            </a:solidFill>
            <a:prstDash val="solid"/>
          </a:ln>
        </p:spPr>
      </p:sp>
      <p:sp>
        <p:nvSpPr>
          <p:cNvPr id="10" name="Text 8"/>
          <p:cNvSpPr txBox="1"/>
          <p:nvPr/>
        </p:nvSpPr>
        <p:spPr>
          <a:xfrm>
            <a:off x="685800" y="1188720"/>
            <a:ext cx="10058400" cy="310896"/>
          </a:xfrm>
          <a:prstGeom prst="rect">
            <a:avLst/>
          </a:prstGeom>
          <a:noFill/>
          <a:ln/>
        </p:spPr>
        <p:txBody>
          <a:bodyPr wrap="square" lIns="0" tIns="0" rIns="0" bIns="0" rtlCol="0" anchor="ctr"/>
          <a:lstStyle/>
          <a:p>
            <a:pPr indent="0" marL="0">
              <a:buNone/>
            </a:pPr>
            <a:r>
              <a:rPr lang="en-US" sz="1450" b="1" dirty="0">
                <a:solidFill>
                  <a:srgbClr val="23408E"/>
                </a:solidFill>
                <a:latin typeface="Montserrat" pitchFamily="34" charset="0"/>
                <a:ea typeface="Montserrat" pitchFamily="34" charset="-122"/>
                <a:cs typeface="Montserrat" pitchFamily="34" charset="-120"/>
              </a:rPr>
              <a:t>Paper 2 : Tree of Thoughts - Deliberate Problem Solving with Large Language Models</a:t>
            </a:r>
            <a:endParaRPr lang="en-US" sz="1450" dirty="0"/>
          </a:p>
        </p:txBody>
      </p:sp>
      <p:sp>
        <p:nvSpPr>
          <p:cNvPr id="11" name="Text 9"/>
          <p:cNvSpPr txBox="1"/>
          <p:nvPr/>
        </p:nvSpPr>
        <p:spPr>
          <a:xfrm>
            <a:off x="685800" y="1499616"/>
            <a:ext cx="10058400" cy="256032"/>
          </a:xfrm>
          <a:prstGeom prst="rect">
            <a:avLst/>
          </a:prstGeom>
          <a:noFill/>
          <a:ln/>
        </p:spPr>
        <p:txBody>
          <a:bodyPr wrap="square" lIns="0" tIns="0" rIns="0" bIns="0" rtlCol="0" anchor="ctr"/>
          <a:lstStyle/>
          <a:p>
            <a:pPr indent="0" marL="0">
              <a:buNone/>
            </a:pPr>
            <a:r>
              <a:rPr lang="en-US" sz="1100" i="1" dirty="0">
                <a:solidFill>
                  <a:srgbClr val="63697A"/>
                </a:solidFill>
                <a:latin typeface="Montserrat" pitchFamily="34" charset="0"/>
                <a:ea typeface="Montserrat" pitchFamily="34" charset="-122"/>
                <a:cs typeface="Montserrat" pitchFamily="34" charset="-120"/>
              </a:rPr>
              <a:t>( Tree structure - branching, evaluation and backtracking )</a:t>
            </a:r>
            <a:endParaRPr lang="en-US" sz="1100" dirty="0"/>
          </a:p>
        </p:txBody>
      </p:sp>
      <p:sp>
        <p:nvSpPr>
          <p:cNvPr id="12" name="Text 10"/>
          <p:cNvSpPr txBox="1"/>
          <p:nvPr/>
        </p:nvSpPr>
        <p:spPr>
          <a:xfrm>
            <a:off x="685800" y="1920240"/>
            <a:ext cx="5943600" cy="2743200"/>
          </a:xfrm>
          <a:prstGeom prst="rect">
            <a:avLst/>
          </a:prstGeom>
          <a:noFill/>
          <a:ln/>
        </p:spPr>
        <p:txBody>
          <a:bodyPr wrap="square" lIns="0" tIns="0" rIns="0" bIns="0" rtlCol="0" anchor="ctr"/>
          <a:lstStyle/>
          <a:p>
            <a:pPr marL="342900" indent="-342900">
              <a:lnSpc>
                <a:spcPct val="110000"/>
              </a:lnSpc>
              <a:spcAft>
                <a:spcPts val="700"/>
              </a:spcAft>
              <a:buSzPct val="100000"/>
              <a:buChar char="•"/>
            </a:pPr>
            <a:r>
              <a:rPr lang="en-US" sz="1150" dirty="0">
                <a:solidFill>
                  <a:srgbClr val="16181D"/>
                </a:solidFill>
                <a:latin typeface="Montserrat" pitchFamily="34" charset="0"/>
                <a:ea typeface="Montserrat" pitchFamily="34" charset="-122"/>
                <a:cs typeface="Montserrat" pitchFamily="34" charset="-120"/>
              </a:rPr>
              <a:t>Three components: a thought generator producing k children, a state evaluator scoring them, and a search algorithm over the tree.</a:t>
            </a:r>
            <a:endParaRPr lang="en-US" sz="1150" dirty="0"/>
          </a:p>
          <a:p>
            <a:pPr marL="342900" indent="-342900">
              <a:lnSpc>
                <a:spcPct val="110000"/>
              </a:lnSpc>
              <a:spcAft>
                <a:spcPts val="700"/>
              </a:spcAft>
              <a:buSzPct val="100000"/>
              <a:buChar char="•"/>
            </a:pPr>
            <a:r>
              <a:rPr lang="en-US" sz="1150" dirty="0">
                <a:solidFill>
                  <a:srgbClr val="16181D"/>
                </a:solidFill>
                <a:latin typeface="Montserrat" pitchFamily="34" charset="0"/>
                <a:ea typeface="Montserrat" pitchFamily="34" charset="-122"/>
                <a:cs typeface="Montserrat" pitchFamily="34" charset="-120"/>
              </a:rPr>
              <a:t>Adds local exploration and backtracking, which Self-Consistency with CoT cannot do - its k chains never exchange information.</a:t>
            </a:r>
            <a:endParaRPr lang="en-US" sz="1150" dirty="0"/>
          </a:p>
          <a:p>
            <a:pPr marL="342900" indent="-342900">
              <a:lnSpc>
                <a:spcPct val="110000"/>
              </a:lnSpc>
              <a:spcAft>
                <a:spcPts val="700"/>
              </a:spcAft>
              <a:buSzPct val="100000"/>
              <a:buChar char="•"/>
            </a:pPr>
            <a:r>
              <a:rPr lang="en-US" sz="1150" dirty="0">
                <a:solidFill>
                  <a:srgbClr val="16181D"/>
                </a:solidFill>
                <a:latin typeface="Montserrat" pitchFamily="34" charset="0"/>
                <a:ea typeface="Montserrat" pitchFamily="34" charset="-122"/>
                <a:cs typeface="Montserrat" pitchFamily="34" charset="-120"/>
              </a:rPr>
              <a:t>Every vertex has exactly one parent, so information on a discarded branch is lost permanently.</a:t>
            </a:r>
            <a:endParaRPr lang="en-US" sz="1150" dirty="0"/>
          </a:p>
          <a:p>
            <a:pPr marL="342900" indent="-342900">
              <a:lnSpc>
                <a:spcPct val="110000"/>
              </a:lnSpc>
              <a:spcAft>
                <a:spcPts val="700"/>
              </a:spcAft>
              <a:buSzPct val="100000"/>
              <a:buChar char="•"/>
            </a:pPr>
            <a:r>
              <a:rPr lang="en-US" sz="1150" dirty="0">
                <a:solidFill>
                  <a:srgbClr val="16181D"/>
                </a:solidFill>
                <a:latin typeface="Montserrat" pitchFamily="34" charset="0"/>
                <a:ea typeface="Montserrat" pitchFamily="34" charset="-122"/>
                <a:cs typeface="Montserrat" pitchFamily="34" charset="-120"/>
              </a:rPr>
              <a:t>In our replication ToT is the strongest baseline, once its evaluator can reject a refinement that worsens the answer.</a:t>
            </a:r>
            <a:endParaRPr lang="en-US" sz="1150" dirty="0"/>
          </a:p>
        </p:txBody>
      </p:sp>
      <p:sp>
        <p:nvSpPr>
          <p:cNvPr id="13" name="Shape 11"/>
          <p:cNvSpPr/>
          <p:nvPr/>
        </p:nvSpPr>
        <p:spPr>
          <a:xfrm>
            <a:off x="6949440" y="1920240"/>
            <a:ext cx="4572000" cy="3291840"/>
          </a:xfrm>
          <a:prstGeom prst="roundRect">
            <a:avLst>
              <a:gd name="adj" fmla="val 1389"/>
            </a:avLst>
          </a:prstGeom>
          <a:solidFill>
            <a:srgbClr val="F4F6FB"/>
          </a:solidFill>
          <a:ln w="12700">
            <a:solidFill>
              <a:srgbClr val="D8DEEC"/>
            </a:solidFill>
            <a:prstDash val="solid"/>
          </a:ln>
        </p:spPr>
      </p:sp>
      <p:sp>
        <p:nvSpPr>
          <p:cNvPr id="14" name="Text 12"/>
          <p:cNvSpPr txBox="1"/>
          <p:nvPr/>
        </p:nvSpPr>
        <p:spPr>
          <a:xfrm>
            <a:off x="7178040" y="2066544"/>
            <a:ext cx="4114800" cy="256032"/>
          </a:xfrm>
          <a:prstGeom prst="rect">
            <a:avLst/>
          </a:prstGeom>
          <a:noFill/>
          <a:ln/>
        </p:spPr>
        <p:txBody>
          <a:bodyPr wrap="square" lIns="0" tIns="0" rIns="0" bIns="0" rtlCol="0" anchor="ctr"/>
          <a:lstStyle/>
          <a:p>
            <a:pPr indent="0" marL="0">
              <a:buNone/>
            </a:pPr>
            <a:r>
              <a:rPr lang="en-US" sz="1100" b="1" dirty="0">
                <a:solidFill>
                  <a:srgbClr val="23408E"/>
                </a:solidFill>
                <a:latin typeface="Montserrat" pitchFamily="34" charset="0"/>
                <a:ea typeface="Montserrat" pitchFamily="34" charset="-122"/>
                <a:cs typeface="Montserrat" pitchFamily="34" charset="-120"/>
              </a:rPr>
              <a:t>Structure</a:t>
            </a:r>
            <a:endParaRPr lang="en-US" sz="1100" dirty="0"/>
          </a:p>
        </p:txBody>
      </p:sp>
      <p:sp>
        <p:nvSpPr>
          <p:cNvPr id="15" name="Shape 13"/>
          <p:cNvSpPr/>
          <p:nvPr/>
        </p:nvSpPr>
        <p:spPr>
          <a:xfrm>
            <a:off x="9144000" y="2560320"/>
            <a:ext cx="173736" cy="173736"/>
          </a:xfrm>
          <a:prstGeom prst="ellipse">
            <a:avLst/>
          </a:prstGeom>
          <a:solidFill>
            <a:srgbClr val="23408E"/>
          </a:solidFill>
          <a:ln w="12700">
            <a:solidFill>
              <a:srgbClr val="23408E"/>
            </a:solidFill>
            <a:prstDash val="solid"/>
          </a:ln>
        </p:spPr>
      </p:sp>
      <p:sp>
        <p:nvSpPr>
          <p:cNvPr id="16" name="Shape 14"/>
          <p:cNvSpPr/>
          <p:nvPr/>
        </p:nvSpPr>
        <p:spPr>
          <a:xfrm flipV="1">
            <a:off x="8316468" y="2647188"/>
            <a:ext cx="914400" cy="731520"/>
          </a:xfrm>
          <a:prstGeom prst="line">
            <a:avLst/>
          </a:prstGeom>
          <a:noFill/>
          <a:ln w="16510">
            <a:solidFill>
              <a:srgbClr val="23408E"/>
            </a:solidFill>
            <a:prstDash val="solid"/>
          </a:ln>
        </p:spPr>
      </p:sp>
      <p:sp>
        <p:nvSpPr>
          <p:cNvPr id="17" name="Shape 15"/>
          <p:cNvSpPr/>
          <p:nvPr/>
        </p:nvSpPr>
        <p:spPr>
          <a:xfrm>
            <a:off x="8229600" y="3291840"/>
            <a:ext cx="173736" cy="173736"/>
          </a:xfrm>
          <a:prstGeom prst="ellipse">
            <a:avLst/>
          </a:prstGeom>
          <a:solidFill>
            <a:srgbClr val="23408E"/>
          </a:solidFill>
          <a:ln w="12700">
            <a:solidFill>
              <a:srgbClr val="23408E"/>
            </a:solidFill>
            <a:prstDash val="solid"/>
          </a:ln>
        </p:spPr>
      </p:sp>
      <p:sp>
        <p:nvSpPr>
          <p:cNvPr id="18" name="Shape 16"/>
          <p:cNvSpPr/>
          <p:nvPr/>
        </p:nvSpPr>
        <p:spPr>
          <a:xfrm flipV="1">
            <a:off x="8042148" y="3378708"/>
            <a:ext cx="274320" cy="731520"/>
          </a:xfrm>
          <a:prstGeom prst="line">
            <a:avLst/>
          </a:prstGeom>
          <a:noFill/>
          <a:ln w="16510">
            <a:solidFill>
              <a:srgbClr val="23408E"/>
            </a:solidFill>
            <a:prstDash val="solid"/>
          </a:ln>
        </p:spPr>
      </p:sp>
      <p:sp>
        <p:nvSpPr>
          <p:cNvPr id="19" name="Shape 17"/>
          <p:cNvSpPr/>
          <p:nvPr/>
        </p:nvSpPr>
        <p:spPr>
          <a:xfrm>
            <a:off x="7955280" y="4023360"/>
            <a:ext cx="173736" cy="173736"/>
          </a:xfrm>
          <a:prstGeom prst="ellipse">
            <a:avLst/>
          </a:prstGeom>
          <a:solidFill>
            <a:srgbClr val="B9C2D8"/>
          </a:solidFill>
          <a:ln w="12700">
            <a:solidFill>
              <a:srgbClr val="B9C2D8"/>
            </a:solidFill>
            <a:prstDash val="solid"/>
          </a:ln>
        </p:spPr>
      </p:sp>
      <p:sp>
        <p:nvSpPr>
          <p:cNvPr id="20" name="Shape 18"/>
          <p:cNvSpPr/>
          <p:nvPr/>
        </p:nvSpPr>
        <p:spPr>
          <a:xfrm>
            <a:off x="8316468" y="3378708"/>
            <a:ext cx="274320" cy="731520"/>
          </a:xfrm>
          <a:prstGeom prst="line">
            <a:avLst/>
          </a:prstGeom>
          <a:noFill/>
          <a:ln w="16510">
            <a:solidFill>
              <a:srgbClr val="23408E"/>
            </a:solidFill>
            <a:prstDash val="solid"/>
          </a:ln>
        </p:spPr>
      </p:sp>
      <p:sp>
        <p:nvSpPr>
          <p:cNvPr id="21" name="Shape 19"/>
          <p:cNvSpPr/>
          <p:nvPr/>
        </p:nvSpPr>
        <p:spPr>
          <a:xfrm>
            <a:off x="8503920" y="4023360"/>
            <a:ext cx="173736" cy="173736"/>
          </a:xfrm>
          <a:prstGeom prst="ellipse">
            <a:avLst/>
          </a:prstGeom>
          <a:solidFill>
            <a:srgbClr val="B9C2D8"/>
          </a:solidFill>
          <a:ln w="12700">
            <a:solidFill>
              <a:srgbClr val="B9C2D8"/>
            </a:solidFill>
            <a:prstDash val="solid"/>
          </a:ln>
        </p:spPr>
      </p:sp>
      <p:sp>
        <p:nvSpPr>
          <p:cNvPr id="22" name="Shape 20"/>
          <p:cNvSpPr/>
          <p:nvPr/>
        </p:nvSpPr>
        <p:spPr>
          <a:xfrm>
            <a:off x="9230868" y="2647188"/>
            <a:ext cx="0" cy="731520"/>
          </a:xfrm>
          <a:prstGeom prst="line">
            <a:avLst/>
          </a:prstGeom>
          <a:noFill/>
          <a:ln w="16510">
            <a:solidFill>
              <a:srgbClr val="23408E"/>
            </a:solidFill>
            <a:prstDash val="solid"/>
          </a:ln>
        </p:spPr>
      </p:sp>
      <p:sp>
        <p:nvSpPr>
          <p:cNvPr id="23" name="Shape 21"/>
          <p:cNvSpPr/>
          <p:nvPr/>
        </p:nvSpPr>
        <p:spPr>
          <a:xfrm>
            <a:off x="9144000" y="3291840"/>
            <a:ext cx="173736" cy="173736"/>
          </a:xfrm>
          <a:prstGeom prst="ellipse">
            <a:avLst/>
          </a:prstGeom>
          <a:solidFill>
            <a:srgbClr val="23408E"/>
          </a:solidFill>
          <a:ln w="12700">
            <a:solidFill>
              <a:srgbClr val="23408E"/>
            </a:solidFill>
            <a:prstDash val="solid"/>
          </a:ln>
        </p:spPr>
      </p:sp>
      <p:sp>
        <p:nvSpPr>
          <p:cNvPr id="24" name="Shape 22"/>
          <p:cNvSpPr/>
          <p:nvPr/>
        </p:nvSpPr>
        <p:spPr>
          <a:xfrm flipV="1">
            <a:off x="8956548" y="3378708"/>
            <a:ext cx="274320" cy="731520"/>
          </a:xfrm>
          <a:prstGeom prst="line">
            <a:avLst/>
          </a:prstGeom>
          <a:noFill/>
          <a:ln w="16510">
            <a:solidFill>
              <a:srgbClr val="23408E"/>
            </a:solidFill>
            <a:prstDash val="solid"/>
          </a:ln>
        </p:spPr>
      </p:sp>
      <p:sp>
        <p:nvSpPr>
          <p:cNvPr id="25" name="Shape 23"/>
          <p:cNvSpPr/>
          <p:nvPr/>
        </p:nvSpPr>
        <p:spPr>
          <a:xfrm>
            <a:off x="8869680" y="4023360"/>
            <a:ext cx="173736" cy="173736"/>
          </a:xfrm>
          <a:prstGeom prst="ellipse">
            <a:avLst/>
          </a:prstGeom>
          <a:solidFill>
            <a:srgbClr val="B9C2D8"/>
          </a:solidFill>
          <a:ln w="12700">
            <a:solidFill>
              <a:srgbClr val="B9C2D8"/>
            </a:solidFill>
            <a:prstDash val="solid"/>
          </a:ln>
        </p:spPr>
      </p:sp>
      <p:sp>
        <p:nvSpPr>
          <p:cNvPr id="26" name="Shape 24"/>
          <p:cNvSpPr/>
          <p:nvPr/>
        </p:nvSpPr>
        <p:spPr>
          <a:xfrm>
            <a:off x="9230868" y="3378708"/>
            <a:ext cx="274320" cy="731520"/>
          </a:xfrm>
          <a:prstGeom prst="line">
            <a:avLst/>
          </a:prstGeom>
          <a:noFill/>
          <a:ln w="16510">
            <a:solidFill>
              <a:srgbClr val="23408E"/>
            </a:solidFill>
            <a:prstDash val="solid"/>
          </a:ln>
        </p:spPr>
      </p:sp>
      <p:sp>
        <p:nvSpPr>
          <p:cNvPr id="27" name="Shape 25"/>
          <p:cNvSpPr/>
          <p:nvPr/>
        </p:nvSpPr>
        <p:spPr>
          <a:xfrm>
            <a:off x="9418320" y="4023360"/>
            <a:ext cx="173736" cy="173736"/>
          </a:xfrm>
          <a:prstGeom prst="ellipse">
            <a:avLst/>
          </a:prstGeom>
          <a:solidFill>
            <a:srgbClr val="D98A1F"/>
          </a:solidFill>
          <a:ln w="12700">
            <a:solidFill>
              <a:srgbClr val="D98A1F"/>
            </a:solidFill>
            <a:prstDash val="solid"/>
          </a:ln>
        </p:spPr>
      </p:sp>
      <p:sp>
        <p:nvSpPr>
          <p:cNvPr id="28" name="Shape 26"/>
          <p:cNvSpPr/>
          <p:nvPr/>
        </p:nvSpPr>
        <p:spPr>
          <a:xfrm>
            <a:off x="9230868" y="2647188"/>
            <a:ext cx="914400" cy="731520"/>
          </a:xfrm>
          <a:prstGeom prst="line">
            <a:avLst/>
          </a:prstGeom>
          <a:noFill/>
          <a:ln w="16510">
            <a:solidFill>
              <a:srgbClr val="23408E"/>
            </a:solidFill>
            <a:prstDash val="solid"/>
          </a:ln>
        </p:spPr>
      </p:sp>
      <p:sp>
        <p:nvSpPr>
          <p:cNvPr id="29" name="Shape 27"/>
          <p:cNvSpPr/>
          <p:nvPr/>
        </p:nvSpPr>
        <p:spPr>
          <a:xfrm>
            <a:off x="10058400" y="3291840"/>
            <a:ext cx="173736" cy="173736"/>
          </a:xfrm>
          <a:prstGeom prst="ellipse">
            <a:avLst/>
          </a:prstGeom>
          <a:solidFill>
            <a:srgbClr val="23408E"/>
          </a:solidFill>
          <a:ln w="12700">
            <a:solidFill>
              <a:srgbClr val="23408E"/>
            </a:solidFill>
            <a:prstDash val="solid"/>
          </a:ln>
        </p:spPr>
      </p:sp>
      <p:sp>
        <p:nvSpPr>
          <p:cNvPr id="30" name="Shape 28"/>
          <p:cNvSpPr/>
          <p:nvPr/>
        </p:nvSpPr>
        <p:spPr>
          <a:xfrm flipV="1">
            <a:off x="9870948" y="3378708"/>
            <a:ext cx="274320" cy="731520"/>
          </a:xfrm>
          <a:prstGeom prst="line">
            <a:avLst/>
          </a:prstGeom>
          <a:noFill/>
          <a:ln w="16510">
            <a:solidFill>
              <a:srgbClr val="23408E"/>
            </a:solidFill>
            <a:prstDash val="solid"/>
          </a:ln>
        </p:spPr>
      </p:sp>
      <p:sp>
        <p:nvSpPr>
          <p:cNvPr id="31" name="Shape 29"/>
          <p:cNvSpPr/>
          <p:nvPr/>
        </p:nvSpPr>
        <p:spPr>
          <a:xfrm>
            <a:off x="9784080" y="4023360"/>
            <a:ext cx="173736" cy="173736"/>
          </a:xfrm>
          <a:prstGeom prst="ellipse">
            <a:avLst/>
          </a:prstGeom>
          <a:solidFill>
            <a:srgbClr val="B9C2D8"/>
          </a:solidFill>
          <a:ln w="12700">
            <a:solidFill>
              <a:srgbClr val="B9C2D8"/>
            </a:solidFill>
            <a:prstDash val="solid"/>
          </a:ln>
        </p:spPr>
      </p:sp>
      <p:sp>
        <p:nvSpPr>
          <p:cNvPr id="32" name="Shape 30"/>
          <p:cNvSpPr/>
          <p:nvPr/>
        </p:nvSpPr>
        <p:spPr>
          <a:xfrm>
            <a:off x="10145268" y="3378708"/>
            <a:ext cx="274320" cy="731520"/>
          </a:xfrm>
          <a:prstGeom prst="line">
            <a:avLst/>
          </a:prstGeom>
          <a:noFill/>
          <a:ln w="16510">
            <a:solidFill>
              <a:srgbClr val="23408E"/>
            </a:solidFill>
            <a:prstDash val="solid"/>
          </a:ln>
        </p:spPr>
      </p:sp>
      <p:sp>
        <p:nvSpPr>
          <p:cNvPr id="33" name="Shape 31"/>
          <p:cNvSpPr/>
          <p:nvPr/>
        </p:nvSpPr>
        <p:spPr>
          <a:xfrm>
            <a:off x="10332720" y="4023360"/>
            <a:ext cx="173736" cy="173736"/>
          </a:xfrm>
          <a:prstGeom prst="ellipse">
            <a:avLst/>
          </a:prstGeom>
          <a:solidFill>
            <a:srgbClr val="B9C2D8"/>
          </a:solidFill>
          <a:ln w="12700">
            <a:solidFill>
              <a:srgbClr val="B9C2D8"/>
            </a:solidFill>
            <a:prstDash val="solid"/>
          </a:ln>
        </p:spPr>
      </p:sp>
      <p:sp>
        <p:nvSpPr>
          <p:cNvPr id="34" name="Text 32"/>
          <p:cNvSpPr txBox="1"/>
          <p:nvPr/>
        </p:nvSpPr>
        <p:spPr>
          <a:xfrm>
            <a:off x="7178040" y="4526280"/>
            <a:ext cx="4114800" cy="548640"/>
          </a:xfrm>
          <a:prstGeom prst="rect">
            <a:avLst/>
          </a:prstGeom>
          <a:noFill/>
          <a:ln/>
        </p:spPr>
        <p:txBody>
          <a:bodyPr wrap="square" lIns="0" tIns="0" rIns="0" bIns="0" rtlCol="0" anchor="ctr"/>
          <a:lstStyle/>
          <a:p>
            <a:pPr indent="0" marL="0">
              <a:buNone/>
            </a:pPr>
            <a:r>
              <a:rPr lang="en-US" sz="950" i="1" dirty="0">
                <a:solidFill>
                  <a:srgbClr val="63697A"/>
                </a:solidFill>
                <a:latin typeface="Montserrat" pitchFamily="34" charset="0"/>
                <a:ea typeface="Montserrat" pitchFamily="34" charset="-122"/>
                <a:cs typeface="Montserrat" pitchFamily="34" charset="-120"/>
              </a:rPr>
              <a:t>Only one root-to-leaf path reaches the answer; the remainder of the tree is discarded.</a:t>
            </a:r>
            <a:endParaRPr lang="en-US" sz="950" dirty="0"/>
          </a:p>
        </p:txBody>
      </p:sp>
      <p:sp>
        <p:nvSpPr>
          <p:cNvPr id="35" name="Text 33"/>
          <p:cNvSpPr txBox="1"/>
          <p:nvPr/>
        </p:nvSpPr>
        <p:spPr>
          <a:xfrm>
            <a:off x="4206240" y="6217920"/>
            <a:ext cx="7498080" cy="274320"/>
          </a:xfrm>
          <a:prstGeom prst="rect">
            <a:avLst/>
          </a:prstGeom>
          <a:noFill/>
          <a:ln/>
        </p:spPr>
        <p:txBody>
          <a:bodyPr wrap="square" lIns="0" tIns="0" rIns="0" bIns="0" rtlCol="0" anchor="ctr"/>
          <a:lstStyle/>
          <a:p>
            <a:pPr algn="r" indent="0" marL="0">
              <a:buNone/>
            </a:pPr>
            <a:r>
              <a:rPr lang="en-US" sz="900" i="1" dirty="0">
                <a:solidFill>
                  <a:srgbClr val="63697A"/>
                </a:solidFill>
                <a:latin typeface="Montserrat" pitchFamily="34" charset="0"/>
                <a:ea typeface="Montserrat" pitchFamily="34" charset="-122"/>
                <a:cs typeface="Montserrat" pitchFamily="34" charset="-120"/>
              </a:rPr>
              <a:t>Yao et al., NeurIPS 2023, arXiv:2305.10601</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0149840" y="-502920"/>
            <a:ext cx="2377440" cy="960120"/>
          </a:xfrm>
          <a:prstGeom prst="roundRect">
            <a:avLst>
              <a:gd name="adj" fmla="val 38095"/>
            </a:avLst>
          </a:prstGeom>
          <a:solidFill>
            <a:srgbClr val="C9D8F5"/>
          </a:solidFill>
          <a:ln w="12700">
            <a:solidFill>
              <a:srgbClr val="333333"/>
            </a:solidFill>
            <a:prstDash val="solid"/>
          </a:ln>
        </p:spPr>
      </p:sp>
      <p:sp>
        <p:nvSpPr>
          <p:cNvPr id="3" name="Shape 1"/>
          <p:cNvSpPr/>
          <p:nvPr/>
        </p:nvSpPr>
        <p:spPr>
          <a:xfrm>
            <a:off x="10881360" y="0"/>
            <a:ext cx="2011680" cy="566928"/>
          </a:xfrm>
          <a:prstGeom prst="roundRect">
            <a:avLst>
              <a:gd name="adj" fmla="val 48387"/>
            </a:avLst>
          </a:prstGeom>
          <a:solidFill>
            <a:srgbClr val="23408E"/>
          </a:solidFill>
          <a:ln w="12700">
            <a:solidFill>
              <a:srgbClr val="333333"/>
            </a:solidFill>
            <a:prstDash val="solid"/>
          </a:ln>
        </p:spPr>
      </p:sp>
      <p:sp>
        <p:nvSpPr>
          <p:cNvPr id="4" name="Shape 2"/>
          <p:cNvSpPr/>
          <p:nvPr/>
        </p:nvSpPr>
        <p:spPr>
          <a:xfrm>
            <a:off x="-731520" y="6355080"/>
            <a:ext cx="1828800" cy="822960"/>
          </a:xfrm>
          <a:prstGeom prst="roundRect">
            <a:avLst>
              <a:gd name="adj" fmla="val 38889"/>
            </a:avLst>
          </a:prstGeom>
          <a:solidFill>
            <a:srgbClr val="23408E"/>
          </a:solidFill>
          <a:ln w="12700">
            <a:solidFill>
              <a:srgbClr val="333333"/>
            </a:solidFill>
            <a:prstDash val="solid"/>
          </a:ln>
        </p:spPr>
      </p:sp>
      <p:sp>
        <p:nvSpPr>
          <p:cNvPr id="5" name="Shape 3"/>
          <p:cNvSpPr/>
          <p:nvPr/>
        </p:nvSpPr>
        <p:spPr>
          <a:xfrm>
            <a:off x="320040" y="6583680"/>
            <a:ext cx="2743200" cy="731520"/>
          </a:xfrm>
          <a:prstGeom prst="roundRect">
            <a:avLst>
              <a:gd name="adj" fmla="val 43750"/>
            </a:avLst>
          </a:prstGeom>
          <a:solidFill>
            <a:srgbClr val="C9D8F5"/>
          </a:solidFill>
          <a:ln w="12700">
            <a:solidFill>
              <a:srgbClr val="333333"/>
            </a:solidFill>
            <a:prstDash val="solid"/>
          </a:ln>
        </p:spPr>
      </p:sp>
      <p:sp>
        <p:nvSpPr>
          <p:cNvPr id="6" name="Text 4"/>
          <p:cNvSpPr txBox="1"/>
          <p:nvPr/>
        </p:nvSpPr>
        <p:spPr>
          <a:xfrm>
            <a:off x="566928" y="237744"/>
            <a:ext cx="9052560" cy="603504"/>
          </a:xfrm>
          <a:prstGeom prst="rect">
            <a:avLst/>
          </a:prstGeom>
          <a:noFill/>
          <a:ln/>
        </p:spPr>
        <p:txBody>
          <a:bodyPr wrap="square" lIns="0" tIns="0" rIns="0" bIns="0" rtlCol="0" anchor="ctr"/>
          <a:lstStyle/>
          <a:p>
            <a:pPr indent="0" marL="0">
              <a:buNone/>
            </a:pPr>
            <a:r>
              <a:rPr lang="en-US" sz="3000" b="1" dirty="0">
                <a:solidFill>
                  <a:srgbClr val="23408E"/>
                </a:solidFill>
                <a:latin typeface="Montserrat" pitchFamily="34" charset="0"/>
                <a:ea typeface="Montserrat" pitchFamily="34" charset="-122"/>
                <a:cs typeface="Montserrat" pitchFamily="34" charset="-120"/>
              </a:rPr>
              <a:t>Study Summaries</a:t>
            </a:r>
            <a:endParaRPr lang="en-US" sz="3000" dirty="0"/>
          </a:p>
        </p:txBody>
      </p:sp>
      <p:sp>
        <p:nvSpPr>
          <p:cNvPr id="7" name="Shape 5"/>
          <p:cNvSpPr/>
          <p:nvPr/>
        </p:nvSpPr>
        <p:spPr>
          <a:xfrm>
            <a:off x="621792" y="914400"/>
            <a:ext cx="5120640" cy="0"/>
          </a:xfrm>
          <a:prstGeom prst="line">
            <a:avLst/>
          </a:prstGeom>
          <a:noFill/>
          <a:ln w="20320">
            <a:solidFill>
              <a:srgbClr val="16181D"/>
            </a:solidFill>
            <a:prstDash val="solid"/>
          </a:ln>
        </p:spPr>
      </p:sp>
      <p:sp>
        <p:nvSpPr>
          <p:cNvPr id="8" name="Shape 6"/>
          <p:cNvSpPr/>
          <p:nvPr/>
        </p:nvSpPr>
        <p:spPr>
          <a:xfrm>
            <a:off x="548640" y="859536"/>
            <a:ext cx="118872" cy="118872"/>
          </a:xfrm>
          <a:prstGeom prst="ellipse">
            <a:avLst/>
          </a:prstGeom>
          <a:solidFill>
            <a:srgbClr val="16181D"/>
          </a:solidFill>
          <a:ln w="12700">
            <a:solidFill>
              <a:srgbClr val="333333"/>
            </a:solidFill>
            <a:prstDash val="solid"/>
          </a:ln>
        </p:spPr>
      </p:sp>
      <p:sp>
        <p:nvSpPr>
          <p:cNvPr id="9" name="Shape 7"/>
          <p:cNvSpPr/>
          <p:nvPr/>
        </p:nvSpPr>
        <p:spPr>
          <a:xfrm>
            <a:off x="5687568" y="859536"/>
            <a:ext cx="118872" cy="118872"/>
          </a:xfrm>
          <a:prstGeom prst="ellipse">
            <a:avLst/>
          </a:prstGeom>
          <a:solidFill>
            <a:srgbClr val="16181D"/>
          </a:solidFill>
          <a:ln w="12700">
            <a:solidFill>
              <a:srgbClr val="333333"/>
            </a:solidFill>
            <a:prstDash val="solid"/>
          </a:ln>
        </p:spPr>
      </p:sp>
      <p:sp>
        <p:nvSpPr>
          <p:cNvPr id="10" name="Text 8"/>
          <p:cNvSpPr txBox="1"/>
          <p:nvPr/>
        </p:nvSpPr>
        <p:spPr>
          <a:xfrm>
            <a:off x="685800" y="1188720"/>
            <a:ext cx="10058400" cy="310896"/>
          </a:xfrm>
          <a:prstGeom prst="rect">
            <a:avLst/>
          </a:prstGeom>
          <a:noFill/>
          <a:ln/>
        </p:spPr>
        <p:txBody>
          <a:bodyPr wrap="square" lIns="0" tIns="0" rIns="0" bIns="0" rtlCol="0" anchor="ctr"/>
          <a:lstStyle/>
          <a:p>
            <a:pPr indent="0" marL="0">
              <a:buNone/>
            </a:pPr>
            <a:r>
              <a:rPr lang="en-US" sz="1450" b="1" dirty="0">
                <a:solidFill>
                  <a:srgbClr val="23408E"/>
                </a:solidFill>
                <a:latin typeface="Montserrat" pitchFamily="34" charset="0"/>
                <a:ea typeface="Montserrat" pitchFamily="34" charset="-122"/>
                <a:cs typeface="Montserrat" pitchFamily="34" charset="-120"/>
              </a:rPr>
              <a:t>Paper 3 : Graph of Thoughts - Solving Elaborate Problems with Large Language Models</a:t>
            </a:r>
            <a:endParaRPr lang="en-US" sz="1450" dirty="0"/>
          </a:p>
        </p:txBody>
      </p:sp>
      <p:sp>
        <p:nvSpPr>
          <p:cNvPr id="11" name="Text 9"/>
          <p:cNvSpPr txBox="1"/>
          <p:nvPr/>
        </p:nvSpPr>
        <p:spPr>
          <a:xfrm>
            <a:off x="685800" y="1499616"/>
            <a:ext cx="10058400" cy="256032"/>
          </a:xfrm>
          <a:prstGeom prst="rect">
            <a:avLst/>
          </a:prstGeom>
          <a:noFill/>
          <a:ln/>
        </p:spPr>
        <p:txBody>
          <a:bodyPr wrap="square" lIns="0" tIns="0" rIns="0" bIns="0" rtlCol="0" anchor="ctr"/>
          <a:lstStyle/>
          <a:p>
            <a:pPr indent="0" marL="0">
              <a:buNone/>
            </a:pPr>
            <a:r>
              <a:rPr lang="en-US" sz="1100" i="1" dirty="0">
                <a:solidFill>
                  <a:srgbClr val="D98A1F"/>
                </a:solidFill>
                <a:latin typeface="Montserrat" pitchFamily="34" charset="0"/>
                <a:ea typeface="Montserrat" pitchFamily="34" charset="-122"/>
                <a:cs typeface="Montserrat" pitchFamily="34" charset="-120"/>
              </a:rPr>
              <a:t>( Graph structure - our baseline, and the object we compress )</a:t>
            </a:r>
            <a:endParaRPr lang="en-US" sz="1100" dirty="0"/>
          </a:p>
        </p:txBody>
      </p:sp>
      <p:sp>
        <p:nvSpPr>
          <p:cNvPr id="12" name="Text 10"/>
          <p:cNvSpPr txBox="1"/>
          <p:nvPr/>
        </p:nvSpPr>
        <p:spPr>
          <a:xfrm>
            <a:off x="685800" y="1920240"/>
            <a:ext cx="5943600" cy="2743200"/>
          </a:xfrm>
          <a:prstGeom prst="rect">
            <a:avLst/>
          </a:prstGeom>
          <a:noFill/>
          <a:ln/>
        </p:spPr>
        <p:txBody>
          <a:bodyPr wrap="square" lIns="0" tIns="0" rIns="0" bIns="0" rtlCol="0" anchor="ctr"/>
          <a:lstStyle/>
          <a:p>
            <a:pPr marL="342900" indent="-342900">
              <a:lnSpc>
                <a:spcPct val="110000"/>
              </a:lnSpc>
              <a:spcAft>
                <a:spcPts val="700"/>
              </a:spcAft>
              <a:buSzPct val="100000"/>
              <a:buChar char="•"/>
            </a:pPr>
            <a:r>
              <a:rPr lang="en-US" sz="1150" dirty="0">
                <a:solidFill>
                  <a:srgbClr val="16181D"/>
                </a:solidFill>
                <a:latin typeface="Montserrat" pitchFamily="34" charset="0"/>
                <a:ea typeface="Montserrat" pitchFamily="34" charset="-122"/>
                <a:cs typeface="Montserrat" pitchFamily="34" charset="-120"/>
              </a:rPr>
              <a:t>Reasoning is a directed graph: vertices are thoughts, and an edge (a,b) means a's text was the direct input that produced b.</a:t>
            </a:r>
            <a:endParaRPr lang="en-US" sz="1150" dirty="0"/>
          </a:p>
          <a:p>
            <a:pPr marL="342900" indent="-342900">
              <a:lnSpc>
                <a:spcPct val="110000"/>
              </a:lnSpc>
              <a:spcAft>
                <a:spcPts val="700"/>
              </a:spcAft>
              <a:buSzPct val="100000"/>
              <a:buChar char="•"/>
            </a:pPr>
            <a:r>
              <a:rPr lang="en-US" sz="1150" dirty="0">
                <a:solidFill>
                  <a:srgbClr val="16181D"/>
                </a:solidFill>
                <a:latin typeface="Montserrat" pitchFamily="34" charset="0"/>
                <a:ea typeface="Montserrat" pitchFamily="34" charset="-122"/>
                <a:cs typeface="Montserrat" pitchFamily="34" charset="-120"/>
              </a:rPr>
              <a:t>Aggregation merges k thoughts into one, creating a vertex of in-degree k &gt; 1 - which a tree cannot contain, by definition.</a:t>
            </a:r>
            <a:endParaRPr lang="en-US" sz="1150" dirty="0"/>
          </a:p>
          <a:p>
            <a:pPr marL="342900" indent="-342900">
              <a:lnSpc>
                <a:spcPct val="110000"/>
              </a:lnSpc>
              <a:spcAft>
                <a:spcPts val="700"/>
              </a:spcAft>
              <a:buSzPct val="100000"/>
              <a:buChar char="•"/>
            </a:pPr>
            <a:r>
              <a:rPr lang="en-US" sz="1150" dirty="0">
                <a:solidFill>
                  <a:srgbClr val="16181D"/>
                </a:solidFill>
                <a:latin typeface="Montserrat" pitchFamily="34" charset="0"/>
                <a:ea typeface="Montserrat" pitchFamily="34" charset="-122"/>
                <a:cs typeface="Montserrat" pitchFamily="34" charset="-120"/>
              </a:rPr>
              <a:t>Reported gains of 62% in sorting quality over ToT with a 31% cost reduction, on ChatGPT-3.5.</a:t>
            </a:r>
            <a:endParaRPr lang="en-US" sz="1150" dirty="0"/>
          </a:p>
          <a:p>
            <a:pPr marL="342900" indent="-342900">
              <a:lnSpc>
                <a:spcPct val="110000"/>
              </a:lnSpc>
              <a:spcAft>
                <a:spcPts val="700"/>
              </a:spcAft>
              <a:buSzPct val="100000"/>
              <a:buChar char="•"/>
            </a:pPr>
            <a:r>
              <a:rPr lang="en-US" sz="1150" dirty="0">
                <a:solidFill>
                  <a:srgbClr val="16181D"/>
                </a:solidFill>
                <a:latin typeface="Montserrat" pitchFamily="34" charset="0"/>
                <a:ea typeface="Montserrat" pitchFamily="34" charset="-122"/>
                <a:cs typeface="Montserrat" pitchFamily="34" charset="-120"/>
              </a:rPr>
              <a:t>Latency log-k N at volume N: the only scheme where every computed thought retains a causal path to the answer.</a:t>
            </a:r>
            <a:endParaRPr lang="en-US" sz="1150" dirty="0"/>
          </a:p>
        </p:txBody>
      </p:sp>
      <p:sp>
        <p:nvSpPr>
          <p:cNvPr id="13" name="Shape 11"/>
          <p:cNvSpPr/>
          <p:nvPr/>
        </p:nvSpPr>
        <p:spPr>
          <a:xfrm>
            <a:off x="6949440" y="1920240"/>
            <a:ext cx="4572000" cy="3383280"/>
          </a:xfrm>
          <a:prstGeom prst="roundRect">
            <a:avLst>
              <a:gd name="adj" fmla="val 1351"/>
            </a:avLst>
          </a:prstGeom>
          <a:solidFill>
            <a:srgbClr val="FDF3E3"/>
          </a:solidFill>
          <a:ln w="12700">
            <a:solidFill>
              <a:srgbClr val="D8DEEC"/>
            </a:solidFill>
            <a:prstDash val="solid"/>
          </a:ln>
        </p:spPr>
      </p:sp>
      <p:sp>
        <p:nvSpPr>
          <p:cNvPr id="14" name="Text 12"/>
          <p:cNvSpPr txBox="1"/>
          <p:nvPr/>
        </p:nvSpPr>
        <p:spPr>
          <a:xfrm>
            <a:off x="7178040" y="2066544"/>
            <a:ext cx="4114800" cy="256032"/>
          </a:xfrm>
          <a:prstGeom prst="rect">
            <a:avLst/>
          </a:prstGeom>
          <a:noFill/>
          <a:ln/>
        </p:spPr>
        <p:txBody>
          <a:bodyPr wrap="square" lIns="0" tIns="0" rIns="0" bIns="0" rtlCol="0" anchor="ctr"/>
          <a:lstStyle/>
          <a:p>
            <a:pPr indent="0" marL="0">
              <a:buNone/>
            </a:pPr>
            <a:r>
              <a:rPr lang="en-US" sz="1050" b="1" dirty="0">
                <a:solidFill>
                  <a:srgbClr val="D98A1F"/>
                </a:solidFill>
                <a:latin typeface="Montserrat" pitchFamily="34" charset="0"/>
                <a:ea typeface="Montserrat" pitchFamily="34" charset="-122"/>
                <a:cs typeface="Montserrat" pitchFamily="34" charset="-120"/>
              </a:rPr>
              <a:t>Structure - merge sort executed by an LLM</a:t>
            </a:r>
            <a:endParaRPr lang="en-US" sz="1050" dirty="0"/>
          </a:p>
        </p:txBody>
      </p:sp>
      <p:sp>
        <p:nvSpPr>
          <p:cNvPr id="15" name="Shape 13"/>
          <p:cNvSpPr/>
          <p:nvPr/>
        </p:nvSpPr>
        <p:spPr>
          <a:xfrm flipV="1">
            <a:off x="8174736" y="2642616"/>
            <a:ext cx="1097280" cy="594360"/>
          </a:xfrm>
          <a:prstGeom prst="line">
            <a:avLst/>
          </a:prstGeom>
          <a:noFill/>
          <a:ln w="13970">
            <a:solidFill>
              <a:srgbClr val="AEB6C9"/>
            </a:solidFill>
            <a:prstDash val="solid"/>
          </a:ln>
        </p:spPr>
      </p:sp>
      <p:sp>
        <p:nvSpPr>
          <p:cNvPr id="16" name="Shape 14"/>
          <p:cNvSpPr/>
          <p:nvPr/>
        </p:nvSpPr>
        <p:spPr>
          <a:xfrm flipV="1">
            <a:off x="8906256" y="2642616"/>
            <a:ext cx="365760" cy="594360"/>
          </a:xfrm>
          <a:prstGeom prst="line">
            <a:avLst/>
          </a:prstGeom>
          <a:noFill/>
          <a:ln w="13970">
            <a:solidFill>
              <a:srgbClr val="AEB6C9"/>
            </a:solidFill>
            <a:prstDash val="solid"/>
          </a:ln>
        </p:spPr>
      </p:sp>
      <p:sp>
        <p:nvSpPr>
          <p:cNvPr id="17" name="Shape 15"/>
          <p:cNvSpPr/>
          <p:nvPr/>
        </p:nvSpPr>
        <p:spPr>
          <a:xfrm>
            <a:off x="9272016" y="2642616"/>
            <a:ext cx="365760" cy="594360"/>
          </a:xfrm>
          <a:prstGeom prst="line">
            <a:avLst/>
          </a:prstGeom>
          <a:noFill/>
          <a:ln w="13970">
            <a:solidFill>
              <a:srgbClr val="AEB6C9"/>
            </a:solidFill>
            <a:prstDash val="solid"/>
          </a:ln>
        </p:spPr>
      </p:sp>
      <p:sp>
        <p:nvSpPr>
          <p:cNvPr id="18" name="Shape 16"/>
          <p:cNvSpPr/>
          <p:nvPr/>
        </p:nvSpPr>
        <p:spPr>
          <a:xfrm>
            <a:off x="9272016" y="2642616"/>
            <a:ext cx="1097280" cy="594360"/>
          </a:xfrm>
          <a:prstGeom prst="line">
            <a:avLst/>
          </a:prstGeom>
          <a:noFill/>
          <a:ln w="13970">
            <a:solidFill>
              <a:srgbClr val="AEB6C9"/>
            </a:solidFill>
            <a:prstDash val="solid"/>
          </a:ln>
        </p:spPr>
      </p:sp>
      <p:sp>
        <p:nvSpPr>
          <p:cNvPr id="19" name="Shape 17"/>
          <p:cNvSpPr/>
          <p:nvPr/>
        </p:nvSpPr>
        <p:spPr>
          <a:xfrm>
            <a:off x="8174736" y="3236976"/>
            <a:ext cx="365760" cy="685800"/>
          </a:xfrm>
          <a:prstGeom prst="line">
            <a:avLst/>
          </a:prstGeom>
          <a:noFill/>
          <a:ln w="21590">
            <a:solidFill>
              <a:srgbClr val="D98A1F"/>
            </a:solidFill>
            <a:prstDash val="solid"/>
          </a:ln>
        </p:spPr>
      </p:sp>
      <p:sp>
        <p:nvSpPr>
          <p:cNvPr id="20" name="Shape 18"/>
          <p:cNvSpPr/>
          <p:nvPr/>
        </p:nvSpPr>
        <p:spPr>
          <a:xfrm flipV="1">
            <a:off x="8540496" y="3236976"/>
            <a:ext cx="365760" cy="685800"/>
          </a:xfrm>
          <a:prstGeom prst="line">
            <a:avLst/>
          </a:prstGeom>
          <a:noFill/>
          <a:ln w="21590">
            <a:solidFill>
              <a:srgbClr val="D98A1F"/>
            </a:solidFill>
            <a:prstDash val="solid"/>
          </a:ln>
        </p:spPr>
      </p:sp>
      <p:sp>
        <p:nvSpPr>
          <p:cNvPr id="21" name="Shape 19"/>
          <p:cNvSpPr/>
          <p:nvPr/>
        </p:nvSpPr>
        <p:spPr>
          <a:xfrm>
            <a:off x="9637776" y="3236976"/>
            <a:ext cx="365760" cy="685800"/>
          </a:xfrm>
          <a:prstGeom prst="line">
            <a:avLst/>
          </a:prstGeom>
          <a:noFill/>
          <a:ln w="21590">
            <a:solidFill>
              <a:srgbClr val="D98A1F"/>
            </a:solidFill>
            <a:prstDash val="solid"/>
          </a:ln>
        </p:spPr>
      </p:sp>
      <p:sp>
        <p:nvSpPr>
          <p:cNvPr id="22" name="Shape 20"/>
          <p:cNvSpPr/>
          <p:nvPr/>
        </p:nvSpPr>
        <p:spPr>
          <a:xfrm flipV="1">
            <a:off x="10003536" y="3236976"/>
            <a:ext cx="365760" cy="685800"/>
          </a:xfrm>
          <a:prstGeom prst="line">
            <a:avLst/>
          </a:prstGeom>
          <a:noFill/>
          <a:ln w="21590">
            <a:solidFill>
              <a:srgbClr val="D98A1F"/>
            </a:solidFill>
            <a:prstDash val="solid"/>
          </a:ln>
        </p:spPr>
      </p:sp>
      <p:sp>
        <p:nvSpPr>
          <p:cNvPr id="23" name="Shape 21"/>
          <p:cNvSpPr/>
          <p:nvPr/>
        </p:nvSpPr>
        <p:spPr>
          <a:xfrm>
            <a:off x="8540496" y="3922776"/>
            <a:ext cx="731520" cy="685800"/>
          </a:xfrm>
          <a:prstGeom prst="line">
            <a:avLst/>
          </a:prstGeom>
          <a:noFill/>
          <a:ln w="21590">
            <a:solidFill>
              <a:srgbClr val="D98A1F"/>
            </a:solidFill>
            <a:prstDash val="solid"/>
          </a:ln>
        </p:spPr>
      </p:sp>
      <p:sp>
        <p:nvSpPr>
          <p:cNvPr id="24" name="Shape 22"/>
          <p:cNvSpPr/>
          <p:nvPr/>
        </p:nvSpPr>
        <p:spPr>
          <a:xfrm flipV="1">
            <a:off x="9272016" y="3922776"/>
            <a:ext cx="731520" cy="685800"/>
          </a:xfrm>
          <a:prstGeom prst="line">
            <a:avLst/>
          </a:prstGeom>
          <a:noFill/>
          <a:ln w="21590">
            <a:solidFill>
              <a:srgbClr val="D98A1F"/>
            </a:solidFill>
            <a:prstDash val="solid"/>
          </a:ln>
        </p:spPr>
      </p:sp>
      <p:sp>
        <p:nvSpPr>
          <p:cNvPr id="25" name="Shape 23"/>
          <p:cNvSpPr/>
          <p:nvPr/>
        </p:nvSpPr>
        <p:spPr>
          <a:xfrm>
            <a:off x="9189720" y="2560320"/>
            <a:ext cx="164592" cy="164592"/>
          </a:xfrm>
          <a:prstGeom prst="ellipse">
            <a:avLst/>
          </a:prstGeom>
          <a:solidFill>
            <a:srgbClr val="23408E"/>
          </a:solidFill>
          <a:ln w="12700">
            <a:solidFill>
              <a:srgbClr val="23408E"/>
            </a:solidFill>
            <a:prstDash val="solid"/>
          </a:ln>
        </p:spPr>
      </p:sp>
      <p:sp>
        <p:nvSpPr>
          <p:cNvPr id="26" name="Shape 24"/>
          <p:cNvSpPr/>
          <p:nvPr/>
        </p:nvSpPr>
        <p:spPr>
          <a:xfrm>
            <a:off x="8092440" y="3154680"/>
            <a:ext cx="164592" cy="164592"/>
          </a:xfrm>
          <a:prstGeom prst="ellipse">
            <a:avLst/>
          </a:prstGeom>
          <a:solidFill>
            <a:srgbClr val="23408E"/>
          </a:solidFill>
          <a:ln w="12700">
            <a:solidFill>
              <a:srgbClr val="23408E"/>
            </a:solidFill>
            <a:prstDash val="solid"/>
          </a:ln>
        </p:spPr>
      </p:sp>
      <p:sp>
        <p:nvSpPr>
          <p:cNvPr id="27" name="Shape 25"/>
          <p:cNvSpPr/>
          <p:nvPr/>
        </p:nvSpPr>
        <p:spPr>
          <a:xfrm>
            <a:off x="8823960" y="3154680"/>
            <a:ext cx="164592" cy="164592"/>
          </a:xfrm>
          <a:prstGeom prst="ellipse">
            <a:avLst/>
          </a:prstGeom>
          <a:solidFill>
            <a:srgbClr val="23408E"/>
          </a:solidFill>
          <a:ln w="12700">
            <a:solidFill>
              <a:srgbClr val="23408E"/>
            </a:solidFill>
            <a:prstDash val="solid"/>
          </a:ln>
        </p:spPr>
      </p:sp>
      <p:sp>
        <p:nvSpPr>
          <p:cNvPr id="28" name="Shape 26"/>
          <p:cNvSpPr/>
          <p:nvPr/>
        </p:nvSpPr>
        <p:spPr>
          <a:xfrm>
            <a:off x="9555480" y="3154680"/>
            <a:ext cx="164592" cy="164592"/>
          </a:xfrm>
          <a:prstGeom prst="ellipse">
            <a:avLst/>
          </a:prstGeom>
          <a:solidFill>
            <a:srgbClr val="23408E"/>
          </a:solidFill>
          <a:ln w="12700">
            <a:solidFill>
              <a:srgbClr val="23408E"/>
            </a:solidFill>
            <a:prstDash val="solid"/>
          </a:ln>
        </p:spPr>
      </p:sp>
      <p:sp>
        <p:nvSpPr>
          <p:cNvPr id="29" name="Shape 27"/>
          <p:cNvSpPr/>
          <p:nvPr/>
        </p:nvSpPr>
        <p:spPr>
          <a:xfrm>
            <a:off x="10287000" y="3154680"/>
            <a:ext cx="164592" cy="164592"/>
          </a:xfrm>
          <a:prstGeom prst="ellipse">
            <a:avLst/>
          </a:prstGeom>
          <a:solidFill>
            <a:srgbClr val="23408E"/>
          </a:solidFill>
          <a:ln w="12700">
            <a:solidFill>
              <a:srgbClr val="23408E"/>
            </a:solidFill>
            <a:prstDash val="solid"/>
          </a:ln>
        </p:spPr>
      </p:sp>
      <p:sp>
        <p:nvSpPr>
          <p:cNvPr id="30" name="Shape 28"/>
          <p:cNvSpPr/>
          <p:nvPr/>
        </p:nvSpPr>
        <p:spPr>
          <a:xfrm>
            <a:off x="8458200" y="3840480"/>
            <a:ext cx="164592" cy="164592"/>
          </a:xfrm>
          <a:prstGeom prst="ellipse">
            <a:avLst/>
          </a:prstGeom>
          <a:solidFill>
            <a:srgbClr val="D98A1F"/>
          </a:solidFill>
          <a:ln w="12700">
            <a:solidFill>
              <a:srgbClr val="D98A1F"/>
            </a:solidFill>
            <a:prstDash val="solid"/>
          </a:ln>
        </p:spPr>
      </p:sp>
      <p:sp>
        <p:nvSpPr>
          <p:cNvPr id="31" name="Shape 29"/>
          <p:cNvSpPr/>
          <p:nvPr/>
        </p:nvSpPr>
        <p:spPr>
          <a:xfrm>
            <a:off x="9921240" y="3840480"/>
            <a:ext cx="164592" cy="164592"/>
          </a:xfrm>
          <a:prstGeom prst="ellipse">
            <a:avLst/>
          </a:prstGeom>
          <a:solidFill>
            <a:srgbClr val="D98A1F"/>
          </a:solidFill>
          <a:ln w="12700">
            <a:solidFill>
              <a:srgbClr val="D98A1F"/>
            </a:solidFill>
            <a:prstDash val="solid"/>
          </a:ln>
        </p:spPr>
      </p:sp>
      <p:sp>
        <p:nvSpPr>
          <p:cNvPr id="32" name="Shape 30"/>
          <p:cNvSpPr/>
          <p:nvPr/>
        </p:nvSpPr>
        <p:spPr>
          <a:xfrm>
            <a:off x="9189720" y="4526280"/>
            <a:ext cx="164592" cy="164592"/>
          </a:xfrm>
          <a:prstGeom prst="ellipse">
            <a:avLst/>
          </a:prstGeom>
          <a:solidFill>
            <a:srgbClr val="D98A1F"/>
          </a:solidFill>
          <a:ln w="12700">
            <a:solidFill>
              <a:srgbClr val="D98A1F"/>
            </a:solidFill>
            <a:prstDash val="solid"/>
          </a:ln>
        </p:spPr>
      </p:sp>
      <p:sp>
        <p:nvSpPr>
          <p:cNvPr id="33" name="Text 31"/>
          <p:cNvSpPr txBox="1"/>
          <p:nvPr/>
        </p:nvSpPr>
        <p:spPr>
          <a:xfrm>
            <a:off x="7178040" y="4919472"/>
            <a:ext cx="4114800" cy="256032"/>
          </a:xfrm>
          <a:prstGeom prst="rect">
            <a:avLst/>
          </a:prstGeom>
          <a:noFill/>
          <a:ln/>
        </p:spPr>
        <p:txBody>
          <a:bodyPr wrap="square" lIns="0" tIns="0" rIns="0" bIns="0" rtlCol="0" anchor="ctr"/>
          <a:lstStyle/>
          <a:p>
            <a:pPr algn="ctr" indent="0" marL="0">
              <a:buNone/>
            </a:pPr>
            <a:r>
              <a:rPr lang="en-US" sz="950" dirty="0">
                <a:solidFill>
                  <a:srgbClr val="16181D"/>
                </a:solidFill>
                <a:latin typeface="Montserrat" pitchFamily="34" charset="0"/>
                <a:ea typeface="Montserrat" pitchFamily="34" charset="-122"/>
                <a:cs typeface="Montserrat" pitchFamily="34" charset="-120"/>
              </a:rPr>
              <a:t>split  -&gt;  sort chunks  -&gt;  merge  -&gt;  merge</a:t>
            </a:r>
            <a:endParaRPr lang="en-US" sz="950" dirty="0"/>
          </a:p>
        </p:txBody>
      </p:sp>
      <p:sp>
        <p:nvSpPr>
          <p:cNvPr id="34" name="Text 32"/>
          <p:cNvSpPr txBox="1"/>
          <p:nvPr/>
        </p:nvSpPr>
        <p:spPr>
          <a:xfrm>
            <a:off x="4206240" y="6217920"/>
            <a:ext cx="7498080" cy="274320"/>
          </a:xfrm>
          <a:prstGeom prst="rect">
            <a:avLst/>
          </a:prstGeom>
          <a:noFill/>
          <a:ln/>
        </p:spPr>
        <p:txBody>
          <a:bodyPr wrap="square" lIns="0" tIns="0" rIns="0" bIns="0" rtlCol="0" anchor="ctr"/>
          <a:lstStyle/>
          <a:p>
            <a:pPr algn="r" indent="0" marL="0">
              <a:buNone/>
            </a:pPr>
            <a:r>
              <a:rPr lang="en-US" sz="900" i="1" dirty="0">
                <a:solidFill>
                  <a:srgbClr val="63697A"/>
                </a:solidFill>
                <a:latin typeface="Montserrat" pitchFamily="34" charset="0"/>
                <a:ea typeface="Montserrat" pitchFamily="34" charset="-122"/>
                <a:cs typeface="Montserrat" pitchFamily="34" charset="-120"/>
              </a:rPr>
              <a:t>Besta et al., AAAI 2024, arXiv:2308.09687</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0149840" y="-502920"/>
            <a:ext cx="2377440" cy="960120"/>
          </a:xfrm>
          <a:prstGeom prst="roundRect">
            <a:avLst>
              <a:gd name="adj" fmla="val 38095"/>
            </a:avLst>
          </a:prstGeom>
          <a:solidFill>
            <a:srgbClr val="C9D8F5"/>
          </a:solidFill>
          <a:ln w="12700">
            <a:solidFill>
              <a:srgbClr val="333333"/>
            </a:solidFill>
            <a:prstDash val="solid"/>
          </a:ln>
        </p:spPr>
      </p:sp>
      <p:sp>
        <p:nvSpPr>
          <p:cNvPr id="3" name="Shape 1"/>
          <p:cNvSpPr/>
          <p:nvPr/>
        </p:nvSpPr>
        <p:spPr>
          <a:xfrm>
            <a:off x="10881360" y="0"/>
            <a:ext cx="2011680" cy="566928"/>
          </a:xfrm>
          <a:prstGeom prst="roundRect">
            <a:avLst>
              <a:gd name="adj" fmla="val 48387"/>
            </a:avLst>
          </a:prstGeom>
          <a:solidFill>
            <a:srgbClr val="23408E"/>
          </a:solidFill>
          <a:ln w="12700">
            <a:solidFill>
              <a:srgbClr val="333333"/>
            </a:solidFill>
            <a:prstDash val="solid"/>
          </a:ln>
        </p:spPr>
      </p:sp>
      <p:sp>
        <p:nvSpPr>
          <p:cNvPr id="4" name="Shape 2"/>
          <p:cNvSpPr/>
          <p:nvPr/>
        </p:nvSpPr>
        <p:spPr>
          <a:xfrm>
            <a:off x="-731520" y="6355080"/>
            <a:ext cx="1828800" cy="822960"/>
          </a:xfrm>
          <a:prstGeom prst="roundRect">
            <a:avLst>
              <a:gd name="adj" fmla="val 38889"/>
            </a:avLst>
          </a:prstGeom>
          <a:solidFill>
            <a:srgbClr val="23408E"/>
          </a:solidFill>
          <a:ln w="12700">
            <a:solidFill>
              <a:srgbClr val="333333"/>
            </a:solidFill>
            <a:prstDash val="solid"/>
          </a:ln>
        </p:spPr>
      </p:sp>
      <p:sp>
        <p:nvSpPr>
          <p:cNvPr id="5" name="Shape 3"/>
          <p:cNvSpPr/>
          <p:nvPr/>
        </p:nvSpPr>
        <p:spPr>
          <a:xfrm>
            <a:off x="320040" y="6583680"/>
            <a:ext cx="2743200" cy="731520"/>
          </a:xfrm>
          <a:prstGeom prst="roundRect">
            <a:avLst>
              <a:gd name="adj" fmla="val 43750"/>
            </a:avLst>
          </a:prstGeom>
          <a:solidFill>
            <a:srgbClr val="C9D8F5"/>
          </a:solidFill>
          <a:ln w="12700">
            <a:solidFill>
              <a:srgbClr val="333333"/>
            </a:solidFill>
            <a:prstDash val="solid"/>
          </a:ln>
        </p:spPr>
      </p:sp>
      <p:sp>
        <p:nvSpPr>
          <p:cNvPr id="6" name="Text 4"/>
          <p:cNvSpPr txBox="1"/>
          <p:nvPr/>
        </p:nvSpPr>
        <p:spPr>
          <a:xfrm>
            <a:off x="566928" y="237744"/>
            <a:ext cx="9052560" cy="603504"/>
          </a:xfrm>
          <a:prstGeom prst="rect">
            <a:avLst/>
          </a:prstGeom>
          <a:noFill/>
          <a:ln/>
        </p:spPr>
        <p:txBody>
          <a:bodyPr wrap="square" lIns="0" tIns="0" rIns="0" bIns="0" rtlCol="0" anchor="ctr"/>
          <a:lstStyle/>
          <a:p>
            <a:pPr indent="0" marL="0">
              <a:buNone/>
            </a:pPr>
            <a:r>
              <a:rPr lang="en-US" sz="3000" b="1" dirty="0">
                <a:solidFill>
                  <a:srgbClr val="23408E"/>
                </a:solidFill>
                <a:latin typeface="Montserrat" pitchFamily="34" charset="0"/>
                <a:ea typeface="Montserrat" pitchFamily="34" charset="-122"/>
                <a:cs typeface="Montserrat" pitchFamily="34" charset="-120"/>
              </a:rPr>
              <a:t>Study Summaries</a:t>
            </a:r>
            <a:endParaRPr lang="en-US" sz="3000" dirty="0"/>
          </a:p>
        </p:txBody>
      </p:sp>
      <p:sp>
        <p:nvSpPr>
          <p:cNvPr id="7" name="Shape 5"/>
          <p:cNvSpPr/>
          <p:nvPr/>
        </p:nvSpPr>
        <p:spPr>
          <a:xfrm>
            <a:off x="621792" y="914400"/>
            <a:ext cx="5120640" cy="0"/>
          </a:xfrm>
          <a:prstGeom prst="line">
            <a:avLst/>
          </a:prstGeom>
          <a:noFill/>
          <a:ln w="20320">
            <a:solidFill>
              <a:srgbClr val="16181D"/>
            </a:solidFill>
            <a:prstDash val="solid"/>
          </a:ln>
        </p:spPr>
      </p:sp>
      <p:sp>
        <p:nvSpPr>
          <p:cNvPr id="8" name="Shape 6"/>
          <p:cNvSpPr/>
          <p:nvPr/>
        </p:nvSpPr>
        <p:spPr>
          <a:xfrm>
            <a:off x="548640" y="859536"/>
            <a:ext cx="118872" cy="118872"/>
          </a:xfrm>
          <a:prstGeom prst="ellipse">
            <a:avLst/>
          </a:prstGeom>
          <a:solidFill>
            <a:srgbClr val="16181D"/>
          </a:solidFill>
          <a:ln w="12700">
            <a:solidFill>
              <a:srgbClr val="333333"/>
            </a:solidFill>
            <a:prstDash val="solid"/>
          </a:ln>
        </p:spPr>
      </p:sp>
      <p:sp>
        <p:nvSpPr>
          <p:cNvPr id="9" name="Shape 7"/>
          <p:cNvSpPr/>
          <p:nvPr/>
        </p:nvSpPr>
        <p:spPr>
          <a:xfrm>
            <a:off x="5687568" y="859536"/>
            <a:ext cx="118872" cy="118872"/>
          </a:xfrm>
          <a:prstGeom prst="ellipse">
            <a:avLst/>
          </a:prstGeom>
          <a:solidFill>
            <a:srgbClr val="16181D"/>
          </a:solidFill>
          <a:ln w="12700">
            <a:solidFill>
              <a:srgbClr val="333333"/>
            </a:solidFill>
            <a:prstDash val="solid"/>
          </a:ln>
        </p:spPr>
      </p:sp>
      <p:sp>
        <p:nvSpPr>
          <p:cNvPr id="10" name="Text 8"/>
          <p:cNvSpPr txBox="1"/>
          <p:nvPr/>
        </p:nvSpPr>
        <p:spPr>
          <a:xfrm>
            <a:off x="685800" y="1188720"/>
            <a:ext cx="10058400" cy="310896"/>
          </a:xfrm>
          <a:prstGeom prst="rect">
            <a:avLst/>
          </a:prstGeom>
          <a:noFill/>
          <a:ln/>
        </p:spPr>
        <p:txBody>
          <a:bodyPr wrap="square" lIns="0" tIns="0" rIns="0" bIns="0" rtlCol="0" anchor="ctr"/>
          <a:lstStyle/>
          <a:p>
            <a:pPr indent="0" marL="0">
              <a:buNone/>
            </a:pPr>
            <a:r>
              <a:rPr lang="en-US" sz="1450" b="1" dirty="0">
                <a:solidFill>
                  <a:srgbClr val="23408E"/>
                </a:solidFill>
                <a:latin typeface="Montserrat" pitchFamily="34" charset="0"/>
                <a:ea typeface="Montserrat" pitchFamily="34" charset="-122"/>
                <a:cs typeface="Montserrat" pitchFamily="34" charset="-120"/>
              </a:rPr>
              <a:t>Paper 4 : Compression of Chain-of-Thought Reasoning</a:t>
            </a:r>
            <a:endParaRPr lang="en-US" sz="1450" dirty="0"/>
          </a:p>
        </p:txBody>
      </p:sp>
      <p:sp>
        <p:nvSpPr>
          <p:cNvPr id="11" name="Text 9"/>
          <p:cNvSpPr txBox="1"/>
          <p:nvPr/>
        </p:nvSpPr>
        <p:spPr>
          <a:xfrm>
            <a:off x="685800" y="1499616"/>
            <a:ext cx="10058400" cy="256032"/>
          </a:xfrm>
          <a:prstGeom prst="rect">
            <a:avLst/>
          </a:prstGeom>
          <a:noFill/>
          <a:ln/>
        </p:spPr>
        <p:txBody>
          <a:bodyPr wrap="square" lIns="0" tIns="0" rIns="0" bIns="0" rtlCol="0" anchor="ctr"/>
          <a:lstStyle/>
          <a:p>
            <a:pPr indent="0" marL="0">
              <a:buNone/>
            </a:pPr>
            <a:r>
              <a:rPr lang="en-US" sz="1100" i="1" dirty="0">
                <a:solidFill>
                  <a:srgbClr val="63697A"/>
                </a:solidFill>
                <a:latin typeface="Montserrat" pitchFamily="34" charset="0"/>
                <a:ea typeface="Montserrat" pitchFamily="34" charset="-122"/>
                <a:cs typeface="Montserrat" pitchFamily="34" charset="-120"/>
              </a:rPr>
              <a:t>( The literature we borrow from - all of it operates on a single chain )</a:t>
            </a:r>
            <a:endParaRPr lang="en-US" sz="11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685800" y="1920240"/>
          <a:ext cx="6858000" cy="914400"/>
        </p:xfrm>
        <a:graphic>
          <a:graphicData uri="http://schemas.openxmlformats.org/drawingml/2006/table">
            <a:tbl>
              <a:tblPr/>
              <a:tblGrid>
                <a:gridCol w="1554480"/>
                <a:gridCol w="2651760"/>
                <a:gridCol w="2651760"/>
              </a:tblGrid>
              <a:tr h="512064">
                <a:tc>
                  <a:txBody>
                    <a:bodyPr/>
                    <a:lstStyle/>
                    <a:p>
                      <a:pPr indent="0" marL="0">
                        <a:buNone/>
                      </a:pPr>
                      <a:r>
                        <a:rPr lang="en-US" sz="950" b="1" dirty="0">
                          <a:solidFill>
                            <a:srgbClr val="FFFFFF"/>
                          </a:solidFill>
                          <a:latin typeface="Montserrat" pitchFamily="34" charset="0"/>
                          <a:ea typeface="Montserrat" pitchFamily="34" charset="-122"/>
                          <a:cs typeface="Montserrat" pitchFamily="34" charset="-120"/>
                        </a:rPr>
                        <a:t>Method</a:t>
                      </a:r>
                      <a:endParaRPr lang="en-US" sz="950" dirty="0">
                        <a:latin typeface="Montserrat" charset="0"/>
                        <a:ea typeface="Montserrat" charset="0"/>
                        <a:cs typeface="Montserrat" charset="0"/>
                      </a:endParaRPr>
                    </a:p>
                  </a:txBody>
                  <a:tcPr marL="91440" marR="91440" marT="45720" marB="45720" anchor="ctr">
                    <a:lnL w="12700" cap="flat" cmpd="sng" algn="ctr">
                      <a:solidFill>
                        <a:srgbClr val="DCE2EF"/>
                      </a:solidFill>
                      <a:prstDash val="solid"/>
                      <a:round/>
                      <a:headEnd type="none" w="med" len="med"/>
                      <a:tailEnd type="none" w="med" len="med"/>
                    </a:lnL>
                    <a:lnR w="12700" cap="flat" cmpd="sng" algn="ctr">
                      <a:solidFill>
                        <a:srgbClr val="DCE2EF"/>
                      </a:solidFill>
                      <a:prstDash val="solid"/>
                      <a:round/>
                      <a:headEnd type="none" w="med" len="med"/>
                      <a:tailEnd type="none" w="med" len="med"/>
                    </a:lnR>
                    <a:lnT w="12700" cap="flat" cmpd="sng" algn="ctr">
                      <a:solidFill>
                        <a:srgbClr val="DCE2EF"/>
                      </a:solidFill>
                      <a:prstDash val="solid"/>
                      <a:round/>
                      <a:headEnd type="none" w="med" len="med"/>
                      <a:tailEnd type="none" w="med" len="med"/>
                    </a:lnT>
                    <a:lnB w="12700" cap="flat" cmpd="sng" algn="ctr">
                      <a:solidFill>
                        <a:srgbClr val="DCE2EF"/>
                      </a:solidFill>
                      <a:prstDash val="solid"/>
                      <a:round/>
                      <a:headEnd type="none" w="med" len="med"/>
                      <a:tailEnd type="none" w="med" len="med"/>
                    </a:lnB>
                    <a:solidFill>
                      <a:srgbClr val="23408E"/>
                    </a:solidFill>
                  </a:tcPr>
                </a:tc>
                <a:tc>
                  <a:txBody>
                    <a:bodyPr/>
                    <a:lstStyle/>
                    <a:p>
                      <a:pPr indent="0" marL="0">
                        <a:buNone/>
                      </a:pPr>
                      <a:r>
                        <a:rPr lang="en-US" sz="950" b="1" dirty="0">
                          <a:solidFill>
                            <a:srgbClr val="FFFFFF"/>
                          </a:solidFill>
                          <a:latin typeface="Montserrat" pitchFamily="34" charset="0"/>
                          <a:ea typeface="Montserrat" pitchFamily="34" charset="-122"/>
                          <a:cs typeface="Montserrat" pitchFamily="34" charset="-120"/>
                        </a:rPr>
                        <a:t>Mechanism</a:t>
                      </a:r>
                      <a:endParaRPr lang="en-US" sz="950" dirty="0">
                        <a:latin typeface="Montserrat" charset="0"/>
                        <a:ea typeface="Montserrat" charset="0"/>
                        <a:cs typeface="Montserrat" charset="0"/>
                      </a:endParaRPr>
                    </a:p>
                  </a:txBody>
                  <a:tcPr marL="91440" marR="91440" marT="45720" marB="45720" anchor="ctr">
                    <a:lnL w="12700" cap="flat" cmpd="sng" algn="ctr">
                      <a:solidFill>
                        <a:srgbClr val="DCE2EF"/>
                      </a:solidFill>
                      <a:prstDash val="solid"/>
                      <a:round/>
                      <a:headEnd type="none" w="med" len="med"/>
                      <a:tailEnd type="none" w="med" len="med"/>
                    </a:lnL>
                    <a:lnR w="12700" cap="flat" cmpd="sng" algn="ctr">
                      <a:solidFill>
                        <a:srgbClr val="DCE2EF"/>
                      </a:solidFill>
                      <a:prstDash val="solid"/>
                      <a:round/>
                      <a:headEnd type="none" w="med" len="med"/>
                      <a:tailEnd type="none" w="med" len="med"/>
                    </a:lnR>
                    <a:lnT w="12700" cap="flat" cmpd="sng" algn="ctr">
                      <a:solidFill>
                        <a:srgbClr val="DCE2EF"/>
                      </a:solidFill>
                      <a:prstDash val="solid"/>
                      <a:round/>
                      <a:headEnd type="none" w="med" len="med"/>
                      <a:tailEnd type="none" w="med" len="med"/>
                    </a:lnT>
                    <a:lnB w="12700" cap="flat" cmpd="sng" algn="ctr">
                      <a:solidFill>
                        <a:srgbClr val="DCE2EF"/>
                      </a:solidFill>
                      <a:prstDash val="solid"/>
                      <a:round/>
                      <a:headEnd type="none" w="med" len="med"/>
                      <a:tailEnd type="none" w="med" len="med"/>
                    </a:lnB>
                    <a:solidFill>
                      <a:srgbClr val="23408E"/>
                    </a:solidFill>
                  </a:tcPr>
                </a:tc>
                <a:tc>
                  <a:txBody>
                    <a:bodyPr/>
                    <a:lstStyle/>
                    <a:p>
                      <a:pPr indent="0" marL="0">
                        <a:buNone/>
                      </a:pPr>
                      <a:r>
                        <a:rPr lang="en-US" sz="950" b="1" dirty="0">
                          <a:solidFill>
                            <a:srgbClr val="FFFFFF"/>
                          </a:solidFill>
                          <a:latin typeface="Montserrat" pitchFamily="34" charset="0"/>
                          <a:ea typeface="Montserrat" pitchFamily="34" charset="-122"/>
                          <a:cs typeface="Montserrat" pitchFamily="34" charset="-120"/>
                        </a:rPr>
                        <a:t>Reported effect</a:t>
                      </a:r>
                      <a:endParaRPr lang="en-US" sz="950" dirty="0">
                        <a:latin typeface="Montserrat" charset="0"/>
                        <a:ea typeface="Montserrat" charset="0"/>
                        <a:cs typeface="Montserrat" charset="0"/>
                      </a:endParaRPr>
                    </a:p>
                  </a:txBody>
                  <a:tcPr marL="91440" marR="91440" marT="45720" marB="45720" anchor="ctr">
                    <a:lnL w="12700" cap="flat" cmpd="sng" algn="ctr">
                      <a:solidFill>
                        <a:srgbClr val="DCE2EF"/>
                      </a:solidFill>
                      <a:prstDash val="solid"/>
                      <a:round/>
                      <a:headEnd type="none" w="med" len="med"/>
                      <a:tailEnd type="none" w="med" len="med"/>
                    </a:lnL>
                    <a:lnR w="12700" cap="flat" cmpd="sng" algn="ctr">
                      <a:solidFill>
                        <a:srgbClr val="DCE2EF"/>
                      </a:solidFill>
                      <a:prstDash val="solid"/>
                      <a:round/>
                      <a:headEnd type="none" w="med" len="med"/>
                      <a:tailEnd type="none" w="med" len="med"/>
                    </a:lnR>
                    <a:lnT w="12700" cap="flat" cmpd="sng" algn="ctr">
                      <a:solidFill>
                        <a:srgbClr val="DCE2EF"/>
                      </a:solidFill>
                      <a:prstDash val="solid"/>
                      <a:round/>
                      <a:headEnd type="none" w="med" len="med"/>
                      <a:tailEnd type="none" w="med" len="med"/>
                    </a:lnT>
                    <a:lnB w="12700" cap="flat" cmpd="sng" algn="ctr">
                      <a:solidFill>
                        <a:srgbClr val="DCE2EF"/>
                      </a:solidFill>
                      <a:prstDash val="solid"/>
                      <a:round/>
                      <a:headEnd type="none" w="med" len="med"/>
                      <a:tailEnd type="none" w="med" len="med"/>
                    </a:lnB>
                    <a:solidFill>
                      <a:srgbClr val="23408E"/>
                    </a:solidFill>
                  </a:tcPr>
                </a:tc>
              </a:tr>
              <a:tr h="512064">
                <a:tc>
                  <a:txBody>
                    <a:bodyPr/>
                    <a:lstStyle/>
                    <a:p>
                      <a:pPr indent="0" marL="0">
                        <a:buNone/>
                      </a:pPr>
                      <a:r>
                        <a:rPr lang="en-US" sz="950" b="1" dirty="0">
                          <a:solidFill>
                            <a:srgbClr val="16181D"/>
                          </a:solidFill>
                          <a:latin typeface="Montserrat" pitchFamily="34" charset="0"/>
                          <a:ea typeface="Montserrat" pitchFamily="34" charset="-122"/>
                          <a:cs typeface="Montserrat" pitchFamily="34" charset="-120"/>
                        </a:rPr>
                        <a:t>Chain of Draft</a:t>
                      </a:r>
                      <a:endParaRPr lang="en-US" sz="950" dirty="0">
                        <a:latin typeface="Montserrat" charset="0"/>
                        <a:ea typeface="Montserrat" charset="0"/>
                        <a:cs typeface="Montserrat" charset="0"/>
                      </a:endParaRPr>
                    </a:p>
                  </a:txBody>
                  <a:tcPr marL="91440" marR="91440" marT="45720" marB="45720" anchor="ctr">
                    <a:lnL w="12700" cap="flat" cmpd="sng" algn="ctr">
                      <a:solidFill>
                        <a:srgbClr val="DCE2EF"/>
                      </a:solidFill>
                      <a:prstDash val="solid"/>
                      <a:round/>
                      <a:headEnd type="none" w="med" len="med"/>
                      <a:tailEnd type="none" w="med" len="med"/>
                    </a:lnL>
                    <a:lnR w="12700" cap="flat" cmpd="sng" algn="ctr">
                      <a:solidFill>
                        <a:srgbClr val="DCE2EF"/>
                      </a:solidFill>
                      <a:prstDash val="solid"/>
                      <a:round/>
                      <a:headEnd type="none" w="med" len="med"/>
                      <a:tailEnd type="none" w="med" len="med"/>
                    </a:lnR>
                    <a:lnT w="12700" cap="flat" cmpd="sng" algn="ctr">
                      <a:solidFill>
                        <a:srgbClr val="DCE2EF"/>
                      </a:solidFill>
                      <a:prstDash val="solid"/>
                      <a:round/>
                      <a:headEnd type="none" w="med" len="med"/>
                      <a:tailEnd type="none" w="med" len="med"/>
                    </a:lnT>
                    <a:lnB w="12700" cap="flat" cmpd="sng" algn="ctr">
                      <a:solidFill>
                        <a:srgbClr val="DCE2EF"/>
                      </a:solidFill>
                      <a:prstDash val="solid"/>
                      <a:round/>
                      <a:headEnd type="none" w="med" len="med"/>
                      <a:tailEnd type="none" w="med" len="med"/>
                    </a:lnB>
                    <a:solidFill>
                      <a:srgbClr val="F4F6FB"/>
                    </a:solidFill>
                  </a:tcPr>
                </a:tc>
                <a:tc>
                  <a:txBody>
                    <a:bodyPr/>
                    <a:lstStyle/>
                    <a:p>
                      <a:pPr indent="0" marL="0">
                        <a:buNone/>
                      </a:pPr>
                      <a:r>
                        <a:rPr lang="en-US" sz="950" dirty="0">
                          <a:solidFill>
                            <a:srgbClr val="16181D"/>
                          </a:solidFill>
                          <a:latin typeface="Montserrat" pitchFamily="34" charset="0"/>
                          <a:ea typeface="Montserrat" pitchFamily="34" charset="-122"/>
                          <a:cs typeface="Montserrat" pitchFamily="34" charset="-120"/>
                        </a:rPr>
                        <a:t>Cap each reasoning step to a few words</a:t>
                      </a:r>
                      <a:endParaRPr lang="en-US" sz="950" dirty="0">
                        <a:latin typeface="Montserrat" charset="0"/>
                        <a:ea typeface="Montserrat" charset="0"/>
                        <a:cs typeface="Montserrat" charset="0"/>
                      </a:endParaRPr>
                    </a:p>
                  </a:txBody>
                  <a:tcPr marL="91440" marR="91440" marT="45720" marB="45720" anchor="ctr">
                    <a:lnL w="12700" cap="flat" cmpd="sng" algn="ctr">
                      <a:solidFill>
                        <a:srgbClr val="DCE2EF"/>
                      </a:solidFill>
                      <a:prstDash val="solid"/>
                      <a:round/>
                      <a:headEnd type="none" w="med" len="med"/>
                      <a:tailEnd type="none" w="med" len="med"/>
                    </a:lnL>
                    <a:lnR w="12700" cap="flat" cmpd="sng" algn="ctr">
                      <a:solidFill>
                        <a:srgbClr val="DCE2EF"/>
                      </a:solidFill>
                      <a:prstDash val="solid"/>
                      <a:round/>
                      <a:headEnd type="none" w="med" len="med"/>
                      <a:tailEnd type="none" w="med" len="med"/>
                    </a:lnR>
                    <a:lnT w="12700" cap="flat" cmpd="sng" algn="ctr">
                      <a:solidFill>
                        <a:srgbClr val="DCE2EF"/>
                      </a:solidFill>
                      <a:prstDash val="solid"/>
                      <a:round/>
                      <a:headEnd type="none" w="med" len="med"/>
                      <a:tailEnd type="none" w="med" len="med"/>
                    </a:lnT>
                    <a:lnB w="12700" cap="flat" cmpd="sng" algn="ctr">
                      <a:solidFill>
                        <a:srgbClr val="DCE2EF"/>
                      </a:solidFill>
                      <a:prstDash val="solid"/>
                      <a:round/>
                      <a:headEnd type="none" w="med" len="med"/>
                      <a:tailEnd type="none" w="med" len="med"/>
                    </a:lnB>
                    <a:solidFill>
                      <a:srgbClr val="F4F6FB"/>
                    </a:solidFill>
                  </a:tcPr>
                </a:tc>
                <a:tc>
                  <a:txBody>
                    <a:bodyPr/>
                    <a:lstStyle/>
                    <a:p>
                      <a:pPr indent="0" marL="0">
                        <a:buNone/>
                      </a:pPr>
                      <a:r>
                        <a:rPr lang="en-US" sz="950" dirty="0">
                          <a:solidFill>
                            <a:srgbClr val="16181D"/>
                          </a:solidFill>
                          <a:latin typeface="Montserrat" pitchFamily="34" charset="0"/>
                          <a:ea typeface="Montserrat" pitchFamily="34" charset="-122"/>
                          <a:cs typeface="Montserrat" pitchFamily="34" charset="-120"/>
                        </a:rPr>
                        <a:t>~7.6% of CoT tokens, accuracy retained</a:t>
                      </a:r>
                      <a:endParaRPr lang="en-US" sz="950" dirty="0">
                        <a:latin typeface="Montserrat" charset="0"/>
                        <a:ea typeface="Montserrat" charset="0"/>
                        <a:cs typeface="Montserrat" charset="0"/>
                      </a:endParaRPr>
                    </a:p>
                  </a:txBody>
                  <a:tcPr marL="91440" marR="91440" marT="45720" marB="45720" anchor="ctr">
                    <a:lnL w="12700" cap="flat" cmpd="sng" algn="ctr">
                      <a:solidFill>
                        <a:srgbClr val="DCE2EF"/>
                      </a:solidFill>
                      <a:prstDash val="solid"/>
                      <a:round/>
                      <a:headEnd type="none" w="med" len="med"/>
                      <a:tailEnd type="none" w="med" len="med"/>
                    </a:lnL>
                    <a:lnR w="12700" cap="flat" cmpd="sng" algn="ctr">
                      <a:solidFill>
                        <a:srgbClr val="DCE2EF"/>
                      </a:solidFill>
                      <a:prstDash val="solid"/>
                      <a:round/>
                      <a:headEnd type="none" w="med" len="med"/>
                      <a:tailEnd type="none" w="med" len="med"/>
                    </a:lnR>
                    <a:lnT w="12700" cap="flat" cmpd="sng" algn="ctr">
                      <a:solidFill>
                        <a:srgbClr val="DCE2EF"/>
                      </a:solidFill>
                      <a:prstDash val="solid"/>
                      <a:round/>
                      <a:headEnd type="none" w="med" len="med"/>
                      <a:tailEnd type="none" w="med" len="med"/>
                    </a:lnT>
                    <a:lnB w="12700" cap="flat" cmpd="sng" algn="ctr">
                      <a:solidFill>
                        <a:srgbClr val="DCE2EF"/>
                      </a:solidFill>
                      <a:prstDash val="solid"/>
                      <a:round/>
                      <a:headEnd type="none" w="med" len="med"/>
                      <a:tailEnd type="none" w="med" len="med"/>
                    </a:lnB>
                    <a:solidFill>
                      <a:srgbClr val="F4F6FB"/>
                    </a:solidFill>
                  </a:tcPr>
                </a:tc>
              </a:tr>
              <a:tr h="512064">
                <a:tc>
                  <a:txBody>
                    <a:bodyPr/>
                    <a:lstStyle/>
                    <a:p>
                      <a:pPr indent="0" marL="0">
                        <a:buNone/>
                      </a:pPr>
                      <a:r>
                        <a:rPr lang="en-US" sz="950" b="1" dirty="0">
                          <a:solidFill>
                            <a:srgbClr val="16181D"/>
                          </a:solidFill>
                          <a:latin typeface="Montserrat" pitchFamily="34" charset="0"/>
                          <a:ea typeface="Montserrat" pitchFamily="34" charset="-122"/>
                          <a:cs typeface="Montserrat" pitchFamily="34" charset="-120"/>
                        </a:rPr>
                        <a:t>TokenSkip</a:t>
                      </a:r>
                      <a:endParaRPr lang="en-US" sz="950" dirty="0">
                        <a:latin typeface="Montserrat" charset="0"/>
                        <a:ea typeface="Montserrat" charset="0"/>
                        <a:cs typeface="Montserrat" charset="0"/>
                      </a:endParaRPr>
                    </a:p>
                  </a:txBody>
                  <a:tcPr marL="91440" marR="91440" marT="45720" marB="45720" anchor="ctr">
                    <a:lnL w="12700" cap="flat" cmpd="sng" algn="ctr">
                      <a:solidFill>
                        <a:srgbClr val="DCE2EF"/>
                      </a:solidFill>
                      <a:prstDash val="solid"/>
                      <a:round/>
                      <a:headEnd type="none" w="med" len="med"/>
                      <a:tailEnd type="none" w="med" len="med"/>
                    </a:lnL>
                    <a:lnR w="12700" cap="flat" cmpd="sng" algn="ctr">
                      <a:solidFill>
                        <a:srgbClr val="DCE2EF"/>
                      </a:solidFill>
                      <a:prstDash val="solid"/>
                      <a:round/>
                      <a:headEnd type="none" w="med" len="med"/>
                      <a:tailEnd type="none" w="med" len="med"/>
                    </a:lnR>
                    <a:lnT w="12700" cap="flat" cmpd="sng" algn="ctr">
                      <a:solidFill>
                        <a:srgbClr val="DCE2EF"/>
                      </a:solidFill>
                      <a:prstDash val="solid"/>
                      <a:round/>
                      <a:headEnd type="none" w="med" len="med"/>
                      <a:tailEnd type="none" w="med" len="med"/>
                    </a:lnT>
                    <a:lnB w="12700" cap="flat" cmpd="sng" algn="ctr">
                      <a:solidFill>
                        <a:srgbClr val="DCE2EF"/>
                      </a:solidFill>
                      <a:prstDash val="solid"/>
                      <a:round/>
                      <a:headEnd type="none" w="med" len="med"/>
                      <a:tailEnd type="none" w="med" len="med"/>
                    </a:lnB>
                    <a:solidFill>
                      <a:srgbClr val="FFFFFF"/>
                    </a:solidFill>
                  </a:tcPr>
                </a:tc>
                <a:tc>
                  <a:txBody>
                    <a:bodyPr/>
                    <a:lstStyle/>
                    <a:p>
                      <a:pPr indent="0" marL="0">
                        <a:buNone/>
                      </a:pPr>
                      <a:r>
                        <a:rPr lang="en-US" sz="950" dirty="0">
                          <a:solidFill>
                            <a:srgbClr val="16181D"/>
                          </a:solidFill>
                          <a:latin typeface="Montserrat" pitchFamily="34" charset="0"/>
                          <a:ea typeface="Montserrat" pitchFamily="34" charset="-122"/>
                          <a:cs typeface="Montserrat" pitchFamily="34" charset="-120"/>
                        </a:rPr>
                        <a:t>Prune low-utility tokens from the chain</a:t>
                      </a:r>
                      <a:endParaRPr lang="en-US" sz="950" dirty="0">
                        <a:latin typeface="Montserrat" charset="0"/>
                        <a:ea typeface="Montserrat" charset="0"/>
                        <a:cs typeface="Montserrat" charset="0"/>
                      </a:endParaRPr>
                    </a:p>
                  </a:txBody>
                  <a:tcPr marL="91440" marR="91440" marT="45720" marB="45720" anchor="ctr">
                    <a:lnL w="12700" cap="flat" cmpd="sng" algn="ctr">
                      <a:solidFill>
                        <a:srgbClr val="DCE2EF"/>
                      </a:solidFill>
                      <a:prstDash val="solid"/>
                      <a:round/>
                      <a:headEnd type="none" w="med" len="med"/>
                      <a:tailEnd type="none" w="med" len="med"/>
                    </a:lnL>
                    <a:lnR w="12700" cap="flat" cmpd="sng" algn="ctr">
                      <a:solidFill>
                        <a:srgbClr val="DCE2EF"/>
                      </a:solidFill>
                      <a:prstDash val="solid"/>
                      <a:round/>
                      <a:headEnd type="none" w="med" len="med"/>
                      <a:tailEnd type="none" w="med" len="med"/>
                    </a:lnR>
                    <a:lnT w="12700" cap="flat" cmpd="sng" algn="ctr">
                      <a:solidFill>
                        <a:srgbClr val="DCE2EF"/>
                      </a:solidFill>
                      <a:prstDash val="solid"/>
                      <a:round/>
                      <a:headEnd type="none" w="med" len="med"/>
                      <a:tailEnd type="none" w="med" len="med"/>
                    </a:lnT>
                    <a:lnB w="12700" cap="flat" cmpd="sng" algn="ctr">
                      <a:solidFill>
                        <a:srgbClr val="DCE2EF"/>
                      </a:solidFill>
                      <a:prstDash val="solid"/>
                      <a:round/>
                      <a:headEnd type="none" w="med" len="med"/>
                      <a:tailEnd type="none" w="med" len="med"/>
                    </a:lnB>
                    <a:solidFill>
                      <a:srgbClr val="FFFFFF"/>
                    </a:solidFill>
                  </a:tcPr>
                </a:tc>
                <a:tc>
                  <a:txBody>
                    <a:bodyPr/>
                    <a:lstStyle/>
                    <a:p>
                      <a:pPr indent="0" marL="0">
                        <a:buNone/>
                      </a:pPr>
                      <a:r>
                        <a:rPr lang="en-US" sz="950" dirty="0">
                          <a:solidFill>
                            <a:srgbClr val="16181D"/>
                          </a:solidFill>
                          <a:latin typeface="Montserrat" pitchFamily="34" charset="0"/>
                          <a:ea typeface="Montserrat" pitchFamily="34" charset="-122"/>
                          <a:cs typeface="Montserrat" pitchFamily="34" charset="-120"/>
                        </a:rPr>
                        <a:t>Controllable compression ratio</a:t>
                      </a:r>
                      <a:endParaRPr lang="en-US" sz="950" dirty="0">
                        <a:latin typeface="Montserrat" charset="0"/>
                        <a:ea typeface="Montserrat" charset="0"/>
                        <a:cs typeface="Montserrat" charset="0"/>
                      </a:endParaRPr>
                    </a:p>
                  </a:txBody>
                  <a:tcPr marL="91440" marR="91440" marT="45720" marB="45720" anchor="ctr">
                    <a:lnL w="12700" cap="flat" cmpd="sng" algn="ctr">
                      <a:solidFill>
                        <a:srgbClr val="DCE2EF"/>
                      </a:solidFill>
                      <a:prstDash val="solid"/>
                      <a:round/>
                      <a:headEnd type="none" w="med" len="med"/>
                      <a:tailEnd type="none" w="med" len="med"/>
                    </a:lnL>
                    <a:lnR w="12700" cap="flat" cmpd="sng" algn="ctr">
                      <a:solidFill>
                        <a:srgbClr val="DCE2EF"/>
                      </a:solidFill>
                      <a:prstDash val="solid"/>
                      <a:round/>
                      <a:headEnd type="none" w="med" len="med"/>
                      <a:tailEnd type="none" w="med" len="med"/>
                    </a:lnR>
                    <a:lnT w="12700" cap="flat" cmpd="sng" algn="ctr">
                      <a:solidFill>
                        <a:srgbClr val="DCE2EF"/>
                      </a:solidFill>
                      <a:prstDash val="solid"/>
                      <a:round/>
                      <a:headEnd type="none" w="med" len="med"/>
                      <a:tailEnd type="none" w="med" len="med"/>
                    </a:lnT>
                    <a:lnB w="12700" cap="flat" cmpd="sng" algn="ctr">
                      <a:solidFill>
                        <a:srgbClr val="DCE2EF"/>
                      </a:solidFill>
                      <a:prstDash val="solid"/>
                      <a:round/>
                      <a:headEnd type="none" w="med" len="med"/>
                      <a:tailEnd type="none" w="med" len="med"/>
                    </a:lnB>
                    <a:solidFill>
                      <a:srgbClr val="FFFFFF"/>
                    </a:solidFill>
                  </a:tcPr>
                </a:tc>
              </a:tr>
              <a:tr h="512064">
                <a:tc>
                  <a:txBody>
                    <a:bodyPr/>
                    <a:lstStyle/>
                    <a:p>
                      <a:pPr indent="0" marL="0">
                        <a:buNone/>
                      </a:pPr>
                      <a:r>
                        <a:rPr lang="en-US" sz="950" b="1" dirty="0">
                          <a:solidFill>
                            <a:srgbClr val="16181D"/>
                          </a:solidFill>
                          <a:latin typeface="Montserrat" pitchFamily="34" charset="0"/>
                          <a:ea typeface="Montserrat" pitchFamily="34" charset="-122"/>
                          <a:cs typeface="Montserrat" pitchFamily="34" charset="-120"/>
                        </a:rPr>
                        <a:t>Coconut</a:t>
                      </a:r>
                      <a:endParaRPr lang="en-US" sz="950" dirty="0">
                        <a:latin typeface="Montserrat" charset="0"/>
                        <a:ea typeface="Montserrat" charset="0"/>
                        <a:cs typeface="Montserrat" charset="0"/>
                      </a:endParaRPr>
                    </a:p>
                  </a:txBody>
                  <a:tcPr marL="91440" marR="91440" marT="45720" marB="45720" anchor="ctr">
                    <a:lnL w="12700" cap="flat" cmpd="sng" algn="ctr">
                      <a:solidFill>
                        <a:srgbClr val="DCE2EF"/>
                      </a:solidFill>
                      <a:prstDash val="solid"/>
                      <a:round/>
                      <a:headEnd type="none" w="med" len="med"/>
                      <a:tailEnd type="none" w="med" len="med"/>
                    </a:lnL>
                    <a:lnR w="12700" cap="flat" cmpd="sng" algn="ctr">
                      <a:solidFill>
                        <a:srgbClr val="DCE2EF"/>
                      </a:solidFill>
                      <a:prstDash val="solid"/>
                      <a:round/>
                      <a:headEnd type="none" w="med" len="med"/>
                      <a:tailEnd type="none" w="med" len="med"/>
                    </a:lnR>
                    <a:lnT w="12700" cap="flat" cmpd="sng" algn="ctr">
                      <a:solidFill>
                        <a:srgbClr val="DCE2EF"/>
                      </a:solidFill>
                      <a:prstDash val="solid"/>
                      <a:round/>
                      <a:headEnd type="none" w="med" len="med"/>
                      <a:tailEnd type="none" w="med" len="med"/>
                    </a:lnT>
                    <a:lnB w="12700" cap="flat" cmpd="sng" algn="ctr">
                      <a:solidFill>
                        <a:srgbClr val="DCE2EF"/>
                      </a:solidFill>
                      <a:prstDash val="solid"/>
                      <a:round/>
                      <a:headEnd type="none" w="med" len="med"/>
                      <a:tailEnd type="none" w="med" len="med"/>
                    </a:lnB>
                    <a:solidFill>
                      <a:srgbClr val="F4F6FB"/>
                    </a:solidFill>
                  </a:tcPr>
                </a:tc>
                <a:tc>
                  <a:txBody>
                    <a:bodyPr/>
                    <a:lstStyle/>
                    <a:p>
                      <a:pPr indent="0" marL="0">
                        <a:buNone/>
                      </a:pPr>
                      <a:r>
                        <a:rPr lang="en-US" sz="950" dirty="0">
                          <a:solidFill>
                            <a:srgbClr val="16181D"/>
                          </a:solidFill>
                          <a:latin typeface="Montserrat" pitchFamily="34" charset="0"/>
                          <a:ea typeface="Montserrat" pitchFamily="34" charset="-122"/>
                          <a:cs typeface="Montserrat" pitchFamily="34" charset="-120"/>
                        </a:rPr>
                        <a:t>Feed the hidden state back instead of decoding</a:t>
                      </a:r>
                      <a:endParaRPr lang="en-US" sz="950" dirty="0">
                        <a:latin typeface="Montserrat" charset="0"/>
                        <a:ea typeface="Montserrat" charset="0"/>
                        <a:cs typeface="Montserrat" charset="0"/>
                      </a:endParaRPr>
                    </a:p>
                  </a:txBody>
                  <a:tcPr marL="91440" marR="91440" marT="45720" marB="45720" anchor="ctr">
                    <a:lnL w="12700" cap="flat" cmpd="sng" algn="ctr">
                      <a:solidFill>
                        <a:srgbClr val="DCE2EF"/>
                      </a:solidFill>
                      <a:prstDash val="solid"/>
                      <a:round/>
                      <a:headEnd type="none" w="med" len="med"/>
                      <a:tailEnd type="none" w="med" len="med"/>
                    </a:lnL>
                    <a:lnR w="12700" cap="flat" cmpd="sng" algn="ctr">
                      <a:solidFill>
                        <a:srgbClr val="DCE2EF"/>
                      </a:solidFill>
                      <a:prstDash val="solid"/>
                      <a:round/>
                      <a:headEnd type="none" w="med" len="med"/>
                      <a:tailEnd type="none" w="med" len="med"/>
                    </a:lnR>
                    <a:lnT w="12700" cap="flat" cmpd="sng" algn="ctr">
                      <a:solidFill>
                        <a:srgbClr val="DCE2EF"/>
                      </a:solidFill>
                      <a:prstDash val="solid"/>
                      <a:round/>
                      <a:headEnd type="none" w="med" len="med"/>
                      <a:tailEnd type="none" w="med" len="med"/>
                    </a:lnT>
                    <a:lnB w="12700" cap="flat" cmpd="sng" algn="ctr">
                      <a:solidFill>
                        <a:srgbClr val="DCE2EF"/>
                      </a:solidFill>
                      <a:prstDash val="solid"/>
                      <a:round/>
                      <a:headEnd type="none" w="med" len="med"/>
                      <a:tailEnd type="none" w="med" len="med"/>
                    </a:lnB>
                    <a:solidFill>
                      <a:srgbClr val="F4F6FB"/>
                    </a:solidFill>
                  </a:tcPr>
                </a:tc>
                <a:tc>
                  <a:txBody>
                    <a:bodyPr/>
                    <a:lstStyle/>
                    <a:p>
                      <a:pPr indent="0" marL="0">
                        <a:buNone/>
                      </a:pPr>
                      <a:r>
                        <a:rPr lang="en-US" sz="950" dirty="0">
                          <a:solidFill>
                            <a:srgbClr val="16181D"/>
                          </a:solidFill>
                          <a:latin typeface="Montserrat" pitchFamily="34" charset="0"/>
                          <a:ea typeface="Montserrat" pitchFamily="34" charset="-122"/>
                          <a:cs typeface="Montserrat" pitchFamily="34" charset="-120"/>
                        </a:rPr>
                        <a:t>Reasoning without emitting text tokens</a:t>
                      </a:r>
                      <a:endParaRPr lang="en-US" sz="950" dirty="0">
                        <a:latin typeface="Montserrat" charset="0"/>
                        <a:ea typeface="Montserrat" charset="0"/>
                        <a:cs typeface="Montserrat" charset="0"/>
                      </a:endParaRPr>
                    </a:p>
                  </a:txBody>
                  <a:tcPr marL="91440" marR="91440" marT="45720" marB="45720" anchor="ctr">
                    <a:lnL w="12700" cap="flat" cmpd="sng" algn="ctr">
                      <a:solidFill>
                        <a:srgbClr val="DCE2EF"/>
                      </a:solidFill>
                      <a:prstDash val="solid"/>
                      <a:round/>
                      <a:headEnd type="none" w="med" len="med"/>
                      <a:tailEnd type="none" w="med" len="med"/>
                    </a:lnL>
                    <a:lnR w="12700" cap="flat" cmpd="sng" algn="ctr">
                      <a:solidFill>
                        <a:srgbClr val="DCE2EF"/>
                      </a:solidFill>
                      <a:prstDash val="solid"/>
                      <a:round/>
                      <a:headEnd type="none" w="med" len="med"/>
                      <a:tailEnd type="none" w="med" len="med"/>
                    </a:lnR>
                    <a:lnT w="12700" cap="flat" cmpd="sng" algn="ctr">
                      <a:solidFill>
                        <a:srgbClr val="DCE2EF"/>
                      </a:solidFill>
                      <a:prstDash val="solid"/>
                      <a:round/>
                      <a:headEnd type="none" w="med" len="med"/>
                      <a:tailEnd type="none" w="med" len="med"/>
                    </a:lnT>
                    <a:lnB w="12700" cap="flat" cmpd="sng" algn="ctr">
                      <a:solidFill>
                        <a:srgbClr val="DCE2EF"/>
                      </a:solidFill>
                      <a:prstDash val="solid"/>
                      <a:round/>
                      <a:headEnd type="none" w="med" len="med"/>
                      <a:tailEnd type="none" w="med" len="med"/>
                    </a:lnB>
                    <a:solidFill>
                      <a:srgbClr val="F4F6FB"/>
                    </a:solidFill>
                  </a:tcPr>
                </a:tc>
              </a:tr>
              <a:tr h="512064">
                <a:tc>
                  <a:txBody>
                    <a:bodyPr/>
                    <a:lstStyle/>
                    <a:p>
                      <a:pPr indent="0" marL="0">
                        <a:buNone/>
                      </a:pPr>
                      <a:r>
                        <a:rPr lang="en-US" sz="950" b="1" dirty="0">
                          <a:solidFill>
                            <a:srgbClr val="16181D"/>
                          </a:solidFill>
                          <a:latin typeface="Montserrat" pitchFamily="34" charset="0"/>
                          <a:ea typeface="Montserrat" pitchFamily="34" charset="-122"/>
                          <a:cs typeface="Montserrat" pitchFamily="34" charset="-120"/>
                        </a:rPr>
                        <a:t>Token budgeting</a:t>
                      </a:r>
                      <a:endParaRPr lang="en-US" sz="950" dirty="0">
                        <a:latin typeface="Montserrat" charset="0"/>
                        <a:ea typeface="Montserrat" charset="0"/>
                        <a:cs typeface="Montserrat" charset="0"/>
                      </a:endParaRPr>
                    </a:p>
                  </a:txBody>
                  <a:tcPr marL="91440" marR="91440" marT="45720" marB="45720" anchor="ctr">
                    <a:lnL w="12700" cap="flat" cmpd="sng" algn="ctr">
                      <a:solidFill>
                        <a:srgbClr val="DCE2EF"/>
                      </a:solidFill>
                      <a:prstDash val="solid"/>
                      <a:round/>
                      <a:headEnd type="none" w="med" len="med"/>
                      <a:tailEnd type="none" w="med" len="med"/>
                    </a:lnL>
                    <a:lnR w="12700" cap="flat" cmpd="sng" algn="ctr">
                      <a:solidFill>
                        <a:srgbClr val="DCE2EF"/>
                      </a:solidFill>
                      <a:prstDash val="solid"/>
                      <a:round/>
                      <a:headEnd type="none" w="med" len="med"/>
                      <a:tailEnd type="none" w="med" len="med"/>
                    </a:lnR>
                    <a:lnT w="12700" cap="flat" cmpd="sng" algn="ctr">
                      <a:solidFill>
                        <a:srgbClr val="DCE2EF"/>
                      </a:solidFill>
                      <a:prstDash val="solid"/>
                      <a:round/>
                      <a:headEnd type="none" w="med" len="med"/>
                      <a:tailEnd type="none" w="med" len="med"/>
                    </a:lnT>
                    <a:lnB w="12700" cap="flat" cmpd="sng" algn="ctr">
                      <a:solidFill>
                        <a:srgbClr val="DCE2EF"/>
                      </a:solidFill>
                      <a:prstDash val="solid"/>
                      <a:round/>
                      <a:headEnd type="none" w="med" len="med"/>
                      <a:tailEnd type="none" w="med" len="med"/>
                    </a:lnB>
                    <a:solidFill>
                      <a:srgbClr val="FFFFFF"/>
                    </a:solidFill>
                  </a:tcPr>
                </a:tc>
                <a:tc>
                  <a:txBody>
                    <a:bodyPr/>
                    <a:lstStyle/>
                    <a:p>
                      <a:pPr indent="0" marL="0">
                        <a:buNone/>
                      </a:pPr>
                      <a:r>
                        <a:rPr lang="en-US" sz="950" dirty="0">
                          <a:solidFill>
                            <a:srgbClr val="16181D"/>
                          </a:solidFill>
                          <a:latin typeface="Montserrat" pitchFamily="34" charset="0"/>
                          <a:ea typeface="Montserrat" pitchFamily="34" charset="-122"/>
                          <a:cs typeface="Montserrat" pitchFamily="34" charset="-120"/>
                        </a:rPr>
                        <a:t>Allocate a budget per step by difficulty</a:t>
                      </a:r>
                      <a:endParaRPr lang="en-US" sz="950" dirty="0">
                        <a:latin typeface="Montserrat" charset="0"/>
                        <a:ea typeface="Montserrat" charset="0"/>
                        <a:cs typeface="Montserrat" charset="0"/>
                      </a:endParaRPr>
                    </a:p>
                  </a:txBody>
                  <a:tcPr marL="91440" marR="91440" marT="45720" marB="45720" anchor="ctr">
                    <a:lnL w="12700" cap="flat" cmpd="sng" algn="ctr">
                      <a:solidFill>
                        <a:srgbClr val="DCE2EF"/>
                      </a:solidFill>
                      <a:prstDash val="solid"/>
                      <a:round/>
                      <a:headEnd type="none" w="med" len="med"/>
                      <a:tailEnd type="none" w="med" len="med"/>
                    </a:lnL>
                    <a:lnR w="12700" cap="flat" cmpd="sng" algn="ctr">
                      <a:solidFill>
                        <a:srgbClr val="DCE2EF"/>
                      </a:solidFill>
                      <a:prstDash val="solid"/>
                      <a:round/>
                      <a:headEnd type="none" w="med" len="med"/>
                      <a:tailEnd type="none" w="med" len="med"/>
                    </a:lnR>
                    <a:lnT w="12700" cap="flat" cmpd="sng" algn="ctr">
                      <a:solidFill>
                        <a:srgbClr val="DCE2EF"/>
                      </a:solidFill>
                      <a:prstDash val="solid"/>
                      <a:round/>
                      <a:headEnd type="none" w="med" len="med"/>
                      <a:tailEnd type="none" w="med" len="med"/>
                    </a:lnT>
                    <a:lnB w="12700" cap="flat" cmpd="sng" algn="ctr">
                      <a:solidFill>
                        <a:srgbClr val="DCE2EF"/>
                      </a:solidFill>
                      <a:prstDash val="solid"/>
                      <a:round/>
                      <a:headEnd type="none" w="med" len="med"/>
                      <a:tailEnd type="none" w="med" len="med"/>
                    </a:lnB>
                    <a:solidFill>
                      <a:srgbClr val="FFFFFF"/>
                    </a:solidFill>
                  </a:tcPr>
                </a:tc>
                <a:tc>
                  <a:txBody>
                    <a:bodyPr/>
                    <a:lstStyle/>
                    <a:p>
                      <a:pPr indent="0" marL="0">
                        <a:buNone/>
                      </a:pPr>
                      <a:r>
                        <a:rPr lang="en-US" sz="950" dirty="0">
                          <a:solidFill>
                            <a:srgbClr val="16181D"/>
                          </a:solidFill>
                          <a:latin typeface="Montserrat" pitchFamily="34" charset="0"/>
                          <a:ea typeface="Montserrat" pitchFamily="34" charset="-122"/>
                          <a:cs typeface="Montserrat" pitchFamily="34" charset="-120"/>
                        </a:rPr>
                        <a:t>Adaptive depth, less overthinking</a:t>
                      </a:r>
                      <a:endParaRPr lang="en-US" sz="950" dirty="0">
                        <a:latin typeface="Montserrat" charset="0"/>
                        <a:ea typeface="Montserrat" charset="0"/>
                        <a:cs typeface="Montserrat" charset="0"/>
                      </a:endParaRPr>
                    </a:p>
                  </a:txBody>
                  <a:tcPr marL="91440" marR="91440" marT="45720" marB="45720" anchor="ctr">
                    <a:lnL w="12700" cap="flat" cmpd="sng" algn="ctr">
                      <a:solidFill>
                        <a:srgbClr val="DCE2EF"/>
                      </a:solidFill>
                      <a:prstDash val="solid"/>
                      <a:round/>
                      <a:headEnd type="none" w="med" len="med"/>
                      <a:tailEnd type="none" w="med" len="med"/>
                    </a:lnL>
                    <a:lnR w="12700" cap="flat" cmpd="sng" algn="ctr">
                      <a:solidFill>
                        <a:srgbClr val="DCE2EF"/>
                      </a:solidFill>
                      <a:prstDash val="solid"/>
                      <a:round/>
                      <a:headEnd type="none" w="med" len="med"/>
                      <a:tailEnd type="none" w="med" len="med"/>
                    </a:lnR>
                    <a:lnT w="12700" cap="flat" cmpd="sng" algn="ctr">
                      <a:solidFill>
                        <a:srgbClr val="DCE2EF"/>
                      </a:solidFill>
                      <a:prstDash val="solid"/>
                      <a:round/>
                      <a:headEnd type="none" w="med" len="med"/>
                      <a:tailEnd type="none" w="med" len="med"/>
                    </a:lnT>
                    <a:lnB w="12700" cap="flat" cmpd="sng" algn="ctr">
                      <a:solidFill>
                        <a:srgbClr val="DCE2EF"/>
                      </a:solidFill>
                      <a:prstDash val="solid"/>
                      <a:round/>
                      <a:headEnd type="none" w="med" len="med"/>
                      <a:tailEnd type="none" w="med" len="med"/>
                    </a:lnB>
                    <a:solidFill>
                      <a:srgbClr val="FFFFFF"/>
                    </a:solidFill>
                  </a:tcPr>
                </a:tc>
              </a:tr>
            </a:tbl>
          </a:graphicData>
        </a:graphic>
      </p:graphicFrame>
      <p:sp>
        <p:nvSpPr>
          <p:cNvPr id="13" name="Text 10"/>
          <p:cNvSpPr txBox="1"/>
          <p:nvPr/>
        </p:nvSpPr>
        <p:spPr>
          <a:xfrm>
            <a:off x="685800" y="4343400"/>
            <a:ext cx="6858000" cy="1188720"/>
          </a:xfrm>
          <a:prstGeom prst="rect">
            <a:avLst/>
          </a:prstGeom>
          <a:noFill/>
          <a:ln/>
        </p:spPr>
        <p:txBody>
          <a:bodyPr wrap="square" lIns="0" tIns="0" rIns="0" bIns="0" rtlCol="0" anchor="ctr"/>
          <a:lstStyle/>
          <a:p>
            <a:pPr marL="342900" indent="-342900">
              <a:lnSpc>
                <a:spcPct val="110000"/>
              </a:lnSpc>
              <a:spcAft>
                <a:spcPts val="700"/>
              </a:spcAft>
              <a:buSzPct val="100000"/>
              <a:buChar char="•"/>
            </a:pPr>
            <a:r>
              <a:rPr lang="en-US" sz="1150" dirty="0">
                <a:solidFill>
                  <a:srgbClr val="16181D"/>
                </a:solidFill>
                <a:latin typeface="Montserrat" pitchFamily="34" charset="0"/>
                <a:ea typeface="Montserrat" pitchFamily="34" charset="-122"/>
                <a:cs typeface="Montserrat" pitchFamily="34" charset="-120"/>
              </a:rPr>
              <a:t>Every method above shortens the CONTENT of a reasoning step.</a:t>
            </a:r>
            <a:endParaRPr lang="en-US" sz="1150" dirty="0"/>
          </a:p>
          <a:p>
            <a:pPr marL="342900" indent="-342900">
              <a:lnSpc>
                <a:spcPct val="110000"/>
              </a:lnSpc>
              <a:spcAft>
                <a:spcPts val="700"/>
              </a:spcAft>
              <a:buSzPct val="100000"/>
              <a:buChar char="•"/>
            </a:pPr>
            <a:r>
              <a:rPr lang="en-US" sz="1150" dirty="0">
                <a:solidFill>
                  <a:srgbClr val="16181D"/>
                </a:solidFill>
                <a:latin typeface="Montserrat" pitchFamily="34" charset="0"/>
                <a:ea typeface="Montserrat" pitchFamily="34" charset="-122"/>
                <a:cs typeface="Montserrat" pitchFamily="34" charset="-120"/>
              </a:rPr>
              <a:t>None reduces the NUMBER of steps, because a chain has no structure to remove.</a:t>
            </a:r>
            <a:endParaRPr lang="en-US" sz="1150" dirty="0"/>
          </a:p>
          <a:p>
            <a:pPr marL="342900" indent="-342900">
              <a:lnSpc>
                <a:spcPct val="110000"/>
              </a:lnSpc>
              <a:spcAft>
                <a:spcPts val="700"/>
              </a:spcAft>
              <a:buSzPct val="100000"/>
              <a:buChar char="•"/>
            </a:pPr>
            <a:r>
              <a:rPr lang="en-US" sz="1150" dirty="0">
                <a:solidFill>
                  <a:srgbClr val="16181D"/>
                </a:solidFill>
                <a:latin typeface="Montserrat" pitchFamily="34" charset="0"/>
                <a:ea typeface="Montserrat" pitchFamily="34" charset="-122"/>
                <a:cs typeface="Montserrat" pitchFamily="34" charset="-120"/>
              </a:rPr>
              <a:t>A graph does - and that is the gap this project occupies.</a:t>
            </a:r>
            <a:endParaRPr lang="en-US" sz="1150" dirty="0"/>
          </a:p>
        </p:txBody>
      </p:sp>
      <p:sp>
        <p:nvSpPr>
          <p:cNvPr id="14" name="Shape 11"/>
          <p:cNvSpPr/>
          <p:nvPr/>
        </p:nvSpPr>
        <p:spPr>
          <a:xfrm>
            <a:off x="7863840" y="1920240"/>
            <a:ext cx="3657600" cy="3657600"/>
          </a:xfrm>
          <a:prstGeom prst="roundRect">
            <a:avLst>
              <a:gd name="adj" fmla="val 1250"/>
            </a:avLst>
          </a:prstGeom>
          <a:solidFill>
            <a:srgbClr val="F4F6FB"/>
          </a:solidFill>
          <a:ln w="12700">
            <a:solidFill>
              <a:srgbClr val="D8DEEC"/>
            </a:solidFill>
            <a:prstDash val="solid"/>
          </a:ln>
        </p:spPr>
      </p:sp>
      <p:sp>
        <p:nvSpPr>
          <p:cNvPr id="15" name="Text 12"/>
          <p:cNvSpPr txBox="1"/>
          <p:nvPr/>
        </p:nvSpPr>
        <p:spPr>
          <a:xfrm>
            <a:off x="8092440" y="2084832"/>
            <a:ext cx="3200400" cy="274320"/>
          </a:xfrm>
          <a:prstGeom prst="rect">
            <a:avLst/>
          </a:prstGeom>
          <a:noFill/>
          <a:ln/>
        </p:spPr>
        <p:txBody>
          <a:bodyPr wrap="square" lIns="0" tIns="0" rIns="0" bIns="0" rtlCol="0" anchor="ctr"/>
          <a:lstStyle/>
          <a:p>
            <a:pPr indent="0" marL="0">
              <a:buNone/>
            </a:pPr>
            <a:r>
              <a:rPr lang="en-US" sz="1100" b="1" dirty="0">
                <a:solidFill>
                  <a:srgbClr val="23408E"/>
                </a:solidFill>
                <a:latin typeface="Montserrat" pitchFamily="34" charset="0"/>
                <a:ea typeface="Montserrat" pitchFamily="34" charset="-122"/>
                <a:cs typeface="Montserrat" pitchFamily="34" charset="-120"/>
              </a:rPr>
              <a:t>Two independent factors</a:t>
            </a:r>
            <a:endParaRPr lang="en-US" sz="1100" dirty="0"/>
          </a:p>
        </p:txBody>
      </p:sp>
      <p:sp>
        <p:nvSpPr>
          <p:cNvPr id="16" name="Text 13"/>
          <p:cNvSpPr txBox="1"/>
          <p:nvPr/>
        </p:nvSpPr>
        <p:spPr>
          <a:xfrm>
            <a:off x="8092440" y="2450592"/>
            <a:ext cx="3200400" cy="310896"/>
          </a:xfrm>
          <a:prstGeom prst="rect">
            <a:avLst/>
          </a:prstGeom>
          <a:noFill/>
          <a:ln/>
        </p:spPr>
        <p:txBody>
          <a:bodyPr wrap="square" lIns="0" tIns="0" rIns="0" bIns="0" rtlCol="0" anchor="ctr"/>
          <a:lstStyle/>
          <a:p>
            <a:pPr indent="0" marL="0">
              <a:buNone/>
            </a:pPr>
            <a:r>
              <a:rPr lang="en-US" sz="1150" b="1" dirty="0">
                <a:solidFill>
                  <a:srgbClr val="D98A1F"/>
                </a:solidFill>
                <a:latin typeface="Montserrat" pitchFamily="34" charset="0"/>
                <a:ea typeface="Montserrat" pitchFamily="34" charset="-122"/>
                <a:cs typeface="Montserrat" pitchFamily="34" charset="-120"/>
              </a:rPr>
              <a:t>cost  =  |V|  x  tokens/vertex</a:t>
            </a:r>
            <a:endParaRPr lang="en-US" sz="1150" dirty="0"/>
          </a:p>
        </p:txBody>
      </p:sp>
      <p:sp>
        <p:nvSpPr>
          <p:cNvPr id="17" name="Shape 14"/>
          <p:cNvSpPr/>
          <p:nvPr/>
        </p:nvSpPr>
        <p:spPr>
          <a:xfrm>
            <a:off x="8641080" y="2779776"/>
            <a:ext cx="0" cy="777240"/>
          </a:xfrm>
          <a:prstGeom prst="line">
            <a:avLst/>
          </a:prstGeom>
          <a:noFill/>
          <a:ln w="20320">
            <a:solidFill>
              <a:srgbClr val="D98A1F"/>
            </a:solidFill>
            <a:prstDash val="solid"/>
          </a:ln>
        </p:spPr>
      </p:sp>
      <p:sp>
        <p:nvSpPr>
          <p:cNvPr id="18" name="Shape 15"/>
          <p:cNvSpPr/>
          <p:nvPr/>
        </p:nvSpPr>
        <p:spPr>
          <a:xfrm>
            <a:off x="10332720" y="2779776"/>
            <a:ext cx="0" cy="365760"/>
          </a:xfrm>
          <a:prstGeom prst="line">
            <a:avLst/>
          </a:prstGeom>
          <a:noFill/>
          <a:ln w="20320">
            <a:solidFill>
              <a:srgbClr val="0F7B6C"/>
            </a:solidFill>
            <a:prstDash val="solid"/>
          </a:ln>
        </p:spPr>
      </p:sp>
      <p:sp>
        <p:nvSpPr>
          <p:cNvPr id="19" name="Text 16"/>
          <p:cNvSpPr txBox="1"/>
          <p:nvPr/>
        </p:nvSpPr>
        <p:spPr>
          <a:xfrm>
            <a:off x="8092440" y="3584448"/>
            <a:ext cx="1737360" cy="548640"/>
          </a:xfrm>
          <a:prstGeom prst="rect">
            <a:avLst/>
          </a:prstGeom>
          <a:noFill/>
          <a:ln/>
        </p:spPr>
        <p:txBody>
          <a:bodyPr wrap="square" lIns="0" tIns="0" rIns="0" bIns="0" rtlCol="0" anchor="ctr"/>
          <a:lstStyle/>
          <a:p>
            <a:pPr indent="0" marL="0">
              <a:buNone/>
            </a:pPr>
            <a:r>
              <a:rPr lang="en-US" sz="950" dirty="0">
                <a:solidFill>
                  <a:srgbClr val="D98A1F"/>
                </a:solidFill>
                <a:latin typeface="Montserrat" pitchFamily="34" charset="0"/>
                <a:ea typeface="Montserrat" pitchFamily="34" charset="-122"/>
                <a:cs typeface="Montserrat" pitchFamily="34" charset="-120"/>
              </a:rPr>
              <a:t>Graph coarsening</a:t>
            </a:r>
            <a:endParaRPr lang="en-US" sz="950" dirty="0"/>
          </a:p>
          <a:p>
            <a:pPr indent="0" marL="0">
              <a:buNone/>
            </a:pPr>
            <a:r>
              <a:rPr lang="en-US" sz="950" dirty="0">
                <a:solidFill>
                  <a:srgbClr val="D98A1F"/>
                </a:solidFill>
                <a:latin typeface="Montserrat" pitchFamily="34" charset="0"/>
                <a:ea typeface="Montserrat" pitchFamily="34" charset="-122"/>
                <a:cs typeface="Montserrat" pitchFamily="34" charset="-120"/>
              </a:rPr>
              <a:t>acts on this factor</a:t>
            </a:r>
            <a:endParaRPr lang="en-US" sz="950" dirty="0"/>
          </a:p>
        </p:txBody>
      </p:sp>
      <p:sp>
        <p:nvSpPr>
          <p:cNvPr id="20" name="Text 17"/>
          <p:cNvSpPr txBox="1"/>
          <p:nvPr/>
        </p:nvSpPr>
        <p:spPr>
          <a:xfrm>
            <a:off x="9921240" y="3182112"/>
            <a:ext cx="1554480" cy="548640"/>
          </a:xfrm>
          <a:prstGeom prst="rect">
            <a:avLst/>
          </a:prstGeom>
          <a:noFill/>
          <a:ln/>
        </p:spPr>
        <p:txBody>
          <a:bodyPr wrap="square" lIns="0" tIns="0" rIns="0" bIns="0" rtlCol="0" anchor="ctr"/>
          <a:lstStyle/>
          <a:p>
            <a:pPr indent="0" marL="0">
              <a:buNone/>
            </a:pPr>
            <a:r>
              <a:rPr lang="en-US" sz="950" dirty="0">
                <a:solidFill>
                  <a:srgbClr val="0F7B6C"/>
                </a:solidFill>
                <a:latin typeface="Montserrat" pitchFamily="34" charset="0"/>
                <a:ea typeface="Montserrat" pitchFamily="34" charset="-122"/>
                <a:cs typeface="Montserrat" pitchFamily="34" charset="-120"/>
              </a:rPr>
              <a:t>Chain compression</a:t>
            </a:r>
            <a:endParaRPr lang="en-US" sz="950" dirty="0"/>
          </a:p>
          <a:p>
            <a:pPr indent="0" marL="0">
              <a:buNone/>
            </a:pPr>
            <a:r>
              <a:rPr lang="en-US" sz="950" dirty="0">
                <a:solidFill>
                  <a:srgbClr val="0F7B6C"/>
                </a:solidFill>
                <a:latin typeface="Montserrat" pitchFamily="34" charset="0"/>
                <a:ea typeface="Montserrat" pitchFamily="34" charset="-122"/>
                <a:cs typeface="Montserrat" pitchFamily="34" charset="-120"/>
              </a:rPr>
              <a:t>acts on this one</a:t>
            </a:r>
            <a:endParaRPr lang="en-US" sz="950" dirty="0"/>
          </a:p>
        </p:txBody>
      </p:sp>
      <p:sp>
        <p:nvSpPr>
          <p:cNvPr id="21" name="Text 18"/>
          <p:cNvSpPr txBox="1"/>
          <p:nvPr/>
        </p:nvSpPr>
        <p:spPr>
          <a:xfrm>
            <a:off x="8092440" y="4480560"/>
            <a:ext cx="3200400" cy="868680"/>
          </a:xfrm>
          <a:prstGeom prst="rect">
            <a:avLst/>
          </a:prstGeom>
          <a:noFill/>
          <a:ln/>
        </p:spPr>
        <p:txBody>
          <a:bodyPr wrap="square" lIns="0" tIns="0" rIns="0" bIns="0" rtlCol="0" anchor="ctr"/>
          <a:lstStyle/>
          <a:p>
            <a:pPr indent="0" marL="0">
              <a:buNone/>
            </a:pPr>
            <a:r>
              <a:rPr lang="en-US" sz="1050" b="1" dirty="0">
                <a:solidFill>
                  <a:srgbClr val="23408E"/>
                </a:solidFill>
                <a:latin typeface="Montserrat" pitchFamily="34" charset="0"/>
                <a:ea typeface="Montserrat" pitchFamily="34" charset="-122"/>
                <a:cs typeface="Montserrat" pitchFamily="34" charset="-120"/>
              </a:rPr>
              <a:t>The factors are orthogonal, so the two compressions compose and their savings multiply.</a:t>
            </a:r>
            <a:endParaRPr lang="en-US" sz="1050" dirty="0"/>
          </a:p>
        </p:txBody>
      </p:sp>
      <p:sp>
        <p:nvSpPr>
          <p:cNvPr id="22" name="Text 19"/>
          <p:cNvSpPr txBox="1"/>
          <p:nvPr/>
        </p:nvSpPr>
        <p:spPr>
          <a:xfrm>
            <a:off x="4206240" y="6217920"/>
            <a:ext cx="7498080" cy="274320"/>
          </a:xfrm>
          <a:prstGeom prst="rect">
            <a:avLst/>
          </a:prstGeom>
          <a:noFill/>
          <a:ln/>
        </p:spPr>
        <p:txBody>
          <a:bodyPr wrap="square" lIns="0" tIns="0" rIns="0" bIns="0" rtlCol="0" anchor="ctr"/>
          <a:lstStyle/>
          <a:p>
            <a:pPr algn="r" indent="0" marL="0">
              <a:buNone/>
            </a:pPr>
            <a:r>
              <a:rPr lang="en-US" sz="900" i="1" dirty="0">
                <a:solidFill>
                  <a:srgbClr val="63697A"/>
                </a:solidFill>
                <a:latin typeface="Montserrat" pitchFamily="34" charset="0"/>
                <a:ea typeface="Montserrat" pitchFamily="34" charset="-122"/>
                <a:cs typeface="Montserrat" pitchFamily="34" charset="-120"/>
              </a:rPr>
              <a:t>Xu et al. arXiv:2502.18600  |  Xia et al. arXiv:2502.12067  |  Hao et al. arXiv:2412.06769</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0149840" y="-502920"/>
            <a:ext cx="2377440" cy="960120"/>
          </a:xfrm>
          <a:prstGeom prst="roundRect">
            <a:avLst>
              <a:gd name="adj" fmla="val 38095"/>
            </a:avLst>
          </a:prstGeom>
          <a:solidFill>
            <a:srgbClr val="C9D8F5"/>
          </a:solidFill>
          <a:ln w="12700">
            <a:solidFill>
              <a:srgbClr val="333333"/>
            </a:solidFill>
            <a:prstDash val="solid"/>
          </a:ln>
        </p:spPr>
      </p:sp>
      <p:sp>
        <p:nvSpPr>
          <p:cNvPr id="3" name="Shape 1"/>
          <p:cNvSpPr/>
          <p:nvPr/>
        </p:nvSpPr>
        <p:spPr>
          <a:xfrm>
            <a:off x="10881360" y="0"/>
            <a:ext cx="2011680" cy="566928"/>
          </a:xfrm>
          <a:prstGeom prst="roundRect">
            <a:avLst>
              <a:gd name="adj" fmla="val 48387"/>
            </a:avLst>
          </a:prstGeom>
          <a:solidFill>
            <a:srgbClr val="23408E"/>
          </a:solidFill>
          <a:ln w="12700">
            <a:solidFill>
              <a:srgbClr val="333333"/>
            </a:solidFill>
            <a:prstDash val="solid"/>
          </a:ln>
        </p:spPr>
      </p:sp>
      <p:sp>
        <p:nvSpPr>
          <p:cNvPr id="4" name="Shape 2"/>
          <p:cNvSpPr/>
          <p:nvPr/>
        </p:nvSpPr>
        <p:spPr>
          <a:xfrm>
            <a:off x="-731520" y="6355080"/>
            <a:ext cx="1828800" cy="822960"/>
          </a:xfrm>
          <a:prstGeom prst="roundRect">
            <a:avLst>
              <a:gd name="adj" fmla="val 38889"/>
            </a:avLst>
          </a:prstGeom>
          <a:solidFill>
            <a:srgbClr val="23408E"/>
          </a:solidFill>
          <a:ln w="12700">
            <a:solidFill>
              <a:srgbClr val="333333"/>
            </a:solidFill>
            <a:prstDash val="solid"/>
          </a:ln>
        </p:spPr>
      </p:sp>
      <p:sp>
        <p:nvSpPr>
          <p:cNvPr id="5" name="Shape 3"/>
          <p:cNvSpPr/>
          <p:nvPr/>
        </p:nvSpPr>
        <p:spPr>
          <a:xfrm>
            <a:off x="320040" y="6583680"/>
            <a:ext cx="2743200" cy="731520"/>
          </a:xfrm>
          <a:prstGeom prst="roundRect">
            <a:avLst>
              <a:gd name="adj" fmla="val 43750"/>
            </a:avLst>
          </a:prstGeom>
          <a:solidFill>
            <a:srgbClr val="C9D8F5"/>
          </a:solidFill>
          <a:ln w="12700">
            <a:solidFill>
              <a:srgbClr val="333333"/>
            </a:solidFill>
            <a:prstDash val="solid"/>
          </a:ln>
        </p:spPr>
      </p:sp>
      <p:sp>
        <p:nvSpPr>
          <p:cNvPr id="6" name="Text 4"/>
          <p:cNvSpPr txBox="1"/>
          <p:nvPr/>
        </p:nvSpPr>
        <p:spPr>
          <a:xfrm>
            <a:off x="566928" y="237744"/>
            <a:ext cx="9052560" cy="603504"/>
          </a:xfrm>
          <a:prstGeom prst="rect">
            <a:avLst/>
          </a:prstGeom>
          <a:noFill/>
          <a:ln/>
        </p:spPr>
        <p:txBody>
          <a:bodyPr wrap="square" lIns="0" tIns="0" rIns="0" bIns="0" rtlCol="0" anchor="ctr"/>
          <a:lstStyle/>
          <a:p>
            <a:pPr indent="0" marL="0">
              <a:buNone/>
            </a:pPr>
            <a:r>
              <a:rPr lang="en-US" sz="3000" b="1" dirty="0">
                <a:solidFill>
                  <a:srgbClr val="23408E"/>
                </a:solidFill>
                <a:latin typeface="Montserrat" pitchFamily="34" charset="0"/>
                <a:ea typeface="Montserrat" pitchFamily="34" charset="-122"/>
                <a:cs typeface="Montserrat" pitchFamily="34" charset="-120"/>
              </a:rPr>
              <a:t>Objectives &amp; Scope of Work</a:t>
            </a:r>
            <a:endParaRPr lang="en-US" sz="3000" dirty="0"/>
          </a:p>
        </p:txBody>
      </p:sp>
      <p:sp>
        <p:nvSpPr>
          <p:cNvPr id="7" name="Shape 5"/>
          <p:cNvSpPr/>
          <p:nvPr/>
        </p:nvSpPr>
        <p:spPr>
          <a:xfrm>
            <a:off x="621792" y="914400"/>
            <a:ext cx="6035040" cy="0"/>
          </a:xfrm>
          <a:prstGeom prst="line">
            <a:avLst/>
          </a:prstGeom>
          <a:noFill/>
          <a:ln w="20320">
            <a:solidFill>
              <a:srgbClr val="16181D"/>
            </a:solidFill>
            <a:prstDash val="solid"/>
          </a:ln>
        </p:spPr>
      </p:sp>
      <p:sp>
        <p:nvSpPr>
          <p:cNvPr id="8" name="Shape 6"/>
          <p:cNvSpPr/>
          <p:nvPr/>
        </p:nvSpPr>
        <p:spPr>
          <a:xfrm>
            <a:off x="548640" y="859536"/>
            <a:ext cx="118872" cy="118872"/>
          </a:xfrm>
          <a:prstGeom prst="ellipse">
            <a:avLst/>
          </a:prstGeom>
          <a:solidFill>
            <a:srgbClr val="16181D"/>
          </a:solidFill>
          <a:ln w="12700">
            <a:solidFill>
              <a:srgbClr val="333333"/>
            </a:solidFill>
            <a:prstDash val="solid"/>
          </a:ln>
        </p:spPr>
      </p:sp>
      <p:sp>
        <p:nvSpPr>
          <p:cNvPr id="9" name="Shape 7"/>
          <p:cNvSpPr/>
          <p:nvPr/>
        </p:nvSpPr>
        <p:spPr>
          <a:xfrm>
            <a:off x="6601968" y="859536"/>
            <a:ext cx="118872" cy="118872"/>
          </a:xfrm>
          <a:prstGeom prst="ellipse">
            <a:avLst/>
          </a:prstGeom>
          <a:solidFill>
            <a:srgbClr val="16181D"/>
          </a:solidFill>
          <a:ln w="12700">
            <a:solidFill>
              <a:srgbClr val="333333"/>
            </a:solidFill>
            <a:prstDash val="solid"/>
          </a:ln>
        </p:spPr>
      </p:sp>
      <p:sp>
        <p:nvSpPr>
          <p:cNvPr id="10" name="Text 8"/>
          <p:cNvSpPr txBox="1"/>
          <p:nvPr/>
        </p:nvSpPr>
        <p:spPr>
          <a:xfrm>
            <a:off x="822960" y="1371600"/>
            <a:ext cx="6675120" cy="3840480"/>
          </a:xfrm>
          <a:prstGeom prst="rect">
            <a:avLst/>
          </a:prstGeom>
          <a:noFill/>
          <a:ln/>
        </p:spPr>
        <p:txBody>
          <a:bodyPr wrap="square" lIns="0" tIns="0" rIns="0" bIns="0" rtlCol="0" anchor="ctr"/>
          <a:lstStyle/>
          <a:p>
            <a:pPr marL="342900" indent="-342900">
              <a:lnSpc>
                <a:spcPct val="110000"/>
              </a:lnSpc>
              <a:spcAft>
                <a:spcPts val="700"/>
              </a:spcAft>
              <a:buSzPct val="100000"/>
              <a:buChar char="•"/>
            </a:pPr>
            <a:r>
              <a:rPr lang="en-US" sz="1250" dirty="0">
                <a:solidFill>
                  <a:srgbClr val="16181D"/>
                </a:solidFill>
                <a:latin typeface="Montserrat" pitchFamily="34" charset="0"/>
                <a:ea typeface="Montserrat" pitchFamily="34" charset="-122"/>
                <a:cs typeface="Montserrat" pitchFamily="34" charset="-120"/>
              </a:rPr>
              <a:t>Faithful replication of Graph of Thoughts on open-weights models, with all four baselines on one engine</a:t>
            </a:r>
            <a:endParaRPr lang="en-US" sz="1250" dirty="0"/>
          </a:p>
          <a:p>
            <a:pPr marL="342900" indent="-342900">
              <a:lnSpc>
                <a:spcPct val="110000"/>
              </a:lnSpc>
              <a:spcAft>
                <a:spcPts val="700"/>
              </a:spcAft>
              <a:buSzPct val="100000"/>
              <a:buChar char="•"/>
            </a:pPr>
            <a:r>
              <a:rPr lang="en-US" sz="1250" dirty="0">
                <a:solidFill>
                  <a:srgbClr val="16181D"/>
                </a:solidFill>
                <a:latin typeface="Montserrat" pitchFamily="34" charset="0"/>
                <a:ea typeface="Montserrat" pitchFamily="34" charset="-122"/>
                <a:cs typeface="Montserrat" pitchFamily="34" charset="-120"/>
              </a:rPr>
              <a:t>Verification of the structural claims - volume, latency, aggregation count - independently of model quality</a:t>
            </a:r>
            <a:endParaRPr lang="en-US" sz="1250" dirty="0"/>
          </a:p>
          <a:p>
            <a:pPr marL="342900" indent="-342900">
              <a:lnSpc>
                <a:spcPct val="110000"/>
              </a:lnSpc>
              <a:spcAft>
                <a:spcPts val="700"/>
              </a:spcAft>
              <a:buSzPct val="100000"/>
              <a:buChar char="•"/>
            </a:pPr>
            <a:r>
              <a:rPr lang="en-US" sz="1250" dirty="0">
                <a:solidFill>
                  <a:srgbClr val="16181D"/>
                </a:solidFill>
                <a:latin typeface="Montserrat" pitchFamily="34" charset="0"/>
                <a:ea typeface="Montserrat" pitchFamily="34" charset="-122"/>
                <a:cs typeface="Montserrat" pitchFamily="34" charset="-120"/>
              </a:rPr>
              <a:t>Measurement of where the cost of a reasoning graph actually accumulates</a:t>
            </a:r>
            <a:endParaRPr lang="en-US" sz="1250" dirty="0"/>
          </a:p>
          <a:p>
            <a:pPr marL="342900" indent="-342900">
              <a:lnSpc>
                <a:spcPct val="110000"/>
              </a:lnSpc>
              <a:spcAft>
                <a:spcPts val="700"/>
              </a:spcAft>
              <a:buSzPct val="100000"/>
              <a:buChar char="•"/>
            </a:pPr>
            <a:r>
              <a:rPr lang="en-US" sz="1250" dirty="0">
                <a:solidFill>
                  <a:srgbClr val="16181D"/>
                </a:solidFill>
                <a:latin typeface="Montserrat" pitchFamily="34" charset="0"/>
                <a:ea typeface="Montserrat" pitchFamily="34" charset="-122"/>
                <a:cs typeface="Montserrat" pitchFamily="34" charset="-120"/>
              </a:rPr>
              <a:t>Application of chain-of-thought compression to the content of each vertex</a:t>
            </a:r>
            <a:endParaRPr lang="en-US" sz="1250" dirty="0"/>
          </a:p>
          <a:p>
            <a:pPr marL="342900" indent="-342900">
              <a:lnSpc>
                <a:spcPct val="110000"/>
              </a:lnSpc>
              <a:spcAft>
                <a:spcPts val="700"/>
              </a:spcAft>
              <a:buSzPct val="100000"/>
              <a:buChar char="•"/>
            </a:pPr>
            <a:r>
              <a:rPr lang="en-US" sz="1250" dirty="0">
                <a:solidFill>
                  <a:srgbClr val="16181D"/>
                </a:solidFill>
                <a:latin typeface="Montserrat" pitchFamily="34" charset="0"/>
                <a:ea typeface="Montserrat" pitchFamily="34" charset="-122"/>
                <a:cs typeface="Montserrat" pitchFamily="34" charset="-120"/>
              </a:rPr>
              <a:t>Development of a causality-preserving coarsening operator that reduces the number of vertices</a:t>
            </a:r>
            <a:endParaRPr lang="en-US" sz="1250" dirty="0"/>
          </a:p>
          <a:p>
            <a:pPr marL="342900" indent="-342900">
              <a:lnSpc>
                <a:spcPct val="110000"/>
              </a:lnSpc>
              <a:spcAft>
                <a:spcPts val="700"/>
              </a:spcAft>
              <a:buSzPct val="100000"/>
              <a:buChar char="•"/>
            </a:pPr>
            <a:r>
              <a:rPr lang="en-US" sz="1250" dirty="0">
                <a:solidFill>
                  <a:srgbClr val="16181D"/>
                </a:solidFill>
                <a:latin typeface="Montserrat" pitchFamily="34" charset="0"/>
                <a:ea typeface="Montserrat" pitchFamily="34" charset="-122"/>
                <a:cs typeface="Montserrat" pitchFamily="34" charset="-120"/>
              </a:rPr>
              <a:t>Evaluation of the compressed graph against the Tree of Thoughts cost-quality frontier</a:t>
            </a:r>
            <a:endParaRPr lang="en-US" sz="1250" dirty="0"/>
          </a:p>
        </p:txBody>
      </p:sp>
      <p:sp>
        <p:nvSpPr>
          <p:cNvPr id="11" name="Shape 9"/>
          <p:cNvSpPr/>
          <p:nvPr/>
        </p:nvSpPr>
        <p:spPr>
          <a:xfrm>
            <a:off x="7863840" y="1325880"/>
            <a:ext cx="3657600" cy="4206240"/>
          </a:xfrm>
          <a:prstGeom prst="roundRect">
            <a:avLst>
              <a:gd name="adj" fmla="val 1250"/>
            </a:avLst>
          </a:prstGeom>
          <a:solidFill>
            <a:srgbClr val="F4F6FB"/>
          </a:solidFill>
          <a:ln w="12700">
            <a:solidFill>
              <a:srgbClr val="D8DEEC"/>
            </a:solidFill>
            <a:prstDash val="solid"/>
          </a:ln>
        </p:spPr>
      </p:sp>
      <p:sp>
        <p:nvSpPr>
          <p:cNvPr id="12" name="Text 10"/>
          <p:cNvSpPr txBox="1"/>
          <p:nvPr/>
        </p:nvSpPr>
        <p:spPr>
          <a:xfrm>
            <a:off x="8092440" y="1490472"/>
            <a:ext cx="3200400" cy="274320"/>
          </a:xfrm>
          <a:prstGeom prst="rect">
            <a:avLst/>
          </a:prstGeom>
          <a:noFill/>
          <a:ln/>
        </p:spPr>
        <p:txBody>
          <a:bodyPr wrap="square" lIns="0" tIns="0" rIns="0" bIns="0" rtlCol="0" anchor="ctr"/>
          <a:lstStyle/>
          <a:p>
            <a:pPr indent="0" marL="0">
              <a:buNone/>
            </a:pPr>
            <a:r>
              <a:rPr lang="en-US" sz="1150" b="1" dirty="0">
                <a:solidFill>
                  <a:srgbClr val="23408E"/>
                </a:solidFill>
                <a:latin typeface="Montserrat" pitchFamily="34" charset="0"/>
                <a:ea typeface="Montserrat" pitchFamily="34" charset="-122"/>
                <a:cs typeface="Montserrat" pitchFamily="34" charset="-120"/>
              </a:rPr>
              <a:t>Status at mid-term</a:t>
            </a:r>
            <a:endParaRPr lang="en-US" sz="1150" dirty="0"/>
          </a:p>
        </p:txBody>
      </p:sp>
      <p:sp>
        <p:nvSpPr>
          <p:cNvPr id="13" name="Shape 11"/>
          <p:cNvSpPr/>
          <p:nvPr/>
        </p:nvSpPr>
        <p:spPr>
          <a:xfrm>
            <a:off x="8138160" y="1993392"/>
            <a:ext cx="118872" cy="118872"/>
          </a:xfrm>
          <a:prstGeom prst="ellipse">
            <a:avLst/>
          </a:prstGeom>
          <a:solidFill>
            <a:srgbClr val="0F7B6C"/>
          </a:solidFill>
          <a:ln w="12700">
            <a:solidFill>
              <a:srgbClr val="333333"/>
            </a:solidFill>
            <a:prstDash val="solid"/>
          </a:ln>
        </p:spPr>
      </p:sp>
      <p:sp>
        <p:nvSpPr>
          <p:cNvPr id="14" name="Text 12"/>
          <p:cNvSpPr txBox="1"/>
          <p:nvPr/>
        </p:nvSpPr>
        <p:spPr>
          <a:xfrm>
            <a:off x="8339328" y="1938528"/>
            <a:ext cx="2057400" cy="237744"/>
          </a:xfrm>
          <a:prstGeom prst="rect">
            <a:avLst/>
          </a:prstGeom>
          <a:noFill/>
          <a:ln/>
        </p:spPr>
        <p:txBody>
          <a:bodyPr wrap="square" lIns="0" tIns="0" rIns="0" bIns="0" rtlCol="0" anchor="ctr"/>
          <a:lstStyle/>
          <a:p>
            <a:pPr indent="0" marL="0">
              <a:buNone/>
            </a:pPr>
            <a:r>
              <a:rPr lang="en-US" sz="950" dirty="0">
                <a:solidFill>
                  <a:srgbClr val="16181D"/>
                </a:solidFill>
                <a:latin typeface="Montserrat" pitchFamily="34" charset="0"/>
                <a:ea typeface="Montserrat" pitchFamily="34" charset="-122"/>
                <a:cs typeface="Montserrat" pitchFamily="34" charset="-120"/>
              </a:rPr>
              <a:t>Replication framework</a:t>
            </a:r>
            <a:endParaRPr lang="en-US" sz="950" dirty="0"/>
          </a:p>
        </p:txBody>
      </p:sp>
      <p:sp>
        <p:nvSpPr>
          <p:cNvPr id="15" name="Text 13"/>
          <p:cNvSpPr txBox="1"/>
          <p:nvPr/>
        </p:nvSpPr>
        <p:spPr>
          <a:xfrm>
            <a:off x="10332720" y="1938528"/>
            <a:ext cx="1005840" cy="237744"/>
          </a:xfrm>
          <a:prstGeom prst="rect">
            <a:avLst/>
          </a:prstGeom>
          <a:noFill/>
          <a:ln/>
        </p:spPr>
        <p:txBody>
          <a:bodyPr wrap="square" lIns="0" tIns="0" rIns="0" bIns="0" rtlCol="0" anchor="ctr"/>
          <a:lstStyle/>
          <a:p>
            <a:pPr algn="r" indent="0" marL="0">
              <a:buNone/>
            </a:pPr>
            <a:r>
              <a:rPr lang="en-US" sz="850" b="1" dirty="0">
                <a:solidFill>
                  <a:srgbClr val="0F7B6C"/>
                </a:solidFill>
                <a:latin typeface="Montserrat" pitchFamily="34" charset="0"/>
                <a:ea typeface="Montserrat" pitchFamily="34" charset="-122"/>
                <a:cs typeface="Montserrat" pitchFamily="34" charset="-120"/>
              </a:rPr>
              <a:t>done</a:t>
            </a:r>
            <a:endParaRPr lang="en-US" sz="850" dirty="0"/>
          </a:p>
        </p:txBody>
      </p:sp>
      <p:sp>
        <p:nvSpPr>
          <p:cNvPr id="16" name="Shape 14"/>
          <p:cNvSpPr/>
          <p:nvPr/>
        </p:nvSpPr>
        <p:spPr>
          <a:xfrm>
            <a:off x="8138160" y="2478024"/>
            <a:ext cx="118872" cy="118872"/>
          </a:xfrm>
          <a:prstGeom prst="ellipse">
            <a:avLst/>
          </a:prstGeom>
          <a:solidFill>
            <a:srgbClr val="0F7B6C"/>
          </a:solidFill>
          <a:ln w="12700">
            <a:solidFill>
              <a:srgbClr val="333333"/>
            </a:solidFill>
            <a:prstDash val="solid"/>
          </a:ln>
        </p:spPr>
      </p:sp>
      <p:sp>
        <p:nvSpPr>
          <p:cNvPr id="17" name="Text 15"/>
          <p:cNvSpPr txBox="1"/>
          <p:nvPr/>
        </p:nvSpPr>
        <p:spPr>
          <a:xfrm>
            <a:off x="8339328" y="2423160"/>
            <a:ext cx="2057400" cy="237744"/>
          </a:xfrm>
          <a:prstGeom prst="rect">
            <a:avLst/>
          </a:prstGeom>
          <a:noFill/>
          <a:ln/>
        </p:spPr>
        <p:txBody>
          <a:bodyPr wrap="square" lIns="0" tIns="0" rIns="0" bIns="0" rtlCol="0" anchor="ctr"/>
          <a:lstStyle/>
          <a:p>
            <a:pPr indent="0" marL="0">
              <a:buNone/>
            </a:pPr>
            <a:r>
              <a:rPr lang="en-US" sz="950" dirty="0">
                <a:solidFill>
                  <a:srgbClr val="16181D"/>
                </a:solidFill>
                <a:latin typeface="Montserrat" pitchFamily="34" charset="0"/>
                <a:ea typeface="Montserrat" pitchFamily="34" charset="-122"/>
                <a:cs typeface="Montserrat" pitchFamily="34" charset="-120"/>
              </a:rPr>
              <a:t>Structural verification</a:t>
            </a:r>
            <a:endParaRPr lang="en-US" sz="950" dirty="0"/>
          </a:p>
        </p:txBody>
      </p:sp>
      <p:sp>
        <p:nvSpPr>
          <p:cNvPr id="18" name="Text 16"/>
          <p:cNvSpPr txBox="1"/>
          <p:nvPr/>
        </p:nvSpPr>
        <p:spPr>
          <a:xfrm>
            <a:off x="10332720" y="2423160"/>
            <a:ext cx="1005840" cy="237744"/>
          </a:xfrm>
          <a:prstGeom prst="rect">
            <a:avLst/>
          </a:prstGeom>
          <a:noFill/>
          <a:ln/>
        </p:spPr>
        <p:txBody>
          <a:bodyPr wrap="square" lIns="0" tIns="0" rIns="0" bIns="0" rtlCol="0" anchor="ctr"/>
          <a:lstStyle/>
          <a:p>
            <a:pPr algn="r" indent="0" marL="0">
              <a:buNone/>
            </a:pPr>
            <a:r>
              <a:rPr lang="en-US" sz="850" b="1" dirty="0">
                <a:solidFill>
                  <a:srgbClr val="0F7B6C"/>
                </a:solidFill>
                <a:latin typeface="Montserrat" pitchFamily="34" charset="0"/>
                <a:ea typeface="Montserrat" pitchFamily="34" charset="-122"/>
                <a:cs typeface="Montserrat" pitchFamily="34" charset="-120"/>
              </a:rPr>
              <a:t>done</a:t>
            </a:r>
            <a:endParaRPr lang="en-US" sz="850" dirty="0"/>
          </a:p>
        </p:txBody>
      </p:sp>
      <p:sp>
        <p:nvSpPr>
          <p:cNvPr id="19" name="Shape 17"/>
          <p:cNvSpPr/>
          <p:nvPr/>
        </p:nvSpPr>
        <p:spPr>
          <a:xfrm>
            <a:off x="8138160" y="2962656"/>
            <a:ext cx="118872" cy="118872"/>
          </a:xfrm>
          <a:prstGeom prst="ellipse">
            <a:avLst/>
          </a:prstGeom>
          <a:solidFill>
            <a:srgbClr val="0F7B6C"/>
          </a:solidFill>
          <a:ln w="12700">
            <a:solidFill>
              <a:srgbClr val="333333"/>
            </a:solidFill>
            <a:prstDash val="solid"/>
          </a:ln>
        </p:spPr>
      </p:sp>
      <p:sp>
        <p:nvSpPr>
          <p:cNvPr id="20" name="Text 18"/>
          <p:cNvSpPr txBox="1"/>
          <p:nvPr/>
        </p:nvSpPr>
        <p:spPr>
          <a:xfrm>
            <a:off x="8339328" y="2907792"/>
            <a:ext cx="2057400" cy="237744"/>
          </a:xfrm>
          <a:prstGeom prst="rect">
            <a:avLst/>
          </a:prstGeom>
          <a:noFill/>
          <a:ln/>
        </p:spPr>
        <p:txBody>
          <a:bodyPr wrap="square" lIns="0" tIns="0" rIns="0" bIns="0" rtlCol="0" anchor="ctr"/>
          <a:lstStyle/>
          <a:p>
            <a:pPr indent="0" marL="0">
              <a:buNone/>
            </a:pPr>
            <a:r>
              <a:rPr lang="en-US" sz="950" dirty="0">
                <a:solidFill>
                  <a:srgbClr val="16181D"/>
                </a:solidFill>
                <a:latin typeface="Montserrat" pitchFamily="34" charset="0"/>
                <a:ea typeface="Montserrat" pitchFamily="34" charset="-122"/>
                <a:cs typeface="Montserrat" pitchFamily="34" charset="-120"/>
              </a:rPr>
              <a:t>Cost characterisation</a:t>
            </a:r>
            <a:endParaRPr lang="en-US" sz="950" dirty="0"/>
          </a:p>
        </p:txBody>
      </p:sp>
      <p:sp>
        <p:nvSpPr>
          <p:cNvPr id="21" name="Text 19"/>
          <p:cNvSpPr txBox="1"/>
          <p:nvPr/>
        </p:nvSpPr>
        <p:spPr>
          <a:xfrm>
            <a:off x="10332720" y="2907792"/>
            <a:ext cx="1005840" cy="237744"/>
          </a:xfrm>
          <a:prstGeom prst="rect">
            <a:avLst/>
          </a:prstGeom>
          <a:noFill/>
          <a:ln/>
        </p:spPr>
        <p:txBody>
          <a:bodyPr wrap="square" lIns="0" tIns="0" rIns="0" bIns="0" rtlCol="0" anchor="ctr"/>
          <a:lstStyle/>
          <a:p>
            <a:pPr algn="r" indent="0" marL="0">
              <a:buNone/>
            </a:pPr>
            <a:r>
              <a:rPr lang="en-US" sz="850" b="1" dirty="0">
                <a:solidFill>
                  <a:srgbClr val="0F7B6C"/>
                </a:solidFill>
                <a:latin typeface="Montserrat" pitchFamily="34" charset="0"/>
                <a:ea typeface="Montserrat" pitchFamily="34" charset="-122"/>
                <a:cs typeface="Montserrat" pitchFamily="34" charset="-120"/>
              </a:rPr>
              <a:t>done</a:t>
            </a:r>
            <a:endParaRPr lang="en-US" sz="850" dirty="0"/>
          </a:p>
        </p:txBody>
      </p:sp>
      <p:sp>
        <p:nvSpPr>
          <p:cNvPr id="22" name="Shape 20"/>
          <p:cNvSpPr/>
          <p:nvPr/>
        </p:nvSpPr>
        <p:spPr>
          <a:xfrm>
            <a:off x="8138160" y="3447288"/>
            <a:ext cx="118872" cy="118872"/>
          </a:xfrm>
          <a:prstGeom prst="ellipse">
            <a:avLst/>
          </a:prstGeom>
          <a:solidFill>
            <a:srgbClr val="0F7B6C"/>
          </a:solidFill>
          <a:ln w="12700">
            <a:solidFill>
              <a:srgbClr val="333333"/>
            </a:solidFill>
            <a:prstDash val="solid"/>
          </a:ln>
        </p:spPr>
      </p:sp>
      <p:sp>
        <p:nvSpPr>
          <p:cNvPr id="23" name="Text 21"/>
          <p:cNvSpPr txBox="1"/>
          <p:nvPr/>
        </p:nvSpPr>
        <p:spPr>
          <a:xfrm>
            <a:off x="8339328" y="3392424"/>
            <a:ext cx="2057400" cy="237744"/>
          </a:xfrm>
          <a:prstGeom prst="rect">
            <a:avLst/>
          </a:prstGeom>
          <a:noFill/>
          <a:ln/>
        </p:spPr>
        <p:txBody>
          <a:bodyPr wrap="square" lIns="0" tIns="0" rIns="0" bIns="0" rtlCol="0" anchor="ctr"/>
          <a:lstStyle/>
          <a:p>
            <a:pPr indent="0" marL="0">
              <a:buNone/>
            </a:pPr>
            <a:r>
              <a:rPr lang="en-US" sz="950" dirty="0">
                <a:solidFill>
                  <a:srgbClr val="16181D"/>
                </a:solidFill>
                <a:latin typeface="Montserrat" pitchFamily="34" charset="0"/>
                <a:ea typeface="Montserrat" pitchFamily="34" charset="-122"/>
                <a:cs typeface="Montserrat" pitchFamily="34" charset="-120"/>
              </a:rPr>
              <a:t>Naive-compression study</a:t>
            </a:r>
            <a:endParaRPr lang="en-US" sz="950" dirty="0"/>
          </a:p>
        </p:txBody>
      </p:sp>
      <p:sp>
        <p:nvSpPr>
          <p:cNvPr id="24" name="Text 22"/>
          <p:cNvSpPr txBox="1"/>
          <p:nvPr/>
        </p:nvSpPr>
        <p:spPr>
          <a:xfrm>
            <a:off x="10332720" y="3392424"/>
            <a:ext cx="1005840" cy="237744"/>
          </a:xfrm>
          <a:prstGeom prst="rect">
            <a:avLst/>
          </a:prstGeom>
          <a:noFill/>
          <a:ln/>
        </p:spPr>
        <p:txBody>
          <a:bodyPr wrap="square" lIns="0" tIns="0" rIns="0" bIns="0" rtlCol="0" anchor="ctr"/>
          <a:lstStyle/>
          <a:p>
            <a:pPr algn="r" indent="0" marL="0">
              <a:buNone/>
            </a:pPr>
            <a:r>
              <a:rPr lang="en-US" sz="850" b="1" dirty="0">
                <a:solidFill>
                  <a:srgbClr val="0F7B6C"/>
                </a:solidFill>
                <a:latin typeface="Montserrat" pitchFamily="34" charset="0"/>
                <a:ea typeface="Montserrat" pitchFamily="34" charset="-122"/>
                <a:cs typeface="Montserrat" pitchFamily="34" charset="-120"/>
              </a:rPr>
              <a:t>done</a:t>
            </a:r>
            <a:endParaRPr lang="en-US" sz="850" dirty="0"/>
          </a:p>
        </p:txBody>
      </p:sp>
      <p:sp>
        <p:nvSpPr>
          <p:cNvPr id="25" name="Shape 23"/>
          <p:cNvSpPr/>
          <p:nvPr/>
        </p:nvSpPr>
        <p:spPr>
          <a:xfrm>
            <a:off x="8138160" y="3931920"/>
            <a:ext cx="118872" cy="118872"/>
          </a:xfrm>
          <a:prstGeom prst="ellipse">
            <a:avLst/>
          </a:prstGeom>
          <a:solidFill>
            <a:srgbClr val="D98A1F"/>
          </a:solidFill>
          <a:ln w="12700">
            <a:solidFill>
              <a:srgbClr val="333333"/>
            </a:solidFill>
            <a:prstDash val="solid"/>
          </a:ln>
        </p:spPr>
      </p:sp>
      <p:sp>
        <p:nvSpPr>
          <p:cNvPr id="26" name="Text 24"/>
          <p:cNvSpPr txBox="1"/>
          <p:nvPr/>
        </p:nvSpPr>
        <p:spPr>
          <a:xfrm>
            <a:off x="8339328" y="3877056"/>
            <a:ext cx="2057400" cy="237744"/>
          </a:xfrm>
          <a:prstGeom prst="rect">
            <a:avLst/>
          </a:prstGeom>
          <a:noFill/>
          <a:ln/>
        </p:spPr>
        <p:txBody>
          <a:bodyPr wrap="square" lIns="0" tIns="0" rIns="0" bIns="0" rtlCol="0" anchor="ctr"/>
          <a:lstStyle/>
          <a:p>
            <a:pPr indent="0" marL="0">
              <a:buNone/>
            </a:pPr>
            <a:r>
              <a:rPr lang="en-US" sz="950" dirty="0">
                <a:solidFill>
                  <a:srgbClr val="16181D"/>
                </a:solidFill>
                <a:latin typeface="Montserrat" pitchFamily="34" charset="0"/>
                <a:ea typeface="Montserrat" pitchFamily="34" charset="-122"/>
                <a:cs typeface="Montserrat" pitchFamily="34" charset="-120"/>
              </a:rPr>
              <a:t>Vertex compression</a:t>
            </a:r>
            <a:endParaRPr lang="en-US" sz="950" dirty="0"/>
          </a:p>
        </p:txBody>
      </p:sp>
      <p:sp>
        <p:nvSpPr>
          <p:cNvPr id="27" name="Text 25"/>
          <p:cNvSpPr txBox="1"/>
          <p:nvPr/>
        </p:nvSpPr>
        <p:spPr>
          <a:xfrm>
            <a:off x="10332720" y="3877056"/>
            <a:ext cx="1005840" cy="237744"/>
          </a:xfrm>
          <a:prstGeom prst="rect">
            <a:avLst/>
          </a:prstGeom>
          <a:noFill/>
          <a:ln/>
        </p:spPr>
        <p:txBody>
          <a:bodyPr wrap="square" lIns="0" tIns="0" rIns="0" bIns="0" rtlCol="0" anchor="ctr"/>
          <a:lstStyle/>
          <a:p>
            <a:pPr algn="r" indent="0" marL="0">
              <a:buNone/>
            </a:pPr>
            <a:r>
              <a:rPr lang="en-US" sz="850" b="1" dirty="0">
                <a:solidFill>
                  <a:srgbClr val="D98A1F"/>
                </a:solidFill>
                <a:latin typeface="Montserrat" pitchFamily="34" charset="0"/>
                <a:ea typeface="Montserrat" pitchFamily="34" charset="-122"/>
                <a:cs typeface="Montserrat" pitchFamily="34" charset="-120"/>
              </a:rPr>
              <a:t>in progress</a:t>
            </a:r>
            <a:endParaRPr lang="en-US" sz="850" dirty="0"/>
          </a:p>
        </p:txBody>
      </p:sp>
      <p:sp>
        <p:nvSpPr>
          <p:cNvPr id="28" name="Shape 26"/>
          <p:cNvSpPr/>
          <p:nvPr/>
        </p:nvSpPr>
        <p:spPr>
          <a:xfrm>
            <a:off x="8138160" y="4416552"/>
            <a:ext cx="118872" cy="118872"/>
          </a:xfrm>
          <a:prstGeom prst="ellipse">
            <a:avLst/>
          </a:prstGeom>
          <a:solidFill>
            <a:srgbClr val="63697A"/>
          </a:solidFill>
          <a:ln w="12700">
            <a:solidFill>
              <a:srgbClr val="333333"/>
            </a:solidFill>
            <a:prstDash val="solid"/>
          </a:ln>
        </p:spPr>
      </p:sp>
      <p:sp>
        <p:nvSpPr>
          <p:cNvPr id="29" name="Text 27"/>
          <p:cNvSpPr txBox="1"/>
          <p:nvPr/>
        </p:nvSpPr>
        <p:spPr>
          <a:xfrm>
            <a:off x="8339328" y="4361688"/>
            <a:ext cx="2057400" cy="237744"/>
          </a:xfrm>
          <a:prstGeom prst="rect">
            <a:avLst/>
          </a:prstGeom>
          <a:noFill/>
          <a:ln/>
        </p:spPr>
        <p:txBody>
          <a:bodyPr wrap="square" lIns="0" tIns="0" rIns="0" bIns="0" rtlCol="0" anchor="ctr"/>
          <a:lstStyle/>
          <a:p>
            <a:pPr indent="0" marL="0">
              <a:buNone/>
            </a:pPr>
            <a:r>
              <a:rPr lang="en-US" sz="950" dirty="0">
                <a:solidFill>
                  <a:srgbClr val="16181D"/>
                </a:solidFill>
                <a:latin typeface="Montserrat" pitchFamily="34" charset="0"/>
                <a:ea typeface="Montserrat" pitchFamily="34" charset="-122"/>
                <a:cs typeface="Montserrat" pitchFamily="34" charset="-120"/>
              </a:rPr>
              <a:t>Coarsening operator</a:t>
            </a:r>
            <a:endParaRPr lang="en-US" sz="950" dirty="0"/>
          </a:p>
        </p:txBody>
      </p:sp>
      <p:sp>
        <p:nvSpPr>
          <p:cNvPr id="30" name="Text 28"/>
          <p:cNvSpPr txBox="1"/>
          <p:nvPr/>
        </p:nvSpPr>
        <p:spPr>
          <a:xfrm>
            <a:off x="10332720" y="4361688"/>
            <a:ext cx="1005840" cy="237744"/>
          </a:xfrm>
          <a:prstGeom prst="rect">
            <a:avLst/>
          </a:prstGeom>
          <a:noFill/>
          <a:ln/>
        </p:spPr>
        <p:txBody>
          <a:bodyPr wrap="square" lIns="0" tIns="0" rIns="0" bIns="0" rtlCol="0" anchor="ctr"/>
          <a:lstStyle/>
          <a:p>
            <a:pPr algn="r" indent="0" marL="0">
              <a:buNone/>
            </a:pPr>
            <a:r>
              <a:rPr lang="en-US" sz="850" b="1" dirty="0">
                <a:solidFill>
                  <a:srgbClr val="63697A"/>
                </a:solidFill>
                <a:latin typeface="Montserrat" pitchFamily="34" charset="0"/>
                <a:ea typeface="Montserrat" pitchFamily="34" charset="-122"/>
                <a:cs typeface="Montserrat" pitchFamily="34" charset="-120"/>
              </a:rPr>
              <a:t>planned</a:t>
            </a:r>
            <a:endParaRPr lang="en-US" sz="850" dirty="0"/>
          </a:p>
        </p:txBody>
      </p:sp>
      <p:sp>
        <p:nvSpPr>
          <p:cNvPr id="31" name="Shape 29"/>
          <p:cNvSpPr/>
          <p:nvPr/>
        </p:nvSpPr>
        <p:spPr>
          <a:xfrm>
            <a:off x="8138160" y="4901184"/>
            <a:ext cx="118872" cy="118872"/>
          </a:xfrm>
          <a:prstGeom prst="ellipse">
            <a:avLst/>
          </a:prstGeom>
          <a:solidFill>
            <a:srgbClr val="63697A"/>
          </a:solidFill>
          <a:ln w="12700">
            <a:solidFill>
              <a:srgbClr val="333333"/>
            </a:solidFill>
            <a:prstDash val="solid"/>
          </a:ln>
        </p:spPr>
      </p:sp>
      <p:sp>
        <p:nvSpPr>
          <p:cNvPr id="32" name="Text 30"/>
          <p:cNvSpPr txBox="1"/>
          <p:nvPr/>
        </p:nvSpPr>
        <p:spPr>
          <a:xfrm>
            <a:off x="8339328" y="4846320"/>
            <a:ext cx="2057400" cy="237744"/>
          </a:xfrm>
          <a:prstGeom prst="rect">
            <a:avLst/>
          </a:prstGeom>
          <a:noFill/>
          <a:ln/>
        </p:spPr>
        <p:txBody>
          <a:bodyPr wrap="square" lIns="0" tIns="0" rIns="0" bIns="0" rtlCol="0" anchor="ctr"/>
          <a:lstStyle/>
          <a:p>
            <a:pPr indent="0" marL="0">
              <a:buNone/>
            </a:pPr>
            <a:r>
              <a:rPr lang="en-US" sz="950" dirty="0">
                <a:solidFill>
                  <a:srgbClr val="16181D"/>
                </a:solidFill>
                <a:latin typeface="Montserrat" pitchFamily="34" charset="0"/>
                <a:ea typeface="Montserrat" pitchFamily="34" charset="-122"/>
                <a:cs typeface="Montserrat" pitchFamily="34" charset="-120"/>
              </a:rPr>
              <a:t>Frontier evaluation</a:t>
            </a:r>
            <a:endParaRPr lang="en-US" sz="950" dirty="0"/>
          </a:p>
        </p:txBody>
      </p:sp>
      <p:sp>
        <p:nvSpPr>
          <p:cNvPr id="33" name="Text 31"/>
          <p:cNvSpPr txBox="1"/>
          <p:nvPr/>
        </p:nvSpPr>
        <p:spPr>
          <a:xfrm>
            <a:off x="10332720" y="4846320"/>
            <a:ext cx="1005840" cy="237744"/>
          </a:xfrm>
          <a:prstGeom prst="rect">
            <a:avLst/>
          </a:prstGeom>
          <a:noFill/>
          <a:ln/>
        </p:spPr>
        <p:txBody>
          <a:bodyPr wrap="square" lIns="0" tIns="0" rIns="0" bIns="0" rtlCol="0" anchor="ctr"/>
          <a:lstStyle/>
          <a:p>
            <a:pPr algn="r" indent="0" marL="0">
              <a:buNone/>
            </a:pPr>
            <a:r>
              <a:rPr lang="en-US" sz="850" b="1" dirty="0">
                <a:solidFill>
                  <a:srgbClr val="63697A"/>
                </a:solidFill>
                <a:latin typeface="Montserrat" pitchFamily="34" charset="0"/>
                <a:ea typeface="Montserrat" pitchFamily="34" charset="-122"/>
                <a:cs typeface="Montserrat" pitchFamily="34" charset="-120"/>
              </a:rPr>
              <a:t>planned</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0149840" y="-502920"/>
            <a:ext cx="2377440" cy="960120"/>
          </a:xfrm>
          <a:prstGeom prst="roundRect">
            <a:avLst>
              <a:gd name="adj" fmla="val 38095"/>
            </a:avLst>
          </a:prstGeom>
          <a:solidFill>
            <a:srgbClr val="C9D8F5"/>
          </a:solidFill>
          <a:ln w="12700">
            <a:solidFill>
              <a:srgbClr val="333333"/>
            </a:solidFill>
            <a:prstDash val="solid"/>
          </a:ln>
        </p:spPr>
      </p:sp>
      <p:sp>
        <p:nvSpPr>
          <p:cNvPr id="3" name="Shape 1"/>
          <p:cNvSpPr/>
          <p:nvPr/>
        </p:nvSpPr>
        <p:spPr>
          <a:xfrm>
            <a:off x="10881360" y="0"/>
            <a:ext cx="2011680" cy="566928"/>
          </a:xfrm>
          <a:prstGeom prst="roundRect">
            <a:avLst>
              <a:gd name="adj" fmla="val 48387"/>
            </a:avLst>
          </a:prstGeom>
          <a:solidFill>
            <a:srgbClr val="23408E"/>
          </a:solidFill>
          <a:ln w="12700">
            <a:solidFill>
              <a:srgbClr val="333333"/>
            </a:solidFill>
            <a:prstDash val="solid"/>
          </a:ln>
        </p:spPr>
      </p:sp>
      <p:sp>
        <p:nvSpPr>
          <p:cNvPr id="4" name="Shape 2"/>
          <p:cNvSpPr/>
          <p:nvPr/>
        </p:nvSpPr>
        <p:spPr>
          <a:xfrm>
            <a:off x="-731520" y="6355080"/>
            <a:ext cx="1828800" cy="822960"/>
          </a:xfrm>
          <a:prstGeom prst="roundRect">
            <a:avLst>
              <a:gd name="adj" fmla="val 38889"/>
            </a:avLst>
          </a:prstGeom>
          <a:solidFill>
            <a:srgbClr val="23408E"/>
          </a:solidFill>
          <a:ln w="12700">
            <a:solidFill>
              <a:srgbClr val="333333"/>
            </a:solidFill>
            <a:prstDash val="solid"/>
          </a:ln>
        </p:spPr>
      </p:sp>
      <p:sp>
        <p:nvSpPr>
          <p:cNvPr id="5" name="Shape 3"/>
          <p:cNvSpPr/>
          <p:nvPr/>
        </p:nvSpPr>
        <p:spPr>
          <a:xfrm>
            <a:off x="320040" y="6583680"/>
            <a:ext cx="2743200" cy="731520"/>
          </a:xfrm>
          <a:prstGeom prst="roundRect">
            <a:avLst>
              <a:gd name="adj" fmla="val 43750"/>
            </a:avLst>
          </a:prstGeom>
          <a:solidFill>
            <a:srgbClr val="C9D8F5"/>
          </a:solidFill>
          <a:ln w="12700">
            <a:solidFill>
              <a:srgbClr val="333333"/>
            </a:solidFill>
            <a:prstDash val="solid"/>
          </a:ln>
        </p:spPr>
      </p:sp>
      <p:sp>
        <p:nvSpPr>
          <p:cNvPr id="6" name="Text 4"/>
          <p:cNvSpPr txBox="1"/>
          <p:nvPr/>
        </p:nvSpPr>
        <p:spPr>
          <a:xfrm>
            <a:off x="566928" y="237744"/>
            <a:ext cx="9052560" cy="603504"/>
          </a:xfrm>
          <a:prstGeom prst="rect">
            <a:avLst/>
          </a:prstGeom>
          <a:noFill/>
          <a:ln/>
        </p:spPr>
        <p:txBody>
          <a:bodyPr wrap="square" lIns="0" tIns="0" rIns="0" bIns="0" rtlCol="0" anchor="ctr"/>
          <a:lstStyle/>
          <a:p>
            <a:pPr indent="0" marL="0">
              <a:buNone/>
            </a:pPr>
            <a:r>
              <a:rPr lang="en-US" sz="3000" b="1" dirty="0">
                <a:solidFill>
                  <a:srgbClr val="23408E"/>
                </a:solidFill>
                <a:latin typeface="Montserrat" pitchFamily="34" charset="0"/>
                <a:ea typeface="Montserrat" pitchFamily="34" charset="-122"/>
                <a:cs typeface="Montserrat" pitchFamily="34" charset="-120"/>
              </a:rPr>
              <a:t>Methodology</a:t>
            </a:r>
            <a:endParaRPr lang="en-US" sz="3000" dirty="0"/>
          </a:p>
        </p:txBody>
      </p:sp>
      <p:sp>
        <p:nvSpPr>
          <p:cNvPr id="7" name="Shape 5"/>
          <p:cNvSpPr/>
          <p:nvPr/>
        </p:nvSpPr>
        <p:spPr>
          <a:xfrm>
            <a:off x="621792" y="914400"/>
            <a:ext cx="4023360" cy="0"/>
          </a:xfrm>
          <a:prstGeom prst="line">
            <a:avLst/>
          </a:prstGeom>
          <a:noFill/>
          <a:ln w="20320">
            <a:solidFill>
              <a:srgbClr val="16181D"/>
            </a:solidFill>
            <a:prstDash val="solid"/>
          </a:ln>
        </p:spPr>
      </p:sp>
      <p:sp>
        <p:nvSpPr>
          <p:cNvPr id="8" name="Shape 6"/>
          <p:cNvSpPr/>
          <p:nvPr/>
        </p:nvSpPr>
        <p:spPr>
          <a:xfrm>
            <a:off x="548640" y="859536"/>
            <a:ext cx="118872" cy="118872"/>
          </a:xfrm>
          <a:prstGeom prst="ellipse">
            <a:avLst/>
          </a:prstGeom>
          <a:solidFill>
            <a:srgbClr val="16181D"/>
          </a:solidFill>
          <a:ln w="12700">
            <a:solidFill>
              <a:srgbClr val="333333"/>
            </a:solidFill>
            <a:prstDash val="solid"/>
          </a:ln>
        </p:spPr>
      </p:sp>
      <p:sp>
        <p:nvSpPr>
          <p:cNvPr id="9" name="Shape 7"/>
          <p:cNvSpPr/>
          <p:nvPr/>
        </p:nvSpPr>
        <p:spPr>
          <a:xfrm>
            <a:off x="4590288" y="859536"/>
            <a:ext cx="118872" cy="118872"/>
          </a:xfrm>
          <a:prstGeom prst="ellipse">
            <a:avLst/>
          </a:prstGeom>
          <a:solidFill>
            <a:srgbClr val="16181D"/>
          </a:solidFill>
          <a:ln w="12700">
            <a:solidFill>
              <a:srgbClr val="333333"/>
            </a:solidFill>
            <a:prstDash val="solid"/>
          </a:ln>
        </p:spPr>
      </p:sp>
      <p:sp>
        <p:nvSpPr>
          <p:cNvPr id="10" name="Text 8"/>
          <p:cNvSpPr txBox="1"/>
          <p:nvPr/>
        </p:nvSpPr>
        <p:spPr>
          <a:xfrm>
            <a:off x="685800" y="1188720"/>
            <a:ext cx="10058400" cy="310896"/>
          </a:xfrm>
          <a:prstGeom prst="rect">
            <a:avLst/>
          </a:prstGeom>
          <a:noFill/>
          <a:ln/>
        </p:spPr>
        <p:txBody>
          <a:bodyPr wrap="square" lIns="0" tIns="0" rIns="0" bIns="0" rtlCol="0" anchor="ctr"/>
          <a:lstStyle/>
          <a:p>
            <a:pPr indent="0" marL="0">
              <a:buNone/>
            </a:pPr>
            <a:r>
              <a:rPr lang="en-US" sz="1450" b="1" dirty="0">
                <a:solidFill>
                  <a:srgbClr val="23408E"/>
                </a:solidFill>
                <a:latin typeface="Montserrat" pitchFamily="34" charset="0"/>
                <a:ea typeface="Montserrat" pitchFamily="34" charset="-122"/>
                <a:cs typeface="Montserrat" pitchFamily="34" charset="-120"/>
              </a:rPr>
              <a:t>1) How the reasoning graph constructs its vertices and edges</a:t>
            </a:r>
            <a:endParaRPr lang="en-US" sz="1450" dirty="0"/>
          </a:p>
        </p:txBody>
      </p:sp>
      <p:sp>
        <p:nvSpPr>
          <p:cNvPr id="11" name="Shape 9"/>
          <p:cNvSpPr/>
          <p:nvPr/>
        </p:nvSpPr>
        <p:spPr>
          <a:xfrm>
            <a:off x="685800" y="1572768"/>
            <a:ext cx="5120640" cy="1828800"/>
          </a:xfrm>
          <a:prstGeom prst="roundRect">
            <a:avLst>
              <a:gd name="adj" fmla="val 2500"/>
            </a:avLst>
          </a:prstGeom>
          <a:solidFill>
            <a:srgbClr val="F4F6FB"/>
          </a:solidFill>
          <a:ln w="12700">
            <a:solidFill>
              <a:srgbClr val="D8DEEC"/>
            </a:solidFill>
            <a:prstDash val="solid"/>
          </a:ln>
        </p:spPr>
      </p:sp>
      <p:sp>
        <p:nvSpPr>
          <p:cNvPr id="12" name="Text 10"/>
          <p:cNvSpPr txBox="1"/>
          <p:nvPr/>
        </p:nvSpPr>
        <p:spPr>
          <a:xfrm>
            <a:off x="914400" y="1691640"/>
            <a:ext cx="4663440" cy="237744"/>
          </a:xfrm>
          <a:prstGeom prst="rect">
            <a:avLst/>
          </a:prstGeom>
          <a:noFill/>
          <a:ln/>
        </p:spPr>
        <p:txBody>
          <a:bodyPr wrap="square" lIns="0" tIns="0" rIns="0" bIns="0" rtlCol="0" anchor="ctr"/>
          <a:lstStyle/>
          <a:p>
            <a:pPr indent="0" marL="0">
              <a:buNone/>
            </a:pPr>
            <a:r>
              <a:rPr lang="en-US" sz="1000" b="1" dirty="0">
                <a:solidFill>
                  <a:srgbClr val="23408E"/>
                </a:solidFill>
                <a:latin typeface="Montserrat" pitchFamily="34" charset="0"/>
                <a:ea typeface="Montserrat" pitchFamily="34" charset="-122"/>
                <a:cs typeface="Montserrat" pitchFamily="34" charset="-120"/>
              </a:rPr>
              <a:t>Execution loop over the plan</a:t>
            </a:r>
            <a:endParaRPr lang="en-US" sz="1000" dirty="0"/>
          </a:p>
        </p:txBody>
      </p:sp>
      <p:sp>
        <p:nvSpPr>
          <p:cNvPr id="13" name="Text 11"/>
          <p:cNvSpPr txBox="1"/>
          <p:nvPr/>
        </p:nvSpPr>
        <p:spPr>
          <a:xfrm>
            <a:off x="914400" y="1975104"/>
            <a:ext cx="4663440" cy="1298448"/>
          </a:xfrm>
          <a:prstGeom prst="rect">
            <a:avLst/>
          </a:prstGeom>
          <a:noFill/>
          <a:ln/>
        </p:spPr>
        <p:txBody>
          <a:bodyPr wrap="square" lIns="0" tIns="0" rIns="0" bIns="0" rtlCol="0" anchor="ctr"/>
          <a:lstStyle/>
          <a:p>
            <a:pPr indent="0" marL="0">
              <a:buNone/>
            </a:pPr>
            <a:r>
              <a:rPr lang="en-US" sz="950" dirty="0">
                <a:solidFill>
                  <a:srgbClr val="16181D"/>
                </a:solidFill>
                <a:latin typeface="Courier New" pitchFamily="34" charset="0"/>
                <a:ea typeface="Courier New" pitchFamily="34" charset="-122"/>
                <a:cs typeface="Courier New" pitchFamily="34" charset="-120"/>
              </a:rPr>
              <a:t>for op in TOPOLOGICAL-ORDER(GoO):</a:t>
            </a:r>
            <a:endParaRPr lang="en-US" sz="950" dirty="0"/>
          </a:p>
          <a:p>
            <a:pPr indent="0" marL="0">
              <a:buNone/>
            </a:pPr>
            <a:r>
              <a:rPr lang="en-US" sz="950" dirty="0">
                <a:solidFill>
                  <a:srgbClr val="16181D"/>
                </a:solidFill>
                <a:latin typeface="Courier New" pitchFamily="34" charset="0"/>
                <a:ea typeface="Courier New" pitchFamily="34" charset="-122"/>
                <a:cs typeface="Courier New" pitchFamily="34" charset="-120"/>
              </a:rPr>
              <a:t>   parents &lt;- thoughts of op.predecessors</a:t>
            </a:r>
            <a:endParaRPr lang="en-US" sz="950" dirty="0"/>
          </a:p>
          <a:p>
            <a:pPr indent="0" marL="0">
              <a:buNone/>
            </a:pPr>
            <a:r>
              <a:rPr lang="en-US" sz="950" dirty="0">
                <a:solidFill>
                  <a:srgbClr val="16181D"/>
                </a:solidFill>
                <a:latin typeface="Courier New" pitchFamily="34" charset="0"/>
                <a:ea typeface="Courier New" pitchFamily="34" charset="-122"/>
                <a:cs typeface="Courier New" pitchFamily="34" charset="-120"/>
              </a:rPr>
              <a:t>   for t in op.EXECUTE(parents):</a:t>
            </a:r>
            <a:endParaRPr lang="en-US" sz="950" dirty="0"/>
          </a:p>
          <a:p>
            <a:pPr indent="0" marL="0">
              <a:buNone/>
            </a:pPr>
            <a:r>
              <a:rPr lang="en-US" sz="950" dirty="0">
                <a:solidFill>
                  <a:srgbClr val="16181D"/>
                </a:solidFill>
                <a:latin typeface="Courier New" pitchFamily="34" charset="0"/>
                <a:ea typeface="Courier New" pitchFamily="34" charset="-122"/>
                <a:cs typeface="Courier New" pitchFamily="34" charset="-120"/>
              </a:rPr>
              <a:t>      V &lt;- V + { t }</a:t>
            </a:r>
            <a:endParaRPr lang="en-US" sz="950" dirty="0"/>
          </a:p>
          <a:p>
            <a:pPr indent="0" marL="0">
              <a:buNone/>
            </a:pPr>
            <a:r>
              <a:rPr lang="en-US" sz="950" dirty="0">
                <a:solidFill>
                  <a:srgbClr val="16181D"/>
                </a:solidFill>
                <a:latin typeface="Courier New" pitchFamily="34" charset="0"/>
                <a:ea typeface="Courier New" pitchFamily="34" charset="-122"/>
                <a:cs typeface="Courier New" pitchFamily="34" charset="-120"/>
              </a:rPr>
              <a:t>      for p in t.parents:</a:t>
            </a:r>
            <a:endParaRPr lang="en-US" sz="950" dirty="0"/>
          </a:p>
          <a:p>
            <a:pPr indent="0" marL="0">
              <a:buNone/>
            </a:pPr>
            <a:r>
              <a:rPr lang="en-US" sz="950" dirty="0">
                <a:solidFill>
                  <a:srgbClr val="16181D"/>
                </a:solidFill>
                <a:latin typeface="Courier New" pitchFamily="34" charset="0"/>
                <a:ea typeface="Courier New" pitchFamily="34" charset="-122"/>
                <a:cs typeface="Courier New" pitchFamily="34" charset="-120"/>
              </a:rPr>
              <a:t>         E &lt;- E + { (p, t) }</a:t>
            </a:r>
            <a:endParaRPr lang="en-US" sz="95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6172200" y="1572768"/>
          <a:ext cx="5303520" cy="914400"/>
        </p:xfrm>
        <a:graphic>
          <a:graphicData uri="http://schemas.openxmlformats.org/drawingml/2006/table">
            <a:tbl>
              <a:tblPr/>
              <a:tblGrid>
                <a:gridCol w="1600200"/>
                <a:gridCol w="1691640"/>
                <a:gridCol w="2011680"/>
              </a:tblGrid>
              <a:tr h="320040">
                <a:tc>
                  <a:txBody>
                    <a:bodyPr/>
                    <a:lstStyle/>
                    <a:p>
                      <a:pPr indent="0" marL="0">
                        <a:buNone/>
                      </a:pPr>
                      <a:r>
                        <a:rPr lang="en-US" sz="950" b="1" dirty="0">
                          <a:solidFill>
                            <a:srgbClr val="FFFFFF"/>
                          </a:solidFill>
                          <a:latin typeface="Montserrat" pitchFamily="34" charset="0"/>
                          <a:ea typeface="Montserrat" pitchFamily="34" charset="-122"/>
                          <a:cs typeface="Montserrat" pitchFamily="34" charset="-120"/>
                        </a:rPr>
                        <a:t>Operation</a:t>
                      </a:r>
                      <a:endParaRPr lang="en-US" sz="950" dirty="0">
                        <a:latin typeface="Montserrat" charset="0"/>
                        <a:ea typeface="Montserrat" charset="0"/>
                        <a:cs typeface="Montserrat" charset="0"/>
                      </a:endParaRPr>
                    </a:p>
                  </a:txBody>
                  <a:tcPr marL="91440" marR="91440" marT="45720" marB="45720" anchor="ctr">
                    <a:lnL w="12700" cap="flat" cmpd="sng" algn="ctr">
                      <a:solidFill>
                        <a:srgbClr val="DCE2EF"/>
                      </a:solidFill>
                      <a:prstDash val="solid"/>
                      <a:round/>
                      <a:headEnd type="none" w="med" len="med"/>
                      <a:tailEnd type="none" w="med" len="med"/>
                    </a:lnL>
                    <a:lnR w="12700" cap="flat" cmpd="sng" algn="ctr">
                      <a:solidFill>
                        <a:srgbClr val="DCE2EF"/>
                      </a:solidFill>
                      <a:prstDash val="solid"/>
                      <a:round/>
                      <a:headEnd type="none" w="med" len="med"/>
                      <a:tailEnd type="none" w="med" len="med"/>
                    </a:lnR>
                    <a:lnT w="12700" cap="flat" cmpd="sng" algn="ctr">
                      <a:solidFill>
                        <a:srgbClr val="DCE2EF"/>
                      </a:solidFill>
                      <a:prstDash val="solid"/>
                      <a:round/>
                      <a:headEnd type="none" w="med" len="med"/>
                      <a:tailEnd type="none" w="med" len="med"/>
                    </a:lnT>
                    <a:lnB w="12700" cap="flat" cmpd="sng" algn="ctr">
                      <a:solidFill>
                        <a:srgbClr val="DCE2EF"/>
                      </a:solidFill>
                      <a:prstDash val="solid"/>
                      <a:round/>
                      <a:headEnd type="none" w="med" len="med"/>
                      <a:tailEnd type="none" w="med" len="med"/>
                    </a:lnB>
                    <a:solidFill>
                      <a:srgbClr val="23408E"/>
                    </a:solidFill>
                  </a:tcPr>
                </a:tc>
                <a:tc>
                  <a:txBody>
                    <a:bodyPr/>
                    <a:lstStyle/>
                    <a:p>
                      <a:pPr indent="0" marL="0">
                        <a:buNone/>
                      </a:pPr>
                      <a:r>
                        <a:rPr lang="en-US" sz="950" b="1" dirty="0">
                          <a:solidFill>
                            <a:srgbClr val="FFFFFF"/>
                          </a:solidFill>
                          <a:latin typeface="Montserrat" pitchFamily="34" charset="0"/>
                          <a:ea typeface="Montserrat" pitchFamily="34" charset="-122"/>
                          <a:cs typeface="Montserrat" pitchFamily="34" charset="-120"/>
                        </a:rPr>
                        <a:t>Vertices</a:t>
                      </a:r>
                      <a:endParaRPr lang="en-US" sz="950" dirty="0">
                        <a:latin typeface="Montserrat" charset="0"/>
                        <a:ea typeface="Montserrat" charset="0"/>
                        <a:cs typeface="Montserrat" charset="0"/>
                      </a:endParaRPr>
                    </a:p>
                  </a:txBody>
                  <a:tcPr marL="91440" marR="91440" marT="45720" marB="45720" anchor="ctr">
                    <a:lnL w="12700" cap="flat" cmpd="sng" algn="ctr">
                      <a:solidFill>
                        <a:srgbClr val="DCE2EF"/>
                      </a:solidFill>
                      <a:prstDash val="solid"/>
                      <a:round/>
                      <a:headEnd type="none" w="med" len="med"/>
                      <a:tailEnd type="none" w="med" len="med"/>
                    </a:lnL>
                    <a:lnR w="12700" cap="flat" cmpd="sng" algn="ctr">
                      <a:solidFill>
                        <a:srgbClr val="DCE2EF"/>
                      </a:solidFill>
                      <a:prstDash val="solid"/>
                      <a:round/>
                      <a:headEnd type="none" w="med" len="med"/>
                      <a:tailEnd type="none" w="med" len="med"/>
                    </a:lnR>
                    <a:lnT w="12700" cap="flat" cmpd="sng" algn="ctr">
                      <a:solidFill>
                        <a:srgbClr val="DCE2EF"/>
                      </a:solidFill>
                      <a:prstDash val="solid"/>
                      <a:round/>
                      <a:headEnd type="none" w="med" len="med"/>
                      <a:tailEnd type="none" w="med" len="med"/>
                    </a:lnT>
                    <a:lnB w="12700" cap="flat" cmpd="sng" algn="ctr">
                      <a:solidFill>
                        <a:srgbClr val="DCE2EF"/>
                      </a:solidFill>
                      <a:prstDash val="solid"/>
                      <a:round/>
                      <a:headEnd type="none" w="med" len="med"/>
                      <a:tailEnd type="none" w="med" len="med"/>
                    </a:lnB>
                    <a:solidFill>
                      <a:srgbClr val="23408E"/>
                    </a:solidFill>
                  </a:tcPr>
                </a:tc>
                <a:tc>
                  <a:txBody>
                    <a:bodyPr/>
                    <a:lstStyle/>
                    <a:p>
                      <a:pPr indent="0" marL="0">
                        <a:buNone/>
                      </a:pPr>
                      <a:r>
                        <a:rPr lang="en-US" sz="950" b="1" dirty="0">
                          <a:solidFill>
                            <a:srgbClr val="FFFFFF"/>
                          </a:solidFill>
                          <a:latin typeface="Montserrat" pitchFamily="34" charset="0"/>
                          <a:ea typeface="Montserrat" pitchFamily="34" charset="-122"/>
                          <a:cs typeface="Montserrat" pitchFamily="34" charset="-120"/>
                        </a:rPr>
                        <a:t>Edges</a:t>
                      </a:r>
                      <a:endParaRPr lang="en-US" sz="950" dirty="0">
                        <a:latin typeface="Montserrat" charset="0"/>
                        <a:ea typeface="Montserrat" charset="0"/>
                        <a:cs typeface="Montserrat" charset="0"/>
                      </a:endParaRPr>
                    </a:p>
                  </a:txBody>
                  <a:tcPr marL="91440" marR="91440" marT="45720" marB="45720" anchor="ctr">
                    <a:lnL w="12700" cap="flat" cmpd="sng" algn="ctr">
                      <a:solidFill>
                        <a:srgbClr val="DCE2EF"/>
                      </a:solidFill>
                      <a:prstDash val="solid"/>
                      <a:round/>
                      <a:headEnd type="none" w="med" len="med"/>
                      <a:tailEnd type="none" w="med" len="med"/>
                    </a:lnL>
                    <a:lnR w="12700" cap="flat" cmpd="sng" algn="ctr">
                      <a:solidFill>
                        <a:srgbClr val="DCE2EF"/>
                      </a:solidFill>
                      <a:prstDash val="solid"/>
                      <a:round/>
                      <a:headEnd type="none" w="med" len="med"/>
                      <a:tailEnd type="none" w="med" len="med"/>
                    </a:lnR>
                    <a:lnT w="12700" cap="flat" cmpd="sng" algn="ctr">
                      <a:solidFill>
                        <a:srgbClr val="DCE2EF"/>
                      </a:solidFill>
                      <a:prstDash val="solid"/>
                      <a:round/>
                      <a:headEnd type="none" w="med" len="med"/>
                      <a:tailEnd type="none" w="med" len="med"/>
                    </a:lnT>
                    <a:lnB w="12700" cap="flat" cmpd="sng" algn="ctr">
                      <a:solidFill>
                        <a:srgbClr val="DCE2EF"/>
                      </a:solidFill>
                      <a:prstDash val="solid"/>
                      <a:round/>
                      <a:headEnd type="none" w="med" len="med"/>
                      <a:tailEnd type="none" w="med" len="med"/>
                    </a:lnB>
                    <a:solidFill>
                      <a:srgbClr val="23408E"/>
                    </a:solidFill>
                  </a:tcPr>
                </a:tc>
              </a:tr>
              <a:tr h="320040">
                <a:tc>
                  <a:txBody>
                    <a:bodyPr/>
                    <a:lstStyle/>
                    <a:p>
                      <a:pPr indent="0" marL="0">
                        <a:buNone/>
                      </a:pPr>
                      <a:r>
                        <a:rPr lang="en-US" sz="950" b="1" dirty="0">
                          <a:solidFill>
                            <a:srgbClr val="16181D"/>
                          </a:solidFill>
                          <a:latin typeface="Montserrat" pitchFamily="34" charset="0"/>
                          <a:ea typeface="Montserrat" pitchFamily="34" charset="-122"/>
                          <a:cs typeface="Montserrat" pitchFamily="34" charset="-120"/>
                        </a:rPr>
                        <a:t>Generate (k)</a:t>
                      </a:r>
                      <a:endParaRPr lang="en-US" sz="950" dirty="0">
                        <a:latin typeface="Montserrat" charset="0"/>
                        <a:ea typeface="Montserrat" charset="0"/>
                        <a:cs typeface="Montserrat" charset="0"/>
                      </a:endParaRPr>
                    </a:p>
                  </a:txBody>
                  <a:tcPr marL="91440" marR="91440" marT="45720" marB="45720" anchor="ctr">
                    <a:lnL w="12700" cap="flat" cmpd="sng" algn="ctr">
                      <a:solidFill>
                        <a:srgbClr val="DCE2EF"/>
                      </a:solidFill>
                      <a:prstDash val="solid"/>
                      <a:round/>
                      <a:headEnd type="none" w="med" len="med"/>
                      <a:tailEnd type="none" w="med" len="med"/>
                    </a:lnL>
                    <a:lnR w="12700" cap="flat" cmpd="sng" algn="ctr">
                      <a:solidFill>
                        <a:srgbClr val="DCE2EF"/>
                      </a:solidFill>
                      <a:prstDash val="solid"/>
                      <a:round/>
                      <a:headEnd type="none" w="med" len="med"/>
                      <a:tailEnd type="none" w="med" len="med"/>
                    </a:lnR>
                    <a:lnT w="12700" cap="flat" cmpd="sng" algn="ctr">
                      <a:solidFill>
                        <a:srgbClr val="DCE2EF"/>
                      </a:solidFill>
                      <a:prstDash val="solid"/>
                      <a:round/>
                      <a:headEnd type="none" w="med" len="med"/>
                      <a:tailEnd type="none" w="med" len="med"/>
                    </a:lnT>
                    <a:lnB w="12700" cap="flat" cmpd="sng" algn="ctr">
                      <a:solidFill>
                        <a:srgbClr val="DCE2EF"/>
                      </a:solidFill>
                      <a:prstDash val="solid"/>
                      <a:round/>
                      <a:headEnd type="none" w="med" len="med"/>
                      <a:tailEnd type="none" w="med" len="med"/>
                    </a:lnB>
                    <a:solidFill>
                      <a:srgbClr val="F4F6FB"/>
                    </a:solidFill>
                  </a:tcPr>
                </a:tc>
                <a:tc>
                  <a:txBody>
                    <a:bodyPr/>
                    <a:lstStyle/>
                    <a:p>
                      <a:pPr indent="0" marL="0">
                        <a:buNone/>
                      </a:pPr>
                      <a:r>
                        <a:rPr lang="en-US" sz="950" dirty="0">
                          <a:solidFill>
                            <a:srgbClr val="16181D"/>
                          </a:solidFill>
                          <a:latin typeface="Montserrat" pitchFamily="34" charset="0"/>
                          <a:ea typeface="Montserrat" pitchFamily="34" charset="-122"/>
                          <a:cs typeface="Montserrat" pitchFamily="34" charset="-120"/>
                        </a:rPr>
                        <a:t>k per input</a:t>
                      </a:r>
                      <a:endParaRPr lang="en-US" sz="950" dirty="0">
                        <a:latin typeface="Montserrat" charset="0"/>
                        <a:ea typeface="Montserrat" charset="0"/>
                        <a:cs typeface="Montserrat" charset="0"/>
                      </a:endParaRPr>
                    </a:p>
                  </a:txBody>
                  <a:tcPr marL="91440" marR="91440" marT="45720" marB="45720" anchor="ctr">
                    <a:lnL w="12700" cap="flat" cmpd="sng" algn="ctr">
                      <a:solidFill>
                        <a:srgbClr val="DCE2EF"/>
                      </a:solidFill>
                      <a:prstDash val="solid"/>
                      <a:round/>
                      <a:headEnd type="none" w="med" len="med"/>
                      <a:tailEnd type="none" w="med" len="med"/>
                    </a:lnL>
                    <a:lnR w="12700" cap="flat" cmpd="sng" algn="ctr">
                      <a:solidFill>
                        <a:srgbClr val="DCE2EF"/>
                      </a:solidFill>
                      <a:prstDash val="solid"/>
                      <a:round/>
                      <a:headEnd type="none" w="med" len="med"/>
                      <a:tailEnd type="none" w="med" len="med"/>
                    </a:lnR>
                    <a:lnT w="12700" cap="flat" cmpd="sng" algn="ctr">
                      <a:solidFill>
                        <a:srgbClr val="DCE2EF"/>
                      </a:solidFill>
                      <a:prstDash val="solid"/>
                      <a:round/>
                      <a:headEnd type="none" w="med" len="med"/>
                      <a:tailEnd type="none" w="med" len="med"/>
                    </a:lnT>
                    <a:lnB w="12700" cap="flat" cmpd="sng" algn="ctr">
                      <a:solidFill>
                        <a:srgbClr val="DCE2EF"/>
                      </a:solidFill>
                      <a:prstDash val="solid"/>
                      <a:round/>
                      <a:headEnd type="none" w="med" len="med"/>
                      <a:tailEnd type="none" w="med" len="med"/>
                    </a:lnB>
                    <a:solidFill>
                      <a:srgbClr val="F4F6FB"/>
                    </a:solidFill>
                  </a:tcPr>
                </a:tc>
                <a:tc>
                  <a:txBody>
                    <a:bodyPr/>
                    <a:lstStyle/>
                    <a:p>
                      <a:pPr indent="0" marL="0">
                        <a:buNone/>
                      </a:pPr>
                      <a:r>
                        <a:rPr lang="en-US" sz="950" dirty="0">
                          <a:solidFill>
                            <a:srgbClr val="16181D"/>
                          </a:solidFill>
                          <a:latin typeface="Montserrat" pitchFamily="34" charset="0"/>
                          <a:ea typeface="Montserrat" pitchFamily="34" charset="-122"/>
                          <a:cs typeface="Montserrat" pitchFamily="34" charset="-120"/>
                        </a:rPr>
                        <a:t>input -&gt; each new</a:t>
                      </a:r>
                      <a:endParaRPr lang="en-US" sz="950" dirty="0">
                        <a:latin typeface="Montserrat" charset="0"/>
                        <a:ea typeface="Montserrat" charset="0"/>
                        <a:cs typeface="Montserrat" charset="0"/>
                      </a:endParaRPr>
                    </a:p>
                  </a:txBody>
                  <a:tcPr marL="91440" marR="91440" marT="45720" marB="45720" anchor="ctr">
                    <a:lnL w="12700" cap="flat" cmpd="sng" algn="ctr">
                      <a:solidFill>
                        <a:srgbClr val="DCE2EF"/>
                      </a:solidFill>
                      <a:prstDash val="solid"/>
                      <a:round/>
                      <a:headEnd type="none" w="med" len="med"/>
                      <a:tailEnd type="none" w="med" len="med"/>
                    </a:lnL>
                    <a:lnR w="12700" cap="flat" cmpd="sng" algn="ctr">
                      <a:solidFill>
                        <a:srgbClr val="DCE2EF"/>
                      </a:solidFill>
                      <a:prstDash val="solid"/>
                      <a:round/>
                      <a:headEnd type="none" w="med" len="med"/>
                      <a:tailEnd type="none" w="med" len="med"/>
                    </a:lnR>
                    <a:lnT w="12700" cap="flat" cmpd="sng" algn="ctr">
                      <a:solidFill>
                        <a:srgbClr val="DCE2EF"/>
                      </a:solidFill>
                      <a:prstDash val="solid"/>
                      <a:round/>
                      <a:headEnd type="none" w="med" len="med"/>
                      <a:tailEnd type="none" w="med" len="med"/>
                    </a:lnT>
                    <a:lnB w="12700" cap="flat" cmpd="sng" algn="ctr">
                      <a:solidFill>
                        <a:srgbClr val="DCE2EF"/>
                      </a:solidFill>
                      <a:prstDash val="solid"/>
                      <a:round/>
                      <a:headEnd type="none" w="med" len="med"/>
                      <a:tailEnd type="none" w="med" len="med"/>
                    </a:lnB>
                    <a:solidFill>
                      <a:srgbClr val="F4F6FB"/>
                    </a:solidFill>
                  </a:tcPr>
                </a:tc>
              </a:tr>
              <a:tr h="320040">
                <a:tc>
                  <a:txBody>
                    <a:bodyPr/>
                    <a:lstStyle/>
                    <a:p>
                      <a:pPr indent="0" marL="0">
                        <a:buNone/>
                      </a:pPr>
                      <a:r>
                        <a:rPr lang="en-US" sz="950" b="1" dirty="0">
                          <a:solidFill>
                            <a:srgbClr val="D98A1F"/>
                          </a:solidFill>
                          <a:latin typeface="Montserrat" pitchFamily="34" charset="0"/>
                          <a:ea typeface="Montserrat" pitchFamily="34" charset="-122"/>
                          <a:cs typeface="Montserrat" pitchFamily="34" charset="-120"/>
                        </a:rPr>
                        <a:t>Aggregate (k)</a:t>
                      </a:r>
                      <a:endParaRPr lang="en-US" sz="950" dirty="0">
                        <a:latin typeface="Montserrat" charset="0"/>
                        <a:ea typeface="Montserrat" charset="0"/>
                        <a:cs typeface="Montserrat" charset="0"/>
                      </a:endParaRPr>
                    </a:p>
                  </a:txBody>
                  <a:tcPr marL="91440" marR="91440" marT="45720" marB="45720" anchor="ctr">
                    <a:lnL w="12700" cap="flat" cmpd="sng" algn="ctr">
                      <a:solidFill>
                        <a:srgbClr val="DCE2EF"/>
                      </a:solidFill>
                      <a:prstDash val="solid"/>
                      <a:round/>
                      <a:headEnd type="none" w="med" len="med"/>
                      <a:tailEnd type="none" w="med" len="med"/>
                    </a:lnL>
                    <a:lnR w="12700" cap="flat" cmpd="sng" algn="ctr">
                      <a:solidFill>
                        <a:srgbClr val="DCE2EF"/>
                      </a:solidFill>
                      <a:prstDash val="solid"/>
                      <a:round/>
                      <a:headEnd type="none" w="med" len="med"/>
                      <a:tailEnd type="none" w="med" len="med"/>
                    </a:lnR>
                    <a:lnT w="12700" cap="flat" cmpd="sng" algn="ctr">
                      <a:solidFill>
                        <a:srgbClr val="DCE2EF"/>
                      </a:solidFill>
                      <a:prstDash val="solid"/>
                      <a:round/>
                      <a:headEnd type="none" w="med" len="med"/>
                      <a:tailEnd type="none" w="med" len="med"/>
                    </a:lnT>
                    <a:lnB w="12700" cap="flat" cmpd="sng" algn="ctr">
                      <a:solidFill>
                        <a:srgbClr val="DCE2EF"/>
                      </a:solidFill>
                      <a:prstDash val="solid"/>
                      <a:round/>
                      <a:headEnd type="none" w="med" len="med"/>
                      <a:tailEnd type="none" w="med" len="med"/>
                    </a:lnB>
                    <a:solidFill>
                      <a:srgbClr val="FDF3E3"/>
                    </a:solidFill>
                  </a:tcPr>
                </a:tc>
                <a:tc>
                  <a:txBody>
                    <a:bodyPr/>
                    <a:lstStyle/>
                    <a:p>
                      <a:pPr indent="0" marL="0">
                        <a:buNone/>
                      </a:pPr>
                      <a:r>
                        <a:rPr lang="en-US" sz="950" b="1" dirty="0">
                          <a:solidFill>
                            <a:srgbClr val="D98A1F"/>
                          </a:solidFill>
                          <a:latin typeface="Montserrat" pitchFamily="34" charset="0"/>
                          <a:ea typeface="Montserrat" pitchFamily="34" charset="-122"/>
                          <a:cs typeface="Montserrat" pitchFamily="34" charset="-120"/>
                        </a:rPr>
                        <a:t>k, from all inputs</a:t>
                      </a:r>
                      <a:endParaRPr lang="en-US" sz="950" dirty="0">
                        <a:latin typeface="Montserrat" charset="0"/>
                        <a:ea typeface="Montserrat" charset="0"/>
                        <a:cs typeface="Montserrat" charset="0"/>
                      </a:endParaRPr>
                    </a:p>
                  </a:txBody>
                  <a:tcPr marL="91440" marR="91440" marT="45720" marB="45720" anchor="ctr">
                    <a:lnL w="12700" cap="flat" cmpd="sng" algn="ctr">
                      <a:solidFill>
                        <a:srgbClr val="DCE2EF"/>
                      </a:solidFill>
                      <a:prstDash val="solid"/>
                      <a:round/>
                      <a:headEnd type="none" w="med" len="med"/>
                      <a:tailEnd type="none" w="med" len="med"/>
                    </a:lnL>
                    <a:lnR w="12700" cap="flat" cmpd="sng" algn="ctr">
                      <a:solidFill>
                        <a:srgbClr val="DCE2EF"/>
                      </a:solidFill>
                      <a:prstDash val="solid"/>
                      <a:round/>
                      <a:headEnd type="none" w="med" len="med"/>
                      <a:tailEnd type="none" w="med" len="med"/>
                    </a:lnR>
                    <a:lnT w="12700" cap="flat" cmpd="sng" algn="ctr">
                      <a:solidFill>
                        <a:srgbClr val="DCE2EF"/>
                      </a:solidFill>
                      <a:prstDash val="solid"/>
                      <a:round/>
                      <a:headEnd type="none" w="med" len="med"/>
                      <a:tailEnd type="none" w="med" len="med"/>
                    </a:lnT>
                    <a:lnB w="12700" cap="flat" cmpd="sng" algn="ctr">
                      <a:solidFill>
                        <a:srgbClr val="DCE2EF"/>
                      </a:solidFill>
                      <a:prstDash val="solid"/>
                      <a:round/>
                      <a:headEnd type="none" w="med" len="med"/>
                      <a:tailEnd type="none" w="med" len="med"/>
                    </a:lnB>
                    <a:solidFill>
                      <a:srgbClr val="FDF3E3"/>
                    </a:solidFill>
                  </a:tcPr>
                </a:tc>
                <a:tc>
                  <a:txBody>
                    <a:bodyPr/>
                    <a:lstStyle/>
                    <a:p>
                      <a:pPr indent="0" marL="0">
                        <a:buNone/>
                      </a:pPr>
                      <a:r>
                        <a:rPr lang="en-US" sz="950" b="1" dirty="0">
                          <a:solidFill>
                            <a:srgbClr val="D98A1F"/>
                          </a:solidFill>
                          <a:latin typeface="Montserrat" pitchFamily="34" charset="0"/>
                          <a:ea typeface="Montserrat" pitchFamily="34" charset="-122"/>
                          <a:cs typeface="Montserrat" pitchFamily="34" charset="-120"/>
                        </a:rPr>
                        <a:t>EVERY input -&gt; each new</a:t>
                      </a:r>
                      <a:endParaRPr lang="en-US" sz="950" dirty="0">
                        <a:latin typeface="Montserrat" charset="0"/>
                        <a:ea typeface="Montserrat" charset="0"/>
                        <a:cs typeface="Montserrat" charset="0"/>
                      </a:endParaRPr>
                    </a:p>
                  </a:txBody>
                  <a:tcPr marL="91440" marR="91440" marT="45720" marB="45720" anchor="ctr">
                    <a:lnL w="12700" cap="flat" cmpd="sng" algn="ctr">
                      <a:solidFill>
                        <a:srgbClr val="DCE2EF"/>
                      </a:solidFill>
                      <a:prstDash val="solid"/>
                      <a:round/>
                      <a:headEnd type="none" w="med" len="med"/>
                      <a:tailEnd type="none" w="med" len="med"/>
                    </a:lnL>
                    <a:lnR w="12700" cap="flat" cmpd="sng" algn="ctr">
                      <a:solidFill>
                        <a:srgbClr val="DCE2EF"/>
                      </a:solidFill>
                      <a:prstDash val="solid"/>
                      <a:round/>
                      <a:headEnd type="none" w="med" len="med"/>
                      <a:tailEnd type="none" w="med" len="med"/>
                    </a:lnR>
                    <a:lnT w="12700" cap="flat" cmpd="sng" algn="ctr">
                      <a:solidFill>
                        <a:srgbClr val="DCE2EF"/>
                      </a:solidFill>
                      <a:prstDash val="solid"/>
                      <a:round/>
                      <a:headEnd type="none" w="med" len="med"/>
                      <a:tailEnd type="none" w="med" len="med"/>
                    </a:lnT>
                    <a:lnB w="12700" cap="flat" cmpd="sng" algn="ctr">
                      <a:solidFill>
                        <a:srgbClr val="DCE2EF"/>
                      </a:solidFill>
                      <a:prstDash val="solid"/>
                      <a:round/>
                      <a:headEnd type="none" w="med" len="med"/>
                      <a:tailEnd type="none" w="med" len="med"/>
                    </a:lnB>
                    <a:solidFill>
                      <a:srgbClr val="FDF3E3"/>
                    </a:solidFill>
                  </a:tcPr>
                </a:tc>
              </a:tr>
              <a:tr h="320040">
                <a:tc>
                  <a:txBody>
                    <a:bodyPr/>
                    <a:lstStyle/>
                    <a:p>
                      <a:pPr indent="0" marL="0">
                        <a:buNone/>
                      </a:pPr>
                      <a:r>
                        <a:rPr lang="en-US" sz="950" b="1" dirty="0">
                          <a:solidFill>
                            <a:srgbClr val="16181D"/>
                          </a:solidFill>
                          <a:latin typeface="Montserrat" pitchFamily="34" charset="0"/>
                          <a:ea typeface="Montserrat" pitchFamily="34" charset="-122"/>
                          <a:cs typeface="Montserrat" pitchFamily="34" charset="-120"/>
                        </a:rPr>
                        <a:t>Improve</a:t>
                      </a:r>
                      <a:endParaRPr lang="en-US" sz="950" dirty="0">
                        <a:latin typeface="Montserrat" charset="0"/>
                        <a:ea typeface="Montserrat" charset="0"/>
                        <a:cs typeface="Montserrat" charset="0"/>
                      </a:endParaRPr>
                    </a:p>
                  </a:txBody>
                  <a:tcPr marL="91440" marR="91440" marT="45720" marB="45720" anchor="ctr">
                    <a:lnL w="12700" cap="flat" cmpd="sng" algn="ctr">
                      <a:solidFill>
                        <a:srgbClr val="DCE2EF"/>
                      </a:solidFill>
                      <a:prstDash val="solid"/>
                      <a:round/>
                      <a:headEnd type="none" w="med" len="med"/>
                      <a:tailEnd type="none" w="med" len="med"/>
                    </a:lnL>
                    <a:lnR w="12700" cap="flat" cmpd="sng" algn="ctr">
                      <a:solidFill>
                        <a:srgbClr val="DCE2EF"/>
                      </a:solidFill>
                      <a:prstDash val="solid"/>
                      <a:round/>
                      <a:headEnd type="none" w="med" len="med"/>
                      <a:tailEnd type="none" w="med" len="med"/>
                    </a:lnR>
                    <a:lnT w="12700" cap="flat" cmpd="sng" algn="ctr">
                      <a:solidFill>
                        <a:srgbClr val="DCE2EF"/>
                      </a:solidFill>
                      <a:prstDash val="solid"/>
                      <a:round/>
                      <a:headEnd type="none" w="med" len="med"/>
                      <a:tailEnd type="none" w="med" len="med"/>
                    </a:lnT>
                    <a:lnB w="12700" cap="flat" cmpd="sng" algn="ctr">
                      <a:solidFill>
                        <a:srgbClr val="DCE2EF"/>
                      </a:solidFill>
                      <a:prstDash val="solid"/>
                      <a:round/>
                      <a:headEnd type="none" w="med" len="med"/>
                      <a:tailEnd type="none" w="med" len="med"/>
                    </a:lnB>
                    <a:solidFill>
                      <a:srgbClr val="F4F6FB"/>
                    </a:solidFill>
                  </a:tcPr>
                </a:tc>
                <a:tc>
                  <a:txBody>
                    <a:bodyPr/>
                    <a:lstStyle/>
                    <a:p>
                      <a:pPr indent="0" marL="0">
                        <a:buNone/>
                      </a:pPr>
                      <a:r>
                        <a:rPr lang="en-US" sz="950" dirty="0">
                          <a:solidFill>
                            <a:srgbClr val="16181D"/>
                          </a:solidFill>
                          <a:latin typeface="Montserrat" pitchFamily="34" charset="0"/>
                          <a:ea typeface="Montserrat" pitchFamily="34" charset="-122"/>
                          <a:cs typeface="Montserrat" pitchFamily="34" charset="-120"/>
                        </a:rPr>
                        <a:t>1 per input</a:t>
                      </a:r>
                      <a:endParaRPr lang="en-US" sz="950" dirty="0">
                        <a:latin typeface="Montserrat" charset="0"/>
                        <a:ea typeface="Montserrat" charset="0"/>
                        <a:cs typeface="Montserrat" charset="0"/>
                      </a:endParaRPr>
                    </a:p>
                  </a:txBody>
                  <a:tcPr marL="91440" marR="91440" marT="45720" marB="45720" anchor="ctr">
                    <a:lnL w="12700" cap="flat" cmpd="sng" algn="ctr">
                      <a:solidFill>
                        <a:srgbClr val="DCE2EF"/>
                      </a:solidFill>
                      <a:prstDash val="solid"/>
                      <a:round/>
                      <a:headEnd type="none" w="med" len="med"/>
                      <a:tailEnd type="none" w="med" len="med"/>
                    </a:lnL>
                    <a:lnR w="12700" cap="flat" cmpd="sng" algn="ctr">
                      <a:solidFill>
                        <a:srgbClr val="DCE2EF"/>
                      </a:solidFill>
                      <a:prstDash val="solid"/>
                      <a:round/>
                      <a:headEnd type="none" w="med" len="med"/>
                      <a:tailEnd type="none" w="med" len="med"/>
                    </a:lnR>
                    <a:lnT w="12700" cap="flat" cmpd="sng" algn="ctr">
                      <a:solidFill>
                        <a:srgbClr val="DCE2EF"/>
                      </a:solidFill>
                      <a:prstDash val="solid"/>
                      <a:round/>
                      <a:headEnd type="none" w="med" len="med"/>
                      <a:tailEnd type="none" w="med" len="med"/>
                    </a:lnT>
                    <a:lnB w="12700" cap="flat" cmpd="sng" algn="ctr">
                      <a:solidFill>
                        <a:srgbClr val="DCE2EF"/>
                      </a:solidFill>
                      <a:prstDash val="solid"/>
                      <a:round/>
                      <a:headEnd type="none" w="med" len="med"/>
                      <a:tailEnd type="none" w="med" len="med"/>
                    </a:lnB>
                    <a:solidFill>
                      <a:srgbClr val="F4F6FB"/>
                    </a:solidFill>
                  </a:tcPr>
                </a:tc>
                <a:tc>
                  <a:txBody>
                    <a:bodyPr/>
                    <a:lstStyle/>
                    <a:p>
                      <a:pPr indent="0" marL="0">
                        <a:buNone/>
                      </a:pPr>
                      <a:r>
                        <a:rPr lang="en-US" sz="950" dirty="0">
                          <a:solidFill>
                            <a:srgbClr val="16181D"/>
                          </a:solidFill>
                          <a:latin typeface="Montserrat" pitchFamily="34" charset="0"/>
                          <a:ea typeface="Montserrat" pitchFamily="34" charset="-122"/>
                          <a:cs typeface="Montserrat" pitchFamily="34" charset="-120"/>
                        </a:rPr>
                        <a:t>input -&gt; new</a:t>
                      </a:r>
                      <a:endParaRPr lang="en-US" sz="950" dirty="0">
                        <a:latin typeface="Montserrat" charset="0"/>
                        <a:ea typeface="Montserrat" charset="0"/>
                        <a:cs typeface="Montserrat" charset="0"/>
                      </a:endParaRPr>
                    </a:p>
                  </a:txBody>
                  <a:tcPr marL="91440" marR="91440" marT="45720" marB="45720" anchor="ctr">
                    <a:lnL w="12700" cap="flat" cmpd="sng" algn="ctr">
                      <a:solidFill>
                        <a:srgbClr val="DCE2EF"/>
                      </a:solidFill>
                      <a:prstDash val="solid"/>
                      <a:round/>
                      <a:headEnd type="none" w="med" len="med"/>
                      <a:tailEnd type="none" w="med" len="med"/>
                    </a:lnL>
                    <a:lnR w="12700" cap="flat" cmpd="sng" algn="ctr">
                      <a:solidFill>
                        <a:srgbClr val="DCE2EF"/>
                      </a:solidFill>
                      <a:prstDash val="solid"/>
                      <a:round/>
                      <a:headEnd type="none" w="med" len="med"/>
                      <a:tailEnd type="none" w="med" len="med"/>
                    </a:lnR>
                    <a:lnT w="12700" cap="flat" cmpd="sng" algn="ctr">
                      <a:solidFill>
                        <a:srgbClr val="DCE2EF"/>
                      </a:solidFill>
                      <a:prstDash val="solid"/>
                      <a:round/>
                      <a:headEnd type="none" w="med" len="med"/>
                      <a:tailEnd type="none" w="med" len="med"/>
                    </a:lnT>
                    <a:lnB w="12700" cap="flat" cmpd="sng" algn="ctr">
                      <a:solidFill>
                        <a:srgbClr val="DCE2EF"/>
                      </a:solidFill>
                      <a:prstDash val="solid"/>
                      <a:round/>
                      <a:headEnd type="none" w="med" len="med"/>
                      <a:tailEnd type="none" w="med" len="med"/>
                    </a:lnB>
                    <a:solidFill>
                      <a:srgbClr val="F4F6FB"/>
                    </a:solidFill>
                  </a:tcPr>
                </a:tc>
              </a:tr>
              <a:tr h="320040">
                <a:tc>
                  <a:txBody>
                    <a:bodyPr/>
                    <a:lstStyle/>
                    <a:p>
                      <a:pPr indent="0" marL="0">
                        <a:buNone/>
                      </a:pPr>
                      <a:r>
                        <a:rPr lang="en-US" sz="950" b="1" dirty="0">
                          <a:solidFill>
                            <a:srgbClr val="16181D"/>
                          </a:solidFill>
                          <a:latin typeface="Montserrat" pitchFamily="34" charset="0"/>
                          <a:ea typeface="Montserrat" pitchFamily="34" charset="-122"/>
                          <a:cs typeface="Montserrat" pitchFamily="34" charset="-120"/>
                        </a:rPr>
                        <a:t>Score</a:t>
                      </a:r>
                      <a:endParaRPr lang="en-US" sz="950" dirty="0">
                        <a:latin typeface="Montserrat" charset="0"/>
                        <a:ea typeface="Montserrat" charset="0"/>
                        <a:cs typeface="Montserrat" charset="0"/>
                      </a:endParaRPr>
                    </a:p>
                  </a:txBody>
                  <a:tcPr marL="91440" marR="91440" marT="45720" marB="45720" anchor="ctr">
                    <a:lnL w="12700" cap="flat" cmpd="sng" algn="ctr">
                      <a:solidFill>
                        <a:srgbClr val="DCE2EF"/>
                      </a:solidFill>
                      <a:prstDash val="solid"/>
                      <a:round/>
                      <a:headEnd type="none" w="med" len="med"/>
                      <a:tailEnd type="none" w="med" len="med"/>
                    </a:lnL>
                    <a:lnR w="12700" cap="flat" cmpd="sng" algn="ctr">
                      <a:solidFill>
                        <a:srgbClr val="DCE2EF"/>
                      </a:solidFill>
                      <a:prstDash val="solid"/>
                      <a:round/>
                      <a:headEnd type="none" w="med" len="med"/>
                      <a:tailEnd type="none" w="med" len="med"/>
                    </a:lnR>
                    <a:lnT w="12700" cap="flat" cmpd="sng" algn="ctr">
                      <a:solidFill>
                        <a:srgbClr val="DCE2EF"/>
                      </a:solidFill>
                      <a:prstDash val="solid"/>
                      <a:round/>
                      <a:headEnd type="none" w="med" len="med"/>
                      <a:tailEnd type="none" w="med" len="med"/>
                    </a:lnT>
                    <a:lnB w="12700" cap="flat" cmpd="sng" algn="ctr">
                      <a:solidFill>
                        <a:srgbClr val="DCE2EF"/>
                      </a:solidFill>
                      <a:prstDash val="solid"/>
                      <a:round/>
                      <a:headEnd type="none" w="med" len="med"/>
                      <a:tailEnd type="none" w="med" len="med"/>
                    </a:lnB>
                    <a:solidFill>
                      <a:srgbClr val="FFFFFF"/>
                    </a:solidFill>
                  </a:tcPr>
                </a:tc>
                <a:tc>
                  <a:txBody>
                    <a:bodyPr/>
                    <a:lstStyle/>
                    <a:p>
                      <a:pPr indent="0" marL="0">
                        <a:buNone/>
                      </a:pPr>
                      <a:r>
                        <a:rPr lang="en-US" sz="950" dirty="0">
                          <a:solidFill>
                            <a:srgbClr val="16181D"/>
                          </a:solidFill>
                          <a:latin typeface="Montserrat" pitchFamily="34" charset="0"/>
                          <a:ea typeface="Montserrat" pitchFamily="34" charset="-122"/>
                          <a:cs typeface="Montserrat" pitchFamily="34" charset="-120"/>
                        </a:rPr>
                        <a:t>none</a:t>
                      </a:r>
                      <a:endParaRPr lang="en-US" sz="950" dirty="0">
                        <a:latin typeface="Montserrat" charset="0"/>
                        <a:ea typeface="Montserrat" charset="0"/>
                        <a:cs typeface="Montserrat" charset="0"/>
                      </a:endParaRPr>
                    </a:p>
                  </a:txBody>
                  <a:tcPr marL="91440" marR="91440" marT="45720" marB="45720" anchor="ctr">
                    <a:lnL w="12700" cap="flat" cmpd="sng" algn="ctr">
                      <a:solidFill>
                        <a:srgbClr val="DCE2EF"/>
                      </a:solidFill>
                      <a:prstDash val="solid"/>
                      <a:round/>
                      <a:headEnd type="none" w="med" len="med"/>
                      <a:tailEnd type="none" w="med" len="med"/>
                    </a:lnL>
                    <a:lnR w="12700" cap="flat" cmpd="sng" algn="ctr">
                      <a:solidFill>
                        <a:srgbClr val="DCE2EF"/>
                      </a:solidFill>
                      <a:prstDash val="solid"/>
                      <a:round/>
                      <a:headEnd type="none" w="med" len="med"/>
                      <a:tailEnd type="none" w="med" len="med"/>
                    </a:lnR>
                    <a:lnT w="12700" cap="flat" cmpd="sng" algn="ctr">
                      <a:solidFill>
                        <a:srgbClr val="DCE2EF"/>
                      </a:solidFill>
                      <a:prstDash val="solid"/>
                      <a:round/>
                      <a:headEnd type="none" w="med" len="med"/>
                      <a:tailEnd type="none" w="med" len="med"/>
                    </a:lnT>
                    <a:lnB w="12700" cap="flat" cmpd="sng" algn="ctr">
                      <a:solidFill>
                        <a:srgbClr val="DCE2EF"/>
                      </a:solidFill>
                      <a:prstDash val="solid"/>
                      <a:round/>
                      <a:headEnd type="none" w="med" len="med"/>
                      <a:tailEnd type="none" w="med" len="med"/>
                    </a:lnB>
                    <a:solidFill>
                      <a:srgbClr val="FFFFFF"/>
                    </a:solidFill>
                  </a:tcPr>
                </a:tc>
                <a:tc>
                  <a:txBody>
                    <a:bodyPr/>
                    <a:lstStyle/>
                    <a:p>
                      <a:pPr indent="0" marL="0">
                        <a:buNone/>
                      </a:pPr>
                      <a:r>
                        <a:rPr lang="en-US" sz="950" dirty="0">
                          <a:solidFill>
                            <a:srgbClr val="16181D"/>
                          </a:solidFill>
                          <a:latin typeface="Montserrat" pitchFamily="34" charset="0"/>
                          <a:ea typeface="Montserrat" pitchFamily="34" charset="-122"/>
                          <a:cs typeface="Montserrat" pitchFamily="34" charset="-120"/>
                        </a:rPr>
                        <a:t>none</a:t>
                      </a:r>
                      <a:endParaRPr lang="en-US" sz="950" dirty="0">
                        <a:latin typeface="Montserrat" charset="0"/>
                        <a:ea typeface="Montserrat" charset="0"/>
                        <a:cs typeface="Montserrat" charset="0"/>
                      </a:endParaRPr>
                    </a:p>
                  </a:txBody>
                  <a:tcPr marL="91440" marR="91440" marT="45720" marB="45720" anchor="ctr">
                    <a:lnL w="12700" cap="flat" cmpd="sng" algn="ctr">
                      <a:solidFill>
                        <a:srgbClr val="DCE2EF"/>
                      </a:solidFill>
                      <a:prstDash val="solid"/>
                      <a:round/>
                      <a:headEnd type="none" w="med" len="med"/>
                      <a:tailEnd type="none" w="med" len="med"/>
                    </a:lnL>
                    <a:lnR w="12700" cap="flat" cmpd="sng" algn="ctr">
                      <a:solidFill>
                        <a:srgbClr val="DCE2EF"/>
                      </a:solidFill>
                      <a:prstDash val="solid"/>
                      <a:round/>
                      <a:headEnd type="none" w="med" len="med"/>
                      <a:tailEnd type="none" w="med" len="med"/>
                    </a:lnR>
                    <a:lnT w="12700" cap="flat" cmpd="sng" algn="ctr">
                      <a:solidFill>
                        <a:srgbClr val="DCE2EF"/>
                      </a:solidFill>
                      <a:prstDash val="solid"/>
                      <a:round/>
                      <a:headEnd type="none" w="med" len="med"/>
                      <a:tailEnd type="none" w="med" len="med"/>
                    </a:lnT>
                    <a:lnB w="12700" cap="flat" cmpd="sng" algn="ctr">
                      <a:solidFill>
                        <a:srgbClr val="DCE2EF"/>
                      </a:solidFill>
                      <a:prstDash val="solid"/>
                      <a:round/>
                      <a:headEnd type="none" w="med" len="med"/>
                      <a:tailEnd type="none" w="med" len="med"/>
                    </a:lnB>
                    <a:solidFill>
                      <a:srgbClr val="FFFFFF"/>
                    </a:solidFill>
                  </a:tcPr>
                </a:tc>
              </a:tr>
              <a:tr h="320040">
                <a:tc>
                  <a:txBody>
                    <a:bodyPr/>
                    <a:lstStyle/>
                    <a:p>
                      <a:pPr indent="0" marL="0">
                        <a:buNone/>
                      </a:pPr>
                      <a:r>
                        <a:rPr lang="en-US" sz="950" b="1" dirty="0">
                          <a:solidFill>
                            <a:srgbClr val="16181D"/>
                          </a:solidFill>
                          <a:latin typeface="Montserrat" pitchFamily="34" charset="0"/>
                          <a:ea typeface="Montserrat" pitchFamily="34" charset="-122"/>
                          <a:cs typeface="Montserrat" pitchFamily="34" charset="-120"/>
                        </a:rPr>
                        <a:t>KeepBest (n)</a:t>
                      </a:r>
                      <a:endParaRPr lang="en-US" sz="950" dirty="0">
                        <a:latin typeface="Montserrat" charset="0"/>
                        <a:ea typeface="Montserrat" charset="0"/>
                        <a:cs typeface="Montserrat" charset="0"/>
                      </a:endParaRPr>
                    </a:p>
                  </a:txBody>
                  <a:tcPr marL="91440" marR="91440" marT="45720" marB="45720" anchor="ctr">
                    <a:lnL w="12700" cap="flat" cmpd="sng" algn="ctr">
                      <a:solidFill>
                        <a:srgbClr val="DCE2EF"/>
                      </a:solidFill>
                      <a:prstDash val="solid"/>
                      <a:round/>
                      <a:headEnd type="none" w="med" len="med"/>
                      <a:tailEnd type="none" w="med" len="med"/>
                    </a:lnL>
                    <a:lnR w="12700" cap="flat" cmpd="sng" algn="ctr">
                      <a:solidFill>
                        <a:srgbClr val="DCE2EF"/>
                      </a:solidFill>
                      <a:prstDash val="solid"/>
                      <a:round/>
                      <a:headEnd type="none" w="med" len="med"/>
                      <a:tailEnd type="none" w="med" len="med"/>
                    </a:lnR>
                    <a:lnT w="12700" cap="flat" cmpd="sng" algn="ctr">
                      <a:solidFill>
                        <a:srgbClr val="DCE2EF"/>
                      </a:solidFill>
                      <a:prstDash val="solid"/>
                      <a:round/>
                      <a:headEnd type="none" w="med" len="med"/>
                      <a:tailEnd type="none" w="med" len="med"/>
                    </a:lnT>
                    <a:lnB w="12700" cap="flat" cmpd="sng" algn="ctr">
                      <a:solidFill>
                        <a:srgbClr val="DCE2EF"/>
                      </a:solidFill>
                      <a:prstDash val="solid"/>
                      <a:round/>
                      <a:headEnd type="none" w="med" len="med"/>
                      <a:tailEnd type="none" w="med" len="med"/>
                    </a:lnB>
                    <a:solidFill>
                      <a:srgbClr val="F4F6FB"/>
                    </a:solidFill>
                  </a:tcPr>
                </a:tc>
                <a:tc>
                  <a:txBody>
                    <a:bodyPr/>
                    <a:lstStyle/>
                    <a:p>
                      <a:pPr indent="0" marL="0">
                        <a:buNone/>
                      </a:pPr>
                      <a:r>
                        <a:rPr lang="en-US" sz="950" dirty="0">
                          <a:solidFill>
                            <a:srgbClr val="16181D"/>
                          </a:solidFill>
                          <a:latin typeface="Montserrat" pitchFamily="34" charset="0"/>
                          <a:ea typeface="Montserrat" pitchFamily="34" charset="-122"/>
                          <a:cs typeface="Montserrat" pitchFamily="34" charset="-120"/>
                        </a:rPr>
                        <a:t>none</a:t>
                      </a:r>
                      <a:endParaRPr lang="en-US" sz="950" dirty="0">
                        <a:latin typeface="Montserrat" charset="0"/>
                        <a:ea typeface="Montserrat" charset="0"/>
                        <a:cs typeface="Montserrat" charset="0"/>
                      </a:endParaRPr>
                    </a:p>
                  </a:txBody>
                  <a:tcPr marL="91440" marR="91440" marT="45720" marB="45720" anchor="ctr">
                    <a:lnL w="12700" cap="flat" cmpd="sng" algn="ctr">
                      <a:solidFill>
                        <a:srgbClr val="DCE2EF"/>
                      </a:solidFill>
                      <a:prstDash val="solid"/>
                      <a:round/>
                      <a:headEnd type="none" w="med" len="med"/>
                      <a:tailEnd type="none" w="med" len="med"/>
                    </a:lnL>
                    <a:lnR w="12700" cap="flat" cmpd="sng" algn="ctr">
                      <a:solidFill>
                        <a:srgbClr val="DCE2EF"/>
                      </a:solidFill>
                      <a:prstDash val="solid"/>
                      <a:round/>
                      <a:headEnd type="none" w="med" len="med"/>
                      <a:tailEnd type="none" w="med" len="med"/>
                    </a:lnR>
                    <a:lnT w="12700" cap="flat" cmpd="sng" algn="ctr">
                      <a:solidFill>
                        <a:srgbClr val="DCE2EF"/>
                      </a:solidFill>
                      <a:prstDash val="solid"/>
                      <a:round/>
                      <a:headEnd type="none" w="med" len="med"/>
                      <a:tailEnd type="none" w="med" len="med"/>
                    </a:lnT>
                    <a:lnB w="12700" cap="flat" cmpd="sng" algn="ctr">
                      <a:solidFill>
                        <a:srgbClr val="DCE2EF"/>
                      </a:solidFill>
                      <a:prstDash val="solid"/>
                      <a:round/>
                      <a:headEnd type="none" w="med" len="med"/>
                      <a:tailEnd type="none" w="med" len="med"/>
                    </a:lnB>
                    <a:solidFill>
                      <a:srgbClr val="F4F6FB"/>
                    </a:solidFill>
                  </a:tcPr>
                </a:tc>
                <a:tc>
                  <a:txBody>
                    <a:bodyPr/>
                    <a:lstStyle/>
                    <a:p>
                      <a:pPr indent="0" marL="0">
                        <a:buNone/>
                      </a:pPr>
                      <a:r>
                        <a:rPr lang="en-US" sz="950" dirty="0">
                          <a:solidFill>
                            <a:srgbClr val="16181D"/>
                          </a:solidFill>
                          <a:latin typeface="Montserrat" pitchFamily="34" charset="0"/>
                          <a:ea typeface="Montserrat" pitchFamily="34" charset="-122"/>
                          <a:cs typeface="Montserrat" pitchFamily="34" charset="-120"/>
                        </a:rPr>
                        <a:t>none</a:t>
                      </a:r>
                      <a:endParaRPr lang="en-US" sz="950" dirty="0">
                        <a:latin typeface="Montserrat" charset="0"/>
                        <a:ea typeface="Montserrat" charset="0"/>
                        <a:cs typeface="Montserrat" charset="0"/>
                      </a:endParaRPr>
                    </a:p>
                  </a:txBody>
                  <a:tcPr marL="91440" marR="91440" marT="45720" marB="45720" anchor="ctr">
                    <a:lnL w="12700" cap="flat" cmpd="sng" algn="ctr">
                      <a:solidFill>
                        <a:srgbClr val="DCE2EF"/>
                      </a:solidFill>
                      <a:prstDash val="solid"/>
                      <a:round/>
                      <a:headEnd type="none" w="med" len="med"/>
                      <a:tailEnd type="none" w="med" len="med"/>
                    </a:lnL>
                    <a:lnR w="12700" cap="flat" cmpd="sng" algn="ctr">
                      <a:solidFill>
                        <a:srgbClr val="DCE2EF"/>
                      </a:solidFill>
                      <a:prstDash val="solid"/>
                      <a:round/>
                      <a:headEnd type="none" w="med" len="med"/>
                      <a:tailEnd type="none" w="med" len="med"/>
                    </a:lnR>
                    <a:lnT w="12700" cap="flat" cmpd="sng" algn="ctr">
                      <a:solidFill>
                        <a:srgbClr val="DCE2EF"/>
                      </a:solidFill>
                      <a:prstDash val="solid"/>
                      <a:round/>
                      <a:headEnd type="none" w="med" len="med"/>
                      <a:tailEnd type="none" w="med" len="med"/>
                    </a:lnT>
                    <a:lnB w="12700" cap="flat" cmpd="sng" algn="ctr">
                      <a:solidFill>
                        <a:srgbClr val="DCE2EF"/>
                      </a:solidFill>
                      <a:prstDash val="solid"/>
                      <a:round/>
                      <a:headEnd type="none" w="med" len="med"/>
                      <a:tailEnd type="none" w="med" len="med"/>
                    </a:lnB>
                    <a:solidFill>
                      <a:srgbClr val="F4F6FB"/>
                    </a:solidFill>
                  </a:tcPr>
                </a:tc>
              </a:tr>
            </a:tbl>
          </a:graphicData>
        </a:graphic>
      </p:graphicFrame>
      <p:sp>
        <p:nvSpPr>
          <p:cNvPr id="15" name="Text 12"/>
          <p:cNvSpPr txBox="1"/>
          <p:nvPr/>
        </p:nvSpPr>
        <p:spPr>
          <a:xfrm>
            <a:off x="6172200" y="3566160"/>
            <a:ext cx="5303520" cy="274320"/>
          </a:xfrm>
          <a:prstGeom prst="rect">
            <a:avLst/>
          </a:prstGeom>
          <a:noFill/>
          <a:ln/>
        </p:spPr>
        <p:txBody>
          <a:bodyPr wrap="square" lIns="0" tIns="0" rIns="0" bIns="0" rtlCol="0" anchor="ctr"/>
          <a:lstStyle/>
          <a:p>
            <a:pPr indent="0" marL="0">
              <a:buNone/>
            </a:pPr>
            <a:r>
              <a:rPr lang="en-US" sz="950" i="1" dirty="0">
                <a:solidFill>
                  <a:srgbClr val="63697A"/>
                </a:solidFill>
                <a:latin typeface="Montserrat" pitchFamily="34" charset="0"/>
                <a:ea typeface="Montserrat" pitchFamily="34" charset="-122"/>
                <a:cs typeface="Montserrat" pitchFamily="34" charset="-120"/>
              </a:rPr>
              <a:t>Only Generate, Aggregate and Improve create vertices. Score and KeepBest annotate and filter.</a:t>
            </a:r>
            <a:endParaRPr lang="en-US" sz="950" dirty="0"/>
          </a:p>
        </p:txBody>
      </p:sp>
      <p:sp>
        <p:nvSpPr>
          <p:cNvPr id="16" name="Text 13"/>
          <p:cNvSpPr txBox="1"/>
          <p:nvPr/>
        </p:nvSpPr>
        <p:spPr>
          <a:xfrm>
            <a:off x="685800" y="3931920"/>
            <a:ext cx="10058400" cy="310896"/>
          </a:xfrm>
          <a:prstGeom prst="rect">
            <a:avLst/>
          </a:prstGeom>
          <a:noFill/>
          <a:ln/>
        </p:spPr>
        <p:txBody>
          <a:bodyPr wrap="square" lIns="0" tIns="0" rIns="0" bIns="0" rtlCol="0" anchor="ctr"/>
          <a:lstStyle/>
          <a:p>
            <a:pPr indent="0" marL="0">
              <a:buNone/>
            </a:pPr>
            <a:r>
              <a:rPr lang="en-US" sz="1450" b="1" dirty="0">
                <a:solidFill>
                  <a:srgbClr val="23408E"/>
                </a:solidFill>
                <a:latin typeface="Montserrat" pitchFamily="34" charset="0"/>
                <a:ea typeface="Montserrat" pitchFamily="34" charset="-122"/>
                <a:cs typeface="Montserrat" pitchFamily="34" charset="-120"/>
              </a:rPr>
              <a:t>2) The rule that defines the structure</a:t>
            </a:r>
            <a:endParaRPr lang="en-US" sz="1450" dirty="0"/>
          </a:p>
        </p:txBody>
      </p:sp>
      <p:sp>
        <p:nvSpPr>
          <p:cNvPr id="17" name="Shape 14"/>
          <p:cNvSpPr/>
          <p:nvPr/>
        </p:nvSpPr>
        <p:spPr>
          <a:xfrm>
            <a:off x="685800" y="4315968"/>
            <a:ext cx="5120640" cy="1737360"/>
          </a:xfrm>
          <a:prstGeom prst="roundRect">
            <a:avLst>
              <a:gd name="adj" fmla="val 2632"/>
            </a:avLst>
          </a:prstGeom>
          <a:solidFill>
            <a:srgbClr val="FDF3E3"/>
          </a:solidFill>
          <a:ln w="12700">
            <a:solidFill>
              <a:srgbClr val="D8DEEC"/>
            </a:solidFill>
            <a:prstDash val="solid"/>
          </a:ln>
        </p:spPr>
      </p:sp>
      <p:sp>
        <p:nvSpPr>
          <p:cNvPr id="18" name="Shape 15"/>
          <p:cNvSpPr/>
          <p:nvPr/>
        </p:nvSpPr>
        <p:spPr>
          <a:xfrm>
            <a:off x="1536192" y="4809744"/>
            <a:ext cx="640080" cy="658368"/>
          </a:xfrm>
          <a:prstGeom prst="line">
            <a:avLst/>
          </a:prstGeom>
          <a:noFill/>
          <a:ln w="21590">
            <a:solidFill>
              <a:srgbClr val="D98A1F"/>
            </a:solidFill>
            <a:prstDash val="solid"/>
          </a:ln>
        </p:spPr>
      </p:sp>
      <p:sp>
        <p:nvSpPr>
          <p:cNvPr id="19" name="Shape 16"/>
          <p:cNvSpPr/>
          <p:nvPr/>
        </p:nvSpPr>
        <p:spPr>
          <a:xfrm>
            <a:off x="1463040" y="4736592"/>
            <a:ext cx="146304" cy="146304"/>
          </a:xfrm>
          <a:prstGeom prst="ellipse">
            <a:avLst/>
          </a:prstGeom>
          <a:solidFill>
            <a:srgbClr val="23408E"/>
          </a:solidFill>
          <a:ln w="12700">
            <a:solidFill>
              <a:srgbClr val="23408E"/>
            </a:solidFill>
            <a:prstDash val="solid"/>
          </a:ln>
        </p:spPr>
      </p:sp>
      <p:sp>
        <p:nvSpPr>
          <p:cNvPr id="20" name="Shape 17"/>
          <p:cNvSpPr/>
          <p:nvPr/>
        </p:nvSpPr>
        <p:spPr>
          <a:xfrm>
            <a:off x="1965960" y="4809744"/>
            <a:ext cx="210312" cy="658368"/>
          </a:xfrm>
          <a:prstGeom prst="line">
            <a:avLst/>
          </a:prstGeom>
          <a:noFill/>
          <a:ln w="21590">
            <a:solidFill>
              <a:srgbClr val="D98A1F"/>
            </a:solidFill>
            <a:prstDash val="solid"/>
          </a:ln>
        </p:spPr>
      </p:sp>
      <p:sp>
        <p:nvSpPr>
          <p:cNvPr id="21" name="Shape 18"/>
          <p:cNvSpPr/>
          <p:nvPr/>
        </p:nvSpPr>
        <p:spPr>
          <a:xfrm>
            <a:off x="1892808" y="4736592"/>
            <a:ext cx="146304" cy="146304"/>
          </a:xfrm>
          <a:prstGeom prst="ellipse">
            <a:avLst/>
          </a:prstGeom>
          <a:solidFill>
            <a:srgbClr val="23408E"/>
          </a:solidFill>
          <a:ln w="12700">
            <a:solidFill>
              <a:srgbClr val="23408E"/>
            </a:solidFill>
            <a:prstDash val="solid"/>
          </a:ln>
        </p:spPr>
      </p:sp>
      <p:sp>
        <p:nvSpPr>
          <p:cNvPr id="22" name="Shape 19"/>
          <p:cNvSpPr/>
          <p:nvPr/>
        </p:nvSpPr>
        <p:spPr>
          <a:xfrm flipV="1">
            <a:off x="2176272" y="4809744"/>
            <a:ext cx="210312" cy="658368"/>
          </a:xfrm>
          <a:prstGeom prst="line">
            <a:avLst/>
          </a:prstGeom>
          <a:noFill/>
          <a:ln w="21590">
            <a:solidFill>
              <a:srgbClr val="D98A1F"/>
            </a:solidFill>
            <a:prstDash val="solid"/>
          </a:ln>
        </p:spPr>
      </p:sp>
      <p:sp>
        <p:nvSpPr>
          <p:cNvPr id="23" name="Shape 20"/>
          <p:cNvSpPr/>
          <p:nvPr/>
        </p:nvSpPr>
        <p:spPr>
          <a:xfrm>
            <a:off x="2313432" y="4736592"/>
            <a:ext cx="146304" cy="146304"/>
          </a:xfrm>
          <a:prstGeom prst="ellipse">
            <a:avLst/>
          </a:prstGeom>
          <a:solidFill>
            <a:srgbClr val="23408E"/>
          </a:solidFill>
          <a:ln w="12700">
            <a:solidFill>
              <a:srgbClr val="23408E"/>
            </a:solidFill>
            <a:prstDash val="solid"/>
          </a:ln>
        </p:spPr>
      </p:sp>
      <p:sp>
        <p:nvSpPr>
          <p:cNvPr id="24" name="Shape 21"/>
          <p:cNvSpPr/>
          <p:nvPr/>
        </p:nvSpPr>
        <p:spPr>
          <a:xfrm flipV="1">
            <a:off x="2176272" y="4809744"/>
            <a:ext cx="640080" cy="658368"/>
          </a:xfrm>
          <a:prstGeom prst="line">
            <a:avLst/>
          </a:prstGeom>
          <a:noFill/>
          <a:ln w="21590">
            <a:solidFill>
              <a:srgbClr val="D98A1F"/>
            </a:solidFill>
            <a:prstDash val="solid"/>
          </a:ln>
        </p:spPr>
      </p:sp>
      <p:sp>
        <p:nvSpPr>
          <p:cNvPr id="25" name="Shape 22"/>
          <p:cNvSpPr/>
          <p:nvPr/>
        </p:nvSpPr>
        <p:spPr>
          <a:xfrm>
            <a:off x="2743200" y="4736592"/>
            <a:ext cx="146304" cy="146304"/>
          </a:xfrm>
          <a:prstGeom prst="ellipse">
            <a:avLst/>
          </a:prstGeom>
          <a:solidFill>
            <a:srgbClr val="23408E"/>
          </a:solidFill>
          <a:ln w="12700">
            <a:solidFill>
              <a:srgbClr val="23408E"/>
            </a:solidFill>
            <a:prstDash val="solid"/>
          </a:ln>
        </p:spPr>
      </p:sp>
      <p:sp>
        <p:nvSpPr>
          <p:cNvPr id="26" name="Shape 23"/>
          <p:cNvSpPr/>
          <p:nvPr/>
        </p:nvSpPr>
        <p:spPr>
          <a:xfrm>
            <a:off x="2103120" y="5394960"/>
            <a:ext cx="173736" cy="173736"/>
          </a:xfrm>
          <a:prstGeom prst="ellipse">
            <a:avLst/>
          </a:prstGeom>
          <a:solidFill>
            <a:srgbClr val="D98A1F"/>
          </a:solidFill>
          <a:ln w="12700">
            <a:solidFill>
              <a:srgbClr val="D98A1F"/>
            </a:solidFill>
            <a:prstDash val="solid"/>
          </a:ln>
        </p:spPr>
      </p:sp>
      <p:sp>
        <p:nvSpPr>
          <p:cNvPr id="27" name="Text 24"/>
          <p:cNvSpPr txBox="1"/>
          <p:nvPr/>
        </p:nvSpPr>
        <p:spPr>
          <a:xfrm>
            <a:off x="2971800" y="4846320"/>
            <a:ext cx="2651760" cy="548640"/>
          </a:xfrm>
          <a:prstGeom prst="rect">
            <a:avLst/>
          </a:prstGeom>
          <a:noFill/>
          <a:ln/>
        </p:spPr>
        <p:txBody>
          <a:bodyPr wrap="square" lIns="0" tIns="0" rIns="0" bIns="0" rtlCol="0" anchor="ctr"/>
          <a:lstStyle/>
          <a:p>
            <a:pPr indent="0" marL="0">
              <a:buNone/>
            </a:pPr>
            <a:r>
              <a:rPr lang="en-US" sz="1050" b="1" dirty="0">
                <a:solidFill>
                  <a:srgbClr val="16181D"/>
                </a:solidFill>
                <a:latin typeface="Montserrat" pitchFamily="34" charset="0"/>
                <a:ea typeface="Montserrat" pitchFamily="34" charset="-122"/>
                <a:cs typeface="Montserrat" pitchFamily="34" charset="-120"/>
              </a:rPr>
              <a:t>in-degree 4 &gt; 1</a:t>
            </a:r>
            <a:endParaRPr lang="en-US" sz="1050" dirty="0"/>
          </a:p>
          <a:p>
            <a:pPr indent="0" marL="0">
              <a:buNone/>
            </a:pPr>
            <a:r>
              <a:rPr lang="en-US" sz="1050" b="1" dirty="0">
                <a:solidFill>
                  <a:srgbClr val="16181D"/>
                </a:solidFill>
                <a:latin typeface="Montserrat" pitchFamily="34" charset="0"/>
                <a:ea typeface="Montserrat" pitchFamily="34" charset="-122"/>
                <a:cs typeface="Montserrat" pitchFamily="34" charset="-120"/>
              </a:rPr>
              <a:t>so the graph is not a tree</a:t>
            </a:r>
            <a:endParaRPr lang="en-US" sz="1050" dirty="0"/>
          </a:p>
        </p:txBody>
      </p:sp>
      <p:sp>
        <p:nvSpPr>
          <p:cNvPr id="28" name="Shape 25"/>
          <p:cNvSpPr/>
          <p:nvPr/>
        </p:nvSpPr>
        <p:spPr>
          <a:xfrm>
            <a:off x="6172200" y="4315968"/>
            <a:ext cx="5303520" cy="1737360"/>
          </a:xfrm>
          <a:prstGeom prst="roundRect">
            <a:avLst>
              <a:gd name="adj" fmla="val 2632"/>
            </a:avLst>
          </a:prstGeom>
          <a:solidFill>
            <a:srgbClr val="F4F6FB"/>
          </a:solidFill>
          <a:ln w="12700">
            <a:solidFill>
              <a:srgbClr val="D8DEEC"/>
            </a:solidFill>
            <a:prstDash val="solid"/>
          </a:ln>
        </p:spPr>
      </p:sp>
      <p:sp>
        <p:nvSpPr>
          <p:cNvPr id="29" name="Text 26"/>
          <p:cNvSpPr txBox="1"/>
          <p:nvPr/>
        </p:nvSpPr>
        <p:spPr>
          <a:xfrm>
            <a:off x="6400800" y="4480560"/>
            <a:ext cx="4846320" cy="292608"/>
          </a:xfrm>
          <a:prstGeom prst="rect">
            <a:avLst/>
          </a:prstGeom>
          <a:noFill/>
          <a:ln/>
        </p:spPr>
        <p:txBody>
          <a:bodyPr wrap="square" lIns="0" tIns="0" rIns="0" bIns="0" rtlCol="0" anchor="ctr"/>
          <a:lstStyle/>
          <a:p>
            <a:pPr indent="0" marL="0">
              <a:buNone/>
            </a:pPr>
            <a:r>
              <a:rPr lang="en-US" sz="1100" b="1" dirty="0">
                <a:solidFill>
                  <a:srgbClr val="23408E"/>
                </a:solidFill>
                <a:latin typeface="Montserrat" pitchFamily="34" charset="0"/>
                <a:ea typeface="Montserrat" pitchFamily="34" charset="-122"/>
                <a:cs typeface="Montserrat" pitchFamily="34" charset="-120"/>
              </a:rPr>
              <a:t>An edge (a, b) means a's text was literally the input that produced b.</a:t>
            </a:r>
            <a:endParaRPr lang="en-US" sz="1100" dirty="0"/>
          </a:p>
        </p:txBody>
      </p:sp>
      <p:sp>
        <p:nvSpPr>
          <p:cNvPr id="30" name="Text 27"/>
          <p:cNvSpPr txBox="1"/>
          <p:nvPr/>
        </p:nvSpPr>
        <p:spPr>
          <a:xfrm>
            <a:off x="6400800" y="4846320"/>
            <a:ext cx="4846320" cy="1051560"/>
          </a:xfrm>
          <a:prstGeom prst="rect">
            <a:avLst/>
          </a:prstGeom>
          <a:noFill/>
          <a:ln/>
        </p:spPr>
        <p:txBody>
          <a:bodyPr wrap="square" lIns="0" tIns="0" rIns="0" bIns="0" rtlCol="0" anchor="ctr"/>
          <a:lstStyle/>
          <a:p>
            <a:pPr indent="0" marL="0">
              <a:buNone/>
            </a:pPr>
            <a:r>
              <a:rPr lang="en-US" sz="1000" dirty="0">
                <a:solidFill>
                  <a:srgbClr val="16181D"/>
                </a:solidFill>
                <a:latin typeface="Montserrat" pitchFamily="34" charset="0"/>
                <a:ea typeface="Montserrat" pitchFamily="34" charset="-122"/>
                <a:cs typeface="Montserrat" pitchFamily="34" charset="-120"/>
              </a:rPr>
              <a:t>Edges encode causality, not similarity. A coarsening operator therefore cannot merge vertices because they resemble one another - it must preserve which thoughts can still reach the answer.</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0149840" y="-502920"/>
            <a:ext cx="2377440" cy="960120"/>
          </a:xfrm>
          <a:prstGeom prst="roundRect">
            <a:avLst>
              <a:gd name="adj" fmla="val 38095"/>
            </a:avLst>
          </a:prstGeom>
          <a:solidFill>
            <a:srgbClr val="C9D8F5"/>
          </a:solidFill>
          <a:ln w="12700">
            <a:solidFill>
              <a:srgbClr val="333333"/>
            </a:solidFill>
            <a:prstDash val="solid"/>
          </a:ln>
        </p:spPr>
      </p:sp>
      <p:sp>
        <p:nvSpPr>
          <p:cNvPr id="3" name="Shape 1"/>
          <p:cNvSpPr/>
          <p:nvPr/>
        </p:nvSpPr>
        <p:spPr>
          <a:xfrm>
            <a:off x="10881360" y="0"/>
            <a:ext cx="2011680" cy="566928"/>
          </a:xfrm>
          <a:prstGeom prst="roundRect">
            <a:avLst>
              <a:gd name="adj" fmla="val 48387"/>
            </a:avLst>
          </a:prstGeom>
          <a:solidFill>
            <a:srgbClr val="23408E"/>
          </a:solidFill>
          <a:ln w="12700">
            <a:solidFill>
              <a:srgbClr val="333333"/>
            </a:solidFill>
            <a:prstDash val="solid"/>
          </a:ln>
        </p:spPr>
      </p:sp>
      <p:sp>
        <p:nvSpPr>
          <p:cNvPr id="4" name="Shape 2"/>
          <p:cNvSpPr/>
          <p:nvPr/>
        </p:nvSpPr>
        <p:spPr>
          <a:xfrm>
            <a:off x="-731520" y="6355080"/>
            <a:ext cx="1828800" cy="822960"/>
          </a:xfrm>
          <a:prstGeom prst="roundRect">
            <a:avLst>
              <a:gd name="adj" fmla="val 38889"/>
            </a:avLst>
          </a:prstGeom>
          <a:solidFill>
            <a:srgbClr val="23408E"/>
          </a:solidFill>
          <a:ln w="12700">
            <a:solidFill>
              <a:srgbClr val="333333"/>
            </a:solidFill>
            <a:prstDash val="solid"/>
          </a:ln>
        </p:spPr>
      </p:sp>
      <p:sp>
        <p:nvSpPr>
          <p:cNvPr id="5" name="Shape 3"/>
          <p:cNvSpPr/>
          <p:nvPr/>
        </p:nvSpPr>
        <p:spPr>
          <a:xfrm>
            <a:off x="320040" y="6583680"/>
            <a:ext cx="2743200" cy="731520"/>
          </a:xfrm>
          <a:prstGeom prst="roundRect">
            <a:avLst>
              <a:gd name="adj" fmla="val 43750"/>
            </a:avLst>
          </a:prstGeom>
          <a:solidFill>
            <a:srgbClr val="C9D8F5"/>
          </a:solidFill>
          <a:ln w="12700">
            <a:solidFill>
              <a:srgbClr val="333333"/>
            </a:solidFill>
            <a:prstDash val="solid"/>
          </a:ln>
        </p:spPr>
      </p:sp>
      <p:sp>
        <p:nvSpPr>
          <p:cNvPr id="6" name="Text 4"/>
          <p:cNvSpPr txBox="1"/>
          <p:nvPr/>
        </p:nvSpPr>
        <p:spPr>
          <a:xfrm>
            <a:off x="566928" y="237744"/>
            <a:ext cx="9052560" cy="603504"/>
          </a:xfrm>
          <a:prstGeom prst="rect">
            <a:avLst/>
          </a:prstGeom>
          <a:noFill/>
          <a:ln/>
        </p:spPr>
        <p:txBody>
          <a:bodyPr wrap="square" lIns="0" tIns="0" rIns="0" bIns="0" rtlCol="0" anchor="ctr"/>
          <a:lstStyle/>
          <a:p>
            <a:pPr indent="0" marL="0">
              <a:buNone/>
            </a:pPr>
            <a:r>
              <a:rPr lang="en-US" sz="3000" b="1" dirty="0">
                <a:solidFill>
                  <a:srgbClr val="23408E"/>
                </a:solidFill>
                <a:latin typeface="Montserrat" pitchFamily="34" charset="0"/>
                <a:ea typeface="Montserrat" pitchFamily="34" charset="-122"/>
                <a:cs typeface="Montserrat" pitchFamily="34" charset="-120"/>
              </a:rPr>
              <a:t>Methodology</a:t>
            </a:r>
            <a:endParaRPr lang="en-US" sz="3000" dirty="0"/>
          </a:p>
        </p:txBody>
      </p:sp>
      <p:sp>
        <p:nvSpPr>
          <p:cNvPr id="7" name="Shape 5"/>
          <p:cNvSpPr/>
          <p:nvPr/>
        </p:nvSpPr>
        <p:spPr>
          <a:xfrm>
            <a:off x="621792" y="914400"/>
            <a:ext cx="4023360" cy="0"/>
          </a:xfrm>
          <a:prstGeom prst="line">
            <a:avLst/>
          </a:prstGeom>
          <a:noFill/>
          <a:ln w="20320">
            <a:solidFill>
              <a:srgbClr val="16181D"/>
            </a:solidFill>
            <a:prstDash val="solid"/>
          </a:ln>
        </p:spPr>
      </p:sp>
      <p:sp>
        <p:nvSpPr>
          <p:cNvPr id="8" name="Shape 6"/>
          <p:cNvSpPr/>
          <p:nvPr/>
        </p:nvSpPr>
        <p:spPr>
          <a:xfrm>
            <a:off x="548640" y="859536"/>
            <a:ext cx="118872" cy="118872"/>
          </a:xfrm>
          <a:prstGeom prst="ellipse">
            <a:avLst/>
          </a:prstGeom>
          <a:solidFill>
            <a:srgbClr val="16181D"/>
          </a:solidFill>
          <a:ln w="12700">
            <a:solidFill>
              <a:srgbClr val="333333"/>
            </a:solidFill>
            <a:prstDash val="solid"/>
          </a:ln>
        </p:spPr>
      </p:sp>
      <p:sp>
        <p:nvSpPr>
          <p:cNvPr id="9" name="Shape 7"/>
          <p:cNvSpPr/>
          <p:nvPr/>
        </p:nvSpPr>
        <p:spPr>
          <a:xfrm>
            <a:off x="4590288" y="859536"/>
            <a:ext cx="118872" cy="118872"/>
          </a:xfrm>
          <a:prstGeom prst="ellipse">
            <a:avLst/>
          </a:prstGeom>
          <a:solidFill>
            <a:srgbClr val="16181D"/>
          </a:solidFill>
          <a:ln w="12700">
            <a:solidFill>
              <a:srgbClr val="333333"/>
            </a:solidFill>
            <a:prstDash val="solid"/>
          </a:ln>
        </p:spPr>
      </p:sp>
      <p:sp>
        <p:nvSpPr>
          <p:cNvPr id="10" name="Text 8"/>
          <p:cNvSpPr txBox="1"/>
          <p:nvPr/>
        </p:nvSpPr>
        <p:spPr>
          <a:xfrm>
            <a:off x="685800" y="1188720"/>
            <a:ext cx="6766560" cy="310896"/>
          </a:xfrm>
          <a:prstGeom prst="rect">
            <a:avLst/>
          </a:prstGeom>
          <a:noFill/>
          <a:ln/>
        </p:spPr>
        <p:txBody>
          <a:bodyPr wrap="square" lIns="0" tIns="0" rIns="0" bIns="0" rtlCol="0" anchor="ctr"/>
          <a:lstStyle/>
          <a:p>
            <a:pPr indent="0" marL="0">
              <a:buNone/>
            </a:pPr>
            <a:r>
              <a:rPr lang="en-US" sz="1450" b="1" dirty="0">
                <a:solidFill>
                  <a:srgbClr val="23408E"/>
                </a:solidFill>
                <a:latin typeface="Montserrat" pitchFamily="34" charset="0"/>
                <a:ea typeface="Montserrat" pitchFamily="34" charset="-122"/>
                <a:cs typeface="Montserrat" pitchFamily="34" charset="-120"/>
              </a:rPr>
              <a:t>3) Datasets - synthetic, with computed ground truth</a:t>
            </a:r>
            <a:endParaRPr lang="en-US" sz="145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85800" y="1554480"/>
          <a:ext cx="6766560" cy="914400"/>
        </p:xfrm>
        <a:graphic>
          <a:graphicData uri="http://schemas.openxmlformats.org/drawingml/2006/table">
            <a:tbl>
              <a:tblPr/>
              <a:tblGrid>
                <a:gridCol w="1645920"/>
                <a:gridCol w="2423160"/>
                <a:gridCol w="1600200"/>
                <a:gridCol w="1097280"/>
              </a:tblGrid>
              <a:tr h="347472">
                <a:tc>
                  <a:txBody>
                    <a:bodyPr/>
                    <a:lstStyle/>
                    <a:p>
                      <a:pPr indent="0" marL="0">
                        <a:buNone/>
                      </a:pPr>
                      <a:r>
                        <a:rPr lang="en-US" sz="950" b="1" dirty="0">
                          <a:solidFill>
                            <a:srgbClr val="FFFFFF"/>
                          </a:solidFill>
                          <a:latin typeface="Montserrat" pitchFamily="34" charset="0"/>
                          <a:ea typeface="Montserrat" pitchFamily="34" charset="-122"/>
                          <a:cs typeface="Montserrat" pitchFamily="34" charset="-120"/>
                        </a:rPr>
                        <a:t>Task</a:t>
                      </a:r>
                      <a:endParaRPr lang="en-US" sz="950" dirty="0">
                        <a:latin typeface="Montserrat" charset="0"/>
                        <a:ea typeface="Montserrat" charset="0"/>
                        <a:cs typeface="Montserrat" charset="0"/>
                      </a:endParaRPr>
                    </a:p>
                  </a:txBody>
                  <a:tcPr marL="91440" marR="91440" marT="45720" marB="45720" anchor="ctr">
                    <a:lnL w="12700" cap="flat" cmpd="sng" algn="ctr">
                      <a:solidFill>
                        <a:srgbClr val="DCE2EF"/>
                      </a:solidFill>
                      <a:prstDash val="solid"/>
                      <a:round/>
                      <a:headEnd type="none" w="med" len="med"/>
                      <a:tailEnd type="none" w="med" len="med"/>
                    </a:lnL>
                    <a:lnR w="12700" cap="flat" cmpd="sng" algn="ctr">
                      <a:solidFill>
                        <a:srgbClr val="DCE2EF"/>
                      </a:solidFill>
                      <a:prstDash val="solid"/>
                      <a:round/>
                      <a:headEnd type="none" w="med" len="med"/>
                      <a:tailEnd type="none" w="med" len="med"/>
                    </a:lnR>
                    <a:lnT w="12700" cap="flat" cmpd="sng" algn="ctr">
                      <a:solidFill>
                        <a:srgbClr val="DCE2EF"/>
                      </a:solidFill>
                      <a:prstDash val="solid"/>
                      <a:round/>
                      <a:headEnd type="none" w="med" len="med"/>
                      <a:tailEnd type="none" w="med" len="med"/>
                    </a:lnT>
                    <a:lnB w="12700" cap="flat" cmpd="sng" algn="ctr">
                      <a:solidFill>
                        <a:srgbClr val="DCE2EF"/>
                      </a:solidFill>
                      <a:prstDash val="solid"/>
                      <a:round/>
                      <a:headEnd type="none" w="med" len="med"/>
                      <a:tailEnd type="none" w="med" len="med"/>
                    </a:lnB>
                    <a:solidFill>
                      <a:srgbClr val="23408E"/>
                    </a:solidFill>
                  </a:tcPr>
                </a:tc>
                <a:tc>
                  <a:txBody>
                    <a:bodyPr/>
                    <a:lstStyle/>
                    <a:p>
                      <a:pPr indent="0" marL="0">
                        <a:buNone/>
                      </a:pPr>
                      <a:r>
                        <a:rPr lang="en-US" sz="950" b="1" dirty="0">
                          <a:solidFill>
                            <a:srgbClr val="FFFFFF"/>
                          </a:solidFill>
                          <a:latin typeface="Montserrat" pitchFamily="34" charset="0"/>
                          <a:ea typeface="Montserrat" pitchFamily="34" charset="-122"/>
                          <a:cs typeface="Montserrat" pitchFamily="34" charset="-120"/>
                        </a:rPr>
                        <a:t>Input</a:t>
                      </a:r>
                      <a:endParaRPr lang="en-US" sz="950" dirty="0">
                        <a:latin typeface="Montserrat" charset="0"/>
                        <a:ea typeface="Montserrat" charset="0"/>
                        <a:cs typeface="Montserrat" charset="0"/>
                      </a:endParaRPr>
                    </a:p>
                  </a:txBody>
                  <a:tcPr marL="91440" marR="91440" marT="45720" marB="45720" anchor="ctr">
                    <a:lnL w="12700" cap="flat" cmpd="sng" algn="ctr">
                      <a:solidFill>
                        <a:srgbClr val="DCE2EF"/>
                      </a:solidFill>
                      <a:prstDash val="solid"/>
                      <a:round/>
                      <a:headEnd type="none" w="med" len="med"/>
                      <a:tailEnd type="none" w="med" len="med"/>
                    </a:lnL>
                    <a:lnR w="12700" cap="flat" cmpd="sng" algn="ctr">
                      <a:solidFill>
                        <a:srgbClr val="DCE2EF"/>
                      </a:solidFill>
                      <a:prstDash val="solid"/>
                      <a:round/>
                      <a:headEnd type="none" w="med" len="med"/>
                      <a:tailEnd type="none" w="med" len="med"/>
                    </a:lnR>
                    <a:lnT w="12700" cap="flat" cmpd="sng" algn="ctr">
                      <a:solidFill>
                        <a:srgbClr val="DCE2EF"/>
                      </a:solidFill>
                      <a:prstDash val="solid"/>
                      <a:round/>
                      <a:headEnd type="none" w="med" len="med"/>
                      <a:tailEnd type="none" w="med" len="med"/>
                    </a:lnT>
                    <a:lnB w="12700" cap="flat" cmpd="sng" algn="ctr">
                      <a:solidFill>
                        <a:srgbClr val="DCE2EF"/>
                      </a:solidFill>
                      <a:prstDash val="solid"/>
                      <a:round/>
                      <a:headEnd type="none" w="med" len="med"/>
                      <a:tailEnd type="none" w="med" len="med"/>
                    </a:lnB>
                    <a:solidFill>
                      <a:srgbClr val="23408E"/>
                    </a:solidFill>
                  </a:tcPr>
                </a:tc>
                <a:tc>
                  <a:txBody>
                    <a:bodyPr/>
                    <a:lstStyle/>
                    <a:p>
                      <a:pPr indent="0" marL="0">
                        <a:buNone/>
                      </a:pPr>
                      <a:r>
                        <a:rPr lang="en-US" sz="950" b="1" dirty="0">
                          <a:solidFill>
                            <a:srgbClr val="FFFFFF"/>
                          </a:solidFill>
                          <a:latin typeface="Montserrat" pitchFamily="34" charset="0"/>
                          <a:ea typeface="Montserrat" pitchFamily="34" charset="-122"/>
                          <a:cs typeface="Montserrat" pitchFamily="34" charset="-120"/>
                        </a:rPr>
                        <a:t>Sizes</a:t>
                      </a:r>
                      <a:endParaRPr lang="en-US" sz="950" dirty="0">
                        <a:latin typeface="Montserrat" charset="0"/>
                        <a:ea typeface="Montserrat" charset="0"/>
                        <a:cs typeface="Montserrat" charset="0"/>
                      </a:endParaRPr>
                    </a:p>
                  </a:txBody>
                  <a:tcPr marL="91440" marR="91440" marT="45720" marB="45720" anchor="ctr">
                    <a:lnL w="12700" cap="flat" cmpd="sng" algn="ctr">
                      <a:solidFill>
                        <a:srgbClr val="DCE2EF"/>
                      </a:solidFill>
                      <a:prstDash val="solid"/>
                      <a:round/>
                      <a:headEnd type="none" w="med" len="med"/>
                      <a:tailEnd type="none" w="med" len="med"/>
                    </a:lnL>
                    <a:lnR w="12700" cap="flat" cmpd="sng" algn="ctr">
                      <a:solidFill>
                        <a:srgbClr val="DCE2EF"/>
                      </a:solidFill>
                      <a:prstDash val="solid"/>
                      <a:round/>
                      <a:headEnd type="none" w="med" len="med"/>
                      <a:tailEnd type="none" w="med" len="med"/>
                    </a:lnR>
                    <a:lnT w="12700" cap="flat" cmpd="sng" algn="ctr">
                      <a:solidFill>
                        <a:srgbClr val="DCE2EF"/>
                      </a:solidFill>
                      <a:prstDash val="solid"/>
                      <a:round/>
                      <a:headEnd type="none" w="med" len="med"/>
                      <a:tailEnd type="none" w="med" len="med"/>
                    </a:lnT>
                    <a:lnB w="12700" cap="flat" cmpd="sng" algn="ctr">
                      <a:solidFill>
                        <a:srgbClr val="DCE2EF"/>
                      </a:solidFill>
                      <a:prstDash val="solid"/>
                      <a:round/>
                      <a:headEnd type="none" w="med" len="med"/>
                      <a:tailEnd type="none" w="med" len="med"/>
                    </a:lnB>
                    <a:solidFill>
                      <a:srgbClr val="23408E"/>
                    </a:solidFill>
                  </a:tcPr>
                </a:tc>
                <a:tc>
                  <a:txBody>
                    <a:bodyPr/>
                    <a:lstStyle/>
                    <a:p>
                      <a:pPr indent="0" marL="0">
                        <a:buNone/>
                      </a:pPr>
                      <a:r>
                        <a:rPr lang="en-US" sz="950" b="1" dirty="0">
                          <a:solidFill>
                            <a:srgbClr val="FFFFFF"/>
                          </a:solidFill>
                          <a:latin typeface="Montserrat" pitchFamily="34" charset="0"/>
                          <a:ea typeface="Montserrat" pitchFamily="34" charset="-122"/>
                          <a:cs typeface="Montserrat" pitchFamily="34" charset="-120"/>
                        </a:rPr>
                        <a:t>Instances</a:t>
                      </a:r>
                      <a:endParaRPr lang="en-US" sz="950" dirty="0">
                        <a:latin typeface="Montserrat" charset="0"/>
                        <a:ea typeface="Montserrat" charset="0"/>
                        <a:cs typeface="Montserrat" charset="0"/>
                      </a:endParaRPr>
                    </a:p>
                  </a:txBody>
                  <a:tcPr marL="91440" marR="91440" marT="45720" marB="45720" anchor="ctr">
                    <a:lnL w="12700" cap="flat" cmpd="sng" algn="ctr">
                      <a:solidFill>
                        <a:srgbClr val="DCE2EF"/>
                      </a:solidFill>
                      <a:prstDash val="solid"/>
                      <a:round/>
                      <a:headEnd type="none" w="med" len="med"/>
                      <a:tailEnd type="none" w="med" len="med"/>
                    </a:lnL>
                    <a:lnR w="12700" cap="flat" cmpd="sng" algn="ctr">
                      <a:solidFill>
                        <a:srgbClr val="DCE2EF"/>
                      </a:solidFill>
                      <a:prstDash val="solid"/>
                      <a:round/>
                      <a:headEnd type="none" w="med" len="med"/>
                      <a:tailEnd type="none" w="med" len="med"/>
                    </a:lnR>
                    <a:lnT w="12700" cap="flat" cmpd="sng" algn="ctr">
                      <a:solidFill>
                        <a:srgbClr val="DCE2EF"/>
                      </a:solidFill>
                      <a:prstDash val="solid"/>
                      <a:round/>
                      <a:headEnd type="none" w="med" len="med"/>
                      <a:tailEnd type="none" w="med" len="med"/>
                    </a:lnT>
                    <a:lnB w="12700" cap="flat" cmpd="sng" algn="ctr">
                      <a:solidFill>
                        <a:srgbClr val="DCE2EF"/>
                      </a:solidFill>
                      <a:prstDash val="solid"/>
                      <a:round/>
                      <a:headEnd type="none" w="med" len="med"/>
                      <a:tailEnd type="none" w="med" len="med"/>
                    </a:lnB>
                    <a:solidFill>
                      <a:srgbClr val="23408E"/>
                    </a:solidFill>
                  </a:tcPr>
                </a:tc>
              </a:tr>
              <a:tr h="347472">
                <a:tc>
                  <a:txBody>
                    <a:bodyPr/>
                    <a:lstStyle/>
                    <a:p>
                      <a:pPr indent="0" marL="0">
                        <a:buNone/>
                      </a:pPr>
                      <a:r>
                        <a:rPr lang="en-US" sz="950" b="1" dirty="0">
                          <a:solidFill>
                            <a:srgbClr val="16181D"/>
                          </a:solidFill>
                          <a:latin typeface="Montserrat" pitchFamily="34" charset="0"/>
                          <a:ea typeface="Montserrat" pitchFamily="34" charset="-122"/>
                          <a:cs typeface="Montserrat" pitchFamily="34" charset="-120"/>
                        </a:rPr>
                        <a:t>Sorting</a:t>
                      </a:r>
                      <a:endParaRPr lang="en-US" sz="950" dirty="0">
                        <a:latin typeface="Montserrat" charset="0"/>
                        <a:ea typeface="Montserrat" charset="0"/>
                        <a:cs typeface="Montserrat" charset="0"/>
                      </a:endParaRPr>
                    </a:p>
                  </a:txBody>
                  <a:tcPr marL="91440" marR="91440" marT="45720" marB="45720" anchor="ctr">
                    <a:lnL w="12700" cap="flat" cmpd="sng" algn="ctr">
                      <a:solidFill>
                        <a:srgbClr val="DCE2EF"/>
                      </a:solidFill>
                      <a:prstDash val="solid"/>
                      <a:round/>
                      <a:headEnd type="none" w="med" len="med"/>
                      <a:tailEnd type="none" w="med" len="med"/>
                    </a:lnL>
                    <a:lnR w="12700" cap="flat" cmpd="sng" algn="ctr">
                      <a:solidFill>
                        <a:srgbClr val="DCE2EF"/>
                      </a:solidFill>
                      <a:prstDash val="solid"/>
                      <a:round/>
                      <a:headEnd type="none" w="med" len="med"/>
                      <a:tailEnd type="none" w="med" len="med"/>
                    </a:lnR>
                    <a:lnT w="12700" cap="flat" cmpd="sng" algn="ctr">
                      <a:solidFill>
                        <a:srgbClr val="DCE2EF"/>
                      </a:solidFill>
                      <a:prstDash val="solid"/>
                      <a:round/>
                      <a:headEnd type="none" w="med" len="med"/>
                      <a:tailEnd type="none" w="med" len="med"/>
                    </a:lnT>
                    <a:lnB w="12700" cap="flat" cmpd="sng" algn="ctr">
                      <a:solidFill>
                        <a:srgbClr val="DCE2EF"/>
                      </a:solidFill>
                      <a:prstDash val="solid"/>
                      <a:round/>
                      <a:headEnd type="none" w="med" len="med"/>
                      <a:tailEnd type="none" w="med" len="med"/>
                    </a:lnB>
                    <a:solidFill>
                      <a:srgbClr val="F4F6FB"/>
                    </a:solidFill>
                  </a:tcPr>
                </a:tc>
                <a:tc>
                  <a:txBody>
                    <a:bodyPr/>
                    <a:lstStyle/>
                    <a:p>
                      <a:pPr indent="0" marL="0">
                        <a:buNone/>
                      </a:pPr>
                      <a:r>
                        <a:rPr lang="en-US" sz="950" dirty="0">
                          <a:solidFill>
                            <a:srgbClr val="16181D"/>
                          </a:solidFill>
                          <a:latin typeface="Montserrat" pitchFamily="34" charset="0"/>
                          <a:ea typeface="Montserrat" pitchFamily="34" charset="-122"/>
                          <a:cs typeface="Montserrat" pitchFamily="34" charset="-120"/>
                        </a:rPr>
                        <a:t>digits 0-9 with duplicates</a:t>
                      </a:r>
                      <a:endParaRPr lang="en-US" sz="950" dirty="0">
                        <a:latin typeface="Montserrat" charset="0"/>
                        <a:ea typeface="Montserrat" charset="0"/>
                        <a:cs typeface="Montserrat" charset="0"/>
                      </a:endParaRPr>
                    </a:p>
                  </a:txBody>
                  <a:tcPr marL="91440" marR="91440" marT="45720" marB="45720" anchor="ctr">
                    <a:lnL w="12700" cap="flat" cmpd="sng" algn="ctr">
                      <a:solidFill>
                        <a:srgbClr val="DCE2EF"/>
                      </a:solidFill>
                      <a:prstDash val="solid"/>
                      <a:round/>
                      <a:headEnd type="none" w="med" len="med"/>
                      <a:tailEnd type="none" w="med" len="med"/>
                    </a:lnL>
                    <a:lnR w="12700" cap="flat" cmpd="sng" algn="ctr">
                      <a:solidFill>
                        <a:srgbClr val="DCE2EF"/>
                      </a:solidFill>
                      <a:prstDash val="solid"/>
                      <a:round/>
                      <a:headEnd type="none" w="med" len="med"/>
                      <a:tailEnd type="none" w="med" len="med"/>
                    </a:lnR>
                    <a:lnT w="12700" cap="flat" cmpd="sng" algn="ctr">
                      <a:solidFill>
                        <a:srgbClr val="DCE2EF"/>
                      </a:solidFill>
                      <a:prstDash val="solid"/>
                      <a:round/>
                      <a:headEnd type="none" w="med" len="med"/>
                      <a:tailEnd type="none" w="med" len="med"/>
                    </a:lnT>
                    <a:lnB w="12700" cap="flat" cmpd="sng" algn="ctr">
                      <a:solidFill>
                        <a:srgbClr val="DCE2EF"/>
                      </a:solidFill>
                      <a:prstDash val="solid"/>
                      <a:round/>
                      <a:headEnd type="none" w="med" len="med"/>
                      <a:tailEnd type="none" w="med" len="med"/>
                    </a:lnB>
                    <a:solidFill>
                      <a:srgbClr val="F4F6FB"/>
                    </a:solidFill>
                  </a:tcPr>
                </a:tc>
                <a:tc>
                  <a:txBody>
                    <a:bodyPr/>
                    <a:lstStyle/>
                    <a:p>
                      <a:pPr indent="0" marL="0">
                        <a:buNone/>
                      </a:pPr>
                      <a:r>
                        <a:rPr lang="en-US" sz="950" dirty="0">
                          <a:solidFill>
                            <a:srgbClr val="16181D"/>
                          </a:solidFill>
                          <a:latin typeface="Montserrat" pitchFamily="34" charset="0"/>
                          <a:ea typeface="Montserrat" pitchFamily="34" charset="-122"/>
                          <a:cs typeface="Montserrat" pitchFamily="34" charset="-120"/>
                        </a:rPr>
                        <a:t>32 / 64 / 128</a:t>
                      </a:r>
                      <a:endParaRPr lang="en-US" sz="950" dirty="0">
                        <a:latin typeface="Montserrat" charset="0"/>
                        <a:ea typeface="Montserrat" charset="0"/>
                        <a:cs typeface="Montserrat" charset="0"/>
                      </a:endParaRPr>
                    </a:p>
                  </a:txBody>
                  <a:tcPr marL="91440" marR="91440" marT="45720" marB="45720" anchor="ctr">
                    <a:lnL w="12700" cap="flat" cmpd="sng" algn="ctr">
                      <a:solidFill>
                        <a:srgbClr val="DCE2EF"/>
                      </a:solidFill>
                      <a:prstDash val="solid"/>
                      <a:round/>
                      <a:headEnd type="none" w="med" len="med"/>
                      <a:tailEnd type="none" w="med" len="med"/>
                    </a:lnL>
                    <a:lnR w="12700" cap="flat" cmpd="sng" algn="ctr">
                      <a:solidFill>
                        <a:srgbClr val="DCE2EF"/>
                      </a:solidFill>
                      <a:prstDash val="solid"/>
                      <a:round/>
                      <a:headEnd type="none" w="med" len="med"/>
                      <a:tailEnd type="none" w="med" len="med"/>
                    </a:lnR>
                    <a:lnT w="12700" cap="flat" cmpd="sng" algn="ctr">
                      <a:solidFill>
                        <a:srgbClr val="DCE2EF"/>
                      </a:solidFill>
                      <a:prstDash val="solid"/>
                      <a:round/>
                      <a:headEnd type="none" w="med" len="med"/>
                      <a:tailEnd type="none" w="med" len="med"/>
                    </a:lnT>
                    <a:lnB w="12700" cap="flat" cmpd="sng" algn="ctr">
                      <a:solidFill>
                        <a:srgbClr val="DCE2EF"/>
                      </a:solidFill>
                      <a:prstDash val="solid"/>
                      <a:round/>
                      <a:headEnd type="none" w="med" len="med"/>
                      <a:tailEnd type="none" w="med" len="med"/>
                    </a:lnB>
                    <a:solidFill>
                      <a:srgbClr val="F4F6FB"/>
                    </a:solidFill>
                  </a:tcPr>
                </a:tc>
                <a:tc>
                  <a:txBody>
                    <a:bodyPr/>
                    <a:lstStyle/>
                    <a:p>
                      <a:pPr indent="0" marL="0">
                        <a:buNone/>
                      </a:pPr>
                      <a:r>
                        <a:rPr lang="en-US" sz="950" dirty="0">
                          <a:solidFill>
                            <a:srgbClr val="16181D"/>
                          </a:solidFill>
                          <a:latin typeface="Montserrat" pitchFamily="34" charset="0"/>
                          <a:ea typeface="Montserrat" pitchFamily="34" charset="-122"/>
                          <a:cs typeface="Montserrat" pitchFamily="34" charset="-120"/>
                        </a:rPr>
                        <a:t>100</a:t>
                      </a:r>
                      <a:endParaRPr lang="en-US" sz="950" dirty="0">
                        <a:latin typeface="Montserrat" charset="0"/>
                        <a:ea typeface="Montserrat" charset="0"/>
                        <a:cs typeface="Montserrat" charset="0"/>
                      </a:endParaRPr>
                    </a:p>
                  </a:txBody>
                  <a:tcPr marL="91440" marR="91440" marT="45720" marB="45720" anchor="ctr">
                    <a:lnL w="12700" cap="flat" cmpd="sng" algn="ctr">
                      <a:solidFill>
                        <a:srgbClr val="DCE2EF"/>
                      </a:solidFill>
                      <a:prstDash val="solid"/>
                      <a:round/>
                      <a:headEnd type="none" w="med" len="med"/>
                      <a:tailEnd type="none" w="med" len="med"/>
                    </a:lnL>
                    <a:lnR w="12700" cap="flat" cmpd="sng" algn="ctr">
                      <a:solidFill>
                        <a:srgbClr val="DCE2EF"/>
                      </a:solidFill>
                      <a:prstDash val="solid"/>
                      <a:round/>
                      <a:headEnd type="none" w="med" len="med"/>
                      <a:tailEnd type="none" w="med" len="med"/>
                    </a:lnR>
                    <a:lnT w="12700" cap="flat" cmpd="sng" algn="ctr">
                      <a:solidFill>
                        <a:srgbClr val="DCE2EF"/>
                      </a:solidFill>
                      <a:prstDash val="solid"/>
                      <a:round/>
                      <a:headEnd type="none" w="med" len="med"/>
                      <a:tailEnd type="none" w="med" len="med"/>
                    </a:lnT>
                    <a:lnB w="12700" cap="flat" cmpd="sng" algn="ctr">
                      <a:solidFill>
                        <a:srgbClr val="DCE2EF"/>
                      </a:solidFill>
                      <a:prstDash val="solid"/>
                      <a:round/>
                      <a:headEnd type="none" w="med" len="med"/>
                      <a:tailEnd type="none" w="med" len="med"/>
                    </a:lnB>
                    <a:solidFill>
                      <a:srgbClr val="F4F6FB"/>
                    </a:solidFill>
                  </a:tcPr>
                </a:tc>
              </a:tr>
              <a:tr h="347472">
                <a:tc>
                  <a:txBody>
                    <a:bodyPr/>
                    <a:lstStyle/>
                    <a:p>
                      <a:pPr indent="0" marL="0">
                        <a:buNone/>
                      </a:pPr>
                      <a:r>
                        <a:rPr lang="en-US" sz="950" b="1" dirty="0">
                          <a:solidFill>
                            <a:srgbClr val="16181D"/>
                          </a:solidFill>
                          <a:latin typeface="Montserrat" pitchFamily="34" charset="0"/>
                          <a:ea typeface="Montserrat" pitchFamily="34" charset="-122"/>
                          <a:cs typeface="Montserrat" pitchFamily="34" charset="-120"/>
                        </a:rPr>
                        <a:t>Set intersection</a:t>
                      </a:r>
                      <a:endParaRPr lang="en-US" sz="950" dirty="0">
                        <a:latin typeface="Montserrat" charset="0"/>
                        <a:ea typeface="Montserrat" charset="0"/>
                        <a:cs typeface="Montserrat" charset="0"/>
                      </a:endParaRPr>
                    </a:p>
                  </a:txBody>
                  <a:tcPr marL="91440" marR="91440" marT="45720" marB="45720" anchor="ctr">
                    <a:lnL w="12700" cap="flat" cmpd="sng" algn="ctr">
                      <a:solidFill>
                        <a:srgbClr val="DCE2EF"/>
                      </a:solidFill>
                      <a:prstDash val="solid"/>
                      <a:round/>
                      <a:headEnd type="none" w="med" len="med"/>
                      <a:tailEnd type="none" w="med" len="med"/>
                    </a:lnL>
                    <a:lnR w="12700" cap="flat" cmpd="sng" algn="ctr">
                      <a:solidFill>
                        <a:srgbClr val="DCE2EF"/>
                      </a:solidFill>
                      <a:prstDash val="solid"/>
                      <a:round/>
                      <a:headEnd type="none" w="med" len="med"/>
                      <a:tailEnd type="none" w="med" len="med"/>
                    </a:lnR>
                    <a:lnT w="12700" cap="flat" cmpd="sng" algn="ctr">
                      <a:solidFill>
                        <a:srgbClr val="DCE2EF"/>
                      </a:solidFill>
                      <a:prstDash val="solid"/>
                      <a:round/>
                      <a:headEnd type="none" w="med" len="med"/>
                      <a:tailEnd type="none" w="med" len="med"/>
                    </a:lnT>
                    <a:lnB w="12700" cap="flat" cmpd="sng" algn="ctr">
                      <a:solidFill>
                        <a:srgbClr val="DCE2EF"/>
                      </a:solidFill>
                      <a:prstDash val="solid"/>
                      <a:round/>
                      <a:headEnd type="none" w="med" len="med"/>
                      <a:tailEnd type="none" w="med" len="med"/>
                    </a:lnB>
                    <a:solidFill>
                      <a:srgbClr val="FFFFFF"/>
                    </a:solidFill>
                  </a:tcPr>
                </a:tc>
                <a:tc>
                  <a:txBody>
                    <a:bodyPr/>
                    <a:lstStyle/>
                    <a:p>
                      <a:pPr indent="0" marL="0">
                        <a:buNone/>
                      </a:pPr>
                      <a:r>
                        <a:rPr lang="en-US" sz="950" dirty="0">
                          <a:solidFill>
                            <a:srgbClr val="16181D"/>
                          </a:solidFill>
                          <a:latin typeface="Montserrat" pitchFamily="34" charset="0"/>
                          <a:ea typeface="Montserrat" pitchFamily="34" charset="-122"/>
                          <a:cs typeface="Montserrat" pitchFamily="34" charset="-120"/>
                        </a:rPr>
                        <a:t>two sets, 25-75% overlap</a:t>
                      </a:r>
                      <a:endParaRPr lang="en-US" sz="950" dirty="0">
                        <a:latin typeface="Montserrat" charset="0"/>
                        <a:ea typeface="Montserrat" charset="0"/>
                        <a:cs typeface="Montserrat" charset="0"/>
                      </a:endParaRPr>
                    </a:p>
                  </a:txBody>
                  <a:tcPr marL="91440" marR="91440" marT="45720" marB="45720" anchor="ctr">
                    <a:lnL w="12700" cap="flat" cmpd="sng" algn="ctr">
                      <a:solidFill>
                        <a:srgbClr val="DCE2EF"/>
                      </a:solidFill>
                      <a:prstDash val="solid"/>
                      <a:round/>
                      <a:headEnd type="none" w="med" len="med"/>
                      <a:tailEnd type="none" w="med" len="med"/>
                    </a:lnL>
                    <a:lnR w="12700" cap="flat" cmpd="sng" algn="ctr">
                      <a:solidFill>
                        <a:srgbClr val="DCE2EF"/>
                      </a:solidFill>
                      <a:prstDash val="solid"/>
                      <a:round/>
                      <a:headEnd type="none" w="med" len="med"/>
                      <a:tailEnd type="none" w="med" len="med"/>
                    </a:lnR>
                    <a:lnT w="12700" cap="flat" cmpd="sng" algn="ctr">
                      <a:solidFill>
                        <a:srgbClr val="DCE2EF"/>
                      </a:solidFill>
                      <a:prstDash val="solid"/>
                      <a:round/>
                      <a:headEnd type="none" w="med" len="med"/>
                      <a:tailEnd type="none" w="med" len="med"/>
                    </a:lnT>
                    <a:lnB w="12700" cap="flat" cmpd="sng" algn="ctr">
                      <a:solidFill>
                        <a:srgbClr val="DCE2EF"/>
                      </a:solidFill>
                      <a:prstDash val="solid"/>
                      <a:round/>
                      <a:headEnd type="none" w="med" len="med"/>
                      <a:tailEnd type="none" w="med" len="med"/>
                    </a:lnB>
                    <a:solidFill>
                      <a:srgbClr val="FFFFFF"/>
                    </a:solidFill>
                  </a:tcPr>
                </a:tc>
                <a:tc>
                  <a:txBody>
                    <a:bodyPr/>
                    <a:lstStyle/>
                    <a:p>
                      <a:pPr indent="0" marL="0">
                        <a:buNone/>
                      </a:pPr>
                      <a:r>
                        <a:rPr lang="en-US" sz="950" dirty="0">
                          <a:solidFill>
                            <a:srgbClr val="16181D"/>
                          </a:solidFill>
                          <a:latin typeface="Montserrat" pitchFamily="34" charset="0"/>
                          <a:ea typeface="Montserrat" pitchFamily="34" charset="-122"/>
                          <a:cs typeface="Montserrat" pitchFamily="34" charset="-120"/>
                        </a:rPr>
                        <a:t>32 / 64 / 128</a:t>
                      </a:r>
                      <a:endParaRPr lang="en-US" sz="950" dirty="0">
                        <a:latin typeface="Montserrat" charset="0"/>
                        <a:ea typeface="Montserrat" charset="0"/>
                        <a:cs typeface="Montserrat" charset="0"/>
                      </a:endParaRPr>
                    </a:p>
                  </a:txBody>
                  <a:tcPr marL="91440" marR="91440" marT="45720" marB="45720" anchor="ctr">
                    <a:lnL w="12700" cap="flat" cmpd="sng" algn="ctr">
                      <a:solidFill>
                        <a:srgbClr val="DCE2EF"/>
                      </a:solidFill>
                      <a:prstDash val="solid"/>
                      <a:round/>
                      <a:headEnd type="none" w="med" len="med"/>
                      <a:tailEnd type="none" w="med" len="med"/>
                    </a:lnL>
                    <a:lnR w="12700" cap="flat" cmpd="sng" algn="ctr">
                      <a:solidFill>
                        <a:srgbClr val="DCE2EF"/>
                      </a:solidFill>
                      <a:prstDash val="solid"/>
                      <a:round/>
                      <a:headEnd type="none" w="med" len="med"/>
                      <a:tailEnd type="none" w="med" len="med"/>
                    </a:lnR>
                    <a:lnT w="12700" cap="flat" cmpd="sng" algn="ctr">
                      <a:solidFill>
                        <a:srgbClr val="DCE2EF"/>
                      </a:solidFill>
                      <a:prstDash val="solid"/>
                      <a:round/>
                      <a:headEnd type="none" w="med" len="med"/>
                      <a:tailEnd type="none" w="med" len="med"/>
                    </a:lnT>
                    <a:lnB w="12700" cap="flat" cmpd="sng" algn="ctr">
                      <a:solidFill>
                        <a:srgbClr val="DCE2EF"/>
                      </a:solidFill>
                      <a:prstDash val="solid"/>
                      <a:round/>
                      <a:headEnd type="none" w="med" len="med"/>
                      <a:tailEnd type="none" w="med" len="med"/>
                    </a:lnB>
                    <a:solidFill>
                      <a:srgbClr val="FFFFFF"/>
                    </a:solidFill>
                  </a:tcPr>
                </a:tc>
                <a:tc>
                  <a:txBody>
                    <a:bodyPr/>
                    <a:lstStyle/>
                    <a:p>
                      <a:pPr indent="0" marL="0">
                        <a:buNone/>
                      </a:pPr>
                      <a:r>
                        <a:rPr lang="en-US" sz="950" dirty="0">
                          <a:solidFill>
                            <a:srgbClr val="16181D"/>
                          </a:solidFill>
                          <a:latin typeface="Montserrat" pitchFamily="34" charset="0"/>
                          <a:ea typeface="Montserrat" pitchFamily="34" charset="-122"/>
                          <a:cs typeface="Montserrat" pitchFamily="34" charset="-120"/>
                        </a:rPr>
                        <a:t>100</a:t>
                      </a:r>
                      <a:endParaRPr lang="en-US" sz="950" dirty="0">
                        <a:latin typeface="Montserrat" charset="0"/>
                        <a:ea typeface="Montserrat" charset="0"/>
                        <a:cs typeface="Montserrat" charset="0"/>
                      </a:endParaRPr>
                    </a:p>
                  </a:txBody>
                  <a:tcPr marL="91440" marR="91440" marT="45720" marB="45720" anchor="ctr">
                    <a:lnL w="12700" cap="flat" cmpd="sng" algn="ctr">
                      <a:solidFill>
                        <a:srgbClr val="DCE2EF"/>
                      </a:solidFill>
                      <a:prstDash val="solid"/>
                      <a:round/>
                      <a:headEnd type="none" w="med" len="med"/>
                      <a:tailEnd type="none" w="med" len="med"/>
                    </a:lnL>
                    <a:lnR w="12700" cap="flat" cmpd="sng" algn="ctr">
                      <a:solidFill>
                        <a:srgbClr val="DCE2EF"/>
                      </a:solidFill>
                      <a:prstDash val="solid"/>
                      <a:round/>
                      <a:headEnd type="none" w="med" len="med"/>
                      <a:tailEnd type="none" w="med" len="med"/>
                    </a:lnR>
                    <a:lnT w="12700" cap="flat" cmpd="sng" algn="ctr">
                      <a:solidFill>
                        <a:srgbClr val="DCE2EF"/>
                      </a:solidFill>
                      <a:prstDash val="solid"/>
                      <a:round/>
                      <a:headEnd type="none" w="med" len="med"/>
                      <a:tailEnd type="none" w="med" len="med"/>
                    </a:lnT>
                    <a:lnB w="12700" cap="flat" cmpd="sng" algn="ctr">
                      <a:solidFill>
                        <a:srgbClr val="DCE2EF"/>
                      </a:solidFill>
                      <a:prstDash val="solid"/>
                      <a:round/>
                      <a:headEnd type="none" w="med" len="med"/>
                      <a:tailEnd type="none" w="med" len="med"/>
                    </a:lnB>
                    <a:solidFill>
                      <a:srgbClr val="FFFFFF"/>
                    </a:solidFill>
                  </a:tcPr>
                </a:tc>
              </a:tr>
              <a:tr h="347472">
                <a:tc>
                  <a:txBody>
                    <a:bodyPr/>
                    <a:lstStyle/>
                    <a:p>
                      <a:pPr indent="0" marL="0">
                        <a:buNone/>
                      </a:pPr>
                      <a:r>
                        <a:rPr lang="en-US" sz="950" b="1" dirty="0">
                          <a:solidFill>
                            <a:srgbClr val="16181D"/>
                          </a:solidFill>
                          <a:latin typeface="Montserrat" pitchFamily="34" charset="0"/>
                          <a:ea typeface="Montserrat" pitchFamily="34" charset="-122"/>
                          <a:cs typeface="Montserrat" pitchFamily="34" charset="-120"/>
                        </a:rPr>
                        <a:t>Keyword counting</a:t>
                      </a:r>
                      <a:endParaRPr lang="en-US" sz="950" dirty="0">
                        <a:latin typeface="Montserrat" charset="0"/>
                        <a:ea typeface="Montserrat" charset="0"/>
                        <a:cs typeface="Montserrat" charset="0"/>
                      </a:endParaRPr>
                    </a:p>
                  </a:txBody>
                  <a:tcPr marL="91440" marR="91440" marT="45720" marB="45720" anchor="ctr">
                    <a:lnL w="12700" cap="flat" cmpd="sng" algn="ctr">
                      <a:solidFill>
                        <a:srgbClr val="DCE2EF"/>
                      </a:solidFill>
                      <a:prstDash val="solid"/>
                      <a:round/>
                      <a:headEnd type="none" w="med" len="med"/>
                      <a:tailEnd type="none" w="med" len="med"/>
                    </a:lnL>
                    <a:lnR w="12700" cap="flat" cmpd="sng" algn="ctr">
                      <a:solidFill>
                        <a:srgbClr val="DCE2EF"/>
                      </a:solidFill>
                      <a:prstDash val="solid"/>
                      <a:round/>
                      <a:headEnd type="none" w="med" len="med"/>
                      <a:tailEnd type="none" w="med" len="med"/>
                    </a:lnR>
                    <a:lnT w="12700" cap="flat" cmpd="sng" algn="ctr">
                      <a:solidFill>
                        <a:srgbClr val="DCE2EF"/>
                      </a:solidFill>
                      <a:prstDash val="solid"/>
                      <a:round/>
                      <a:headEnd type="none" w="med" len="med"/>
                      <a:tailEnd type="none" w="med" len="med"/>
                    </a:lnT>
                    <a:lnB w="12700" cap="flat" cmpd="sng" algn="ctr">
                      <a:solidFill>
                        <a:srgbClr val="DCE2EF"/>
                      </a:solidFill>
                      <a:prstDash val="solid"/>
                      <a:round/>
                      <a:headEnd type="none" w="med" len="med"/>
                      <a:tailEnd type="none" w="med" len="med"/>
                    </a:lnB>
                    <a:solidFill>
                      <a:srgbClr val="F4F6FB"/>
                    </a:solidFill>
                  </a:tcPr>
                </a:tc>
                <a:tc>
                  <a:txBody>
                    <a:bodyPr/>
                    <a:lstStyle/>
                    <a:p>
                      <a:pPr indent="0" marL="0">
                        <a:buNone/>
                      </a:pPr>
                      <a:r>
                        <a:rPr lang="en-US" sz="950" dirty="0">
                          <a:solidFill>
                            <a:srgbClr val="16181D"/>
                          </a:solidFill>
                          <a:latin typeface="Montserrat" pitchFamily="34" charset="0"/>
                          <a:ea typeface="Montserrat" pitchFamily="34" charset="-122"/>
                          <a:cs typeface="Montserrat" pitchFamily="34" charset="-120"/>
                        </a:rPr>
                        <a:t>country mentions in text</a:t>
                      </a:r>
                      <a:endParaRPr lang="en-US" sz="950" dirty="0">
                        <a:latin typeface="Montserrat" charset="0"/>
                        <a:ea typeface="Montserrat" charset="0"/>
                        <a:cs typeface="Montserrat" charset="0"/>
                      </a:endParaRPr>
                    </a:p>
                  </a:txBody>
                  <a:tcPr marL="91440" marR="91440" marT="45720" marB="45720" anchor="ctr">
                    <a:lnL w="12700" cap="flat" cmpd="sng" algn="ctr">
                      <a:solidFill>
                        <a:srgbClr val="DCE2EF"/>
                      </a:solidFill>
                      <a:prstDash val="solid"/>
                      <a:round/>
                      <a:headEnd type="none" w="med" len="med"/>
                      <a:tailEnd type="none" w="med" len="med"/>
                    </a:lnL>
                    <a:lnR w="12700" cap="flat" cmpd="sng" algn="ctr">
                      <a:solidFill>
                        <a:srgbClr val="DCE2EF"/>
                      </a:solidFill>
                      <a:prstDash val="solid"/>
                      <a:round/>
                      <a:headEnd type="none" w="med" len="med"/>
                      <a:tailEnd type="none" w="med" len="med"/>
                    </a:lnR>
                    <a:lnT w="12700" cap="flat" cmpd="sng" algn="ctr">
                      <a:solidFill>
                        <a:srgbClr val="DCE2EF"/>
                      </a:solidFill>
                      <a:prstDash val="solid"/>
                      <a:round/>
                      <a:headEnd type="none" w="med" len="med"/>
                      <a:tailEnd type="none" w="med" len="med"/>
                    </a:lnT>
                    <a:lnB w="12700" cap="flat" cmpd="sng" algn="ctr">
                      <a:solidFill>
                        <a:srgbClr val="DCE2EF"/>
                      </a:solidFill>
                      <a:prstDash val="solid"/>
                      <a:round/>
                      <a:headEnd type="none" w="med" len="med"/>
                      <a:tailEnd type="none" w="med" len="med"/>
                    </a:lnB>
                    <a:solidFill>
                      <a:srgbClr val="F4F6FB"/>
                    </a:solidFill>
                  </a:tcPr>
                </a:tc>
                <a:tc>
                  <a:txBody>
                    <a:bodyPr/>
                    <a:lstStyle/>
                    <a:p>
                      <a:pPr indent="0" marL="0">
                        <a:buNone/>
                      </a:pPr>
                      <a:r>
                        <a:rPr lang="en-US" sz="950" dirty="0">
                          <a:solidFill>
                            <a:srgbClr val="16181D"/>
                          </a:solidFill>
                          <a:latin typeface="Montserrat" pitchFamily="34" charset="0"/>
                          <a:ea typeface="Montserrat" pitchFamily="34" charset="-122"/>
                          <a:cs typeface="Montserrat" pitchFamily="34" charset="-120"/>
                        </a:rPr>
                        <a:t>4 / 8 / 16 sentences</a:t>
                      </a:r>
                      <a:endParaRPr lang="en-US" sz="950" dirty="0">
                        <a:latin typeface="Montserrat" charset="0"/>
                        <a:ea typeface="Montserrat" charset="0"/>
                        <a:cs typeface="Montserrat" charset="0"/>
                      </a:endParaRPr>
                    </a:p>
                  </a:txBody>
                  <a:tcPr marL="91440" marR="91440" marT="45720" marB="45720" anchor="ctr">
                    <a:lnL w="12700" cap="flat" cmpd="sng" algn="ctr">
                      <a:solidFill>
                        <a:srgbClr val="DCE2EF"/>
                      </a:solidFill>
                      <a:prstDash val="solid"/>
                      <a:round/>
                      <a:headEnd type="none" w="med" len="med"/>
                      <a:tailEnd type="none" w="med" len="med"/>
                    </a:lnL>
                    <a:lnR w="12700" cap="flat" cmpd="sng" algn="ctr">
                      <a:solidFill>
                        <a:srgbClr val="DCE2EF"/>
                      </a:solidFill>
                      <a:prstDash val="solid"/>
                      <a:round/>
                      <a:headEnd type="none" w="med" len="med"/>
                      <a:tailEnd type="none" w="med" len="med"/>
                    </a:lnR>
                    <a:lnT w="12700" cap="flat" cmpd="sng" algn="ctr">
                      <a:solidFill>
                        <a:srgbClr val="DCE2EF"/>
                      </a:solidFill>
                      <a:prstDash val="solid"/>
                      <a:round/>
                      <a:headEnd type="none" w="med" len="med"/>
                      <a:tailEnd type="none" w="med" len="med"/>
                    </a:lnT>
                    <a:lnB w="12700" cap="flat" cmpd="sng" algn="ctr">
                      <a:solidFill>
                        <a:srgbClr val="DCE2EF"/>
                      </a:solidFill>
                      <a:prstDash val="solid"/>
                      <a:round/>
                      <a:headEnd type="none" w="med" len="med"/>
                      <a:tailEnd type="none" w="med" len="med"/>
                    </a:lnB>
                    <a:solidFill>
                      <a:srgbClr val="F4F6FB"/>
                    </a:solidFill>
                  </a:tcPr>
                </a:tc>
                <a:tc>
                  <a:txBody>
                    <a:bodyPr/>
                    <a:lstStyle/>
                    <a:p>
                      <a:pPr indent="0" marL="0">
                        <a:buNone/>
                      </a:pPr>
                      <a:r>
                        <a:rPr lang="en-US" sz="950" dirty="0">
                          <a:solidFill>
                            <a:srgbClr val="16181D"/>
                          </a:solidFill>
                          <a:latin typeface="Montserrat" pitchFamily="34" charset="0"/>
                          <a:ea typeface="Montserrat" pitchFamily="34" charset="-122"/>
                          <a:cs typeface="Montserrat" pitchFamily="34" charset="-120"/>
                        </a:rPr>
                        <a:t>-</a:t>
                      </a:r>
                      <a:endParaRPr lang="en-US" sz="950" dirty="0">
                        <a:latin typeface="Montserrat" charset="0"/>
                        <a:ea typeface="Montserrat" charset="0"/>
                        <a:cs typeface="Montserrat" charset="0"/>
                      </a:endParaRPr>
                    </a:p>
                  </a:txBody>
                  <a:tcPr marL="91440" marR="91440" marT="45720" marB="45720" anchor="ctr">
                    <a:lnL w="12700" cap="flat" cmpd="sng" algn="ctr">
                      <a:solidFill>
                        <a:srgbClr val="DCE2EF"/>
                      </a:solidFill>
                      <a:prstDash val="solid"/>
                      <a:round/>
                      <a:headEnd type="none" w="med" len="med"/>
                      <a:tailEnd type="none" w="med" len="med"/>
                    </a:lnL>
                    <a:lnR w="12700" cap="flat" cmpd="sng" algn="ctr">
                      <a:solidFill>
                        <a:srgbClr val="DCE2EF"/>
                      </a:solidFill>
                      <a:prstDash val="solid"/>
                      <a:round/>
                      <a:headEnd type="none" w="med" len="med"/>
                      <a:tailEnd type="none" w="med" len="med"/>
                    </a:lnR>
                    <a:lnT w="12700" cap="flat" cmpd="sng" algn="ctr">
                      <a:solidFill>
                        <a:srgbClr val="DCE2EF"/>
                      </a:solidFill>
                      <a:prstDash val="solid"/>
                      <a:round/>
                      <a:headEnd type="none" w="med" len="med"/>
                      <a:tailEnd type="none" w="med" len="med"/>
                    </a:lnT>
                    <a:lnB w="12700" cap="flat" cmpd="sng" algn="ctr">
                      <a:solidFill>
                        <a:srgbClr val="DCE2EF"/>
                      </a:solidFill>
                      <a:prstDash val="solid"/>
                      <a:round/>
                      <a:headEnd type="none" w="med" len="med"/>
                      <a:tailEnd type="none" w="med" len="med"/>
                    </a:lnB>
                    <a:solidFill>
                      <a:srgbClr val="F4F6FB"/>
                    </a:solidFill>
                  </a:tcPr>
                </a:tc>
              </a:tr>
              <a:tr h="347472">
                <a:tc>
                  <a:txBody>
                    <a:bodyPr/>
                    <a:lstStyle/>
                    <a:p>
                      <a:pPr indent="0" marL="0">
                        <a:buNone/>
                      </a:pPr>
                      <a:r>
                        <a:rPr lang="en-US" sz="950" b="1" dirty="0">
                          <a:solidFill>
                            <a:srgbClr val="16181D"/>
                          </a:solidFill>
                          <a:latin typeface="Montserrat" pitchFamily="34" charset="0"/>
                          <a:ea typeface="Montserrat" pitchFamily="34" charset="-122"/>
                          <a:cs typeface="Montserrat" pitchFamily="34" charset="-120"/>
                        </a:rPr>
                        <a:t>Document merging</a:t>
                      </a:r>
                      <a:endParaRPr lang="en-US" sz="950" dirty="0">
                        <a:latin typeface="Montserrat" charset="0"/>
                        <a:ea typeface="Montserrat" charset="0"/>
                        <a:cs typeface="Montserrat" charset="0"/>
                      </a:endParaRPr>
                    </a:p>
                  </a:txBody>
                  <a:tcPr marL="91440" marR="91440" marT="45720" marB="45720" anchor="ctr">
                    <a:lnL w="12700" cap="flat" cmpd="sng" algn="ctr">
                      <a:solidFill>
                        <a:srgbClr val="DCE2EF"/>
                      </a:solidFill>
                      <a:prstDash val="solid"/>
                      <a:round/>
                      <a:headEnd type="none" w="med" len="med"/>
                      <a:tailEnd type="none" w="med" len="med"/>
                    </a:lnL>
                    <a:lnR w="12700" cap="flat" cmpd="sng" algn="ctr">
                      <a:solidFill>
                        <a:srgbClr val="DCE2EF"/>
                      </a:solidFill>
                      <a:prstDash val="solid"/>
                      <a:round/>
                      <a:headEnd type="none" w="med" len="med"/>
                      <a:tailEnd type="none" w="med" len="med"/>
                    </a:lnR>
                    <a:lnT w="12700" cap="flat" cmpd="sng" algn="ctr">
                      <a:solidFill>
                        <a:srgbClr val="DCE2EF"/>
                      </a:solidFill>
                      <a:prstDash val="solid"/>
                      <a:round/>
                      <a:headEnd type="none" w="med" len="med"/>
                      <a:tailEnd type="none" w="med" len="med"/>
                    </a:lnT>
                    <a:lnB w="12700" cap="flat" cmpd="sng" algn="ctr">
                      <a:solidFill>
                        <a:srgbClr val="DCE2EF"/>
                      </a:solidFill>
                      <a:prstDash val="solid"/>
                      <a:round/>
                      <a:headEnd type="none" w="med" len="med"/>
                      <a:tailEnd type="none" w="med" len="med"/>
                    </a:lnB>
                    <a:solidFill>
                      <a:srgbClr val="FFFFFF"/>
                    </a:solidFill>
                  </a:tcPr>
                </a:tc>
                <a:tc>
                  <a:txBody>
                    <a:bodyPr/>
                    <a:lstStyle/>
                    <a:p>
                      <a:pPr indent="0" marL="0">
                        <a:buNone/>
                      </a:pPr>
                      <a:r>
                        <a:rPr lang="en-US" sz="950" dirty="0">
                          <a:solidFill>
                            <a:srgbClr val="16181D"/>
                          </a:solidFill>
                          <a:latin typeface="Montserrat" pitchFamily="34" charset="0"/>
                          <a:ea typeface="Montserrat" pitchFamily="34" charset="-122"/>
                          <a:cs typeface="Montserrat" pitchFamily="34" charset="-120"/>
                        </a:rPr>
                        <a:t>overlapping NDA documents</a:t>
                      </a:r>
                      <a:endParaRPr lang="en-US" sz="950" dirty="0">
                        <a:latin typeface="Montserrat" charset="0"/>
                        <a:ea typeface="Montserrat" charset="0"/>
                        <a:cs typeface="Montserrat" charset="0"/>
                      </a:endParaRPr>
                    </a:p>
                  </a:txBody>
                  <a:tcPr marL="91440" marR="91440" marT="45720" marB="45720" anchor="ctr">
                    <a:lnL w="12700" cap="flat" cmpd="sng" algn="ctr">
                      <a:solidFill>
                        <a:srgbClr val="DCE2EF"/>
                      </a:solidFill>
                      <a:prstDash val="solid"/>
                      <a:round/>
                      <a:headEnd type="none" w="med" len="med"/>
                      <a:tailEnd type="none" w="med" len="med"/>
                    </a:lnL>
                    <a:lnR w="12700" cap="flat" cmpd="sng" algn="ctr">
                      <a:solidFill>
                        <a:srgbClr val="DCE2EF"/>
                      </a:solidFill>
                      <a:prstDash val="solid"/>
                      <a:round/>
                      <a:headEnd type="none" w="med" len="med"/>
                      <a:tailEnd type="none" w="med" len="med"/>
                    </a:lnR>
                    <a:lnT w="12700" cap="flat" cmpd="sng" algn="ctr">
                      <a:solidFill>
                        <a:srgbClr val="DCE2EF"/>
                      </a:solidFill>
                      <a:prstDash val="solid"/>
                      <a:round/>
                      <a:headEnd type="none" w="med" len="med"/>
                      <a:tailEnd type="none" w="med" len="med"/>
                    </a:lnT>
                    <a:lnB w="12700" cap="flat" cmpd="sng" algn="ctr">
                      <a:solidFill>
                        <a:srgbClr val="DCE2EF"/>
                      </a:solidFill>
                      <a:prstDash val="solid"/>
                      <a:round/>
                      <a:headEnd type="none" w="med" len="med"/>
                      <a:tailEnd type="none" w="med" len="med"/>
                    </a:lnB>
                    <a:solidFill>
                      <a:srgbClr val="FFFFFF"/>
                    </a:solidFill>
                  </a:tcPr>
                </a:tc>
                <a:tc>
                  <a:txBody>
                    <a:bodyPr/>
                    <a:lstStyle/>
                    <a:p>
                      <a:pPr indent="0" marL="0">
                        <a:buNone/>
                      </a:pPr>
                      <a:r>
                        <a:rPr lang="en-US" sz="950" dirty="0">
                          <a:solidFill>
                            <a:srgbClr val="16181D"/>
                          </a:solidFill>
                          <a:latin typeface="Montserrat" pitchFamily="34" charset="0"/>
                          <a:ea typeface="Montserrat" pitchFamily="34" charset="-122"/>
                          <a:cs typeface="Montserrat" pitchFamily="34" charset="-120"/>
                        </a:rPr>
                        <a:t>4 documents</a:t>
                      </a:r>
                      <a:endParaRPr lang="en-US" sz="950" dirty="0">
                        <a:latin typeface="Montserrat" charset="0"/>
                        <a:ea typeface="Montserrat" charset="0"/>
                        <a:cs typeface="Montserrat" charset="0"/>
                      </a:endParaRPr>
                    </a:p>
                  </a:txBody>
                  <a:tcPr marL="91440" marR="91440" marT="45720" marB="45720" anchor="ctr">
                    <a:lnL w="12700" cap="flat" cmpd="sng" algn="ctr">
                      <a:solidFill>
                        <a:srgbClr val="DCE2EF"/>
                      </a:solidFill>
                      <a:prstDash val="solid"/>
                      <a:round/>
                      <a:headEnd type="none" w="med" len="med"/>
                      <a:tailEnd type="none" w="med" len="med"/>
                    </a:lnL>
                    <a:lnR w="12700" cap="flat" cmpd="sng" algn="ctr">
                      <a:solidFill>
                        <a:srgbClr val="DCE2EF"/>
                      </a:solidFill>
                      <a:prstDash val="solid"/>
                      <a:round/>
                      <a:headEnd type="none" w="med" len="med"/>
                      <a:tailEnd type="none" w="med" len="med"/>
                    </a:lnR>
                    <a:lnT w="12700" cap="flat" cmpd="sng" algn="ctr">
                      <a:solidFill>
                        <a:srgbClr val="DCE2EF"/>
                      </a:solidFill>
                      <a:prstDash val="solid"/>
                      <a:round/>
                      <a:headEnd type="none" w="med" len="med"/>
                      <a:tailEnd type="none" w="med" len="med"/>
                    </a:lnT>
                    <a:lnB w="12700" cap="flat" cmpd="sng" algn="ctr">
                      <a:solidFill>
                        <a:srgbClr val="DCE2EF"/>
                      </a:solidFill>
                      <a:prstDash val="solid"/>
                      <a:round/>
                      <a:headEnd type="none" w="med" len="med"/>
                      <a:tailEnd type="none" w="med" len="med"/>
                    </a:lnB>
                    <a:solidFill>
                      <a:srgbClr val="FFFFFF"/>
                    </a:solidFill>
                  </a:tcPr>
                </a:tc>
                <a:tc>
                  <a:txBody>
                    <a:bodyPr/>
                    <a:lstStyle/>
                    <a:p>
                      <a:pPr indent="0" marL="0">
                        <a:buNone/>
                      </a:pPr>
                      <a:r>
                        <a:rPr lang="en-US" sz="950" dirty="0">
                          <a:solidFill>
                            <a:srgbClr val="16181D"/>
                          </a:solidFill>
                          <a:latin typeface="Montserrat" pitchFamily="34" charset="0"/>
                          <a:ea typeface="Montserrat" pitchFamily="34" charset="-122"/>
                          <a:cs typeface="Montserrat" pitchFamily="34" charset="-120"/>
                        </a:rPr>
                        <a:t>-</a:t>
                      </a:r>
                      <a:endParaRPr lang="en-US" sz="950" dirty="0">
                        <a:latin typeface="Montserrat" charset="0"/>
                        <a:ea typeface="Montserrat" charset="0"/>
                        <a:cs typeface="Montserrat" charset="0"/>
                      </a:endParaRPr>
                    </a:p>
                  </a:txBody>
                  <a:tcPr marL="91440" marR="91440" marT="45720" marB="45720" anchor="ctr">
                    <a:lnL w="12700" cap="flat" cmpd="sng" algn="ctr">
                      <a:solidFill>
                        <a:srgbClr val="DCE2EF"/>
                      </a:solidFill>
                      <a:prstDash val="solid"/>
                      <a:round/>
                      <a:headEnd type="none" w="med" len="med"/>
                      <a:tailEnd type="none" w="med" len="med"/>
                    </a:lnL>
                    <a:lnR w="12700" cap="flat" cmpd="sng" algn="ctr">
                      <a:solidFill>
                        <a:srgbClr val="DCE2EF"/>
                      </a:solidFill>
                      <a:prstDash val="solid"/>
                      <a:round/>
                      <a:headEnd type="none" w="med" len="med"/>
                      <a:tailEnd type="none" w="med" len="med"/>
                    </a:lnR>
                    <a:lnT w="12700" cap="flat" cmpd="sng" algn="ctr">
                      <a:solidFill>
                        <a:srgbClr val="DCE2EF"/>
                      </a:solidFill>
                      <a:prstDash val="solid"/>
                      <a:round/>
                      <a:headEnd type="none" w="med" len="med"/>
                      <a:tailEnd type="none" w="med" len="med"/>
                    </a:lnT>
                    <a:lnB w="12700" cap="flat" cmpd="sng" algn="ctr">
                      <a:solidFill>
                        <a:srgbClr val="DCE2EF"/>
                      </a:solidFill>
                      <a:prstDash val="solid"/>
                      <a:round/>
                      <a:headEnd type="none" w="med" len="med"/>
                      <a:tailEnd type="none" w="med" len="med"/>
                    </a:lnB>
                    <a:solidFill>
                      <a:srgbClr val="FFFFFF"/>
                    </a:solidFill>
                  </a:tcPr>
                </a:tc>
              </a:tr>
            </a:tbl>
          </a:graphicData>
        </a:graphic>
      </p:graphicFrame>
      <p:sp>
        <p:nvSpPr>
          <p:cNvPr id="12" name="Text 9"/>
          <p:cNvSpPr txBox="1"/>
          <p:nvPr/>
        </p:nvSpPr>
        <p:spPr>
          <a:xfrm>
            <a:off x="685800" y="3291840"/>
            <a:ext cx="6766560" cy="411480"/>
          </a:xfrm>
          <a:prstGeom prst="rect">
            <a:avLst/>
          </a:prstGeom>
          <a:noFill/>
          <a:ln/>
        </p:spPr>
        <p:txBody>
          <a:bodyPr wrap="square" lIns="0" tIns="0" rIns="0" bIns="0" rtlCol="0" anchor="ctr"/>
          <a:lstStyle/>
          <a:p>
            <a:pPr indent="0" marL="0">
              <a:buNone/>
            </a:pPr>
            <a:r>
              <a:rPr lang="en-US" sz="1000" i="1" dirty="0">
                <a:solidFill>
                  <a:srgbClr val="63697A"/>
                </a:solidFill>
                <a:latin typeface="Montserrat" pitchFamily="34" charset="0"/>
                <a:ea typeface="Montserrat" pitchFamily="34" charset="-122"/>
                <a:cs typeface="Montserrat" pitchFamily="34" charset="-120"/>
              </a:rPr>
              <a:t>Run on the authors' own published CSV files, byte for byte - eliminating differing random data as an explanation for any discrepancy.</a:t>
            </a:r>
            <a:endParaRPr lang="en-US" sz="1000" dirty="0"/>
          </a:p>
        </p:txBody>
      </p:sp>
      <p:sp>
        <p:nvSpPr>
          <p:cNvPr id="13" name="Text 10"/>
          <p:cNvSpPr txBox="1"/>
          <p:nvPr/>
        </p:nvSpPr>
        <p:spPr>
          <a:xfrm>
            <a:off x="685800" y="3794760"/>
            <a:ext cx="6766560" cy="310896"/>
          </a:xfrm>
          <a:prstGeom prst="rect">
            <a:avLst/>
          </a:prstGeom>
          <a:noFill/>
          <a:ln/>
        </p:spPr>
        <p:txBody>
          <a:bodyPr wrap="square" lIns="0" tIns="0" rIns="0" bIns="0" rtlCol="0" anchor="ctr"/>
          <a:lstStyle/>
          <a:p>
            <a:pPr indent="0" marL="0">
              <a:buNone/>
            </a:pPr>
            <a:r>
              <a:rPr lang="en-US" sz="1450" b="1" dirty="0">
                <a:solidFill>
                  <a:srgbClr val="23408E"/>
                </a:solidFill>
                <a:latin typeface="Montserrat" pitchFamily="34" charset="0"/>
                <a:ea typeface="Montserrat" pitchFamily="34" charset="-122"/>
                <a:cs typeface="Montserrat" pitchFamily="34" charset="-120"/>
              </a:rPr>
              <a:t>4) Models and infrastructure</a:t>
            </a:r>
            <a:endParaRPr lang="en-US" sz="1450" dirty="0"/>
          </a:p>
        </p:txBody>
      </p:sp>
      <p:graphicFrame>
        <p:nvGraphicFramePr>
          <p:cNvPr id="19" name="Table 1"/>
          <p:cNvGraphicFramePr>
            <a:graphicFrameLocks noGrp="1"/>
          </p:cNvGraphicFramePr>
          <p:nvPr>
            <p:extLst>
              <p:ext uri="{D42A27DB-BD31-4B8C-83A1-F6EECF244321}">
                <p14:modId xmlns:p14="http://schemas.microsoft.com/office/powerpoint/2010/main" val="1579011935"/>
              </p:ext>
            </p:extLst>
          </p:nvPr>
        </p:nvGraphicFramePr>
        <p:xfrm>
          <a:off x="685800" y="4160520"/>
          <a:ext cx="6766560" cy="914400"/>
        </p:xfrm>
        <a:graphic>
          <a:graphicData uri="http://schemas.openxmlformats.org/drawingml/2006/table">
            <a:tbl>
              <a:tblPr/>
              <a:tblGrid>
                <a:gridCol w="1234440"/>
                <a:gridCol w="2788920"/>
                <a:gridCol w="2743200"/>
              </a:tblGrid>
              <a:tr h="347472">
                <a:tc>
                  <a:txBody>
                    <a:bodyPr/>
                    <a:lstStyle/>
                    <a:p>
                      <a:pPr indent="0" marL="0">
                        <a:buNone/>
                      </a:pPr>
                      <a:endParaRPr lang="en-US" sz="950" dirty="0">
                        <a:latin typeface="Montserrat" charset="0"/>
                        <a:ea typeface="Montserrat" charset="0"/>
                        <a:cs typeface="Montserrat" charset="0"/>
                      </a:endParaRPr>
                    </a:p>
                  </a:txBody>
                  <a:tcPr marL="91440" marR="91440" marT="45720" marB="45720" anchor="ctr">
                    <a:lnL w="12700" cap="flat" cmpd="sng" algn="ctr">
                      <a:solidFill>
                        <a:srgbClr val="DCE2EF"/>
                      </a:solidFill>
                      <a:prstDash val="solid"/>
                      <a:round/>
                      <a:headEnd type="none" w="med" len="med"/>
                      <a:tailEnd type="none" w="med" len="med"/>
                    </a:lnL>
                    <a:lnR w="12700" cap="flat" cmpd="sng" algn="ctr">
                      <a:solidFill>
                        <a:srgbClr val="DCE2EF"/>
                      </a:solidFill>
                      <a:prstDash val="solid"/>
                      <a:round/>
                      <a:headEnd type="none" w="med" len="med"/>
                      <a:tailEnd type="none" w="med" len="med"/>
                    </a:lnR>
                    <a:lnT w="12700" cap="flat" cmpd="sng" algn="ctr">
                      <a:solidFill>
                        <a:srgbClr val="DCE2EF"/>
                      </a:solidFill>
                      <a:prstDash val="solid"/>
                      <a:round/>
                      <a:headEnd type="none" w="med" len="med"/>
                      <a:tailEnd type="none" w="med" len="med"/>
                    </a:lnT>
                    <a:lnB w="12700" cap="flat" cmpd="sng" algn="ctr">
                      <a:solidFill>
                        <a:srgbClr val="DCE2EF"/>
                      </a:solidFill>
                      <a:prstDash val="solid"/>
                      <a:round/>
                      <a:headEnd type="none" w="med" len="med"/>
                      <a:tailEnd type="none" w="med" len="med"/>
                    </a:lnB>
                    <a:solidFill>
                      <a:srgbClr val="23408E"/>
                    </a:solidFill>
                  </a:tcPr>
                </a:tc>
                <a:tc>
                  <a:txBody>
                    <a:bodyPr/>
                    <a:lstStyle/>
                    <a:p>
                      <a:pPr indent="0" marL="0">
                        <a:buNone/>
                      </a:pPr>
                      <a:r>
                        <a:rPr lang="en-US" sz="950" b="1" dirty="0">
                          <a:solidFill>
                            <a:srgbClr val="FFFFFF"/>
                          </a:solidFill>
                          <a:latin typeface="Montserrat" pitchFamily="34" charset="0"/>
                          <a:ea typeface="Montserrat" pitchFamily="34" charset="-122"/>
                          <a:cs typeface="Montserrat" pitchFamily="34" charset="-120"/>
                        </a:rPr>
                        <a:t>Original paper</a:t>
                      </a:r>
                      <a:endParaRPr lang="en-US" sz="950" dirty="0">
                        <a:latin typeface="Montserrat" charset="0"/>
                        <a:ea typeface="Montserrat" charset="0"/>
                        <a:cs typeface="Montserrat" charset="0"/>
                      </a:endParaRPr>
                    </a:p>
                  </a:txBody>
                  <a:tcPr marL="91440" marR="91440" marT="45720" marB="45720" anchor="ctr">
                    <a:lnL w="12700" cap="flat" cmpd="sng" algn="ctr">
                      <a:solidFill>
                        <a:srgbClr val="DCE2EF"/>
                      </a:solidFill>
                      <a:prstDash val="solid"/>
                      <a:round/>
                      <a:headEnd type="none" w="med" len="med"/>
                      <a:tailEnd type="none" w="med" len="med"/>
                    </a:lnL>
                    <a:lnR w="12700" cap="flat" cmpd="sng" algn="ctr">
                      <a:solidFill>
                        <a:srgbClr val="DCE2EF"/>
                      </a:solidFill>
                      <a:prstDash val="solid"/>
                      <a:round/>
                      <a:headEnd type="none" w="med" len="med"/>
                      <a:tailEnd type="none" w="med" len="med"/>
                    </a:lnR>
                    <a:lnT w="12700" cap="flat" cmpd="sng" algn="ctr">
                      <a:solidFill>
                        <a:srgbClr val="DCE2EF"/>
                      </a:solidFill>
                      <a:prstDash val="solid"/>
                      <a:round/>
                      <a:headEnd type="none" w="med" len="med"/>
                      <a:tailEnd type="none" w="med" len="med"/>
                    </a:lnT>
                    <a:lnB w="12700" cap="flat" cmpd="sng" algn="ctr">
                      <a:solidFill>
                        <a:srgbClr val="DCE2EF"/>
                      </a:solidFill>
                      <a:prstDash val="solid"/>
                      <a:round/>
                      <a:headEnd type="none" w="med" len="med"/>
                      <a:tailEnd type="none" w="med" len="med"/>
                    </a:lnB>
                    <a:solidFill>
                      <a:srgbClr val="23408E"/>
                    </a:solidFill>
                  </a:tcPr>
                </a:tc>
                <a:tc>
                  <a:txBody>
                    <a:bodyPr/>
                    <a:lstStyle/>
                    <a:p>
                      <a:pPr indent="0" marL="0">
                        <a:buNone/>
                      </a:pPr>
                      <a:r>
                        <a:rPr lang="en-US" sz="950" b="1" dirty="0">
                          <a:solidFill>
                            <a:srgbClr val="FFFFFF"/>
                          </a:solidFill>
                          <a:latin typeface="Montserrat" pitchFamily="34" charset="0"/>
                          <a:ea typeface="Montserrat" pitchFamily="34" charset="-122"/>
                          <a:cs typeface="Montserrat" pitchFamily="34" charset="-120"/>
                        </a:rPr>
                        <a:t>This work</a:t>
                      </a:r>
                      <a:endParaRPr lang="en-US" sz="950" dirty="0">
                        <a:latin typeface="Montserrat" charset="0"/>
                        <a:ea typeface="Montserrat" charset="0"/>
                        <a:cs typeface="Montserrat" charset="0"/>
                      </a:endParaRPr>
                    </a:p>
                  </a:txBody>
                  <a:tcPr marL="91440" marR="91440" marT="45720" marB="45720" anchor="ctr">
                    <a:lnL w="12700" cap="flat" cmpd="sng" algn="ctr">
                      <a:solidFill>
                        <a:srgbClr val="DCE2EF"/>
                      </a:solidFill>
                      <a:prstDash val="solid"/>
                      <a:round/>
                      <a:headEnd type="none" w="med" len="med"/>
                      <a:tailEnd type="none" w="med" len="med"/>
                    </a:lnL>
                    <a:lnR w="12700" cap="flat" cmpd="sng" algn="ctr">
                      <a:solidFill>
                        <a:srgbClr val="DCE2EF"/>
                      </a:solidFill>
                      <a:prstDash val="solid"/>
                      <a:round/>
                      <a:headEnd type="none" w="med" len="med"/>
                      <a:tailEnd type="none" w="med" len="med"/>
                    </a:lnR>
                    <a:lnT w="12700" cap="flat" cmpd="sng" algn="ctr">
                      <a:solidFill>
                        <a:srgbClr val="DCE2EF"/>
                      </a:solidFill>
                      <a:prstDash val="solid"/>
                      <a:round/>
                      <a:headEnd type="none" w="med" len="med"/>
                      <a:tailEnd type="none" w="med" len="med"/>
                    </a:lnT>
                    <a:lnB w="12700" cap="flat" cmpd="sng" algn="ctr">
                      <a:solidFill>
                        <a:srgbClr val="DCE2EF"/>
                      </a:solidFill>
                      <a:prstDash val="solid"/>
                      <a:round/>
                      <a:headEnd type="none" w="med" len="med"/>
                      <a:tailEnd type="none" w="med" len="med"/>
                    </a:lnB>
                    <a:solidFill>
                      <a:srgbClr val="23408E"/>
                    </a:solidFill>
                  </a:tcPr>
                </a:tc>
              </a:tr>
              <a:tr h="347472">
                <a:tc>
                  <a:txBody>
                    <a:bodyPr/>
                    <a:lstStyle/>
                    <a:p>
                      <a:pPr indent="0" marL="0">
                        <a:buNone/>
                      </a:pPr>
                      <a:r>
                        <a:rPr lang="en-US" sz="950" b="1" dirty="0">
                          <a:solidFill>
                            <a:srgbClr val="16181D"/>
                          </a:solidFill>
                          <a:latin typeface="Montserrat" pitchFamily="34" charset="0"/>
                          <a:ea typeface="Montserrat" pitchFamily="34" charset="-122"/>
                          <a:cs typeface="Montserrat" pitchFamily="34" charset="-120"/>
                        </a:rPr>
                        <a:t>Model</a:t>
                      </a:r>
                      <a:endParaRPr lang="en-US" sz="950" dirty="0">
                        <a:latin typeface="Montserrat" charset="0"/>
                        <a:ea typeface="Montserrat" charset="0"/>
                        <a:cs typeface="Montserrat" charset="0"/>
                      </a:endParaRPr>
                    </a:p>
                  </a:txBody>
                  <a:tcPr marL="91440" marR="91440" marT="45720" marB="45720" anchor="ctr">
                    <a:lnL w="12700" cap="flat" cmpd="sng" algn="ctr">
                      <a:solidFill>
                        <a:srgbClr val="DCE2EF"/>
                      </a:solidFill>
                      <a:prstDash val="solid"/>
                      <a:round/>
                      <a:headEnd type="none" w="med" len="med"/>
                      <a:tailEnd type="none" w="med" len="med"/>
                    </a:lnL>
                    <a:lnR w="12700" cap="flat" cmpd="sng" algn="ctr">
                      <a:solidFill>
                        <a:srgbClr val="DCE2EF"/>
                      </a:solidFill>
                      <a:prstDash val="solid"/>
                      <a:round/>
                      <a:headEnd type="none" w="med" len="med"/>
                      <a:tailEnd type="none" w="med" len="med"/>
                    </a:lnR>
                    <a:lnT w="12700" cap="flat" cmpd="sng" algn="ctr">
                      <a:solidFill>
                        <a:srgbClr val="DCE2EF"/>
                      </a:solidFill>
                      <a:prstDash val="solid"/>
                      <a:round/>
                      <a:headEnd type="none" w="med" len="med"/>
                      <a:tailEnd type="none" w="med" len="med"/>
                    </a:lnT>
                    <a:lnB w="12700" cap="flat" cmpd="sng" algn="ctr">
                      <a:solidFill>
                        <a:srgbClr val="DCE2EF"/>
                      </a:solidFill>
                      <a:prstDash val="solid"/>
                      <a:round/>
                      <a:headEnd type="none" w="med" len="med"/>
                      <a:tailEnd type="none" w="med" len="med"/>
                    </a:lnB>
                    <a:solidFill>
                      <a:srgbClr val="F4F6FB"/>
                    </a:solidFill>
                  </a:tcPr>
                </a:tc>
                <a:tc>
                  <a:txBody>
                    <a:bodyPr/>
                    <a:lstStyle/>
                    <a:p>
                      <a:pPr indent="0" marL="0">
                        <a:buNone/>
                      </a:pPr>
                      <a:r>
                        <a:rPr lang="en-US" sz="950" dirty="0">
                          <a:solidFill>
                            <a:srgbClr val="16181D"/>
                          </a:solidFill>
                          <a:latin typeface="Montserrat" pitchFamily="34" charset="0"/>
                          <a:ea typeface="Montserrat" pitchFamily="34" charset="-122"/>
                          <a:cs typeface="Montserrat" pitchFamily="34" charset="-120"/>
                        </a:rPr>
                        <a:t>ChatGPT-3.5 (closed API)</a:t>
                      </a:r>
                      <a:endParaRPr lang="en-US" sz="950" dirty="0">
                        <a:latin typeface="Montserrat" charset="0"/>
                        <a:ea typeface="Montserrat" charset="0"/>
                        <a:cs typeface="Montserrat" charset="0"/>
                      </a:endParaRPr>
                    </a:p>
                  </a:txBody>
                  <a:tcPr marL="91440" marR="91440" marT="45720" marB="45720" anchor="ctr">
                    <a:lnL w="12700" cap="flat" cmpd="sng" algn="ctr">
                      <a:solidFill>
                        <a:srgbClr val="DCE2EF"/>
                      </a:solidFill>
                      <a:prstDash val="solid"/>
                      <a:round/>
                      <a:headEnd type="none" w="med" len="med"/>
                      <a:tailEnd type="none" w="med" len="med"/>
                    </a:lnL>
                    <a:lnR w="12700" cap="flat" cmpd="sng" algn="ctr">
                      <a:solidFill>
                        <a:srgbClr val="DCE2EF"/>
                      </a:solidFill>
                      <a:prstDash val="solid"/>
                      <a:round/>
                      <a:headEnd type="none" w="med" len="med"/>
                      <a:tailEnd type="none" w="med" len="med"/>
                    </a:lnR>
                    <a:lnT w="12700" cap="flat" cmpd="sng" algn="ctr">
                      <a:solidFill>
                        <a:srgbClr val="DCE2EF"/>
                      </a:solidFill>
                      <a:prstDash val="solid"/>
                      <a:round/>
                      <a:headEnd type="none" w="med" len="med"/>
                      <a:tailEnd type="none" w="med" len="med"/>
                    </a:lnT>
                    <a:lnB w="12700" cap="flat" cmpd="sng" algn="ctr">
                      <a:solidFill>
                        <a:srgbClr val="DCE2EF"/>
                      </a:solidFill>
                      <a:prstDash val="solid"/>
                      <a:round/>
                      <a:headEnd type="none" w="med" len="med"/>
                      <a:tailEnd type="none" w="med" len="med"/>
                    </a:lnB>
                    <a:solidFill>
                      <a:srgbClr val="F4F6FB"/>
                    </a:solidFill>
                  </a:tcPr>
                </a:tc>
                <a:tc>
                  <a:txBody>
                    <a:bodyPr/>
                    <a:lstStyle/>
                    <a:p>
                      <a:pPr indent="0" marL="0">
                        <a:buNone/>
                      </a:pPr>
                      <a:r>
                        <a:rPr lang="en-US" sz="950" dirty="0">
                          <a:solidFill>
                            <a:srgbClr val="16181D"/>
                          </a:solidFill>
                          <a:latin typeface="Montserrat" pitchFamily="34" charset="0"/>
                          <a:ea typeface="Montserrat" pitchFamily="34" charset="-122"/>
                          <a:cs typeface="Montserrat" pitchFamily="34" charset="-120"/>
                        </a:rPr>
                        <a:t>Qwen2.5-7B-Instruct (open)</a:t>
                      </a:r>
                      <a:endParaRPr lang="en-US" sz="950" dirty="0">
                        <a:latin typeface="Montserrat" charset="0"/>
                        <a:ea typeface="Montserrat" charset="0"/>
                        <a:cs typeface="Montserrat" charset="0"/>
                      </a:endParaRPr>
                    </a:p>
                  </a:txBody>
                  <a:tcPr marL="91440" marR="91440" marT="45720" marB="45720" anchor="ctr">
                    <a:lnL w="12700" cap="flat" cmpd="sng" algn="ctr">
                      <a:solidFill>
                        <a:srgbClr val="DCE2EF"/>
                      </a:solidFill>
                      <a:prstDash val="solid"/>
                      <a:round/>
                      <a:headEnd type="none" w="med" len="med"/>
                      <a:tailEnd type="none" w="med" len="med"/>
                    </a:lnL>
                    <a:lnR w="12700" cap="flat" cmpd="sng" algn="ctr">
                      <a:solidFill>
                        <a:srgbClr val="DCE2EF"/>
                      </a:solidFill>
                      <a:prstDash val="solid"/>
                      <a:round/>
                      <a:headEnd type="none" w="med" len="med"/>
                      <a:tailEnd type="none" w="med" len="med"/>
                    </a:lnR>
                    <a:lnT w="12700" cap="flat" cmpd="sng" algn="ctr">
                      <a:solidFill>
                        <a:srgbClr val="DCE2EF"/>
                      </a:solidFill>
                      <a:prstDash val="solid"/>
                      <a:round/>
                      <a:headEnd type="none" w="med" len="med"/>
                      <a:tailEnd type="none" w="med" len="med"/>
                    </a:lnT>
                    <a:lnB w="12700" cap="flat" cmpd="sng" algn="ctr">
                      <a:solidFill>
                        <a:srgbClr val="DCE2EF"/>
                      </a:solidFill>
                      <a:prstDash val="solid"/>
                      <a:round/>
                      <a:headEnd type="none" w="med" len="med"/>
                      <a:tailEnd type="none" w="med" len="med"/>
                    </a:lnB>
                    <a:solidFill>
                      <a:srgbClr val="F4F6FB"/>
                    </a:solidFill>
                  </a:tcPr>
                </a:tc>
              </a:tr>
              <a:tr h="347472">
                <a:tc>
                  <a:txBody>
                    <a:bodyPr/>
                    <a:lstStyle/>
                    <a:p>
                      <a:pPr indent="0" marL="0">
                        <a:buNone/>
                      </a:pPr>
                      <a:r>
                        <a:rPr lang="en-US" sz="950" b="1" dirty="0">
                          <a:solidFill>
                            <a:srgbClr val="16181D"/>
                          </a:solidFill>
                          <a:latin typeface="Montserrat" pitchFamily="34" charset="0"/>
                          <a:ea typeface="Montserrat" pitchFamily="34" charset="-122"/>
                          <a:cs typeface="Montserrat" pitchFamily="34" charset="-120"/>
                        </a:rPr>
                        <a:t>Serving</a:t>
                      </a:r>
                      <a:endParaRPr lang="en-US" sz="950" dirty="0">
                        <a:latin typeface="Montserrat" charset="0"/>
                        <a:ea typeface="Montserrat" charset="0"/>
                        <a:cs typeface="Montserrat" charset="0"/>
                      </a:endParaRPr>
                    </a:p>
                  </a:txBody>
                  <a:tcPr marL="91440" marR="91440" marT="45720" marB="45720" anchor="ctr">
                    <a:lnL w="12700" cap="flat" cmpd="sng" algn="ctr">
                      <a:solidFill>
                        <a:srgbClr val="DCE2EF"/>
                      </a:solidFill>
                      <a:prstDash val="solid"/>
                      <a:round/>
                      <a:headEnd type="none" w="med" len="med"/>
                      <a:tailEnd type="none" w="med" len="med"/>
                    </a:lnL>
                    <a:lnR w="12700" cap="flat" cmpd="sng" algn="ctr">
                      <a:solidFill>
                        <a:srgbClr val="DCE2EF"/>
                      </a:solidFill>
                      <a:prstDash val="solid"/>
                      <a:round/>
                      <a:headEnd type="none" w="med" len="med"/>
                      <a:tailEnd type="none" w="med" len="med"/>
                    </a:lnR>
                    <a:lnT w="12700" cap="flat" cmpd="sng" algn="ctr">
                      <a:solidFill>
                        <a:srgbClr val="DCE2EF"/>
                      </a:solidFill>
                      <a:prstDash val="solid"/>
                      <a:round/>
                      <a:headEnd type="none" w="med" len="med"/>
                      <a:tailEnd type="none" w="med" len="med"/>
                    </a:lnT>
                    <a:lnB w="12700" cap="flat" cmpd="sng" algn="ctr">
                      <a:solidFill>
                        <a:srgbClr val="DCE2EF"/>
                      </a:solidFill>
                      <a:prstDash val="solid"/>
                      <a:round/>
                      <a:headEnd type="none" w="med" len="med"/>
                      <a:tailEnd type="none" w="med" len="med"/>
                    </a:lnB>
                    <a:solidFill>
                      <a:srgbClr val="FFFFFF"/>
                    </a:solidFill>
                  </a:tcPr>
                </a:tc>
                <a:tc>
                  <a:txBody>
                    <a:bodyPr/>
                    <a:lstStyle/>
                    <a:p>
                      <a:pPr indent="0" marL="0">
                        <a:buNone/>
                      </a:pPr>
                      <a:r>
                        <a:rPr lang="en-US" sz="950" dirty="0">
                          <a:solidFill>
                            <a:srgbClr val="16181D"/>
                          </a:solidFill>
                          <a:latin typeface="Montserrat" pitchFamily="34" charset="0"/>
                          <a:ea typeface="Montserrat" pitchFamily="34" charset="-122"/>
                          <a:cs typeface="Montserrat" pitchFamily="34" charset="-120"/>
                        </a:rPr>
                        <a:t>Vendor API</a:t>
                      </a:r>
                      <a:endParaRPr lang="en-US" sz="950" dirty="0">
                        <a:latin typeface="Montserrat" charset="0"/>
                        <a:ea typeface="Montserrat" charset="0"/>
                        <a:cs typeface="Montserrat" charset="0"/>
                      </a:endParaRPr>
                    </a:p>
                  </a:txBody>
                  <a:tcPr marL="91440" marR="91440" marT="45720" marB="45720" anchor="ctr">
                    <a:lnL w="12700" cap="flat" cmpd="sng" algn="ctr">
                      <a:solidFill>
                        <a:srgbClr val="DCE2EF"/>
                      </a:solidFill>
                      <a:prstDash val="solid"/>
                      <a:round/>
                      <a:headEnd type="none" w="med" len="med"/>
                      <a:tailEnd type="none" w="med" len="med"/>
                    </a:lnL>
                    <a:lnR w="12700" cap="flat" cmpd="sng" algn="ctr">
                      <a:solidFill>
                        <a:srgbClr val="DCE2EF"/>
                      </a:solidFill>
                      <a:prstDash val="solid"/>
                      <a:round/>
                      <a:headEnd type="none" w="med" len="med"/>
                      <a:tailEnd type="none" w="med" len="med"/>
                    </a:lnR>
                    <a:lnT w="12700" cap="flat" cmpd="sng" algn="ctr">
                      <a:solidFill>
                        <a:srgbClr val="DCE2EF"/>
                      </a:solidFill>
                      <a:prstDash val="solid"/>
                      <a:round/>
                      <a:headEnd type="none" w="med" len="med"/>
                      <a:tailEnd type="none" w="med" len="med"/>
                    </a:lnT>
                    <a:lnB w="12700" cap="flat" cmpd="sng" algn="ctr">
                      <a:solidFill>
                        <a:srgbClr val="DCE2EF"/>
                      </a:solidFill>
                      <a:prstDash val="solid"/>
                      <a:round/>
                      <a:headEnd type="none" w="med" len="med"/>
                      <a:tailEnd type="none" w="med" len="med"/>
                    </a:lnB>
                    <a:solidFill>
                      <a:srgbClr val="FFFFFF"/>
                    </a:solidFill>
                  </a:tcPr>
                </a:tc>
                <a:tc>
                  <a:txBody>
                    <a:bodyPr/>
                    <a:lstStyle/>
                    <a:p>
                      <a:pPr indent="0" marL="0">
                        <a:buNone/>
                      </a:pPr>
                      <a:r>
                        <a:rPr lang="en-US" sz="950" dirty="0">
                          <a:solidFill>
                            <a:srgbClr val="16181D"/>
                          </a:solidFill>
                          <a:latin typeface="Montserrat" pitchFamily="34" charset="0"/>
                          <a:ea typeface="Montserrat" pitchFamily="34" charset="-122"/>
                          <a:cs typeface="Montserrat" pitchFamily="34" charset="-120"/>
                        </a:rPr>
                        <a:t>vLLM on NVIDIA RTX A6000</a:t>
                      </a:r>
                      <a:endParaRPr lang="en-US" sz="950" dirty="0">
                        <a:latin typeface="Montserrat" charset="0"/>
                        <a:ea typeface="Montserrat" charset="0"/>
                        <a:cs typeface="Montserrat" charset="0"/>
                      </a:endParaRPr>
                    </a:p>
                  </a:txBody>
                  <a:tcPr marL="91440" marR="91440" marT="45720" marB="45720" anchor="ctr">
                    <a:lnL w="12700" cap="flat" cmpd="sng" algn="ctr">
                      <a:solidFill>
                        <a:srgbClr val="DCE2EF"/>
                      </a:solidFill>
                      <a:prstDash val="solid"/>
                      <a:round/>
                      <a:headEnd type="none" w="med" len="med"/>
                      <a:tailEnd type="none" w="med" len="med"/>
                    </a:lnL>
                    <a:lnR w="12700" cap="flat" cmpd="sng" algn="ctr">
                      <a:solidFill>
                        <a:srgbClr val="DCE2EF"/>
                      </a:solidFill>
                      <a:prstDash val="solid"/>
                      <a:round/>
                      <a:headEnd type="none" w="med" len="med"/>
                      <a:tailEnd type="none" w="med" len="med"/>
                    </a:lnR>
                    <a:lnT w="12700" cap="flat" cmpd="sng" algn="ctr">
                      <a:solidFill>
                        <a:srgbClr val="DCE2EF"/>
                      </a:solidFill>
                      <a:prstDash val="solid"/>
                      <a:round/>
                      <a:headEnd type="none" w="med" len="med"/>
                      <a:tailEnd type="none" w="med" len="med"/>
                    </a:lnT>
                    <a:lnB w="12700" cap="flat" cmpd="sng" algn="ctr">
                      <a:solidFill>
                        <a:srgbClr val="DCE2EF"/>
                      </a:solidFill>
                      <a:prstDash val="solid"/>
                      <a:round/>
                      <a:headEnd type="none" w="med" len="med"/>
                      <a:tailEnd type="none" w="med" len="med"/>
                    </a:lnB>
                    <a:solidFill>
                      <a:srgbClr val="FFFFFF"/>
                    </a:solidFill>
                  </a:tcPr>
                </a:tc>
              </a:tr>
              <a:tr h="347472">
                <a:tc>
                  <a:txBody>
                    <a:bodyPr/>
                    <a:lstStyle/>
                    <a:p>
                      <a:pPr indent="0" marL="0">
                        <a:buNone/>
                      </a:pPr>
                      <a:r>
                        <a:rPr lang="en-US" sz="950" b="1" dirty="0">
                          <a:solidFill>
                            <a:srgbClr val="16181D"/>
                          </a:solidFill>
                          <a:latin typeface="Montserrat" pitchFamily="34" charset="0"/>
                          <a:ea typeface="Montserrat" pitchFamily="34" charset="-122"/>
                          <a:cs typeface="Montserrat" pitchFamily="34" charset="-120"/>
                        </a:rPr>
                        <a:t>Sampling</a:t>
                      </a:r>
                      <a:endParaRPr lang="en-US" sz="950" dirty="0">
                        <a:latin typeface="Montserrat" charset="0"/>
                        <a:ea typeface="Montserrat" charset="0"/>
                        <a:cs typeface="Montserrat" charset="0"/>
                      </a:endParaRPr>
                    </a:p>
                  </a:txBody>
                  <a:tcPr marL="91440" marR="91440" marT="45720" marB="45720" anchor="ctr">
                    <a:lnL w="12700" cap="flat" cmpd="sng" algn="ctr">
                      <a:solidFill>
                        <a:srgbClr val="DCE2EF"/>
                      </a:solidFill>
                      <a:prstDash val="solid"/>
                      <a:round/>
                      <a:headEnd type="none" w="med" len="med"/>
                      <a:tailEnd type="none" w="med" len="med"/>
                    </a:lnL>
                    <a:lnR w="12700" cap="flat" cmpd="sng" algn="ctr">
                      <a:solidFill>
                        <a:srgbClr val="DCE2EF"/>
                      </a:solidFill>
                      <a:prstDash val="solid"/>
                      <a:round/>
                      <a:headEnd type="none" w="med" len="med"/>
                      <a:tailEnd type="none" w="med" len="med"/>
                    </a:lnR>
                    <a:lnT w="12700" cap="flat" cmpd="sng" algn="ctr">
                      <a:solidFill>
                        <a:srgbClr val="DCE2EF"/>
                      </a:solidFill>
                      <a:prstDash val="solid"/>
                      <a:round/>
                      <a:headEnd type="none" w="med" len="med"/>
                      <a:tailEnd type="none" w="med" len="med"/>
                    </a:lnT>
                    <a:lnB w="12700" cap="flat" cmpd="sng" algn="ctr">
                      <a:solidFill>
                        <a:srgbClr val="DCE2EF"/>
                      </a:solidFill>
                      <a:prstDash val="solid"/>
                      <a:round/>
                      <a:headEnd type="none" w="med" len="med"/>
                      <a:tailEnd type="none" w="med" len="med"/>
                    </a:lnB>
                    <a:solidFill>
                      <a:srgbClr val="F4F6FB"/>
                    </a:solidFill>
                  </a:tcPr>
                </a:tc>
                <a:tc>
                  <a:txBody>
                    <a:bodyPr/>
                    <a:lstStyle/>
                    <a:p>
                      <a:pPr indent="0" marL="0">
                        <a:buNone/>
                      </a:pPr>
                      <a:r>
                        <a:rPr lang="en-US" sz="950" dirty="0">
                          <a:solidFill>
                            <a:srgbClr val="16181D"/>
                          </a:solidFill>
                          <a:latin typeface="Montserrat" pitchFamily="34" charset="0"/>
                          <a:ea typeface="Montserrat" pitchFamily="34" charset="-122"/>
                          <a:cs typeface="Montserrat" pitchFamily="34" charset="-120"/>
                        </a:rPr>
                        <a:t>Temperature 1.0, 4k context</a:t>
                      </a:r>
                      <a:endParaRPr lang="en-US" sz="950" dirty="0">
                        <a:latin typeface="Montserrat" charset="0"/>
                        <a:ea typeface="Montserrat" charset="0"/>
                        <a:cs typeface="Montserrat" charset="0"/>
                      </a:endParaRPr>
                    </a:p>
                  </a:txBody>
                  <a:tcPr marL="91440" marR="91440" marT="45720" marB="45720" anchor="ctr">
                    <a:lnL w="12700" cap="flat" cmpd="sng" algn="ctr">
                      <a:solidFill>
                        <a:srgbClr val="DCE2EF"/>
                      </a:solidFill>
                      <a:prstDash val="solid"/>
                      <a:round/>
                      <a:headEnd type="none" w="med" len="med"/>
                      <a:tailEnd type="none" w="med" len="med"/>
                    </a:lnL>
                    <a:lnR w="12700" cap="flat" cmpd="sng" algn="ctr">
                      <a:solidFill>
                        <a:srgbClr val="DCE2EF"/>
                      </a:solidFill>
                      <a:prstDash val="solid"/>
                      <a:round/>
                      <a:headEnd type="none" w="med" len="med"/>
                      <a:tailEnd type="none" w="med" len="med"/>
                    </a:lnR>
                    <a:lnT w="12700" cap="flat" cmpd="sng" algn="ctr">
                      <a:solidFill>
                        <a:srgbClr val="DCE2EF"/>
                      </a:solidFill>
                      <a:prstDash val="solid"/>
                      <a:round/>
                      <a:headEnd type="none" w="med" len="med"/>
                      <a:tailEnd type="none" w="med" len="med"/>
                    </a:lnT>
                    <a:lnB w="12700" cap="flat" cmpd="sng" algn="ctr">
                      <a:solidFill>
                        <a:srgbClr val="DCE2EF"/>
                      </a:solidFill>
                      <a:prstDash val="solid"/>
                      <a:round/>
                      <a:headEnd type="none" w="med" len="med"/>
                      <a:tailEnd type="none" w="med" len="med"/>
                    </a:lnB>
                    <a:solidFill>
                      <a:srgbClr val="F4F6FB"/>
                    </a:solidFill>
                  </a:tcPr>
                </a:tc>
                <a:tc>
                  <a:txBody>
                    <a:bodyPr/>
                    <a:lstStyle/>
                    <a:p>
                      <a:pPr indent="0" marL="0">
                        <a:buNone/>
                      </a:pPr>
                      <a:r>
                        <a:rPr lang="en-US" sz="950" dirty="0">
                          <a:solidFill>
                            <a:srgbClr val="16181D"/>
                          </a:solidFill>
                          <a:latin typeface="Montserrat" pitchFamily="34" charset="0"/>
                          <a:ea typeface="Montserrat" pitchFamily="34" charset="-122"/>
                          <a:cs typeface="Montserrat" pitchFamily="34" charset="-120"/>
                        </a:rPr>
                        <a:t>Identical</a:t>
                      </a:r>
                      <a:endParaRPr lang="en-US" sz="950" dirty="0">
                        <a:latin typeface="Montserrat" charset="0"/>
                        <a:ea typeface="Montserrat" charset="0"/>
                        <a:cs typeface="Montserrat" charset="0"/>
                      </a:endParaRPr>
                    </a:p>
                  </a:txBody>
                  <a:tcPr marL="91440" marR="91440" marT="45720" marB="45720" anchor="ctr">
                    <a:lnL w="12700" cap="flat" cmpd="sng" algn="ctr">
                      <a:solidFill>
                        <a:srgbClr val="DCE2EF"/>
                      </a:solidFill>
                      <a:prstDash val="solid"/>
                      <a:round/>
                      <a:headEnd type="none" w="med" len="med"/>
                      <a:tailEnd type="none" w="med" len="med"/>
                    </a:lnL>
                    <a:lnR w="12700" cap="flat" cmpd="sng" algn="ctr">
                      <a:solidFill>
                        <a:srgbClr val="DCE2EF"/>
                      </a:solidFill>
                      <a:prstDash val="solid"/>
                      <a:round/>
                      <a:headEnd type="none" w="med" len="med"/>
                      <a:tailEnd type="none" w="med" len="med"/>
                    </a:lnR>
                    <a:lnT w="12700" cap="flat" cmpd="sng" algn="ctr">
                      <a:solidFill>
                        <a:srgbClr val="DCE2EF"/>
                      </a:solidFill>
                      <a:prstDash val="solid"/>
                      <a:round/>
                      <a:headEnd type="none" w="med" len="med"/>
                      <a:tailEnd type="none" w="med" len="med"/>
                    </a:lnT>
                    <a:lnB w="12700" cap="flat" cmpd="sng" algn="ctr">
                      <a:solidFill>
                        <a:srgbClr val="DCE2EF"/>
                      </a:solidFill>
                      <a:prstDash val="solid"/>
                      <a:round/>
                      <a:headEnd type="none" w="med" len="med"/>
                      <a:tailEnd type="none" w="med" len="med"/>
                    </a:lnB>
                    <a:solidFill>
                      <a:srgbClr val="F4F6FB"/>
                    </a:solidFill>
                  </a:tcPr>
                </a:tc>
              </a:tr>
              <a:tr h="347472">
                <a:tc>
                  <a:txBody>
                    <a:bodyPr/>
                    <a:lstStyle/>
                    <a:p>
                      <a:pPr indent="0" marL="0">
                        <a:buNone/>
                      </a:pPr>
                      <a:r>
                        <a:rPr lang="en-US" sz="950" b="1" dirty="0">
                          <a:solidFill>
                            <a:srgbClr val="16181D"/>
                          </a:solidFill>
                          <a:latin typeface="Montserrat" pitchFamily="34" charset="0"/>
                          <a:ea typeface="Montserrat" pitchFamily="34" charset="-122"/>
                          <a:cs typeface="Montserrat" pitchFamily="34" charset="-120"/>
                        </a:rPr>
                        <a:t>Samples</a:t>
                      </a:r>
                      <a:endParaRPr lang="en-US" sz="950" dirty="0">
                        <a:latin typeface="Montserrat" charset="0"/>
                        <a:ea typeface="Montserrat" charset="0"/>
                        <a:cs typeface="Montserrat" charset="0"/>
                      </a:endParaRPr>
                    </a:p>
                  </a:txBody>
                  <a:tcPr marL="91440" marR="91440" marT="45720" marB="45720" anchor="ctr">
                    <a:lnL w="12700" cap="flat" cmpd="sng" algn="ctr">
                      <a:solidFill>
                        <a:srgbClr val="DCE2EF"/>
                      </a:solidFill>
                      <a:prstDash val="solid"/>
                      <a:round/>
                      <a:headEnd type="none" w="med" len="med"/>
                      <a:tailEnd type="none" w="med" len="med"/>
                    </a:lnL>
                    <a:lnR w="12700" cap="flat" cmpd="sng" algn="ctr">
                      <a:solidFill>
                        <a:srgbClr val="DCE2EF"/>
                      </a:solidFill>
                      <a:prstDash val="solid"/>
                      <a:round/>
                      <a:headEnd type="none" w="med" len="med"/>
                      <a:tailEnd type="none" w="med" len="med"/>
                    </a:lnR>
                    <a:lnT w="12700" cap="flat" cmpd="sng" algn="ctr">
                      <a:solidFill>
                        <a:srgbClr val="DCE2EF"/>
                      </a:solidFill>
                      <a:prstDash val="solid"/>
                      <a:round/>
                      <a:headEnd type="none" w="med" len="med"/>
                      <a:tailEnd type="none" w="med" len="med"/>
                    </a:lnT>
                    <a:lnB w="12700" cap="flat" cmpd="sng" algn="ctr">
                      <a:solidFill>
                        <a:srgbClr val="DCE2EF"/>
                      </a:solidFill>
                      <a:prstDash val="solid"/>
                      <a:round/>
                      <a:headEnd type="none" w="med" len="med"/>
                      <a:tailEnd type="none" w="med" len="med"/>
                    </a:lnB>
                    <a:solidFill>
                      <a:srgbClr val="FFFFFF"/>
                    </a:solidFill>
                  </a:tcPr>
                </a:tc>
                <a:tc>
                  <a:txBody>
                    <a:bodyPr/>
                    <a:lstStyle/>
                    <a:p>
                      <a:pPr indent="0" marL="0">
                        <a:buNone/>
                      </a:pPr>
                      <a:r>
                        <a:rPr lang="en-US" sz="950" dirty="0">
                          <a:solidFill>
                            <a:srgbClr val="16181D"/>
                          </a:solidFill>
                          <a:latin typeface="Montserrat" pitchFamily="34" charset="0"/>
                          <a:ea typeface="Montserrat" pitchFamily="34" charset="-122"/>
                          <a:cs typeface="Montserrat" pitchFamily="34" charset="-120"/>
                        </a:rPr>
                        <a:t>100 per configuration</a:t>
                      </a:r>
                      <a:endParaRPr lang="en-US" sz="950" dirty="0">
                        <a:latin typeface="Montserrat" charset="0"/>
                        <a:ea typeface="Montserrat" charset="0"/>
                        <a:cs typeface="Montserrat" charset="0"/>
                      </a:endParaRPr>
                    </a:p>
                  </a:txBody>
                  <a:tcPr marL="91440" marR="91440" marT="45720" marB="45720" anchor="ctr">
                    <a:lnL w="12700" cap="flat" cmpd="sng" algn="ctr">
                      <a:solidFill>
                        <a:srgbClr val="DCE2EF"/>
                      </a:solidFill>
                      <a:prstDash val="solid"/>
                      <a:round/>
                      <a:headEnd type="none" w="med" len="med"/>
                      <a:tailEnd type="none" w="med" len="med"/>
                    </a:lnL>
                    <a:lnR w="12700" cap="flat" cmpd="sng" algn="ctr">
                      <a:solidFill>
                        <a:srgbClr val="DCE2EF"/>
                      </a:solidFill>
                      <a:prstDash val="solid"/>
                      <a:round/>
                      <a:headEnd type="none" w="med" len="med"/>
                      <a:tailEnd type="none" w="med" len="med"/>
                    </a:lnR>
                    <a:lnT w="12700" cap="flat" cmpd="sng" algn="ctr">
                      <a:solidFill>
                        <a:srgbClr val="DCE2EF"/>
                      </a:solidFill>
                      <a:prstDash val="solid"/>
                      <a:round/>
                      <a:headEnd type="none" w="med" len="med"/>
                      <a:tailEnd type="none" w="med" len="med"/>
                    </a:lnT>
                    <a:lnB w="12700" cap="flat" cmpd="sng" algn="ctr">
                      <a:solidFill>
                        <a:srgbClr val="DCE2EF"/>
                      </a:solidFill>
                      <a:prstDash val="solid"/>
                      <a:round/>
                      <a:headEnd type="none" w="med" len="med"/>
                      <a:tailEnd type="none" w="med" len="med"/>
                    </a:lnB>
                    <a:solidFill>
                      <a:srgbClr val="FFFFFF"/>
                    </a:solidFill>
                  </a:tcPr>
                </a:tc>
                <a:tc>
                  <a:txBody>
                    <a:bodyPr/>
                    <a:lstStyle/>
                    <a:p>
                      <a:pPr indent="0" marL="0">
                        <a:buNone/>
                      </a:pPr>
                      <a:r>
                        <a:rPr lang="en-US" sz="950" dirty="0">
                          <a:solidFill>
                            <a:srgbClr val="16181D"/>
                          </a:solidFill>
                          <a:latin typeface="Montserrat" pitchFamily="34" charset="0"/>
                          <a:ea typeface="Montserrat" pitchFamily="34" charset="-122"/>
                          <a:cs typeface="Montserrat" pitchFamily="34" charset="-120"/>
                        </a:rPr>
                        <a:t>100 per configuration</a:t>
                      </a:r>
                      <a:endParaRPr lang="en-US" sz="950" dirty="0">
                        <a:latin typeface="Montserrat" charset="0"/>
                        <a:ea typeface="Montserrat" charset="0"/>
                        <a:cs typeface="Montserrat" charset="0"/>
                      </a:endParaRPr>
                    </a:p>
                  </a:txBody>
                  <a:tcPr marL="91440" marR="91440" marT="45720" marB="45720" anchor="ctr">
                    <a:lnL w="12700" cap="flat" cmpd="sng" algn="ctr">
                      <a:solidFill>
                        <a:srgbClr val="DCE2EF"/>
                      </a:solidFill>
                      <a:prstDash val="solid"/>
                      <a:round/>
                      <a:headEnd type="none" w="med" len="med"/>
                      <a:tailEnd type="none" w="med" len="med"/>
                    </a:lnL>
                    <a:lnR w="12700" cap="flat" cmpd="sng" algn="ctr">
                      <a:solidFill>
                        <a:srgbClr val="DCE2EF"/>
                      </a:solidFill>
                      <a:prstDash val="solid"/>
                      <a:round/>
                      <a:headEnd type="none" w="med" len="med"/>
                      <a:tailEnd type="none" w="med" len="med"/>
                    </a:lnR>
                    <a:lnT w="12700" cap="flat" cmpd="sng" algn="ctr">
                      <a:solidFill>
                        <a:srgbClr val="DCE2EF"/>
                      </a:solidFill>
                      <a:prstDash val="solid"/>
                      <a:round/>
                      <a:headEnd type="none" w="med" len="med"/>
                      <a:tailEnd type="none" w="med" len="med"/>
                    </a:lnT>
                    <a:lnB w="12700" cap="flat" cmpd="sng" algn="ctr">
                      <a:solidFill>
                        <a:srgbClr val="DCE2EF"/>
                      </a:solidFill>
                      <a:prstDash val="solid"/>
                      <a:round/>
                      <a:headEnd type="none" w="med" len="med"/>
                      <a:tailEnd type="none" w="med" len="med"/>
                    </a:lnB>
                    <a:solidFill>
                      <a:srgbClr val="FFFFFF"/>
                    </a:solidFill>
                  </a:tcPr>
                </a:tc>
              </a:tr>
            </a:tbl>
          </a:graphicData>
        </a:graphic>
      </p:graphicFrame>
      <p:sp>
        <p:nvSpPr>
          <p:cNvPr id="15" name="Shape 11"/>
          <p:cNvSpPr/>
          <p:nvPr/>
        </p:nvSpPr>
        <p:spPr>
          <a:xfrm>
            <a:off x="7863840" y="1554480"/>
            <a:ext cx="3657600" cy="3977640"/>
          </a:xfrm>
          <a:prstGeom prst="roundRect">
            <a:avLst>
              <a:gd name="adj" fmla="val 1250"/>
            </a:avLst>
          </a:prstGeom>
          <a:solidFill>
            <a:srgbClr val="F4F6FB"/>
          </a:solidFill>
          <a:ln w="12700">
            <a:solidFill>
              <a:srgbClr val="D8DEEC"/>
            </a:solidFill>
            <a:prstDash val="solid"/>
          </a:ln>
        </p:spPr>
      </p:sp>
      <p:sp>
        <p:nvSpPr>
          <p:cNvPr id="16" name="Text 12"/>
          <p:cNvSpPr txBox="1"/>
          <p:nvPr/>
        </p:nvSpPr>
        <p:spPr>
          <a:xfrm>
            <a:off x="8092440" y="1719072"/>
            <a:ext cx="3200400" cy="274320"/>
          </a:xfrm>
          <a:prstGeom prst="rect">
            <a:avLst/>
          </a:prstGeom>
          <a:noFill/>
          <a:ln/>
        </p:spPr>
        <p:txBody>
          <a:bodyPr wrap="square" lIns="0" tIns="0" rIns="0" bIns="0" rtlCol="0" anchor="ctr"/>
          <a:lstStyle/>
          <a:p>
            <a:pPr indent="0" marL="0">
              <a:buNone/>
            </a:pPr>
            <a:r>
              <a:rPr lang="en-US" sz="1150" b="1" dirty="0">
                <a:solidFill>
                  <a:srgbClr val="23408E"/>
                </a:solidFill>
                <a:latin typeface="Montserrat" pitchFamily="34" charset="0"/>
                <a:ea typeface="Montserrat" pitchFamily="34" charset="-122"/>
                <a:cs typeface="Montserrat" pitchFamily="34" charset="-120"/>
              </a:rPr>
              <a:t>Experimental control</a:t>
            </a:r>
            <a:endParaRPr lang="en-US" sz="1150" dirty="0"/>
          </a:p>
        </p:txBody>
      </p:sp>
      <p:sp>
        <p:nvSpPr>
          <p:cNvPr id="17" name="Text 13"/>
          <p:cNvSpPr txBox="1"/>
          <p:nvPr/>
        </p:nvSpPr>
        <p:spPr>
          <a:xfrm>
            <a:off x="8092440" y="2066544"/>
            <a:ext cx="3200400" cy="713232"/>
          </a:xfrm>
          <a:prstGeom prst="rect">
            <a:avLst/>
          </a:prstGeom>
          <a:noFill/>
          <a:ln/>
        </p:spPr>
        <p:txBody>
          <a:bodyPr wrap="square" lIns="0" tIns="0" rIns="0" bIns="0" rtlCol="0" anchor="ctr"/>
          <a:lstStyle/>
          <a:p>
            <a:pPr indent="0" marL="0">
              <a:buNone/>
            </a:pPr>
            <a:r>
              <a:rPr lang="en-US" sz="1050" dirty="0">
                <a:solidFill>
                  <a:srgbClr val="16181D"/>
                </a:solidFill>
                <a:latin typeface="Montserrat" pitchFamily="34" charset="0"/>
                <a:ea typeface="Montserrat" pitchFamily="34" charset="-122"/>
                <a:cs typeface="Montserrat" pitchFamily="34" charset="-120"/>
              </a:rPr>
              <a:t>All five schemes share one controller, one backend, one prompt set and one scorer.</a:t>
            </a:r>
            <a:endParaRPr lang="en-US" sz="1050" dirty="0"/>
          </a:p>
        </p:txBody>
      </p:sp>
      <p:sp>
        <p:nvSpPr>
          <p:cNvPr id="18" name="Text 14"/>
          <p:cNvSpPr txBox="1"/>
          <p:nvPr/>
        </p:nvSpPr>
        <p:spPr>
          <a:xfrm>
            <a:off x="8092440" y="2798064"/>
            <a:ext cx="3200400" cy="658368"/>
          </a:xfrm>
          <a:prstGeom prst="rect">
            <a:avLst/>
          </a:prstGeom>
          <a:noFill/>
          <a:ln/>
        </p:spPr>
        <p:txBody>
          <a:bodyPr wrap="square" lIns="0" tIns="0" rIns="0" bIns="0" rtlCol="0" anchor="ctr"/>
          <a:lstStyle/>
          <a:p>
            <a:pPr indent="0" marL="0">
              <a:buNone/>
            </a:pPr>
            <a:r>
              <a:rPr lang="en-US" sz="1050" b="1" dirty="0">
                <a:solidFill>
                  <a:srgbClr val="D98A1F"/>
                </a:solidFill>
                <a:latin typeface="Montserrat" pitchFamily="34" charset="0"/>
                <a:ea typeface="Montserrat" pitchFamily="34" charset="-122"/>
                <a:cs typeface="Montserrat" pitchFamily="34" charset="-120"/>
              </a:rPr>
              <a:t>Any measured difference is therefore attributable to graph structure alone.</a:t>
            </a:r>
            <a:endParaRPr lang="en-US" sz="1050" dirty="0"/>
          </a:p>
        </p:txBody>
      </p:sp>
      <p:sp>
        <p:nvSpPr>
          <p:cNvPr id="19" name="Text 15"/>
          <p:cNvSpPr txBox="1"/>
          <p:nvPr/>
        </p:nvSpPr>
        <p:spPr>
          <a:xfrm>
            <a:off x="8092440" y="3611880"/>
            <a:ext cx="868680" cy="384048"/>
          </a:xfrm>
          <a:prstGeom prst="rect">
            <a:avLst/>
          </a:prstGeom>
          <a:noFill/>
          <a:ln/>
        </p:spPr>
        <p:txBody>
          <a:bodyPr wrap="square" lIns="0" tIns="0" rIns="0" bIns="0" rtlCol="0" anchor="ctr"/>
          <a:lstStyle/>
          <a:p>
            <a:pPr indent="0" marL="0">
              <a:buNone/>
            </a:pPr>
            <a:r>
              <a:rPr lang="en-US" sz="2100" b="1" dirty="0">
                <a:solidFill>
                  <a:srgbClr val="23408E"/>
                </a:solidFill>
                <a:latin typeface="Montserrat" pitchFamily="34" charset="0"/>
                <a:ea typeface="Montserrat" pitchFamily="34" charset="-122"/>
                <a:cs typeface="Montserrat" pitchFamily="34" charset="-120"/>
              </a:rPr>
              <a:t>5</a:t>
            </a:r>
            <a:endParaRPr lang="en-US" sz="2100" dirty="0"/>
          </a:p>
        </p:txBody>
      </p:sp>
      <p:sp>
        <p:nvSpPr>
          <p:cNvPr id="20" name="Text 16"/>
          <p:cNvSpPr txBox="1"/>
          <p:nvPr/>
        </p:nvSpPr>
        <p:spPr>
          <a:xfrm>
            <a:off x="8961120" y="3703320"/>
            <a:ext cx="2331720" cy="274320"/>
          </a:xfrm>
          <a:prstGeom prst="rect">
            <a:avLst/>
          </a:prstGeom>
          <a:noFill/>
          <a:ln/>
        </p:spPr>
        <p:txBody>
          <a:bodyPr wrap="square" lIns="0" tIns="0" rIns="0" bIns="0" rtlCol="0" anchor="ctr"/>
          <a:lstStyle/>
          <a:p>
            <a:pPr indent="0" marL="0">
              <a:buNone/>
            </a:pPr>
            <a:r>
              <a:rPr lang="en-US" sz="900" dirty="0">
                <a:solidFill>
                  <a:srgbClr val="63697A"/>
                </a:solidFill>
                <a:latin typeface="Montserrat" pitchFamily="34" charset="0"/>
                <a:ea typeface="Montserrat" pitchFamily="34" charset="-122"/>
                <a:cs typeface="Montserrat" pitchFamily="34" charset="-120"/>
              </a:rPr>
              <a:t>schemes on one engine</a:t>
            </a:r>
            <a:endParaRPr lang="en-US" sz="900" dirty="0"/>
          </a:p>
        </p:txBody>
      </p:sp>
      <p:sp>
        <p:nvSpPr>
          <p:cNvPr id="21" name="Text 17"/>
          <p:cNvSpPr txBox="1"/>
          <p:nvPr/>
        </p:nvSpPr>
        <p:spPr>
          <a:xfrm>
            <a:off x="8092440" y="4233672"/>
            <a:ext cx="868680" cy="384048"/>
          </a:xfrm>
          <a:prstGeom prst="rect">
            <a:avLst/>
          </a:prstGeom>
          <a:noFill/>
          <a:ln/>
        </p:spPr>
        <p:txBody>
          <a:bodyPr wrap="square" lIns="0" tIns="0" rIns="0" bIns="0" rtlCol="0" anchor="ctr"/>
          <a:lstStyle/>
          <a:p>
            <a:pPr indent="0" marL="0">
              <a:buNone/>
            </a:pPr>
            <a:r>
              <a:rPr lang="en-US" sz="2100" b="1" dirty="0">
                <a:solidFill>
                  <a:srgbClr val="23408E"/>
                </a:solidFill>
                <a:latin typeface="Montserrat" pitchFamily="34" charset="0"/>
                <a:ea typeface="Montserrat" pitchFamily="34" charset="-122"/>
                <a:cs typeface="Montserrat" pitchFamily="34" charset="-120"/>
              </a:rPr>
              <a:t>4</a:t>
            </a:r>
            <a:endParaRPr lang="en-US" sz="2100" dirty="0"/>
          </a:p>
        </p:txBody>
      </p:sp>
      <p:sp>
        <p:nvSpPr>
          <p:cNvPr id="22" name="Text 18"/>
          <p:cNvSpPr txBox="1"/>
          <p:nvPr/>
        </p:nvSpPr>
        <p:spPr>
          <a:xfrm>
            <a:off x="8961120" y="4325112"/>
            <a:ext cx="2331720" cy="274320"/>
          </a:xfrm>
          <a:prstGeom prst="rect">
            <a:avLst/>
          </a:prstGeom>
          <a:noFill/>
          <a:ln/>
        </p:spPr>
        <p:txBody>
          <a:bodyPr wrap="square" lIns="0" tIns="0" rIns="0" bIns="0" rtlCol="0" anchor="ctr"/>
          <a:lstStyle/>
          <a:p>
            <a:pPr indent="0" marL="0">
              <a:buNone/>
            </a:pPr>
            <a:r>
              <a:rPr lang="en-US" sz="900" dirty="0">
                <a:solidFill>
                  <a:srgbClr val="63697A"/>
                </a:solidFill>
                <a:latin typeface="Montserrat" pitchFamily="34" charset="0"/>
                <a:ea typeface="Montserrat" pitchFamily="34" charset="-122"/>
                <a:cs typeface="Montserrat" pitchFamily="34" charset="-120"/>
              </a:rPr>
              <a:t>interchangeable backends</a:t>
            </a:r>
            <a:endParaRPr lang="en-US" sz="900" dirty="0"/>
          </a:p>
        </p:txBody>
      </p:sp>
      <p:sp>
        <p:nvSpPr>
          <p:cNvPr id="23" name="Text 19"/>
          <p:cNvSpPr txBox="1"/>
          <p:nvPr/>
        </p:nvSpPr>
        <p:spPr>
          <a:xfrm>
            <a:off x="8092440" y="4855464"/>
            <a:ext cx="868680" cy="384048"/>
          </a:xfrm>
          <a:prstGeom prst="rect">
            <a:avLst/>
          </a:prstGeom>
          <a:noFill/>
          <a:ln/>
        </p:spPr>
        <p:txBody>
          <a:bodyPr wrap="square" lIns="0" tIns="0" rIns="0" bIns="0" rtlCol="0" anchor="ctr"/>
          <a:lstStyle/>
          <a:p>
            <a:pPr indent="0" marL="0">
              <a:buNone/>
            </a:pPr>
            <a:r>
              <a:rPr lang="en-US" sz="2100" b="1" dirty="0">
                <a:solidFill>
                  <a:srgbClr val="23408E"/>
                </a:solidFill>
                <a:latin typeface="Montserrat" pitchFamily="34" charset="0"/>
                <a:ea typeface="Montserrat" pitchFamily="34" charset="-122"/>
                <a:cs typeface="Montserrat" pitchFamily="34" charset="-120"/>
              </a:rPr>
              <a:t>60</a:t>
            </a:r>
            <a:endParaRPr lang="en-US" sz="2100" dirty="0"/>
          </a:p>
        </p:txBody>
      </p:sp>
      <p:sp>
        <p:nvSpPr>
          <p:cNvPr id="24" name="Text 20"/>
          <p:cNvSpPr txBox="1"/>
          <p:nvPr/>
        </p:nvSpPr>
        <p:spPr>
          <a:xfrm>
            <a:off x="8961120" y="4946904"/>
            <a:ext cx="2331720" cy="274320"/>
          </a:xfrm>
          <a:prstGeom prst="rect">
            <a:avLst/>
          </a:prstGeom>
          <a:noFill/>
          <a:ln/>
        </p:spPr>
        <p:txBody>
          <a:bodyPr wrap="square" lIns="0" tIns="0" rIns="0" bIns="0" rtlCol="0" anchor="ctr"/>
          <a:lstStyle/>
          <a:p>
            <a:pPr indent="0" marL="0">
              <a:buNone/>
            </a:pPr>
            <a:r>
              <a:rPr lang="en-US" sz="900" dirty="0">
                <a:solidFill>
                  <a:srgbClr val="63697A"/>
                </a:solidFill>
                <a:latin typeface="Montserrat" pitchFamily="34" charset="0"/>
                <a:ea typeface="Montserrat" pitchFamily="34" charset="-122"/>
                <a:cs typeface="Montserrat" pitchFamily="34" charset="-120"/>
              </a:rPr>
              <a:t>automated tests per run</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0149840" y="-502920"/>
            <a:ext cx="2377440" cy="960120"/>
          </a:xfrm>
          <a:prstGeom prst="roundRect">
            <a:avLst>
              <a:gd name="adj" fmla="val 38095"/>
            </a:avLst>
          </a:prstGeom>
          <a:solidFill>
            <a:srgbClr val="C9D8F5"/>
          </a:solidFill>
          <a:ln w="12700">
            <a:solidFill>
              <a:srgbClr val="333333"/>
            </a:solidFill>
            <a:prstDash val="solid"/>
          </a:ln>
        </p:spPr>
      </p:sp>
      <p:sp>
        <p:nvSpPr>
          <p:cNvPr id="3" name="Shape 1"/>
          <p:cNvSpPr/>
          <p:nvPr/>
        </p:nvSpPr>
        <p:spPr>
          <a:xfrm>
            <a:off x="10881360" y="0"/>
            <a:ext cx="2011680" cy="566928"/>
          </a:xfrm>
          <a:prstGeom prst="roundRect">
            <a:avLst>
              <a:gd name="adj" fmla="val 48387"/>
            </a:avLst>
          </a:prstGeom>
          <a:solidFill>
            <a:srgbClr val="23408E"/>
          </a:solidFill>
          <a:ln w="12700">
            <a:solidFill>
              <a:srgbClr val="333333"/>
            </a:solidFill>
            <a:prstDash val="solid"/>
          </a:ln>
        </p:spPr>
      </p:sp>
      <p:sp>
        <p:nvSpPr>
          <p:cNvPr id="4" name="Shape 2"/>
          <p:cNvSpPr/>
          <p:nvPr/>
        </p:nvSpPr>
        <p:spPr>
          <a:xfrm>
            <a:off x="-731520" y="6355080"/>
            <a:ext cx="1828800" cy="822960"/>
          </a:xfrm>
          <a:prstGeom prst="roundRect">
            <a:avLst>
              <a:gd name="adj" fmla="val 38889"/>
            </a:avLst>
          </a:prstGeom>
          <a:solidFill>
            <a:srgbClr val="23408E"/>
          </a:solidFill>
          <a:ln w="12700">
            <a:solidFill>
              <a:srgbClr val="333333"/>
            </a:solidFill>
            <a:prstDash val="solid"/>
          </a:ln>
        </p:spPr>
      </p:sp>
      <p:sp>
        <p:nvSpPr>
          <p:cNvPr id="5" name="Shape 3"/>
          <p:cNvSpPr/>
          <p:nvPr/>
        </p:nvSpPr>
        <p:spPr>
          <a:xfrm>
            <a:off x="320040" y="6583680"/>
            <a:ext cx="2743200" cy="731520"/>
          </a:xfrm>
          <a:prstGeom prst="roundRect">
            <a:avLst>
              <a:gd name="adj" fmla="val 43750"/>
            </a:avLst>
          </a:prstGeom>
          <a:solidFill>
            <a:srgbClr val="C9D8F5"/>
          </a:solidFill>
          <a:ln w="12700">
            <a:solidFill>
              <a:srgbClr val="333333"/>
            </a:solidFill>
            <a:prstDash val="solid"/>
          </a:ln>
        </p:spPr>
      </p:sp>
      <p:sp>
        <p:nvSpPr>
          <p:cNvPr id="6" name="Text 4"/>
          <p:cNvSpPr txBox="1"/>
          <p:nvPr/>
        </p:nvSpPr>
        <p:spPr>
          <a:xfrm>
            <a:off x="566928" y="237744"/>
            <a:ext cx="9052560" cy="603504"/>
          </a:xfrm>
          <a:prstGeom prst="rect">
            <a:avLst/>
          </a:prstGeom>
          <a:noFill/>
          <a:ln/>
        </p:spPr>
        <p:txBody>
          <a:bodyPr wrap="square" lIns="0" tIns="0" rIns="0" bIns="0" rtlCol="0" anchor="ctr"/>
          <a:lstStyle/>
          <a:p>
            <a:pPr indent="0" marL="0">
              <a:buNone/>
            </a:pPr>
            <a:r>
              <a:rPr lang="en-US" sz="3000" b="1" dirty="0">
                <a:solidFill>
                  <a:srgbClr val="23408E"/>
                </a:solidFill>
                <a:latin typeface="Montserrat" pitchFamily="34" charset="0"/>
                <a:ea typeface="Montserrat" pitchFamily="34" charset="-122"/>
                <a:cs typeface="Montserrat" pitchFamily="34" charset="-120"/>
              </a:rPr>
              <a:t>Results &amp; Discussion</a:t>
            </a:r>
            <a:endParaRPr lang="en-US" sz="3000" dirty="0"/>
          </a:p>
        </p:txBody>
      </p:sp>
      <p:sp>
        <p:nvSpPr>
          <p:cNvPr id="7" name="Shape 5"/>
          <p:cNvSpPr/>
          <p:nvPr/>
        </p:nvSpPr>
        <p:spPr>
          <a:xfrm>
            <a:off x="621792" y="914400"/>
            <a:ext cx="6035040" cy="0"/>
          </a:xfrm>
          <a:prstGeom prst="line">
            <a:avLst/>
          </a:prstGeom>
          <a:noFill/>
          <a:ln w="20320">
            <a:solidFill>
              <a:srgbClr val="16181D"/>
            </a:solidFill>
            <a:prstDash val="solid"/>
          </a:ln>
        </p:spPr>
      </p:sp>
      <p:sp>
        <p:nvSpPr>
          <p:cNvPr id="8" name="Shape 6"/>
          <p:cNvSpPr/>
          <p:nvPr/>
        </p:nvSpPr>
        <p:spPr>
          <a:xfrm>
            <a:off x="548640" y="859536"/>
            <a:ext cx="118872" cy="118872"/>
          </a:xfrm>
          <a:prstGeom prst="ellipse">
            <a:avLst/>
          </a:prstGeom>
          <a:solidFill>
            <a:srgbClr val="16181D"/>
          </a:solidFill>
          <a:ln w="12700">
            <a:solidFill>
              <a:srgbClr val="333333"/>
            </a:solidFill>
            <a:prstDash val="solid"/>
          </a:ln>
        </p:spPr>
      </p:sp>
      <p:sp>
        <p:nvSpPr>
          <p:cNvPr id="9" name="Shape 7"/>
          <p:cNvSpPr/>
          <p:nvPr/>
        </p:nvSpPr>
        <p:spPr>
          <a:xfrm>
            <a:off x="6601968" y="859536"/>
            <a:ext cx="118872" cy="118872"/>
          </a:xfrm>
          <a:prstGeom prst="ellipse">
            <a:avLst/>
          </a:prstGeom>
          <a:solidFill>
            <a:srgbClr val="16181D"/>
          </a:solidFill>
          <a:ln w="12700">
            <a:solidFill>
              <a:srgbClr val="333333"/>
            </a:solidFill>
            <a:prstDash val="solid"/>
          </a:ln>
        </p:spPr>
      </p:sp>
      <p:sp>
        <p:nvSpPr>
          <p:cNvPr id="10" name="Text 8"/>
          <p:cNvSpPr txBox="1"/>
          <p:nvPr/>
        </p:nvSpPr>
        <p:spPr>
          <a:xfrm>
            <a:off x="685800" y="1188720"/>
            <a:ext cx="10058400" cy="310896"/>
          </a:xfrm>
          <a:prstGeom prst="rect">
            <a:avLst/>
          </a:prstGeom>
          <a:noFill/>
          <a:ln/>
        </p:spPr>
        <p:txBody>
          <a:bodyPr wrap="square" lIns="0" tIns="0" rIns="0" bIns="0" rtlCol="0" anchor="ctr"/>
          <a:lstStyle/>
          <a:p>
            <a:pPr indent="0" marL="0">
              <a:buNone/>
            </a:pPr>
            <a:r>
              <a:rPr lang="en-US" sz="1450" b="1" dirty="0">
                <a:solidFill>
                  <a:srgbClr val="23408E"/>
                </a:solidFill>
                <a:latin typeface="Montserrat" pitchFamily="34" charset="0"/>
                <a:ea typeface="Montserrat" pitchFamily="34" charset="-122"/>
                <a:cs typeface="Montserrat" pitchFamily="34" charset="-120"/>
              </a:rPr>
              <a:t>Structural claims - model-independent, and reproduced exactly</a:t>
            </a:r>
            <a:endParaRPr lang="en-US" sz="145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685800" y="1572768"/>
          <a:ext cx="5669280" cy="914400"/>
        </p:xfrm>
        <a:graphic>
          <a:graphicData uri="http://schemas.openxmlformats.org/drawingml/2006/table">
            <a:tbl>
              <a:tblPr/>
              <a:tblGrid>
                <a:gridCol w="1463040"/>
                <a:gridCol w="1371600"/>
                <a:gridCol w="1371600"/>
                <a:gridCol w="1463040"/>
              </a:tblGrid>
              <a:tr h="365760">
                <a:tc>
                  <a:txBody>
                    <a:bodyPr/>
                    <a:lstStyle/>
                    <a:p>
                      <a:pPr indent="0" marL="0">
                        <a:buNone/>
                      </a:pPr>
                      <a:r>
                        <a:rPr lang="en-US" sz="1000" b="1" dirty="0">
                          <a:solidFill>
                            <a:srgbClr val="FFFFFF"/>
                          </a:solidFill>
                          <a:latin typeface="Montserrat" pitchFamily="34" charset="0"/>
                          <a:ea typeface="Montserrat" pitchFamily="34" charset="-122"/>
                          <a:cs typeface="Montserrat" pitchFamily="34" charset="-120"/>
                        </a:rPr>
                        <a:t>Scheme</a:t>
                      </a:r>
                      <a:endParaRPr lang="en-US" sz="1000" dirty="0">
                        <a:latin typeface="Montserrat" charset="0"/>
                        <a:ea typeface="Montserrat" charset="0"/>
                        <a:cs typeface="Montserrat" charset="0"/>
                      </a:endParaRPr>
                    </a:p>
                  </a:txBody>
                  <a:tcPr marL="91440" marR="91440" marT="45720" marB="45720" anchor="ctr">
                    <a:lnL w="12700" cap="flat" cmpd="sng" algn="ctr">
                      <a:solidFill>
                        <a:srgbClr val="DCE2EF"/>
                      </a:solidFill>
                      <a:prstDash val="solid"/>
                      <a:round/>
                      <a:headEnd type="none" w="med" len="med"/>
                      <a:tailEnd type="none" w="med" len="med"/>
                    </a:lnL>
                    <a:lnR w="12700" cap="flat" cmpd="sng" algn="ctr">
                      <a:solidFill>
                        <a:srgbClr val="DCE2EF"/>
                      </a:solidFill>
                      <a:prstDash val="solid"/>
                      <a:round/>
                      <a:headEnd type="none" w="med" len="med"/>
                      <a:tailEnd type="none" w="med" len="med"/>
                    </a:lnR>
                    <a:lnT w="12700" cap="flat" cmpd="sng" algn="ctr">
                      <a:solidFill>
                        <a:srgbClr val="DCE2EF"/>
                      </a:solidFill>
                      <a:prstDash val="solid"/>
                      <a:round/>
                      <a:headEnd type="none" w="med" len="med"/>
                      <a:tailEnd type="none" w="med" len="med"/>
                    </a:lnT>
                    <a:lnB w="12700" cap="flat" cmpd="sng" algn="ctr">
                      <a:solidFill>
                        <a:srgbClr val="DCE2EF"/>
                      </a:solidFill>
                      <a:prstDash val="solid"/>
                      <a:round/>
                      <a:headEnd type="none" w="med" len="med"/>
                      <a:tailEnd type="none" w="med" len="med"/>
                    </a:lnB>
                    <a:solidFill>
                      <a:srgbClr val="23408E"/>
                    </a:solidFill>
                  </a:tcPr>
                </a:tc>
                <a:tc>
                  <a:txBody>
                    <a:bodyPr/>
                    <a:lstStyle/>
                    <a:p>
                      <a:pPr indent="0" marL="0">
                        <a:buNone/>
                      </a:pPr>
                      <a:r>
                        <a:rPr lang="en-US" sz="1000" b="1" dirty="0">
                          <a:solidFill>
                            <a:srgbClr val="FFFFFF"/>
                          </a:solidFill>
                          <a:latin typeface="Montserrat" pitchFamily="34" charset="0"/>
                          <a:ea typeface="Montserrat" pitchFamily="34" charset="-122"/>
                          <a:cs typeface="Montserrat" pitchFamily="34" charset="-120"/>
                        </a:rPr>
                        <a:t>Volume</a:t>
                      </a:r>
                      <a:endParaRPr lang="en-US" sz="1000" dirty="0">
                        <a:latin typeface="Montserrat" charset="0"/>
                        <a:ea typeface="Montserrat" charset="0"/>
                        <a:cs typeface="Montserrat" charset="0"/>
                      </a:endParaRPr>
                    </a:p>
                  </a:txBody>
                  <a:tcPr marL="91440" marR="91440" marT="45720" marB="45720" anchor="ctr">
                    <a:lnL w="12700" cap="flat" cmpd="sng" algn="ctr">
                      <a:solidFill>
                        <a:srgbClr val="DCE2EF"/>
                      </a:solidFill>
                      <a:prstDash val="solid"/>
                      <a:round/>
                      <a:headEnd type="none" w="med" len="med"/>
                      <a:tailEnd type="none" w="med" len="med"/>
                    </a:lnL>
                    <a:lnR w="12700" cap="flat" cmpd="sng" algn="ctr">
                      <a:solidFill>
                        <a:srgbClr val="DCE2EF"/>
                      </a:solidFill>
                      <a:prstDash val="solid"/>
                      <a:round/>
                      <a:headEnd type="none" w="med" len="med"/>
                      <a:tailEnd type="none" w="med" len="med"/>
                    </a:lnR>
                    <a:lnT w="12700" cap="flat" cmpd="sng" algn="ctr">
                      <a:solidFill>
                        <a:srgbClr val="DCE2EF"/>
                      </a:solidFill>
                      <a:prstDash val="solid"/>
                      <a:round/>
                      <a:headEnd type="none" w="med" len="med"/>
                      <a:tailEnd type="none" w="med" len="med"/>
                    </a:lnT>
                    <a:lnB w="12700" cap="flat" cmpd="sng" algn="ctr">
                      <a:solidFill>
                        <a:srgbClr val="DCE2EF"/>
                      </a:solidFill>
                      <a:prstDash val="solid"/>
                      <a:round/>
                      <a:headEnd type="none" w="med" len="med"/>
                      <a:tailEnd type="none" w="med" len="med"/>
                    </a:lnB>
                    <a:solidFill>
                      <a:srgbClr val="23408E"/>
                    </a:solidFill>
                  </a:tcPr>
                </a:tc>
                <a:tc>
                  <a:txBody>
                    <a:bodyPr/>
                    <a:lstStyle/>
                    <a:p>
                      <a:pPr indent="0" marL="0">
                        <a:buNone/>
                      </a:pPr>
                      <a:r>
                        <a:rPr lang="en-US" sz="1000" b="1" dirty="0">
                          <a:solidFill>
                            <a:srgbClr val="FFFFFF"/>
                          </a:solidFill>
                          <a:latin typeface="Montserrat" pitchFamily="34" charset="0"/>
                          <a:ea typeface="Montserrat" pitchFamily="34" charset="-122"/>
                          <a:cs typeface="Montserrat" pitchFamily="34" charset="-120"/>
                        </a:rPr>
                        <a:t>Latency</a:t>
                      </a:r>
                      <a:endParaRPr lang="en-US" sz="1000" dirty="0">
                        <a:latin typeface="Montserrat" charset="0"/>
                        <a:ea typeface="Montserrat" charset="0"/>
                        <a:cs typeface="Montserrat" charset="0"/>
                      </a:endParaRPr>
                    </a:p>
                  </a:txBody>
                  <a:tcPr marL="91440" marR="91440" marT="45720" marB="45720" anchor="ctr">
                    <a:lnL w="12700" cap="flat" cmpd="sng" algn="ctr">
                      <a:solidFill>
                        <a:srgbClr val="DCE2EF"/>
                      </a:solidFill>
                      <a:prstDash val="solid"/>
                      <a:round/>
                      <a:headEnd type="none" w="med" len="med"/>
                      <a:tailEnd type="none" w="med" len="med"/>
                    </a:lnL>
                    <a:lnR w="12700" cap="flat" cmpd="sng" algn="ctr">
                      <a:solidFill>
                        <a:srgbClr val="DCE2EF"/>
                      </a:solidFill>
                      <a:prstDash val="solid"/>
                      <a:round/>
                      <a:headEnd type="none" w="med" len="med"/>
                      <a:tailEnd type="none" w="med" len="med"/>
                    </a:lnR>
                    <a:lnT w="12700" cap="flat" cmpd="sng" algn="ctr">
                      <a:solidFill>
                        <a:srgbClr val="DCE2EF"/>
                      </a:solidFill>
                      <a:prstDash val="solid"/>
                      <a:round/>
                      <a:headEnd type="none" w="med" len="med"/>
                      <a:tailEnd type="none" w="med" len="med"/>
                    </a:lnT>
                    <a:lnB w="12700" cap="flat" cmpd="sng" algn="ctr">
                      <a:solidFill>
                        <a:srgbClr val="DCE2EF"/>
                      </a:solidFill>
                      <a:prstDash val="solid"/>
                      <a:round/>
                      <a:headEnd type="none" w="med" len="med"/>
                      <a:tailEnd type="none" w="med" len="med"/>
                    </a:lnB>
                    <a:solidFill>
                      <a:srgbClr val="23408E"/>
                    </a:solidFill>
                  </a:tcPr>
                </a:tc>
                <a:tc>
                  <a:txBody>
                    <a:bodyPr/>
                    <a:lstStyle/>
                    <a:p>
                      <a:pPr indent="0" marL="0">
                        <a:buNone/>
                      </a:pPr>
                      <a:r>
                        <a:rPr lang="en-US" sz="1000" b="1" dirty="0">
                          <a:solidFill>
                            <a:srgbClr val="FFFFFF"/>
                          </a:solidFill>
                          <a:latin typeface="Montserrat" pitchFamily="34" charset="0"/>
                          <a:ea typeface="Montserrat" pitchFamily="34" charset="-122"/>
                          <a:cs typeface="Montserrat" pitchFamily="34" charset="-120"/>
                        </a:rPr>
                        <a:t>Aggregations</a:t>
                      </a:r>
                      <a:endParaRPr lang="en-US" sz="1000" dirty="0">
                        <a:latin typeface="Montserrat" charset="0"/>
                        <a:ea typeface="Montserrat" charset="0"/>
                        <a:cs typeface="Montserrat" charset="0"/>
                      </a:endParaRPr>
                    </a:p>
                  </a:txBody>
                  <a:tcPr marL="91440" marR="91440" marT="45720" marB="45720" anchor="ctr">
                    <a:lnL w="12700" cap="flat" cmpd="sng" algn="ctr">
                      <a:solidFill>
                        <a:srgbClr val="DCE2EF"/>
                      </a:solidFill>
                      <a:prstDash val="solid"/>
                      <a:round/>
                      <a:headEnd type="none" w="med" len="med"/>
                      <a:tailEnd type="none" w="med" len="med"/>
                    </a:lnL>
                    <a:lnR w="12700" cap="flat" cmpd="sng" algn="ctr">
                      <a:solidFill>
                        <a:srgbClr val="DCE2EF"/>
                      </a:solidFill>
                      <a:prstDash val="solid"/>
                      <a:round/>
                      <a:headEnd type="none" w="med" len="med"/>
                      <a:tailEnd type="none" w="med" len="med"/>
                    </a:lnR>
                    <a:lnT w="12700" cap="flat" cmpd="sng" algn="ctr">
                      <a:solidFill>
                        <a:srgbClr val="DCE2EF"/>
                      </a:solidFill>
                      <a:prstDash val="solid"/>
                      <a:round/>
                      <a:headEnd type="none" w="med" len="med"/>
                      <a:tailEnd type="none" w="med" len="med"/>
                    </a:lnT>
                    <a:lnB w="12700" cap="flat" cmpd="sng" algn="ctr">
                      <a:solidFill>
                        <a:srgbClr val="DCE2EF"/>
                      </a:solidFill>
                      <a:prstDash val="solid"/>
                      <a:round/>
                      <a:headEnd type="none" w="med" len="med"/>
                      <a:tailEnd type="none" w="med" len="med"/>
                    </a:lnB>
                    <a:solidFill>
                      <a:srgbClr val="23408E"/>
                    </a:solidFill>
                  </a:tcPr>
                </a:tc>
              </a:tr>
              <a:tr h="365760">
                <a:tc>
                  <a:txBody>
                    <a:bodyPr/>
                    <a:lstStyle/>
                    <a:p>
                      <a:pPr indent="0" marL="0">
                        <a:buNone/>
                      </a:pPr>
                      <a:r>
                        <a:rPr lang="en-US" sz="1000" b="1" dirty="0">
                          <a:solidFill>
                            <a:srgbClr val="16181D"/>
                          </a:solidFill>
                          <a:latin typeface="Montserrat" pitchFamily="34" charset="0"/>
                          <a:ea typeface="Montserrat" pitchFamily="34" charset="-122"/>
                          <a:cs typeface="Montserrat" pitchFamily="34" charset="-120"/>
                        </a:rPr>
                        <a:t>IO</a:t>
                      </a:r>
                      <a:endParaRPr lang="en-US" sz="1000" dirty="0">
                        <a:latin typeface="Montserrat" charset="0"/>
                        <a:ea typeface="Montserrat" charset="0"/>
                        <a:cs typeface="Montserrat" charset="0"/>
                      </a:endParaRPr>
                    </a:p>
                  </a:txBody>
                  <a:tcPr marL="91440" marR="91440" marT="45720" marB="45720" anchor="ctr">
                    <a:lnL w="12700" cap="flat" cmpd="sng" algn="ctr">
                      <a:solidFill>
                        <a:srgbClr val="DCE2EF"/>
                      </a:solidFill>
                      <a:prstDash val="solid"/>
                      <a:round/>
                      <a:headEnd type="none" w="med" len="med"/>
                      <a:tailEnd type="none" w="med" len="med"/>
                    </a:lnL>
                    <a:lnR w="12700" cap="flat" cmpd="sng" algn="ctr">
                      <a:solidFill>
                        <a:srgbClr val="DCE2EF"/>
                      </a:solidFill>
                      <a:prstDash val="solid"/>
                      <a:round/>
                      <a:headEnd type="none" w="med" len="med"/>
                      <a:tailEnd type="none" w="med" len="med"/>
                    </a:lnR>
                    <a:lnT w="12700" cap="flat" cmpd="sng" algn="ctr">
                      <a:solidFill>
                        <a:srgbClr val="DCE2EF"/>
                      </a:solidFill>
                      <a:prstDash val="solid"/>
                      <a:round/>
                      <a:headEnd type="none" w="med" len="med"/>
                      <a:tailEnd type="none" w="med" len="med"/>
                    </a:lnT>
                    <a:lnB w="12700" cap="flat" cmpd="sng" algn="ctr">
                      <a:solidFill>
                        <a:srgbClr val="DCE2EF"/>
                      </a:solidFill>
                      <a:prstDash val="solid"/>
                      <a:round/>
                      <a:headEnd type="none" w="med" len="med"/>
                      <a:tailEnd type="none" w="med" len="med"/>
                    </a:lnB>
                    <a:solidFill>
                      <a:srgbClr val="F4F6FB"/>
                    </a:solidFill>
                  </a:tcPr>
                </a:tc>
                <a:tc>
                  <a:txBody>
                    <a:bodyPr/>
                    <a:lstStyle/>
                    <a:p>
                      <a:pPr indent="0" marL="0">
                        <a:buNone/>
                      </a:pPr>
                      <a:r>
                        <a:rPr lang="en-US" sz="1000" dirty="0">
                          <a:solidFill>
                            <a:srgbClr val="16181D"/>
                          </a:solidFill>
                          <a:latin typeface="Montserrat" pitchFamily="34" charset="0"/>
                          <a:ea typeface="Montserrat" pitchFamily="34" charset="-122"/>
                          <a:cs typeface="Montserrat" pitchFamily="34" charset="-120"/>
                        </a:rPr>
                        <a:t>1.0</a:t>
                      </a:r>
                      <a:endParaRPr lang="en-US" sz="1000" dirty="0">
                        <a:latin typeface="Montserrat" charset="0"/>
                        <a:ea typeface="Montserrat" charset="0"/>
                        <a:cs typeface="Montserrat" charset="0"/>
                      </a:endParaRPr>
                    </a:p>
                  </a:txBody>
                  <a:tcPr marL="91440" marR="91440" marT="45720" marB="45720" anchor="ctr">
                    <a:lnL w="12700" cap="flat" cmpd="sng" algn="ctr">
                      <a:solidFill>
                        <a:srgbClr val="DCE2EF"/>
                      </a:solidFill>
                      <a:prstDash val="solid"/>
                      <a:round/>
                      <a:headEnd type="none" w="med" len="med"/>
                      <a:tailEnd type="none" w="med" len="med"/>
                    </a:lnL>
                    <a:lnR w="12700" cap="flat" cmpd="sng" algn="ctr">
                      <a:solidFill>
                        <a:srgbClr val="DCE2EF"/>
                      </a:solidFill>
                      <a:prstDash val="solid"/>
                      <a:round/>
                      <a:headEnd type="none" w="med" len="med"/>
                      <a:tailEnd type="none" w="med" len="med"/>
                    </a:lnR>
                    <a:lnT w="12700" cap="flat" cmpd="sng" algn="ctr">
                      <a:solidFill>
                        <a:srgbClr val="DCE2EF"/>
                      </a:solidFill>
                      <a:prstDash val="solid"/>
                      <a:round/>
                      <a:headEnd type="none" w="med" len="med"/>
                      <a:tailEnd type="none" w="med" len="med"/>
                    </a:lnT>
                    <a:lnB w="12700" cap="flat" cmpd="sng" algn="ctr">
                      <a:solidFill>
                        <a:srgbClr val="DCE2EF"/>
                      </a:solidFill>
                      <a:prstDash val="solid"/>
                      <a:round/>
                      <a:headEnd type="none" w="med" len="med"/>
                      <a:tailEnd type="none" w="med" len="med"/>
                    </a:lnB>
                    <a:solidFill>
                      <a:srgbClr val="F4F6FB"/>
                    </a:solidFill>
                  </a:tcPr>
                </a:tc>
                <a:tc>
                  <a:txBody>
                    <a:bodyPr/>
                    <a:lstStyle/>
                    <a:p>
                      <a:pPr indent="0" marL="0">
                        <a:buNone/>
                      </a:pPr>
                      <a:r>
                        <a:rPr lang="en-US" sz="1000" dirty="0">
                          <a:solidFill>
                            <a:srgbClr val="16181D"/>
                          </a:solidFill>
                          <a:latin typeface="Montserrat" pitchFamily="34" charset="0"/>
                          <a:ea typeface="Montserrat" pitchFamily="34" charset="-122"/>
                          <a:cs typeface="Montserrat" pitchFamily="34" charset="-120"/>
                        </a:rPr>
                        <a:t>1.0</a:t>
                      </a:r>
                      <a:endParaRPr lang="en-US" sz="1000" dirty="0">
                        <a:latin typeface="Montserrat" charset="0"/>
                        <a:ea typeface="Montserrat" charset="0"/>
                        <a:cs typeface="Montserrat" charset="0"/>
                      </a:endParaRPr>
                    </a:p>
                  </a:txBody>
                  <a:tcPr marL="91440" marR="91440" marT="45720" marB="45720" anchor="ctr">
                    <a:lnL w="12700" cap="flat" cmpd="sng" algn="ctr">
                      <a:solidFill>
                        <a:srgbClr val="DCE2EF"/>
                      </a:solidFill>
                      <a:prstDash val="solid"/>
                      <a:round/>
                      <a:headEnd type="none" w="med" len="med"/>
                      <a:tailEnd type="none" w="med" len="med"/>
                    </a:lnL>
                    <a:lnR w="12700" cap="flat" cmpd="sng" algn="ctr">
                      <a:solidFill>
                        <a:srgbClr val="DCE2EF"/>
                      </a:solidFill>
                      <a:prstDash val="solid"/>
                      <a:round/>
                      <a:headEnd type="none" w="med" len="med"/>
                      <a:tailEnd type="none" w="med" len="med"/>
                    </a:lnR>
                    <a:lnT w="12700" cap="flat" cmpd="sng" algn="ctr">
                      <a:solidFill>
                        <a:srgbClr val="DCE2EF"/>
                      </a:solidFill>
                      <a:prstDash val="solid"/>
                      <a:round/>
                      <a:headEnd type="none" w="med" len="med"/>
                      <a:tailEnd type="none" w="med" len="med"/>
                    </a:lnT>
                    <a:lnB w="12700" cap="flat" cmpd="sng" algn="ctr">
                      <a:solidFill>
                        <a:srgbClr val="DCE2EF"/>
                      </a:solidFill>
                      <a:prstDash val="solid"/>
                      <a:round/>
                      <a:headEnd type="none" w="med" len="med"/>
                      <a:tailEnd type="none" w="med" len="med"/>
                    </a:lnB>
                    <a:solidFill>
                      <a:srgbClr val="F4F6FB"/>
                    </a:solidFill>
                  </a:tcPr>
                </a:tc>
                <a:tc>
                  <a:txBody>
                    <a:bodyPr/>
                    <a:lstStyle/>
                    <a:p>
                      <a:pPr indent="0" marL="0">
                        <a:buNone/>
                      </a:pPr>
                      <a:r>
                        <a:rPr lang="en-US" sz="1000" dirty="0">
                          <a:solidFill>
                            <a:srgbClr val="16181D"/>
                          </a:solidFill>
                          <a:latin typeface="Montserrat" pitchFamily="34" charset="0"/>
                          <a:ea typeface="Montserrat" pitchFamily="34" charset="-122"/>
                          <a:cs typeface="Montserrat" pitchFamily="34" charset="-120"/>
                        </a:rPr>
                        <a:t>0</a:t>
                      </a:r>
                      <a:endParaRPr lang="en-US" sz="1000" dirty="0">
                        <a:latin typeface="Montserrat" charset="0"/>
                        <a:ea typeface="Montserrat" charset="0"/>
                        <a:cs typeface="Montserrat" charset="0"/>
                      </a:endParaRPr>
                    </a:p>
                  </a:txBody>
                  <a:tcPr marL="91440" marR="91440" marT="45720" marB="45720" anchor="ctr">
                    <a:lnL w="12700" cap="flat" cmpd="sng" algn="ctr">
                      <a:solidFill>
                        <a:srgbClr val="DCE2EF"/>
                      </a:solidFill>
                      <a:prstDash val="solid"/>
                      <a:round/>
                      <a:headEnd type="none" w="med" len="med"/>
                      <a:tailEnd type="none" w="med" len="med"/>
                    </a:lnL>
                    <a:lnR w="12700" cap="flat" cmpd="sng" algn="ctr">
                      <a:solidFill>
                        <a:srgbClr val="DCE2EF"/>
                      </a:solidFill>
                      <a:prstDash val="solid"/>
                      <a:round/>
                      <a:headEnd type="none" w="med" len="med"/>
                      <a:tailEnd type="none" w="med" len="med"/>
                    </a:lnR>
                    <a:lnT w="12700" cap="flat" cmpd="sng" algn="ctr">
                      <a:solidFill>
                        <a:srgbClr val="DCE2EF"/>
                      </a:solidFill>
                      <a:prstDash val="solid"/>
                      <a:round/>
                      <a:headEnd type="none" w="med" len="med"/>
                      <a:tailEnd type="none" w="med" len="med"/>
                    </a:lnT>
                    <a:lnB w="12700" cap="flat" cmpd="sng" algn="ctr">
                      <a:solidFill>
                        <a:srgbClr val="DCE2EF"/>
                      </a:solidFill>
                      <a:prstDash val="solid"/>
                      <a:round/>
                      <a:headEnd type="none" w="med" len="med"/>
                      <a:tailEnd type="none" w="med" len="med"/>
                    </a:lnB>
                    <a:solidFill>
                      <a:srgbClr val="F4F6FB"/>
                    </a:solidFill>
                  </a:tcPr>
                </a:tc>
              </a:tr>
              <a:tr h="365760">
                <a:tc>
                  <a:txBody>
                    <a:bodyPr/>
                    <a:lstStyle/>
                    <a:p>
                      <a:pPr indent="0" marL="0">
                        <a:buNone/>
                      </a:pPr>
                      <a:r>
                        <a:rPr lang="en-US" sz="1000" b="1" dirty="0">
                          <a:solidFill>
                            <a:srgbClr val="16181D"/>
                          </a:solidFill>
                          <a:latin typeface="Montserrat" pitchFamily="34" charset="0"/>
                          <a:ea typeface="Montserrat" pitchFamily="34" charset="-122"/>
                          <a:cs typeface="Montserrat" pitchFamily="34" charset="-120"/>
                        </a:rPr>
                        <a:t>CoT</a:t>
                      </a:r>
                      <a:endParaRPr lang="en-US" sz="1000" dirty="0">
                        <a:latin typeface="Montserrat" charset="0"/>
                        <a:ea typeface="Montserrat" charset="0"/>
                        <a:cs typeface="Montserrat" charset="0"/>
                      </a:endParaRPr>
                    </a:p>
                  </a:txBody>
                  <a:tcPr marL="91440" marR="91440" marT="45720" marB="45720" anchor="ctr">
                    <a:lnL w="12700" cap="flat" cmpd="sng" algn="ctr">
                      <a:solidFill>
                        <a:srgbClr val="DCE2EF"/>
                      </a:solidFill>
                      <a:prstDash val="solid"/>
                      <a:round/>
                      <a:headEnd type="none" w="med" len="med"/>
                      <a:tailEnd type="none" w="med" len="med"/>
                    </a:lnL>
                    <a:lnR w="12700" cap="flat" cmpd="sng" algn="ctr">
                      <a:solidFill>
                        <a:srgbClr val="DCE2EF"/>
                      </a:solidFill>
                      <a:prstDash val="solid"/>
                      <a:round/>
                      <a:headEnd type="none" w="med" len="med"/>
                      <a:tailEnd type="none" w="med" len="med"/>
                    </a:lnR>
                    <a:lnT w="12700" cap="flat" cmpd="sng" algn="ctr">
                      <a:solidFill>
                        <a:srgbClr val="DCE2EF"/>
                      </a:solidFill>
                      <a:prstDash val="solid"/>
                      <a:round/>
                      <a:headEnd type="none" w="med" len="med"/>
                      <a:tailEnd type="none" w="med" len="med"/>
                    </a:lnT>
                    <a:lnB w="12700" cap="flat" cmpd="sng" algn="ctr">
                      <a:solidFill>
                        <a:srgbClr val="DCE2EF"/>
                      </a:solidFill>
                      <a:prstDash val="solid"/>
                      <a:round/>
                      <a:headEnd type="none" w="med" len="med"/>
                      <a:tailEnd type="none" w="med" len="med"/>
                    </a:lnB>
                    <a:solidFill>
                      <a:srgbClr val="FFFFFF"/>
                    </a:solidFill>
                  </a:tcPr>
                </a:tc>
                <a:tc>
                  <a:txBody>
                    <a:bodyPr/>
                    <a:lstStyle/>
                    <a:p>
                      <a:pPr indent="0" marL="0">
                        <a:buNone/>
                      </a:pPr>
                      <a:r>
                        <a:rPr lang="en-US" sz="1000" dirty="0">
                          <a:solidFill>
                            <a:srgbClr val="16181D"/>
                          </a:solidFill>
                          <a:latin typeface="Montserrat" pitchFamily="34" charset="0"/>
                          <a:ea typeface="Montserrat" pitchFamily="34" charset="-122"/>
                          <a:cs typeface="Montserrat" pitchFamily="34" charset="-120"/>
                        </a:rPr>
                        <a:t>2.0</a:t>
                      </a:r>
                      <a:endParaRPr lang="en-US" sz="1000" dirty="0">
                        <a:latin typeface="Montserrat" charset="0"/>
                        <a:ea typeface="Montserrat" charset="0"/>
                        <a:cs typeface="Montserrat" charset="0"/>
                      </a:endParaRPr>
                    </a:p>
                  </a:txBody>
                  <a:tcPr marL="91440" marR="91440" marT="45720" marB="45720" anchor="ctr">
                    <a:lnL w="12700" cap="flat" cmpd="sng" algn="ctr">
                      <a:solidFill>
                        <a:srgbClr val="DCE2EF"/>
                      </a:solidFill>
                      <a:prstDash val="solid"/>
                      <a:round/>
                      <a:headEnd type="none" w="med" len="med"/>
                      <a:tailEnd type="none" w="med" len="med"/>
                    </a:lnL>
                    <a:lnR w="12700" cap="flat" cmpd="sng" algn="ctr">
                      <a:solidFill>
                        <a:srgbClr val="DCE2EF"/>
                      </a:solidFill>
                      <a:prstDash val="solid"/>
                      <a:round/>
                      <a:headEnd type="none" w="med" len="med"/>
                      <a:tailEnd type="none" w="med" len="med"/>
                    </a:lnR>
                    <a:lnT w="12700" cap="flat" cmpd="sng" algn="ctr">
                      <a:solidFill>
                        <a:srgbClr val="DCE2EF"/>
                      </a:solidFill>
                      <a:prstDash val="solid"/>
                      <a:round/>
                      <a:headEnd type="none" w="med" len="med"/>
                      <a:tailEnd type="none" w="med" len="med"/>
                    </a:lnT>
                    <a:lnB w="12700" cap="flat" cmpd="sng" algn="ctr">
                      <a:solidFill>
                        <a:srgbClr val="DCE2EF"/>
                      </a:solidFill>
                      <a:prstDash val="solid"/>
                      <a:round/>
                      <a:headEnd type="none" w="med" len="med"/>
                      <a:tailEnd type="none" w="med" len="med"/>
                    </a:lnB>
                    <a:solidFill>
                      <a:srgbClr val="FFFFFF"/>
                    </a:solidFill>
                  </a:tcPr>
                </a:tc>
                <a:tc>
                  <a:txBody>
                    <a:bodyPr/>
                    <a:lstStyle/>
                    <a:p>
                      <a:pPr indent="0" marL="0">
                        <a:buNone/>
                      </a:pPr>
                      <a:r>
                        <a:rPr lang="en-US" sz="1000" dirty="0">
                          <a:solidFill>
                            <a:srgbClr val="16181D"/>
                          </a:solidFill>
                          <a:latin typeface="Montserrat" pitchFamily="34" charset="0"/>
                          <a:ea typeface="Montserrat" pitchFamily="34" charset="-122"/>
                          <a:cs typeface="Montserrat" pitchFamily="34" charset="-120"/>
                        </a:rPr>
                        <a:t>2.0</a:t>
                      </a:r>
                      <a:endParaRPr lang="en-US" sz="1000" dirty="0">
                        <a:latin typeface="Montserrat" charset="0"/>
                        <a:ea typeface="Montserrat" charset="0"/>
                        <a:cs typeface="Montserrat" charset="0"/>
                      </a:endParaRPr>
                    </a:p>
                  </a:txBody>
                  <a:tcPr marL="91440" marR="91440" marT="45720" marB="45720" anchor="ctr">
                    <a:lnL w="12700" cap="flat" cmpd="sng" algn="ctr">
                      <a:solidFill>
                        <a:srgbClr val="DCE2EF"/>
                      </a:solidFill>
                      <a:prstDash val="solid"/>
                      <a:round/>
                      <a:headEnd type="none" w="med" len="med"/>
                      <a:tailEnd type="none" w="med" len="med"/>
                    </a:lnL>
                    <a:lnR w="12700" cap="flat" cmpd="sng" algn="ctr">
                      <a:solidFill>
                        <a:srgbClr val="DCE2EF"/>
                      </a:solidFill>
                      <a:prstDash val="solid"/>
                      <a:round/>
                      <a:headEnd type="none" w="med" len="med"/>
                      <a:tailEnd type="none" w="med" len="med"/>
                    </a:lnR>
                    <a:lnT w="12700" cap="flat" cmpd="sng" algn="ctr">
                      <a:solidFill>
                        <a:srgbClr val="DCE2EF"/>
                      </a:solidFill>
                      <a:prstDash val="solid"/>
                      <a:round/>
                      <a:headEnd type="none" w="med" len="med"/>
                      <a:tailEnd type="none" w="med" len="med"/>
                    </a:lnT>
                    <a:lnB w="12700" cap="flat" cmpd="sng" algn="ctr">
                      <a:solidFill>
                        <a:srgbClr val="DCE2EF"/>
                      </a:solidFill>
                      <a:prstDash val="solid"/>
                      <a:round/>
                      <a:headEnd type="none" w="med" len="med"/>
                      <a:tailEnd type="none" w="med" len="med"/>
                    </a:lnB>
                    <a:solidFill>
                      <a:srgbClr val="FFFFFF"/>
                    </a:solidFill>
                  </a:tcPr>
                </a:tc>
                <a:tc>
                  <a:txBody>
                    <a:bodyPr/>
                    <a:lstStyle/>
                    <a:p>
                      <a:pPr indent="0" marL="0">
                        <a:buNone/>
                      </a:pPr>
                      <a:r>
                        <a:rPr lang="en-US" sz="1000" dirty="0">
                          <a:solidFill>
                            <a:srgbClr val="16181D"/>
                          </a:solidFill>
                          <a:latin typeface="Montserrat" pitchFamily="34" charset="0"/>
                          <a:ea typeface="Montserrat" pitchFamily="34" charset="-122"/>
                          <a:cs typeface="Montserrat" pitchFamily="34" charset="-120"/>
                        </a:rPr>
                        <a:t>0</a:t>
                      </a:r>
                      <a:endParaRPr lang="en-US" sz="1000" dirty="0">
                        <a:latin typeface="Montserrat" charset="0"/>
                        <a:ea typeface="Montserrat" charset="0"/>
                        <a:cs typeface="Montserrat" charset="0"/>
                      </a:endParaRPr>
                    </a:p>
                  </a:txBody>
                  <a:tcPr marL="91440" marR="91440" marT="45720" marB="45720" anchor="ctr">
                    <a:lnL w="12700" cap="flat" cmpd="sng" algn="ctr">
                      <a:solidFill>
                        <a:srgbClr val="DCE2EF"/>
                      </a:solidFill>
                      <a:prstDash val="solid"/>
                      <a:round/>
                      <a:headEnd type="none" w="med" len="med"/>
                      <a:tailEnd type="none" w="med" len="med"/>
                    </a:lnL>
                    <a:lnR w="12700" cap="flat" cmpd="sng" algn="ctr">
                      <a:solidFill>
                        <a:srgbClr val="DCE2EF"/>
                      </a:solidFill>
                      <a:prstDash val="solid"/>
                      <a:round/>
                      <a:headEnd type="none" w="med" len="med"/>
                      <a:tailEnd type="none" w="med" len="med"/>
                    </a:lnR>
                    <a:lnT w="12700" cap="flat" cmpd="sng" algn="ctr">
                      <a:solidFill>
                        <a:srgbClr val="DCE2EF"/>
                      </a:solidFill>
                      <a:prstDash val="solid"/>
                      <a:round/>
                      <a:headEnd type="none" w="med" len="med"/>
                      <a:tailEnd type="none" w="med" len="med"/>
                    </a:lnT>
                    <a:lnB w="12700" cap="flat" cmpd="sng" algn="ctr">
                      <a:solidFill>
                        <a:srgbClr val="DCE2EF"/>
                      </a:solidFill>
                      <a:prstDash val="solid"/>
                      <a:round/>
                      <a:headEnd type="none" w="med" len="med"/>
                      <a:tailEnd type="none" w="med" len="med"/>
                    </a:lnB>
                    <a:solidFill>
                      <a:srgbClr val="FFFFFF"/>
                    </a:solidFill>
                  </a:tcPr>
                </a:tc>
              </a:tr>
              <a:tr h="365760">
                <a:tc>
                  <a:txBody>
                    <a:bodyPr/>
                    <a:lstStyle/>
                    <a:p>
                      <a:pPr indent="0" marL="0">
                        <a:buNone/>
                      </a:pPr>
                      <a:r>
                        <a:rPr lang="en-US" sz="1000" b="1" dirty="0">
                          <a:solidFill>
                            <a:srgbClr val="16181D"/>
                          </a:solidFill>
                          <a:latin typeface="Montserrat" pitchFamily="34" charset="0"/>
                          <a:ea typeface="Montserrat" pitchFamily="34" charset="-122"/>
                          <a:cs typeface="Montserrat" pitchFamily="34" charset="-120"/>
                        </a:rPr>
                        <a:t>CoT-SC</a:t>
                      </a:r>
                      <a:endParaRPr lang="en-US" sz="1000" dirty="0">
                        <a:latin typeface="Montserrat" charset="0"/>
                        <a:ea typeface="Montserrat" charset="0"/>
                        <a:cs typeface="Montserrat" charset="0"/>
                      </a:endParaRPr>
                    </a:p>
                  </a:txBody>
                  <a:tcPr marL="91440" marR="91440" marT="45720" marB="45720" anchor="ctr">
                    <a:lnL w="12700" cap="flat" cmpd="sng" algn="ctr">
                      <a:solidFill>
                        <a:srgbClr val="DCE2EF"/>
                      </a:solidFill>
                      <a:prstDash val="solid"/>
                      <a:round/>
                      <a:headEnd type="none" w="med" len="med"/>
                      <a:tailEnd type="none" w="med" len="med"/>
                    </a:lnL>
                    <a:lnR w="12700" cap="flat" cmpd="sng" algn="ctr">
                      <a:solidFill>
                        <a:srgbClr val="DCE2EF"/>
                      </a:solidFill>
                      <a:prstDash val="solid"/>
                      <a:round/>
                      <a:headEnd type="none" w="med" len="med"/>
                      <a:tailEnd type="none" w="med" len="med"/>
                    </a:lnR>
                    <a:lnT w="12700" cap="flat" cmpd="sng" algn="ctr">
                      <a:solidFill>
                        <a:srgbClr val="DCE2EF"/>
                      </a:solidFill>
                      <a:prstDash val="solid"/>
                      <a:round/>
                      <a:headEnd type="none" w="med" len="med"/>
                      <a:tailEnd type="none" w="med" len="med"/>
                    </a:lnT>
                    <a:lnB w="12700" cap="flat" cmpd="sng" algn="ctr">
                      <a:solidFill>
                        <a:srgbClr val="DCE2EF"/>
                      </a:solidFill>
                      <a:prstDash val="solid"/>
                      <a:round/>
                      <a:headEnd type="none" w="med" len="med"/>
                      <a:tailEnd type="none" w="med" len="med"/>
                    </a:lnB>
                    <a:solidFill>
                      <a:srgbClr val="F4F6FB"/>
                    </a:solidFill>
                  </a:tcPr>
                </a:tc>
                <a:tc>
                  <a:txBody>
                    <a:bodyPr/>
                    <a:lstStyle/>
                    <a:p>
                      <a:pPr indent="0" marL="0">
                        <a:buNone/>
                      </a:pPr>
                      <a:r>
                        <a:rPr lang="en-US" sz="1000" dirty="0">
                          <a:solidFill>
                            <a:srgbClr val="16181D"/>
                          </a:solidFill>
                          <a:latin typeface="Montserrat" pitchFamily="34" charset="0"/>
                          <a:ea typeface="Montserrat" pitchFamily="34" charset="-122"/>
                          <a:cs typeface="Montserrat" pitchFamily="34" charset="-120"/>
                        </a:rPr>
                        <a:t>2.0</a:t>
                      </a:r>
                      <a:endParaRPr lang="en-US" sz="1000" dirty="0">
                        <a:latin typeface="Montserrat" charset="0"/>
                        <a:ea typeface="Montserrat" charset="0"/>
                        <a:cs typeface="Montserrat" charset="0"/>
                      </a:endParaRPr>
                    </a:p>
                  </a:txBody>
                  <a:tcPr marL="91440" marR="91440" marT="45720" marB="45720" anchor="ctr">
                    <a:lnL w="12700" cap="flat" cmpd="sng" algn="ctr">
                      <a:solidFill>
                        <a:srgbClr val="DCE2EF"/>
                      </a:solidFill>
                      <a:prstDash val="solid"/>
                      <a:round/>
                      <a:headEnd type="none" w="med" len="med"/>
                      <a:tailEnd type="none" w="med" len="med"/>
                    </a:lnL>
                    <a:lnR w="12700" cap="flat" cmpd="sng" algn="ctr">
                      <a:solidFill>
                        <a:srgbClr val="DCE2EF"/>
                      </a:solidFill>
                      <a:prstDash val="solid"/>
                      <a:round/>
                      <a:headEnd type="none" w="med" len="med"/>
                      <a:tailEnd type="none" w="med" len="med"/>
                    </a:lnR>
                    <a:lnT w="12700" cap="flat" cmpd="sng" algn="ctr">
                      <a:solidFill>
                        <a:srgbClr val="DCE2EF"/>
                      </a:solidFill>
                      <a:prstDash val="solid"/>
                      <a:round/>
                      <a:headEnd type="none" w="med" len="med"/>
                      <a:tailEnd type="none" w="med" len="med"/>
                    </a:lnT>
                    <a:lnB w="12700" cap="flat" cmpd="sng" algn="ctr">
                      <a:solidFill>
                        <a:srgbClr val="DCE2EF"/>
                      </a:solidFill>
                      <a:prstDash val="solid"/>
                      <a:round/>
                      <a:headEnd type="none" w="med" len="med"/>
                      <a:tailEnd type="none" w="med" len="med"/>
                    </a:lnB>
                    <a:solidFill>
                      <a:srgbClr val="F4F6FB"/>
                    </a:solidFill>
                  </a:tcPr>
                </a:tc>
                <a:tc>
                  <a:txBody>
                    <a:bodyPr/>
                    <a:lstStyle/>
                    <a:p>
                      <a:pPr indent="0" marL="0">
                        <a:buNone/>
                      </a:pPr>
                      <a:r>
                        <a:rPr lang="en-US" sz="1000" dirty="0">
                          <a:solidFill>
                            <a:srgbClr val="16181D"/>
                          </a:solidFill>
                          <a:latin typeface="Montserrat" pitchFamily="34" charset="0"/>
                          <a:ea typeface="Montserrat" pitchFamily="34" charset="-122"/>
                          <a:cs typeface="Montserrat" pitchFamily="34" charset="-120"/>
                        </a:rPr>
                        <a:t>2.0</a:t>
                      </a:r>
                      <a:endParaRPr lang="en-US" sz="1000" dirty="0">
                        <a:latin typeface="Montserrat" charset="0"/>
                        <a:ea typeface="Montserrat" charset="0"/>
                        <a:cs typeface="Montserrat" charset="0"/>
                      </a:endParaRPr>
                    </a:p>
                  </a:txBody>
                  <a:tcPr marL="91440" marR="91440" marT="45720" marB="45720" anchor="ctr">
                    <a:lnL w="12700" cap="flat" cmpd="sng" algn="ctr">
                      <a:solidFill>
                        <a:srgbClr val="DCE2EF"/>
                      </a:solidFill>
                      <a:prstDash val="solid"/>
                      <a:round/>
                      <a:headEnd type="none" w="med" len="med"/>
                      <a:tailEnd type="none" w="med" len="med"/>
                    </a:lnL>
                    <a:lnR w="12700" cap="flat" cmpd="sng" algn="ctr">
                      <a:solidFill>
                        <a:srgbClr val="DCE2EF"/>
                      </a:solidFill>
                      <a:prstDash val="solid"/>
                      <a:round/>
                      <a:headEnd type="none" w="med" len="med"/>
                      <a:tailEnd type="none" w="med" len="med"/>
                    </a:lnR>
                    <a:lnT w="12700" cap="flat" cmpd="sng" algn="ctr">
                      <a:solidFill>
                        <a:srgbClr val="DCE2EF"/>
                      </a:solidFill>
                      <a:prstDash val="solid"/>
                      <a:round/>
                      <a:headEnd type="none" w="med" len="med"/>
                      <a:tailEnd type="none" w="med" len="med"/>
                    </a:lnT>
                    <a:lnB w="12700" cap="flat" cmpd="sng" algn="ctr">
                      <a:solidFill>
                        <a:srgbClr val="DCE2EF"/>
                      </a:solidFill>
                      <a:prstDash val="solid"/>
                      <a:round/>
                      <a:headEnd type="none" w="med" len="med"/>
                      <a:tailEnd type="none" w="med" len="med"/>
                    </a:lnB>
                    <a:solidFill>
                      <a:srgbClr val="F4F6FB"/>
                    </a:solidFill>
                  </a:tcPr>
                </a:tc>
                <a:tc>
                  <a:txBody>
                    <a:bodyPr/>
                    <a:lstStyle/>
                    <a:p>
                      <a:pPr indent="0" marL="0">
                        <a:buNone/>
                      </a:pPr>
                      <a:r>
                        <a:rPr lang="en-US" sz="1000" dirty="0">
                          <a:solidFill>
                            <a:srgbClr val="16181D"/>
                          </a:solidFill>
                          <a:latin typeface="Montserrat" pitchFamily="34" charset="0"/>
                          <a:ea typeface="Montserrat" pitchFamily="34" charset="-122"/>
                          <a:cs typeface="Montserrat" pitchFamily="34" charset="-120"/>
                        </a:rPr>
                        <a:t>0</a:t>
                      </a:r>
                      <a:endParaRPr lang="en-US" sz="1000" dirty="0">
                        <a:latin typeface="Montserrat" charset="0"/>
                        <a:ea typeface="Montserrat" charset="0"/>
                        <a:cs typeface="Montserrat" charset="0"/>
                      </a:endParaRPr>
                    </a:p>
                  </a:txBody>
                  <a:tcPr marL="91440" marR="91440" marT="45720" marB="45720" anchor="ctr">
                    <a:lnL w="12700" cap="flat" cmpd="sng" algn="ctr">
                      <a:solidFill>
                        <a:srgbClr val="DCE2EF"/>
                      </a:solidFill>
                      <a:prstDash val="solid"/>
                      <a:round/>
                      <a:headEnd type="none" w="med" len="med"/>
                      <a:tailEnd type="none" w="med" len="med"/>
                    </a:lnL>
                    <a:lnR w="12700" cap="flat" cmpd="sng" algn="ctr">
                      <a:solidFill>
                        <a:srgbClr val="DCE2EF"/>
                      </a:solidFill>
                      <a:prstDash val="solid"/>
                      <a:round/>
                      <a:headEnd type="none" w="med" len="med"/>
                      <a:tailEnd type="none" w="med" len="med"/>
                    </a:lnR>
                    <a:lnT w="12700" cap="flat" cmpd="sng" algn="ctr">
                      <a:solidFill>
                        <a:srgbClr val="DCE2EF"/>
                      </a:solidFill>
                      <a:prstDash val="solid"/>
                      <a:round/>
                      <a:headEnd type="none" w="med" len="med"/>
                      <a:tailEnd type="none" w="med" len="med"/>
                    </a:lnT>
                    <a:lnB w="12700" cap="flat" cmpd="sng" algn="ctr">
                      <a:solidFill>
                        <a:srgbClr val="DCE2EF"/>
                      </a:solidFill>
                      <a:prstDash val="solid"/>
                      <a:round/>
                      <a:headEnd type="none" w="med" len="med"/>
                      <a:tailEnd type="none" w="med" len="med"/>
                    </a:lnB>
                    <a:solidFill>
                      <a:srgbClr val="F4F6FB"/>
                    </a:solidFill>
                  </a:tcPr>
                </a:tc>
              </a:tr>
              <a:tr h="365760">
                <a:tc>
                  <a:txBody>
                    <a:bodyPr/>
                    <a:lstStyle/>
                    <a:p>
                      <a:pPr indent="0" marL="0">
                        <a:buNone/>
                      </a:pPr>
                      <a:r>
                        <a:rPr lang="en-US" sz="1000" b="1" dirty="0">
                          <a:solidFill>
                            <a:srgbClr val="16181D"/>
                          </a:solidFill>
                          <a:latin typeface="Montserrat" pitchFamily="34" charset="0"/>
                          <a:ea typeface="Montserrat" pitchFamily="34" charset="-122"/>
                          <a:cs typeface="Montserrat" pitchFamily="34" charset="-120"/>
                        </a:rPr>
                        <a:t>ToT</a:t>
                      </a:r>
                      <a:endParaRPr lang="en-US" sz="1000" dirty="0">
                        <a:latin typeface="Montserrat" charset="0"/>
                        <a:ea typeface="Montserrat" charset="0"/>
                        <a:cs typeface="Montserrat" charset="0"/>
                      </a:endParaRPr>
                    </a:p>
                  </a:txBody>
                  <a:tcPr marL="91440" marR="91440" marT="45720" marB="45720" anchor="ctr">
                    <a:lnL w="12700" cap="flat" cmpd="sng" algn="ctr">
                      <a:solidFill>
                        <a:srgbClr val="DCE2EF"/>
                      </a:solidFill>
                      <a:prstDash val="solid"/>
                      <a:round/>
                      <a:headEnd type="none" w="med" len="med"/>
                      <a:tailEnd type="none" w="med" len="med"/>
                    </a:lnL>
                    <a:lnR w="12700" cap="flat" cmpd="sng" algn="ctr">
                      <a:solidFill>
                        <a:srgbClr val="DCE2EF"/>
                      </a:solidFill>
                      <a:prstDash val="solid"/>
                      <a:round/>
                      <a:headEnd type="none" w="med" len="med"/>
                      <a:tailEnd type="none" w="med" len="med"/>
                    </a:lnR>
                    <a:lnT w="12700" cap="flat" cmpd="sng" algn="ctr">
                      <a:solidFill>
                        <a:srgbClr val="DCE2EF"/>
                      </a:solidFill>
                      <a:prstDash val="solid"/>
                      <a:round/>
                      <a:headEnd type="none" w="med" len="med"/>
                      <a:tailEnd type="none" w="med" len="med"/>
                    </a:lnT>
                    <a:lnB w="12700" cap="flat" cmpd="sng" algn="ctr">
                      <a:solidFill>
                        <a:srgbClr val="DCE2EF"/>
                      </a:solidFill>
                      <a:prstDash val="solid"/>
                      <a:round/>
                      <a:headEnd type="none" w="med" len="med"/>
                      <a:tailEnd type="none" w="med" len="med"/>
                    </a:lnB>
                    <a:solidFill>
                      <a:srgbClr val="FFFFFF"/>
                    </a:solidFill>
                  </a:tcPr>
                </a:tc>
                <a:tc>
                  <a:txBody>
                    <a:bodyPr/>
                    <a:lstStyle/>
                    <a:p>
                      <a:pPr indent="0" marL="0">
                        <a:buNone/>
                      </a:pPr>
                      <a:r>
                        <a:rPr lang="en-US" sz="1000" dirty="0">
                          <a:solidFill>
                            <a:srgbClr val="16181D"/>
                          </a:solidFill>
                          <a:latin typeface="Montserrat" pitchFamily="34" charset="0"/>
                          <a:ea typeface="Montserrat" pitchFamily="34" charset="-122"/>
                          <a:cs typeface="Montserrat" pitchFamily="34" charset="-120"/>
                        </a:rPr>
                        <a:t>5.3</a:t>
                      </a:r>
                      <a:endParaRPr lang="en-US" sz="1000" dirty="0">
                        <a:latin typeface="Montserrat" charset="0"/>
                        <a:ea typeface="Montserrat" charset="0"/>
                        <a:cs typeface="Montserrat" charset="0"/>
                      </a:endParaRPr>
                    </a:p>
                  </a:txBody>
                  <a:tcPr marL="91440" marR="91440" marT="45720" marB="45720" anchor="ctr">
                    <a:lnL w="12700" cap="flat" cmpd="sng" algn="ctr">
                      <a:solidFill>
                        <a:srgbClr val="DCE2EF"/>
                      </a:solidFill>
                      <a:prstDash val="solid"/>
                      <a:round/>
                      <a:headEnd type="none" w="med" len="med"/>
                      <a:tailEnd type="none" w="med" len="med"/>
                    </a:lnL>
                    <a:lnR w="12700" cap="flat" cmpd="sng" algn="ctr">
                      <a:solidFill>
                        <a:srgbClr val="DCE2EF"/>
                      </a:solidFill>
                      <a:prstDash val="solid"/>
                      <a:round/>
                      <a:headEnd type="none" w="med" len="med"/>
                      <a:tailEnd type="none" w="med" len="med"/>
                    </a:lnR>
                    <a:lnT w="12700" cap="flat" cmpd="sng" algn="ctr">
                      <a:solidFill>
                        <a:srgbClr val="DCE2EF"/>
                      </a:solidFill>
                      <a:prstDash val="solid"/>
                      <a:round/>
                      <a:headEnd type="none" w="med" len="med"/>
                      <a:tailEnd type="none" w="med" len="med"/>
                    </a:lnT>
                    <a:lnB w="12700" cap="flat" cmpd="sng" algn="ctr">
                      <a:solidFill>
                        <a:srgbClr val="DCE2EF"/>
                      </a:solidFill>
                      <a:prstDash val="solid"/>
                      <a:round/>
                      <a:headEnd type="none" w="med" len="med"/>
                      <a:tailEnd type="none" w="med" len="med"/>
                    </a:lnB>
                    <a:solidFill>
                      <a:srgbClr val="FFFFFF"/>
                    </a:solidFill>
                  </a:tcPr>
                </a:tc>
                <a:tc>
                  <a:txBody>
                    <a:bodyPr/>
                    <a:lstStyle/>
                    <a:p>
                      <a:pPr indent="0" marL="0">
                        <a:buNone/>
                      </a:pPr>
                      <a:r>
                        <a:rPr lang="en-US" sz="1000" dirty="0">
                          <a:solidFill>
                            <a:srgbClr val="16181D"/>
                          </a:solidFill>
                          <a:latin typeface="Montserrat" pitchFamily="34" charset="0"/>
                          <a:ea typeface="Montserrat" pitchFamily="34" charset="-122"/>
                          <a:cs typeface="Montserrat" pitchFamily="34" charset="-120"/>
                        </a:rPr>
                        <a:t>5.3</a:t>
                      </a:r>
                      <a:endParaRPr lang="en-US" sz="1000" dirty="0">
                        <a:latin typeface="Montserrat" charset="0"/>
                        <a:ea typeface="Montserrat" charset="0"/>
                        <a:cs typeface="Montserrat" charset="0"/>
                      </a:endParaRPr>
                    </a:p>
                  </a:txBody>
                  <a:tcPr marL="91440" marR="91440" marT="45720" marB="45720" anchor="ctr">
                    <a:lnL w="12700" cap="flat" cmpd="sng" algn="ctr">
                      <a:solidFill>
                        <a:srgbClr val="DCE2EF"/>
                      </a:solidFill>
                      <a:prstDash val="solid"/>
                      <a:round/>
                      <a:headEnd type="none" w="med" len="med"/>
                      <a:tailEnd type="none" w="med" len="med"/>
                    </a:lnL>
                    <a:lnR w="12700" cap="flat" cmpd="sng" algn="ctr">
                      <a:solidFill>
                        <a:srgbClr val="DCE2EF"/>
                      </a:solidFill>
                      <a:prstDash val="solid"/>
                      <a:round/>
                      <a:headEnd type="none" w="med" len="med"/>
                      <a:tailEnd type="none" w="med" len="med"/>
                    </a:lnR>
                    <a:lnT w="12700" cap="flat" cmpd="sng" algn="ctr">
                      <a:solidFill>
                        <a:srgbClr val="DCE2EF"/>
                      </a:solidFill>
                      <a:prstDash val="solid"/>
                      <a:round/>
                      <a:headEnd type="none" w="med" len="med"/>
                      <a:tailEnd type="none" w="med" len="med"/>
                    </a:lnT>
                    <a:lnB w="12700" cap="flat" cmpd="sng" algn="ctr">
                      <a:solidFill>
                        <a:srgbClr val="DCE2EF"/>
                      </a:solidFill>
                      <a:prstDash val="solid"/>
                      <a:round/>
                      <a:headEnd type="none" w="med" len="med"/>
                      <a:tailEnd type="none" w="med" len="med"/>
                    </a:lnB>
                    <a:solidFill>
                      <a:srgbClr val="FFFFFF"/>
                    </a:solidFill>
                  </a:tcPr>
                </a:tc>
                <a:tc>
                  <a:txBody>
                    <a:bodyPr/>
                    <a:lstStyle/>
                    <a:p>
                      <a:pPr indent="0" marL="0">
                        <a:buNone/>
                      </a:pPr>
                      <a:r>
                        <a:rPr lang="en-US" sz="1000" dirty="0">
                          <a:solidFill>
                            <a:srgbClr val="16181D"/>
                          </a:solidFill>
                          <a:latin typeface="Montserrat" pitchFamily="34" charset="0"/>
                          <a:ea typeface="Montserrat" pitchFamily="34" charset="-122"/>
                          <a:cs typeface="Montserrat" pitchFamily="34" charset="-120"/>
                        </a:rPr>
                        <a:t>0</a:t>
                      </a:r>
                      <a:endParaRPr lang="en-US" sz="1000" dirty="0">
                        <a:latin typeface="Montserrat" charset="0"/>
                        <a:ea typeface="Montserrat" charset="0"/>
                        <a:cs typeface="Montserrat" charset="0"/>
                      </a:endParaRPr>
                    </a:p>
                  </a:txBody>
                  <a:tcPr marL="91440" marR="91440" marT="45720" marB="45720" anchor="ctr">
                    <a:lnL w="12700" cap="flat" cmpd="sng" algn="ctr">
                      <a:solidFill>
                        <a:srgbClr val="DCE2EF"/>
                      </a:solidFill>
                      <a:prstDash val="solid"/>
                      <a:round/>
                      <a:headEnd type="none" w="med" len="med"/>
                      <a:tailEnd type="none" w="med" len="med"/>
                    </a:lnL>
                    <a:lnR w="12700" cap="flat" cmpd="sng" algn="ctr">
                      <a:solidFill>
                        <a:srgbClr val="DCE2EF"/>
                      </a:solidFill>
                      <a:prstDash val="solid"/>
                      <a:round/>
                      <a:headEnd type="none" w="med" len="med"/>
                      <a:tailEnd type="none" w="med" len="med"/>
                    </a:lnR>
                    <a:lnT w="12700" cap="flat" cmpd="sng" algn="ctr">
                      <a:solidFill>
                        <a:srgbClr val="DCE2EF"/>
                      </a:solidFill>
                      <a:prstDash val="solid"/>
                      <a:round/>
                      <a:headEnd type="none" w="med" len="med"/>
                      <a:tailEnd type="none" w="med" len="med"/>
                    </a:lnT>
                    <a:lnB w="12700" cap="flat" cmpd="sng" algn="ctr">
                      <a:solidFill>
                        <a:srgbClr val="DCE2EF"/>
                      </a:solidFill>
                      <a:prstDash val="solid"/>
                      <a:round/>
                      <a:headEnd type="none" w="med" len="med"/>
                      <a:tailEnd type="none" w="med" len="med"/>
                    </a:lnB>
                    <a:solidFill>
                      <a:srgbClr val="FFFFFF"/>
                    </a:solidFill>
                  </a:tcPr>
                </a:tc>
              </a:tr>
              <a:tr h="365760">
                <a:tc>
                  <a:txBody>
                    <a:bodyPr/>
                    <a:lstStyle/>
                    <a:p>
                      <a:pPr indent="0" marL="0">
                        <a:buNone/>
                      </a:pPr>
                      <a:r>
                        <a:rPr lang="en-US" sz="1000" b="1" dirty="0">
                          <a:solidFill>
                            <a:srgbClr val="D98A1F"/>
                          </a:solidFill>
                          <a:latin typeface="Montserrat" pitchFamily="34" charset="0"/>
                          <a:ea typeface="Montserrat" pitchFamily="34" charset="-122"/>
                          <a:cs typeface="Montserrat" pitchFamily="34" charset="-120"/>
                        </a:rPr>
                        <a:t>GoT</a:t>
                      </a:r>
                      <a:endParaRPr lang="en-US" sz="1000" dirty="0">
                        <a:latin typeface="Montserrat" charset="0"/>
                        <a:ea typeface="Montserrat" charset="0"/>
                        <a:cs typeface="Montserrat" charset="0"/>
                      </a:endParaRPr>
                    </a:p>
                  </a:txBody>
                  <a:tcPr marL="91440" marR="91440" marT="45720" marB="45720" anchor="ctr">
                    <a:lnL w="12700" cap="flat" cmpd="sng" algn="ctr">
                      <a:solidFill>
                        <a:srgbClr val="DCE2EF"/>
                      </a:solidFill>
                      <a:prstDash val="solid"/>
                      <a:round/>
                      <a:headEnd type="none" w="med" len="med"/>
                      <a:tailEnd type="none" w="med" len="med"/>
                    </a:lnL>
                    <a:lnR w="12700" cap="flat" cmpd="sng" algn="ctr">
                      <a:solidFill>
                        <a:srgbClr val="DCE2EF"/>
                      </a:solidFill>
                      <a:prstDash val="solid"/>
                      <a:round/>
                      <a:headEnd type="none" w="med" len="med"/>
                      <a:tailEnd type="none" w="med" len="med"/>
                    </a:lnR>
                    <a:lnT w="12700" cap="flat" cmpd="sng" algn="ctr">
                      <a:solidFill>
                        <a:srgbClr val="DCE2EF"/>
                      </a:solidFill>
                      <a:prstDash val="solid"/>
                      <a:round/>
                      <a:headEnd type="none" w="med" len="med"/>
                      <a:tailEnd type="none" w="med" len="med"/>
                    </a:lnT>
                    <a:lnB w="12700" cap="flat" cmpd="sng" algn="ctr">
                      <a:solidFill>
                        <a:srgbClr val="DCE2EF"/>
                      </a:solidFill>
                      <a:prstDash val="solid"/>
                      <a:round/>
                      <a:headEnd type="none" w="med" len="med"/>
                      <a:tailEnd type="none" w="med" len="med"/>
                    </a:lnB>
                    <a:solidFill>
                      <a:srgbClr val="FDF3E3"/>
                    </a:solidFill>
                  </a:tcPr>
                </a:tc>
                <a:tc>
                  <a:txBody>
                    <a:bodyPr/>
                    <a:lstStyle/>
                    <a:p>
                      <a:pPr indent="0" marL="0">
                        <a:buNone/>
                      </a:pPr>
                      <a:r>
                        <a:rPr lang="en-US" sz="1000" b="1" dirty="0">
                          <a:solidFill>
                            <a:srgbClr val="D98A1F"/>
                          </a:solidFill>
                          <a:latin typeface="Montserrat" pitchFamily="34" charset="0"/>
                          <a:ea typeface="Montserrat" pitchFamily="34" charset="-122"/>
                          <a:cs typeface="Montserrat" pitchFamily="34" charset="-120"/>
                        </a:rPr>
                        <a:t>20.0</a:t>
                      </a:r>
                      <a:endParaRPr lang="en-US" sz="1000" dirty="0">
                        <a:latin typeface="Montserrat" charset="0"/>
                        <a:ea typeface="Montserrat" charset="0"/>
                        <a:cs typeface="Montserrat" charset="0"/>
                      </a:endParaRPr>
                    </a:p>
                  </a:txBody>
                  <a:tcPr marL="91440" marR="91440" marT="45720" marB="45720" anchor="ctr">
                    <a:lnL w="12700" cap="flat" cmpd="sng" algn="ctr">
                      <a:solidFill>
                        <a:srgbClr val="DCE2EF"/>
                      </a:solidFill>
                      <a:prstDash val="solid"/>
                      <a:round/>
                      <a:headEnd type="none" w="med" len="med"/>
                      <a:tailEnd type="none" w="med" len="med"/>
                    </a:lnL>
                    <a:lnR w="12700" cap="flat" cmpd="sng" algn="ctr">
                      <a:solidFill>
                        <a:srgbClr val="DCE2EF"/>
                      </a:solidFill>
                      <a:prstDash val="solid"/>
                      <a:round/>
                      <a:headEnd type="none" w="med" len="med"/>
                      <a:tailEnd type="none" w="med" len="med"/>
                    </a:lnR>
                    <a:lnT w="12700" cap="flat" cmpd="sng" algn="ctr">
                      <a:solidFill>
                        <a:srgbClr val="DCE2EF"/>
                      </a:solidFill>
                      <a:prstDash val="solid"/>
                      <a:round/>
                      <a:headEnd type="none" w="med" len="med"/>
                      <a:tailEnd type="none" w="med" len="med"/>
                    </a:lnT>
                    <a:lnB w="12700" cap="flat" cmpd="sng" algn="ctr">
                      <a:solidFill>
                        <a:srgbClr val="DCE2EF"/>
                      </a:solidFill>
                      <a:prstDash val="solid"/>
                      <a:round/>
                      <a:headEnd type="none" w="med" len="med"/>
                      <a:tailEnd type="none" w="med" len="med"/>
                    </a:lnB>
                    <a:solidFill>
                      <a:srgbClr val="FDF3E3"/>
                    </a:solidFill>
                  </a:tcPr>
                </a:tc>
                <a:tc>
                  <a:txBody>
                    <a:bodyPr/>
                    <a:lstStyle/>
                    <a:p>
                      <a:pPr indent="0" marL="0">
                        <a:buNone/>
                      </a:pPr>
                      <a:r>
                        <a:rPr lang="en-US" sz="1000" b="1" dirty="0">
                          <a:solidFill>
                            <a:srgbClr val="D98A1F"/>
                          </a:solidFill>
                          <a:latin typeface="Montserrat" pitchFamily="34" charset="0"/>
                          <a:ea typeface="Montserrat" pitchFamily="34" charset="-122"/>
                          <a:cs typeface="Montserrat" pitchFamily="34" charset="-120"/>
                        </a:rPr>
                        <a:t>9.0</a:t>
                      </a:r>
                      <a:endParaRPr lang="en-US" sz="1000" dirty="0">
                        <a:latin typeface="Montserrat" charset="0"/>
                        <a:ea typeface="Montserrat" charset="0"/>
                        <a:cs typeface="Montserrat" charset="0"/>
                      </a:endParaRPr>
                    </a:p>
                  </a:txBody>
                  <a:tcPr marL="91440" marR="91440" marT="45720" marB="45720" anchor="ctr">
                    <a:lnL w="12700" cap="flat" cmpd="sng" algn="ctr">
                      <a:solidFill>
                        <a:srgbClr val="DCE2EF"/>
                      </a:solidFill>
                      <a:prstDash val="solid"/>
                      <a:round/>
                      <a:headEnd type="none" w="med" len="med"/>
                      <a:tailEnd type="none" w="med" len="med"/>
                    </a:lnL>
                    <a:lnR w="12700" cap="flat" cmpd="sng" algn="ctr">
                      <a:solidFill>
                        <a:srgbClr val="DCE2EF"/>
                      </a:solidFill>
                      <a:prstDash val="solid"/>
                      <a:round/>
                      <a:headEnd type="none" w="med" len="med"/>
                      <a:tailEnd type="none" w="med" len="med"/>
                    </a:lnR>
                    <a:lnT w="12700" cap="flat" cmpd="sng" algn="ctr">
                      <a:solidFill>
                        <a:srgbClr val="DCE2EF"/>
                      </a:solidFill>
                      <a:prstDash val="solid"/>
                      <a:round/>
                      <a:headEnd type="none" w="med" len="med"/>
                      <a:tailEnd type="none" w="med" len="med"/>
                    </a:lnT>
                    <a:lnB w="12700" cap="flat" cmpd="sng" algn="ctr">
                      <a:solidFill>
                        <a:srgbClr val="DCE2EF"/>
                      </a:solidFill>
                      <a:prstDash val="solid"/>
                      <a:round/>
                      <a:headEnd type="none" w="med" len="med"/>
                      <a:tailEnd type="none" w="med" len="med"/>
                    </a:lnB>
                    <a:solidFill>
                      <a:srgbClr val="FDF3E3"/>
                    </a:solidFill>
                  </a:tcPr>
                </a:tc>
                <a:tc>
                  <a:txBody>
                    <a:bodyPr/>
                    <a:lstStyle/>
                    <a:p>
                      <a:pPr indent="0" marL="0">
                        <a:buNone/>
                      </a:pPr>
                      <a:r>
                        <a:rPr lang="en-US" sz="1000" b="1" dirty="0">
                          <a:solidFill>
                            <a:srgbClr val="D98A1F"/>
                          </a:solidFill>
                          <a:latin typeface="Montserrat" pitchFamily="34" charset="0"/>
                          <a:ea typeface="Montserrat" pitchFamily="34" charset="-122"/>
                          <a:cs typeface="Montserrat" pitchFamily="34" charset="-120"/>
                        </a:rPr>
                        <a:t>15</a:t>
                      </a:r>
                      <a:endParaRPr lang="en-US" sz="1000" dirty="0">
                        <a:latin typeface="Montserrat" charset="0"/>
                        <a:ea typeface="Montserrat" charset="0"/>
                        <a:cs typeface="Montserrat" charset="0"/>
                      </a:endParaRPr>
                    </a:p>
                  </a:txBody>
                  <a:tcPr marL="91440" marR="91440" marT="45720" marB="45720" anchor="ctr">
                    <a:lnL w="12700" cap="flat" cmpd="sng" algn="ctr">
                      <a:solidFill>
                        <a:srgbClr val="DCE2EF"/>
                      </a:solidFill>
                      <a:prstDash val="solid"/>
                      <a:round/>
                      <a:headEnd type="none" w="med" len="med"/>
                      <a:tailEnd type="none" w="med" len="med"/>
                    </a:lnL>
                    <a:lnR w="12700" cap="flat" cmpd="sng" algn="ctr">
                      <a:solidFill>
                        <a:srgbClr val="DCE2EF"/>
                      </a:solidFill>
                      <a:prstDash val="solid"/>
                      <a:round/>
                      <a:headEnd type="none" w="med" len="med"/>
                      <a:tailEnd type="none" w="med" len="med"/>
                    </a:lnR>
                    <a:lnT w="12700" cap="flat" cmpd="sng" algn="ctr">
                      <a:solidFill>
                        <a:srgbClr val="DCE2EF"/>
                      </a:solidFill>
                      <a:prstDash val="solid"/>
                      <a:round/>
                      <a:headEnd type="none" w="med" len="med"/>
                      <a:tailEnd type="none" w="med" len="med"/>
                    </a:lnT>
                    <a:lnB w="12700" cap="flat" cmpd="sng" algn="ctr">
                      <a:solidFill>
                        <a:srgbClr val="DCE2EF"/>
                      </a:solidFill>
                      <a:prstDash val="solid"/>
                      <a:round/>
                      <a:headEnd type="none" w="med" len="med"/>
                      <a:tailEnd type="none" w="med" len="med"/>
                    </a:lnB>
                    <a:solidFill>
                      <a:srgbClr val="FDF3E3"/>
                    </a:solidFill>
                  </a:tcPr>
                </a:tc>
              </a:tr>
            </a:tbl>
          </a:graphicData>
        </a:graphic>
      </p:graphicFrame>
      <p:sp>
        <p:nvSpPr>
          <p:cNvPr id="12" name="Text 9"/>
          <p:cNvSpPr txBox="1"/>
          <p:nvPr/>
        </p:nvSpPr>
        <p:spPr>
          <a:xfrm>
            <a:off x="685800" y="3931920"/>
            <a:ext cx="5669280" cy="1143000"/>
          </a:xfrm>
          <a:prstGeom prst="rect">
            <a:avLst/>
          </a:prstGeom>
          <a:noFill/>
          <a:ln/>
        </p:spPr>
        <p:txBody>
          <a:bodyPr wrap="square" lIns="0" tIns="0" rIns="0" bIns="0" rtlCol="0" anchor="ctr"/>
          <a:lstStyle/>
          <a:p>
            <a:pPr indent="0" marL="0">
              <a:lnSpc>
                <a:spcPct val="112000"/>
              </a:lnSpc>
              <a:buNone/>
            </a:pPr>
            <a:r>
              <a:rPr lang="en-US" sz="1050" dirty="0">
                <a:solidFill>
                  <a:srgbClr val="16181D"/>
                </a:solidFill>
                <a:latin typeface="Montserrat" pitchFamily="34" charset="0"/>
                <a:ea typeface="Montserrat" pitchFamily="34" charset="-122"/>
                <a:cs typeface="Montserrat" pitchFamily="34" charset="-120"/>
              </a:rPr>
              <a:t>Volume is the number of prior thoughts with a causal path to the final answer; latency is the count of sequential model calls. Both are properties of the graph, so they cannot vary with model quality - a deviation here would indicate a defect, not a finding.</a:t>
            </a:r>
            <a:endParaRPr lang="en-US" sz="1050" dirty="0"/>
          </a:p>
        </p:txBody>
      </p:sp>
      <p:sp>
        <p:nvSpPr>
          <p:cNvPr id="13" name="Shape 10"/>
          <p:cNvSpPr/>
          <p:nvPr/>
        </p:nvSpPr>
        <p:spPr>
          <a:xfrm>
            <a:off x="685800" y="5212080"/>
            <a:ext cx="5669280" cy="868680"/>
          </a:xfrm>
          <a:prstGeom prst="roundRect">
            <a:avLst>
              <a:gd name="adj" fmla="val 5263"/>
            </a:avLst>
          </a:prstGeom>
          <a:solidFill>
            <a:srgbClr val="E8F4F1"/>
          </a:solidFill>
          <a:ln w="12700">
            <a:solidFill>
              <a:srgbClr val="D8DEEC"/>
            </a:solidFill>
            <a:prstDash val="solid"/>
          </a:ln>
        </p:spPr>
      </p:sp>
      <p:sp>
        <p:nvSpPr>
          <p:cNvPr id="14" name="Text 11"/>
          <p:cNvSpPr txBox="1"/>
          <p:nvPr/>
        </p:nvSpPr>
        <p:spPr>
          <a:xfrm>
            <a:off x="914400" y="5358384"/>
            <a:ext cx="5212080" cy="585216"/>
          </a:xfrm>
          <a:prstGeom prst="rect">
            <a:avLst/>
          </a:prstGeom>
          <a:noFill/>
          <a:ln/>
        </p:spPr>
        <p:txBody>
          <a:bodyPr wrap="square" lIns="0" tIns="0" rIns="0" bIns="0" rtlCol="0" anchor="ctr"/>
          <a:lstStyle/>
          <a:p>
            <a:pPr indent="0" marL="0">
              <a:buNone/>
            </a:pPr>
            <a:r>
              <a:rPr lang="en-US" sz="1050" b="1" dirty="0">
                <a:solidFill>
                  <a:srgbClr val="0F7B6C"/>
                </a:solidFill>
                <a:latin typeface="Montserrat" pitchFamily="34" charset="0"/>
                <a:ea typeface="Montserrat" pitchFamily="34" charset="-122"/>
                <a:cs typeface="Montserrat" pitchFamily="34" charset="-120"/>
              </a:rPr>
              <a:t>Graph of Thoughts is the only scheme that aggregates - measured, not assumed. Every other scheme reports exactly zero.</a:t>
            </a:r>
            <a:endParaRPr lang="en-US" sz="1050" dirty="0"/>
          </a:p>
        </p:txBody>
      </p:sp>
      <p:graphicFrame>
        <p:nvGraphicFramePr>
          <p:cNvPr id="15" name="Chart 0" descr=""/>
          <p:cNvGraphicFramePr/>
          <p:nvPr/>
        </p:nvGraphicFramePr>
        <p:xfrm>
          <a:off x="6675120" y="1572768"/>
          <a:ext cx="4846320" cy="3749040"/>
        </p:xfrm>
        <a:graphic xmlns:a="http://schemas.openxmlformats.org/drawingml/2006/main">
          <a:graphicData uri="http://schemas.openxmlformats.org/drawingml/2006/chart">
            <c:chart xmlns:c="http://schemas.openxmlformats.org/drawingml/2006/chart" r:id="rId1"/>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0149840" y="-502920"/>
            <a:ext cx="2377440" cy="960120"/>
          </a:xfrm>
          <a:prstGeom prst="roundRect">
            <a:avLst>
              <a:gd name="adj" fmla="val 38095"/>
            </a:avLst>
          </a:prstGeom>
          <a:solidFill>
            <a:srgbClr val="C9D8F5"/>
          </a:solidFill>
          <a:ln w="12700">
            <a:solidFill>
              <a:srgbClr val="333333"/>
            </a:solidFill>
            <a:prstDash val="solid"/>
          </a:ln>
        </p:spPr>
      </p:sp>
      <p:sp>
        <p:nvSpPr>
          <p:cNvPr id="3" name="Shape 1"/>
          <p:cNvSpPr/>
          <p:nvPr/>
        </p:nvSpPr>
        <p:spPr>
          <a:xfrm>
            <a:off x="10881360" y="0"/>
            <a:ext cx="2011680" cy="566928"/>
          </a:xfrm>
          <a:prstGeom prst="roundRect">
            <a:avLst>
              <a:gd name="adj" fmla="val 48387"/>
            </a:avLst>
          </a:prstGeom>
          <a:solidFill>
            <a:srgbClr val="23408E"/>
          </a:solidFill>
          <a:ln w="12700">
            <a:solidFill>
              <a:srgbClr val="333333"/>
            </a:solidFill>
            <a:prstDash val="solid"/>
          </a:ln>
        </p:spPr>
      </p:sp>
      <p:sp>
        <p:nvSpPr>
          <p:cNvPr id="4" name="Shape 2"/>
          <p:cNvSpPr/>
          <p:nvPr/>
        </p:nvSpPr>
        <p:spPr>
          <a:xfrm>
            <a:off x="-731520" y="6355080"/>
            <a:ext cx="1828800" cy="822960"/>
          </a:xfrm>
          <a:prstGeom prst="roundRect">
            <a:avLst>
              <a:gd name="adj" fmla="val 38889"/>
            </a:avLst>
          </a:prstGeom>
          <a:solidFill>
            <a:srgbClr val="23408E"/>
          </a:solidFill>
          <a:ln w="12700">
            <a:solidFill>
              <a:srgbClr val="333333"/>
            </a:solidFill>
            <a:prstDash val="solid"/>
          </a:ln>
        </p:spPr>
      </p:sp>
      <p:sp>
        <p:nvSpPr>
          <p:cNvPr id="5" name="Shape 3"/>
          <p:cNvSpPr/>
          <p:nvPr/>
        </p:nvSpPr>
        <p:spPr>
          <a:xfrm>
            <a:off x="320040" y="6583680"/>
            <a:ext cx="2743200" cy="731520"/>
          </a:xfrm>
          <a:prstGeom prst="roundRect">
            <a:avLst>
              <a:gd name="adj" fmla="val 43750"/>
            </a:avLst>
          </a:prstGeom>
          <a:solidFill>
            <a:srgbClr val="C9D8F5"/>
          </a:solidFill>
          <a:ln w="12700">
            <a:solidFill>
              <a:srgbClr val="333333"/>
            </a:solidFill>
            <a:prstDash val="solid"/>
          </a:ln>
        </p:spPr>
      </p:sp>
      <p:sp>
        <p:nvSpPr>
          <p:cNvPr id="6" name="Text 4"/>
          <p:cNvSpPr txBox="1"/>
          <p:nvPr/>
        </p:nvSpPr>
        <p:spPr>
          <a:xfrm>
            <a:off x="566928" y="237744"/>
            <a:ext cx="9052560" cy="603504"/>
          </a:xfrm>
          <a:prstGeom prst="rect">
            <a:avLst/>
          </a:prstGeom>
          <a:noFill/>
          <a:ln/>
        </p:spPr>
        <p:txBody>
          <a:bodyPr wrap="square" lIns="0" tIns="0" rIns="0" bIns="0" rtlCol="0" anchor="ctr"/>
          <a:lstStyle/>
          <a:p>
            <a:pPr indent="0" marL="0">
              <a:buNone/>
            </a:pPr>
            <a:r>
              <a:rPr lang="en-US" sz="3000" b="1" dirty="0">
                <a:solidFill>
                  <a:srgbClr val="23408E"/>
                </a:solidFill>
                <a:latin typeface="Montserrat" pitchFamily="34" charset="0"/>
                <a:ea typeface="Montserrat" pitchFamily="34" charset="-122"/>
                <a:cs typeface="Montserrat" pitchFamily="34" charset="-120"/>
              </a:rPr>
              <a:t>Results &amp; Discussion</a:t>
            </a:r>
            <a:endParaRPr lang="en-US" sz="3000" dirty="0"/>
          </a:p>
        </p:txBody>
      </p:sp>
      <p:sp>
        <p:nvSpPr>
          <p:cNvPr id="7" name="Shape 5"/>
          <p:cNvSpPr/>
          <p:nvPr/>
        </p:nvSpPr>
        <p:spPr>
          <a:xfrm>
            <a:off x="621792" y="914400"/>
            <a:ext cx="6035040" cy="0"/>
          </a:xfrm>
          <a:prstGeom prst="line">
            <a:avLst/>
          </a:prstGeom>
          <a:noFill/>
          <a:ln w="20320">
            <a:solidFill>
              <a:srgbClr val="16181D"/>
            </a:solidFill>
            <a:prstDash val="solid"/>
          </a:ln>
        </p:spPr>
      </p:sp>
      <p:sp>
        <p:nvSpPr>
          <p:cNvPr id="8" name="Shape 6"/>
          <p:cNvSpPr/>
          <p:nvPr/>
        </p:nvSpPr>
        <p:spPr>
          <a:xfrm>
            <a:off x="548640" y="859536"/>
            <a:ext cx="118872" cy="118872"/>
          </a:xfrm>
          <a:prstGeom prst="ellipse">
            <a:avLst/>
          </a:prstGeom>
          <a:solidFill>
            <a:srgbClr val="16181D"/>
          </a:solidFill>
          <a:ln w="12700">
            <a:solidFill>
              <a:srgbClr val="333333"/>
            </a:solidFill>
            <a:prstDash val="solid"/>
          </a:ln>
        </p:spPr>
      </p:sp>
      <p:sp>
        <p:nvSpPr>
          <p:cNvPr id="9" name="Shape 7"/>
          <p:cNvSpPr/>
          <p:nvPr/>
        </p:nvSpPr>
        <p:spPr>
          <a:xfrm>
            <a:off x="6601968" y="859536"/>
            <a:ext cx="118872" cy="118872"/>
          </a:xfrm>
          <a:prstGeom prst="ellipse">
            <a:avLst/>
          </a:prstGeom>
          <a:solidFill>
            <a:srgbClr val="16181D"/>
          </a:solidFill>
          <a:ln w="12700">
            <a:solidFill>
              <a:srgbClr val="333333"/>
            </a:solidFill>
            <a:prstDash val="solid"/>
          </a:ln>
        </p:spPr>
      </p:sp>
      <p:sp>
        <p:nvSpPr>
          <p:cNvPr id="10" name="Text 8"/>
          <p:cNvSpPr txBox="1"/>
          <p:nvPr/>
        </p:nvSpPr>
        <p:spPr>
          <a:xfrm>
            <a:off x="685800" y="1188720"/>
            <a:ext cx="10058400" cy="310896"/>
          </a:xfrm>
          <a:prstGeom prst="rect">
            <a:avLst/>
          </a:prstGeom>
          <a:noFill/>
          <a:ln/>
        </p:spPr>
        <p:txBody>
          <a:bodyPr wrap="square" lIns="0" tIns="0" rIns="0" bIns="0" rtlCol="0" anchor="ctr"/>
          <a:lstStyle/>
          <a:p>
            <a:pPr indent="0" marL="0">
              <a:buNone/>
            </a:pPr>
            <a:r>
              <a:rPr lang="en-US" sz="1450" b="1" dirty="0">
                <a:solidFill>
                  <a:srgbClr val="23408E"/>
                </a:solidFill>
                <a:latin typeface="Montserrat" pitchFamily="34" charset="0"/>
                <a:ea typeface="Montserrat" pitchFamily="34" charset="-122"/>
                <a:cs typeface="Montserrat" pitchFamily="34" charset="-120"/>
              </a:rPr>
              <a:t>Quality - the paper's claim does not reproduce at 7B</a:t>
            </a:r>
            <a:endParaRPr lang="en-US" sz="1450" dirty="0"/>
          </a:p>
        </p:txBody>
      </p:sp>
      <p:graphicFrame>
        <p:nvGraphicFramePr>
          <p:cNvPr id="11" name="Chart 0" descr=""/>
          <p:cNvGraphicFramePr/>
          <p:nvPr/>
        </p:nvGraphicFramePr>
        <p:xfrm>
          <a:off x="685800" y="1572768"/>
          <a:ext cx="5760720" cy="3429000"/>
        </p:xfrm>
        <a:graphic xmlns:a="http://schemas.openxmlformats.org/drawingml/2006/main">
          <a:graphicData uri="http://schemas.openxmlformats.org/drawingml/2006/chart">
            <c:chart xmlns:c="http://schemas.openxmlformats.org/drawingml/2006/chart" r:id="rId1"/>
          </a:graphicData>
        </a:graphic>
      </p:graphicFrame>
      <p:sp>
        <p:nvSpPr>
          <p:cNvPr id="12" name="Text 9"/>
          <p:cNvSpPr txBox="1"/>
          <p:nvPr/>
        </p:nvSpPr>
        <p:spPr>
          <a:xfrm>
            <a:off x="685800" y="5138928"/>
            <a:ext cx="5760720" cy="457200"/>
          </a:xfrm>
          <a:prstGeom prst="rect">
            <a:avLst/>
          </a:prstGeom>
          <a:noFill/>
          <a:ln/>
        </p:spPr>
        <p:txBody>
          <a:bodyPr wrap="square" lIns="0" tIns="0" rIns="0" bIns="0" rtlCol="0" anchor="ctr"/>
          <a:lstStyle/>
          <a:p>
            <a:pPr indent="0" marL="0">
              <a:lnSpc>
                <a:spcPct val="112000"/>
              </a:lnSpc>
              <a:buNone/>
            </a:pPr>
            <a:r>
              <a:rPr lang="en-US" sz="1000" dirty="0">
                <a:solidFill>
                  <a:srgbClr val="63697A"/>
                </a:solidFill>
                <a:latin typeface="Montserrat" pitchFamily="34" charset="0"/>
                <a:ea typeface="Montserrat" pitchFamily="34" charset="-122"/>
                <a:cs typeface="Montserrat" pitchFamily="34" charset="-120"/>
              </a:rPr>
              <a:t>Parse-failure rate was 0.0% for every scheme, so the pipeline is sound and the ordering is meaningful.</a:t>
            </a:r>
            <a:endParaRPr lang="en-US" sz="1000" dirty="0"/>
          </a:p>
        </p:txBody>
      </p:sp>
      <p:sp>
        <p:nvSpPr>
          <p:cNvPr id="13" name="Shape 10"/>
          <p:cNvSpPr/>
          <p:nvPr/>
        </p:nvSpPr>
        <p:spPr>
          <a:xfrm>
            <a:off x="6766560" y="1572768"/>
            <a:ext cx="4754880" cy="1371600"/>
          </a:xfrm>
          <a:prstGeom prst="roundRect">
            <a:avLst>
              <a:gd name="adj" fmla="val 3333"/>
            </a:avLst>
          </a:prstGeom>
          <a:solidFill>
            <a:srgbClr val="E8F4F1"/>
          </a:solidFill>
          <a:ln w="12700">
            <a:solidFill>
              <a:srgbClr val="D8DEEC"/>
            </a:solidFill>
            <a:prstDash val="solid"/>
          </a:ln>
        </p:spPr>
      </p:sp>
      <p:sp>
        <p:nvSpPr>
          <p:cNvPr id="14" name="Text 11"/>
          <p:cNvSpPr txBox="1"/>
          <p:nvPr/>
        </p:nvSpPr>
        <p:spPr>
          <a:xfrm>
            <a:off x="6995160" y="1709928"/>
            <a:ext cx="4297680" cy="256032"/>
          </a:xfrm>
          <a:prstGeom prst="rect">
            <a:avLst/>
          </a:prstGeom>
          <a:noFill/>
          <a:ln/>
        </p:spPr>
        <p:txBody>
          <a:bodyPr wrap="square" lIns="0" tIns="0" rIns="0" bIns="0" rtlCol="0" anchor="ctr"/>
          <a:lstStyle/>
          <a:p>
            <a:pPr indent="0" marL="0">
              <a:buNone/>
            </a:pPr>
            <a:r>
              <a:rPr lang="en-US" sz="1150" b="1" dirty="0">
                <a:solidFill>
                  <a:srgbClr val="0F7B6C"/>
                </a:solidFill>
                <a:latin typeface="Montserrat" pitchFamily="34" charset="0"/>
                <a:ea typeface="Montserrat" pitchFamily="34" charset="-122"/>
                <a:cs typeface="Montserrat" pitchFamily="34" charset="-120"/>
              </a:rPr>
              <a:t>Structure does help</a:t>
            </a:r>
            <a:endParaRPr lang="en-US" sz="1150" dirty="0"/>
          </a:p>
        </p:txBody>
      </p:sp>
      <p:sp>
        <p:nvSpPr>
          <p:cNvPr id="15" name="Text 12"/>
          <p:cNvSpPr txBox="1"/>
          <p:nvPr/>
        </p:nvSpPr>
        <p:spPr>
          <a:xfrm>
            <a:off x="6995160" y="2002536"/>
            <a:ext cx="4297680" cy="822960"/>
          </a:xfrm>
          <a:prstGeom prst="rect">
            <a:avLst/>
          </a:prstGeom>
          <a:noFill/>
          <a:ln/>
        </p:spPr>
        <p:txBody>
          <a:bodyPr wrap="square" lIns="0" tIns="0" rIns="0" bIns="0" rtlCol="0" anchor="ctr"/>
          <a:lstStyle/>
          <a:p>
            <a:pPr indent="0" marL="0">
              <a:buNone/>
            </a:pPr>
            <a:r>
              <a:rPr lang="en-US" sz="1000" dirty="0">
                <a:solidFill>
                  <a:srgbClr val="16181D"/>
                </a:solidFill>
                <a:latin typeface="Montserrat" pitchFamily="34" charset="0"/>
                <a:ea typeface="Montserrat" pitchFamily="34" charset="-122"/>
                <a:cs typeface="Montserrat" pitchFamily="34" charset="-120"/>
              </a:rPr>
              <a:t>Graph of Thoughts improves on direct prompting by 15.8%, and all structural claims hold exactly.</a:t>
            </a:r>
            <a:endParaRPr lang="en-US" sz="1000" dirty="0"/>
          </a:p>
        </p:txBody>
      </p:sp>
      <p:sp>
        <p:nvSpPr>
          <p:cNvPr id="16" name="Shape 13"/>
          <p:cNvSpPr/>
          <p:nvPr/>
        </p:nvSpPr>
        <p:spPr>
          <a:xfrm>
            <a:off x="6766560" y="3090672"/>
            <a:ext cx="4754880" cy="1463040"/>
          </a:xfrm>
          <a:prstGeom prst="roundRect">
            <a:avLst>
              <a:gd name="adj" fmla="val 3125"/>
            </a:avLst>
          </a:prstGeom>
          <a:solidFill>
            <a:srgbClr val="FBEBE9"/>
          </a:solidFill>
          <a:ln w="12700">
            <a:solidFill>
              <a:srgbClr val="D8DEEC"/>
            </a:solidFill>
            <a:prstDash val="solid"/>
          </a:ln>
        </p:spPr>
      </p:sp>
      <p:sp>
        <p:nvSpPr>
          <p:cNvPr id="17" name="Text 14"/>
          <p:cNvSpPr txBox="1"/>
          <p:nvPr/>
        </p:nvSpPr>
        <p:spPr>
          <a:xfrm>
            <a:off x="6995160" y="3227832"/>
            <a:ext cx="4297680" cy="256032"/>
          </a:xfrm>
          <a:prstGeom prst="rect">
            <a:avLst/>
          </a:prstGeom>
          <a:noFill/>
          <a:ln/>
        </p:spPr>
        <p:txBody>
          <a:bodyPr wrap="square" lIns="0" tIns="0" rIns="0" bIns="0" rtlCol="0" anchor="ctr"/>
          <a:lstStyle/>
          <a:p>
            <a:pPr indent="0" marL="0">
              <a:buNone/>
            </a:pPr>
            <a:r>
              <a:rPr lang="en-US" sz="1150" b="1" dirty="0">
                <a:solidFill>
                  <a:srgbClr val="C0392B"/>
                </a:solidFill>
                <a:latin typeface="Montserrat" pitchFamily="34" charset="0"/>
                <a:ea typeface="Montserrat" pitchFamily="34" charset="-122"/>
                <a:cs typeface="Montserrat" pitchFamily="34" charset="-120"/>
              </a:rPr>
              <a:t>But Tree of Thoughts wins here</a:t>
            </a:r>
            <a:endParaRPr lang="en-US" sz="1150" dirty="0"/>
          </a:p>
        </p:txBody>
      </p:sp>
      <p:sp>
        <p:nvSpPr>
          <p:cNvPr id="18" name="Text 15"/>
          <p:cNvSpPr txBox="1"/>
          <p:nvPr/>
        </p:nvSpPr>
        <p:spPr>
          <a:xfrm>
            <a:off x="6995160" y="3520440"/>
            <a:ext cx="4297680" cy="530352"/>
          </a:xfrm>
          <a:prstGeom prst="rect">
            <a:avLst/>
          </a:prstGeom>
          <a:noFill/>
          <a:ln/>
        </p:spPr>
        <p:txBody>
          <a:bodyPr wrap="square" lIns="0" tIns="0" rIns="0" bIns="0" rtlCol="0" anchor="ctr"/>
          <a:lstStyle/>
          <a:p>
            <a:pPr indent="0" marL="0">
              <a:buNone/>
            </a:pPr>
            <a:r>
              <a:rPr lang="en-US" sz="1000" dirty="0">
                <a:solidFill>
                  <a:srgbClr val="16181D"/>
                </a:solidFill>
                <a:latin typeface="Montserrat" pitchFamily="34" charset="0"/>
                <a:ea typeface="Montserrat" pitchFamily="34" charset="-122"/>
                <a:cs typeface="Montserrat" pitchFamily="34" charset="-120"/>
              </a:rPr>
              <a:t>ToT reaches 11.1% lower error than GoT while consuming 3.6x fewer tokens.</a:t>
            </a:r>
            <a:endParaRPr lang="en-US" sz="1000" dirty="0"/>
          </a:p>
        </p:txBody>
      </p:sp>
      <p:sp>
        <p:nvSpPr>
          <p:cNvPr id="19" name="Text 16"/>
          <p:cNvSpPr txBox="1"/>
          <p:nvPr/>
        </p:nvSpPr>
        <p:spPr>
          <a:xfrm>
            <a:off x="6995160" y="4023360"/>
            <a:ext cx="4297680" cy="502920"/>
          </a:xfrm>
          <a:prstGeom prst="rect">
            <a:avLst/>
          </a:prstGeom>
          <a:noFill/>
          <a:ln/>
        </p:spPr>
        <p:txBody>
          <a:bodyPr wrap="square" lIns="0" tIns="0" rIns="0" bIns="0" rtlCol="0" anchor="ctr"/>
          <a:lstStyle/>
          <a:p>
            <a:pPr indent="0" marL="0">
              <a:buNone/>
            </a:pPr>
            <a:r>
              <a:rPr lang="en-US" sz="900" i="1" dirty="0">
                <a:solidFill>
                  <a:srgbClr val="63697A"/>
                </a:solidFill>
                <a:latin typeface="Montserrat" pitchFamily="34" charset="0"/>
                <a:ea typeface="Montserrat" pitchFamily="34" charset="-122"/>
                <a:cs typeface="Montserrat" pitchFamily="34" charset="-120"/>
              </a:rPr>
              <a:t>Likely causes: an exact scorer makes ToT's monotone refinement very strong, and at 7B each of GoT's 15 merges is an opportunity to fail.</a:t>
            </a:r>
            <a:endParaRPr lang="en-US" sz="900" dirty="0"/>
          </a:p>
        </p:txBody>
      </p:sp>
      <p:sp>
        <p:nvSpPr>
          <p:cNvPr id="20" name="Shape 17"/>
          <p:cNvSpPr/>
          <p:nvPr/>
        </p:nvSpPr>
        <p:spPr>
          <a:xfrm>
            <a:off x="6766560" y="4700016"/>
            <a:ext cx="4754880" cy="1371600"/>
          </a:xfrm>
          <a:prstGeom prst="roundRect">
            <a:avLst>
              <a:gd name="adj" fmla="val 3333"/>
            </a:avLst>
          </a:prstGeom>
          <a:solidFill>
            <a:srgbClr val="F4F6FB"/>
          </a:solidFill>
          <a:ln w="12700">
            <a:solidFill>
              <a:srgbClr val="D8DEEC"/>
            </a:solidFill>
            <a:prstDash val="solid"/>
          </a:ln>
        </p:spPr>
      </p:sp>
      <p:sp>
        <p:nvSpPr>
          <p:cNvPr id="21" name="Text 18"/>
          <p:cNvSpPr txBox="1"/>
          <p:nvPr/>
        </p:nvSpPr>
        <p:spPr>
          <a:xfrm>
            <a:off x="6995160" y="4837176"/>
            <a:ext cx="4297680" cy="256032"/>
          </a:xfrm>
          <a:prstGeom prst="rect">
            <a:avLst/>
          </a:prstGeom>
          <a:noFill/>
          <a:ln/>
        </p:spPr>
        <p:txBody>
          <a:bodyPr wrap="square" lIns="0" tIns="0" rIns="0" bIns="0" rtlCol="0" anchor="ctr"/>
          <a:lstStyle/>
          <a:p>
            <a:pPr indent="0" marL="0">
              <a:buNone/>
            </a:pPr>
            <a:r>
              <a:rPr lang="en-US" sz="1150" b="1" dirty="0">
                <a:solidFill>
                  <a:srgbClr val="23408E"/>
                </a:solidFill>
                <a:latin typeface="Montserrat" pitchFamily="34" charset="0"/>
                <a:ea typeface="Montserrat" pitchFamily="34" charset="-122"/>
                <a:cs typeface="Montserrat" pitchFamily="34" charset="-120"/>
              </a:rPr>
              <a:t>A note on baselines</a:t>
            </a:r>
            <a:endParaRPr lang="en-US" sz="1150" dirty="0"/>
          </a:p>
        </p:txBody>
      </p:sp>
      <p:sp>
        <p:nvSpPr>
          <p:cNvPr id="22" name="Text 19"/>
          <p:cNvSpPr txBox="1"/>
          <p:nvPr/>
        </p:nvSpPr>
        <p:spPr>
          <a:xfrm>
            <a:off x="6995160" y="5120640"/>
            <a:ext cx="4297680" cy="868680"/>
          </a:xfrm>
          <a:prstGeom prst="rect">
            <a:avLst/>
          </a:prstGeom>
          <a:noFill/>
          <a:ln/>
        </p:spPr>
        <p:txBody>
          <a:bodyPr wrap="square" lIns="0" tIns="0" rIns="0" bIns="0" rtlCol="0" anchor="ctr"/>
          <a:lstStyle/>
          <a:p>
            <a:pPr indent="0" marL="0">
              <a:buNone/>
            </a:pPr>
            <a:r>
              <a:rPr lang="en-US" sz="900" dirty="0">
                <a:solidFill>
                  <a:srgbClr val="16181D"/>
                </a:solidFill>
                <a:latin typeface="Montserrat" pitchFamily="34" charset="0"/>
                <a:ea typeface="Montserrat" pitchFamily="34" charset="-122"/>
                <a:cs typeface="Montserrat" pitchFamily="34" charset="-120"/>
              </a:rPr>
              <a:t>An earlier run showed GoT ahead by 17.8%. That margin was an artefact of our own ToT implementation being unable to reject a refinement that worsened the answer. Correcting it reversed the result.</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0149840" y="-502920"/>
            <a:ext cx="2377440" cy="960120"/>
          </a:xfrm>
          <a:prstGeom prst="roundRect">
            <a:avLst>
              <a:gd name="adj" fmla="val 38095"/>
            </a:avLst>
          </a:prstGeom>
          <a:solidFill>
            <a:srgbClr val="C9D8F5"/>
          </a:solidFill>
          <a:ln w="12700">
            <a:solidFill>
              <a:srgbClr val="333333"/>
            </a:solidFill>
            <a:prstDash val="solid"/>
          </a:ln>
        </p:spPr>
      </p:sp>
      <p:sp>
        <p:nvSpPr>
          <p:cNvPr id="3" name="Shape 1"/>
          <p:cNvSpPr/>
          <p:nvPr/>
        </p:nvSpPr>
        <p:spPr>
          <a:xfrm>
            <a:off x="10881360" y="0"/>
            <a:ext cx="2011680" cy="566928"/>
          </a:xfrm>
          <a:prstGeom prst="roundRect">
            <a:avLst>
              <a:gd name="adj" fmla="val 48387"/>
            </a:avLst>
          </a:prstGeom>
          <a:solidFill>
            <a:srgbClr val="23408E"/>
          </a:solidFill>
          <a:ln w="12700">
            <a:solidFill>
              <a:srgbClr val="333333"/>
            </a:solidFill>
            <a:prstDash val="solid"/>
          </a:ln>
        </p:spPr>
      </p:sp>
      <p:sp>
        <p:nvSpPr>
          <p:cNvPr id="4" name="Shape 2"/>
          <p:cNvSpPr/>
          <p:nvPr/>
        </p:nvSpPr>
        <p:spPr>
          <a:xfrm>
            <a:off x="-731520" y="6355080"/>
            <a:ext cx="1828800" cy="822960"/>
          </a:xfrm>
          <a:prstGeom prst="roundRect">
            <a:avLst>
              <a:gd name="adj" fmla="val 38889"/>
            </a:avLst>
          </a:prstGeom>
          <a:solidFill>
            <a:srgbClr val="23408E"/>
          </a:solidFill>
          <a:ln w="12700">
            <a:solidFill>
              <a:srgbClr val="333333"/>
            </a:solidFill>
            <a:prstDash val="solid"/>
          </a:ln>
        </p:spPr>
      </p:sp>
      <p:sp>
        <p:nvSpPr>
          <p:cNvPr id="5" name="Shape 3"/>
          <p:cNvSpPr/>
          <p:nvPr/>
        </p:nvSpPr>
        <p:spPr>
          <a:xfrm>
            <a:off x="320040" y="6583680"/>
            <a:ext cx="2743200" cy="731520"/>
          </a:xfrm>
          <a:prstGeom prst="roundRect">
            <a:avLst>
              <a:gd name="adj" fmla="val 43750"/>
            </a:avLst>
          </a:prstGeom>
          <a:solidFill>
            <a:srgbClr val="C9D8F5"/>
          </a:solidFill>
          <a:ln w="12700">
            <a:solidFill>
              <a:srgbClr val="333333"/>
            </a:solidFill>
            <a:prstDash val="solid"/>
          </a:ln>
        </p:spPr>
      </p:sp>
      <p:sp>
        <p:nvSpPr>
          <p:cNvPr id="6" name="Text 4"/>
          <p:cNvSpPr txBox="1"/>
          <p:nvPr/>
        </p:nvSpPr>
        <p:spPr>
          <a:xfrm>
            <a:off x="566928" y="237744"/>
            <a:ext cx="9052560" cy="603504"/>
          </a:xfrm>
          <a:prstGeom prst="rect">
            <a:avLst/>
          </a:prstGeom>
          <a:noFill/>
          <a:ln/>
        </p:spPr>
        <p:txBody>
          <a:bodyPr wrap="square" lIns="0" tIns="0" rIns="0" bIns="0" rtlCol="0" anchor="ctr"/>
          <a:lstStyle/>
          <a:p>
            <a:pPr indent="0" marL="0">
              <a:buNone/>
            </a:pPr>
            <a:r>
              <a:rPr lang="en-US" sz="3000" b="1" dirty="0">
                <a:solidFill>
                  <a:srgbClr val="23408E"/>
                </a:solidFill>
                <a:latin typeface="Montserrat" pitchFamily="34" charset="0"/>
                <a:ea typeface="Montserrat" pitchFamily="34" charset="-122"/>
                <a:cs typeface="Montserrat" pitchFamily="34" charset="-120"/>
              </a:rPr>
              <a:t>Results &amp; Discussion</a:t>
            </a:r>
            <a:endParaRPr lang="en-US" sz="3000" dirty="0"/>
          </a:p>
        </p:txBody>
      </p:sp>
      <p:sp>
        <p:nvSpPr>
          <p:cNvPr id="7" name="Shape 5"/>
          <p:cNvSpPr/>
          <p:nvPr/>
        </p:nvSpPr>
        <p:spPr>
          <a:xfrm>
            <a:off x="621792" y="914400"/>
            <a:ext cx="6035040" cy="0"/>
          </a:xfrm>
          <a:prstGeom prst="line">
            <a:avLst/>
          </a:prstGeom>
          <a:noFill/>
          <a:ln w="20320">
            <a:solidFill>
              <a:srgbClr val="16181D"/>
            </a:solidFill>
            <a:prstDash val="solid"/>
          </a:ln>
        </p:spPr>
      </p:sp>
      <p:sp>
        <p:nvSpPr>
          <p:cNvPr id="8" name="Shape 6"/>
          <p:cNvSpPr/>
          <p:nvPr/>
        </p:nvSpPr>
        <p:spPr>
          <a:xfrm>
            <a:off x="548640" y="859536"/>
            <a:ext cx="118872" cy="118872"/>
          </a:xfrm>
          <a:prstGeom prst="ellipse">
            <a:avLst/>
          </a:prstGeom>
          <a:solidFill>
            <a:srgbClr val="16181D"/>
          </a:solidFill>
          <a:ln w="12700">
            <a:solidFill>
              <a:srgbClr val="333333"/>
            </a:solidFill>
            <a:prstDash val="solid"/>
          </a:ln>
        </p:spPr>
      </p:sp>
      <p:sp>
        <p:nvSpPr>
          <p:cNvPr id="9" name="Shape 7"/>
          <p:cNvSpPr/>
          <p:nvPr/>
        </p:nvSpPr>
        <p:spPr>
          <a:xfrm>
            <a:off x="6601968" y="859536"/>
            <a:ext cx="118872" cy="118872"/>
          </a:xfrm>
          <a:prstGeom prst="ellipse">
            <a:avLst/>
          </a:prstGeom>
          <a:solidFill>
            <a:srgbClr val="16181D"/>
          </a:solidFill>
          <a:ln w="12700">
            <a:solidFill>
              <a:srgbClr val="333333"/>
            </a:solidFill>
            <a:prstDash val="solid"/>
          </a:ln>
        </p:spPr>
      </p:sp>
      <p:sp>
        <p:nvSpPr>
          <p:cNvPr id="10" name="Text 8"/>
          <p:cNvSpPr txBox="1"/>
          <p:nvPr/>
        </p:nvSpPr>
        <p:spPr>
          <a:xfrm>
            <a:off x="685800" y="1188720"/>
            <a:ext cx="10058400" cy="310896"/>
          </a:xfrm>
          <a:prstGeom prst="rect">
            <a:avLst/>
          </a:prstGeom>
          <a:noFill/>
          <a:ln/>
        </p:spPr>
        <p:txBody>
          <a:bodyPr wrap="square" lIns="0" tIns="0" rIns="0" bIns="0" rtlCol="0" anchor="ctr"/>
          <a:lstStyle/>
          <a:p>
            <a:pPr indent="0" marL="0">
              <a:buNone/>
            </a:pPr>
            <a:r>
              <a:rPr lang="en-US" sz="1450" b="1" dirty="0">
                <a:solidFill>
                  <a:srgbClr val="23408E"/>
                </a:solidFill>
                <a:latin typeface="Montserrat" pitchFamily="34" charset="0"/>
                <a:ea typeface="Montserrat" pitchFamily="34" charset="-122"/>
                <a:cs typeface="Montserrat" pitchFamily="34" charset="-120"/>
              </a:rPr>
              <a:t>Cost, and why naive compression fails</a:t>
            </a:r>
            <a:endParaRPr lang="en-US" sz="145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685800" y="1572768"/>
          <a:ext cx="5760720" cy="914400"/>
        </p:xfrm>
        <a:graphic>
          <a:graphicData uri="http://schemas.openxmlformats.org/drawingml/2006/table">
            <a:tbl>
              <a:tblPr/>
              <a:tblGrid>
                <a:gridCol w="1920240"/>
                <a:gridCol w="1371600"/>
                <a:gridCol w="1234440"/>
                <a:gridCol w="1234440"/>
              </a:tblGrid>
              <a:tr h="384048">
                <a:tc>
                  <a:txBody>
                    <a:bodyPr/>
                    <a:lstStyle/>
                    <a:p>
                      <a:pPr indent="0" marL="0">
                        <a:buNone/>
                      </a:pPr>
                      <a:r>
                        <a:rPr lang="en-US" sz="1000" b="1" dirty="0">
                          <a:solidFill>
                            <a:srgbClr val="FFFFFF"/>
                          </a:solidFill>
                          <a:latin typeface="Montserrat" pitchFamily="34" charset="0"/>
                          <a:ea typeface="Montserrat" pitchFamily="34" charset="-122"/>
                          <a:cs typeface="Montserrat" pitchFamily="34" charset="-120"/>
                        </a:rPr>
                        <a:t>Configuration</a:t>
                      </a:r>
                      <a:endParaRPr lang="en-US" sz="1000" dirty="0">
                        <a:latin typeface="Montserrat" charset="0"/>
                        <a:ea typeface="Montserrat" charset="0"/>
                        <a:cs typeface="Montserrat" charset="0"/>
                      </a:endParaRPr>
                    </a:p>
                  </a:txBody>
                  <a:tcPr marL="91440" marR="91440" marT="45720" marB="45720" anchor="ctr">
                    <a:lnL w="12700" cap="flat" cmpd="sng" algn="ctr">
                      <a:solidFill>
                        <a:srgbClr val="DCE2EF"/>
                      </a:solidFill>
                      <a:prstDash val="solid"/>
                      <a:round/>
                      <a:headEnd type="none" w="med" len="med"/>
                      <a:tailEnd type="none" w="med" len="med"/>
                    </a:lnL>
                    <a:lnR w="12700" cap="flat" cmpd="sng" algn="ctr">
                      <a:solidFill>
                        <a:srgbClr val="DCE2EF"/>
                      </a:solidFill>
                      <a:prstDash val="solid"/>
                      <a:round/>
                      <a:headEnd type="none" w="med" len="med"/>
                      <a:tailEnd type="none" w="med" len="med"/>
                    </a:lnR>
                    <a:lnT w="12700" cap="flat" cmpd="sng" algn="ctr">
                      <a:solidFill>
                        <a:srgbClr val="DCE2EF"/>
                      </a:solidFill>
                      <a:prstDash val="solid"/>
                      <a:round/>
                      <a:headEnd type="none" w="med" len="med"/>
                      <a:tailEnd type="none" w="med" len="med"/>
                    </a:lnT>
                    <a:lnB w="12700" cap="flat" cmpd="sng" algn="ctr">
                      <a:solidFill>
                        <a:srgbClr val="DCE2EF"/>
                      </a:solidFill>
                      <a:prstDash val="solid"/>
                      <a:round/>
                      <a:headEnd type="none" w="med" len="med"/>
                      <a:tailEnd type="none" w="med" len="med"/>
                    </a:lnB>
                    <a:solidFill>
                      <a:srgbClr val="23408E"/>
                    </a:solidFill>
                  </a:tcPr>
                </a:tc>
                <a:tc>
                  <a:txBody>
                    <a:bodyPr/>
                    <a:lstStyle/>
                    <a:p>
                      <a:pPr indent="0" marL="0">
                        <a:buNone/>
                      </a:pPr>
                      <a:r>
                        <a:rPr lang="en-US" sz="1000" b="1" dirty="0">
                          <a:solidFill>
                            <a:srgbClr val="FFFFFF"/>
                          </a:solidFill>
                          <a:latin typeface="Montserrat" pitchFamily="34" charset="0"/>
                          <a:ea typeface="Montserrat" pitchFamily="34" charset="-122"/>
                          <a:cs typeface="Montserrat" pitchFamily="34" charset="-120"/>
                        </a:rPr>
                        <a:t>Tokens</a:t>
                      </a:r>
                      <a:endParaRPr lang="en-US" sz="1000" dirty="0">
                        <a:latin typeface="Montserrat" charset="0"/>
                        <a:ea typeface="Montserrat" charset="0"/>
                        <a:cs typeface="Montserrat" charset="0"/>
                      </a:endParaRPr>
                    </a:p>
                  </a:txBody>
                  <a:tcPr marL="91440" marR="91440" marT="45720" marB="45720" anchor="ctr">
                    <a:lnL w="12700" cap="flat" cmpd="sng" algn="ctr">
                      <a:solidFill>
                        <a:srgbClr val="DCE2EF"/>
                      </a:solidFill>
                      <a:prstDash val="solid"/>
                      <a:round/>
                      <a:headEnd type="none" w="med" len="med"/>
                      <a:tailEnd type="none" w="med" len="med"/>
                    </a:lnL>
                    <a:lnR w="12700" cap="flat" cmpd="sng" algn="ctr">
                      <a:solidFill>
                        <a:srgbClr val="DCE2EF"/>
                      </a:solidFill>
                      <a:prstDash val="solid"/>
                      <a:round/>
                      <a:headEnd type="none" w="med" len="med"/>
                      <a:tailEnd type="none" w="med" len="med"/>
                    </a:lnR>
                    <a:lnT w="12700" cap="flat" cmpd="sng" algn="ctr">
                      <a:solidFill>
                        <a:srgbClr val="DCE2EF"/>
                      </a:solidFill>
                      <a:prstDash val="solid"/>
                      <a:round/>
                      <a:headEnd type="none" w="med" len="med"/>
                      <a:tailEnd type="none" w="med" len="med"/>
                    </a:lnT>
                    <a:lnB w="12700" cap="flat" cmpd="sng" algn="ctr">
                      <a:solidFill>
                        <a:srgbClr val="DCE2EF"/>
                      </a:solidFill>
                      <a:prstDash val="solid"/>
                      <a:round/>
                      <a:headEnd type="none" w="med" len="med"/>
                      <a:tailEnd type="none" w="med" len="med"/>
                    </a:lnB>
                    <a:solidFill>
                      <a:srgbClr val="23408E"/>
                    </a:solidFill>
                  </a:tcPr>
                </a:tc>
                <a:tc>
                  <a:txBody>
                    <a:bodyPr/>
                    <a:lstStyle/>
                    <a:p>
                      <a:pPr indent="0" marL="0">
                        <a:buNone/>
                      </a:pPr>
                      <a:r>
                        <a:rPr lang="en-US" sz="1000" b="1" dirty="0">
                          <a:solidFill>
                            <a:srgbClr val="FFFFFF"/>
                          </a:solidFill>
                          <a:latin typeface="Montserrat" pitchFamily="34" charset="0"/>
                          <a:ea typeface="Montserrat" pitchFamily="34" charset="-122"/>
                          <a:cs typeface="Montserrat" pitchFamily="34" charset="-120"/>
                        </a:rPr>
                        <a:t>Volume</a:t>
                      </a:r>
                      <a:endParaRPr lang="en-US" sz="1000" dirty="0">
                        <a:latin typeface="Montserrat" charset="0"/>
                        <a:ea typeface="Montserrat" charset="0"/>
                        <a:cs typeface="Montserrat" charset="0"/>
                      </a:endParaRPr>
                    </a:p>
                  </a:txBody>
                  <a:tcPr marL="91440" marR="91440" marT="45720" marB="45720" anchor="ctr">
                    <a:lnL w="12700" cap="flat" cmpd="sng" algn="ctr">
                      <a:solidFill>
                        <a:srgbClr val="DCE2EF"/>
                      </a:solidFill>
                      <a:prstDash val="solid"/>
                      <a:round/>
                      <a:headEnd type="none" w="med" len="med"/>
                      <a:tailEnd type="none" w="med" len="med"/>
                    </a:lnL>
                    <a:lnR w="12700" cap="flat" cmpd="sng" algn="ctr">
                      <a:solidFill>
                        <a:srgbClr val="DCE2EF"/>
                      </a:solidFill>
                      <a:prstDash val="solid"/>
                      <a:round/>
                      <a:headEnd type="none" w="med" len="med"/>
                      <a:tailEnd type="none" w="med" len="med"/>
                    </a:lnR>
                    <a:lnT w="12700" cap="flat" cmpd="sng" algn="ctr">
                      <a:solidFill>
                        <a:srgbClr val="DCE2EF"/>
                      </a:solidFill>
                      <a:prstDash val="solid"/>
                      <a:round/>
                      <a:headEnd type="none" w="med" len="med"/>
                      <a:tailEnd type="none" w="med" len="med"/>
                    </a:lnT>
                    <a:lnB w="12700" cap="flat" cmpd="sng" algn="ctr">
                      <a:solidFill>
                        <a:srgbClr val="DCE2EF"/>
                      </a:solidFill>
                      <a:prstDash val="solid"/>
                      <a:round/>
                      <a:headEnd type="none" w="med" len="med"/>
                      <a:tailEnd type="none" w="med" len="med"/>
                    </a:lnB>
                    <a:solidFill>
                      <a:srgbClr val="23408E"/>
                    </a:solidFill>
                  </a:tcPr>
                </a:tc>
                <a:tc>
                  <a:txBody>
                    <a:bodyPr/>
                    <a:lstStyle/>
                    <a:p>
                      <a:pPr indent="0" marL="0">
                        <a:buNone/>
                      </a:pPr>
                      <a:r>
                        <a:rPr lang="en-US" sz="1000" b="1" dirty="0">
                          <a:solidFill>
                            <a:srgbClr val="FFFFFF"/>
                          </a:solidFill>
                          <a:latin typeface="Montserrat" pitchFamily="34" charset="0"/>
                          <a:ea typeface="Montserrat" pitchFamily="34" charset="-122"/>
                          <a:cs typeface="Montserrat" pitchFamily="34" charset="-120"/>
                        </a:rPr>
                        <a:t>Error</a:t>
                      </a:r>
                      <a:endParaRPr lang="en-US" sz="1000" dirty="0">
                        <a:latin typeface="Montserrat" charset="0"/>
                        <a:ea typeface="Montserrat" charset="0"/>
                        <a:cs typeface="Montserrat" charset="0"/>
                      </a:endParaRPr>
                    </a:p>
                  </a:txBody>
                  <a:tcPr marL="91440" marR="91440" marT="45720" marB="45720" anchor="ctr">
                    <a:lnL w="12700" cap="flat" cmpd="sng" algn="ctr">
                      <a:solidFill>
                        <a:srgbClr val="DCE2EF"/>
                      </a:solidFill>
                      <a:prstDash val="solid"/>
                      <a:round/>
                      <a:headEnd type="none" w="med" len="med"/>
                      <a:tailEnd type="none" w="med" len="med"/>
                    </a:lnL>
                    <a:lnR w="12700" cap="flat" cmpd="sng" algn="ctr">
                      <a:solidFill>
                        <a:srgbClr val="DCE2EF"/>
                      </a:solidFill>
                      <a:prstDash val="solid"/>
                      <a:round/>
                      <a:headEnd type="none" w="med" len="med"/>
                      <a:tailEnd type="none" w="med" len="med"/>
                    </a:lnR>
                    <a:lnT w="12700" cap="flat" cmpd="sng" algn="ctr">
                      <a:solidFill>
                        <a:srgbClr val="DCE2EF"/>
                      </a:solidFill>
                      <a:prstDash val="solid"/>
                      <a:round/>
                      <a:headEnd type="none" w="med" len="med"/>
                      <a:tailEnd type="none" w="med" len="med"/>
                    </a:lnT>
                    <a:lnB w="12700" cap="flat" cmpd="sng" algn="ctr">
                      <a:solidFill>
                        <a:srgbClr val="DCE2EF"/>
                      </a:solidFill>
                      <a:prstDash val="solid"/>
                      <a:round/>
                      <a:headEnd type="none" w="med" len="med"/>
                      <a:tailEnd type="none" w="med" len="med"/>
                    </a:lnB>
                    <a:solidFill>
                      <a:srgbClr val="23408E"/>
                    </a:solidFill>
                  </a:tcPr>
                </a:tc>
              </a:tr>
              <a:tr h="384048">
                <a:tc>
                  <a:txBody>
                    <a:bodyPr/>
                    <a:lstStyle/>
                    <a:p>
                      <a:pPr indent="0" marL="0">
                        <a:buNone/>
                      </a:pPr>
                      <a:r>
                        <a:rPr lang="en-US" sz="1000" b="1" dirty="0">
                          <a:solidFill>
                            <a:srgbClr val="16181D"/>
                          </a:solidFill>
                          <a:latin typeface="Montserrat" pitchFamily="34" charset="0"/>
                          <a:ea typeface="Montserrat" pitchFamily="34" charset="-122"/>
                          <a:cs typeface="Montserrat" pitchFamily="34" charset="-120"/>
                        </a:rPr>
                        <a:t>8 chunks</a:t>
                      </a:r>
                      <a:endParaRPr lang="en-US" sz="1000" dirty="0">
                        <a:latin typeface="Montserrat" charset="0"/>
                        <a:ea typeface="Montserrat" charset="0"/>
                        <a:cs typeface="Montserrat" charset="0"/>
                      </a:endParaRPr>
                    </a:p>
                  </a:txBody>
                  <a:tcPr marL="91440" marR="91440" marT="45720" marB="45720" anchor="ctr">
                    <a:lnL w="12700" cap="flat" cmpd="sng" algn="ctr">
                      <a:solidFill>
                        <a:srgbClr val="DCE2EF"/>
                      </a:solidFill>
                      <a:prstDash val="solid"/>
                      <a:round/>
                      <a:headEnd type="none" w="med" len="med"/>
                      <a:tailEnd type="none" w="med" len="med"/>
                    </a:lnL>
                    <a:lnR w="12700" cap="flat" cmpd="sng" algn="ctr">
                      <a:solidFill>
                        <a:srgbClr val="DCE2EF"/>
                      </a:solidFill>
                      <a:prstDash val="solid"/>
                      <a:round/>
                      <a:headEnd type="none" w="med" len="med"/>
                      <a:tailEnd type="none" w="med" len="med"/>
                    </a:lnR>
                    <a:lnT w="12700" cap="flat" cmpd="sng" algn="ctr">
                      <a:solidFill>
                        <a:srgbClr val="DCE2EF"/>
                      </a:solidFill>
                      <a:prstDash val="solid"/>
                      <a:round/>
                      <a:headEnd type="none" w="med" len="med"/>
                      <a:tailEnd type="none" w="med" len="med"/>
                    </a:lnT>
                    <a:lnB w="12700" cap="flat" cmpd="sng" algn="ctr">
                      <a:solidFill>
                        <a:srgbClr val="DCE2EF"/>
                      </a:solidFill>
                      <a:prstDash val="solid"/>
                      <a:round/>
                      <a:headEnd type="none" w="med" len="med"/>
                      <a:tailEnd type="none" w="med" len="med"/>
                    </a:lnB>
                    <a:solidFill>
                      <a:srgbClr val="F4F6FB"/>
                    </a:solidFill>
                  </a:tcPr>
                </a:tc>
                <a:tc>
                  <a:txBody>
                    <a:bodyPr/>
                    <a:lstStyle/>
                    <a:p>
                      <a:pPr indent="0" marL="0">
                        <a:buNone/>
                      </a:pPr>
                      <a:r>
                        <a:rPr lang="en-US" sz="1000" dirty="0">
                          <a:solidFill>
                            <a:srgbClr val="16181D"/>
                          </a:solidFill>
                          <a:latin typeface="Montserrat" pitchFamily="34" charset="0"/>
                          <a:ea typeface="Montserrat" pitchFamily="34" charset="-122"/>
                          <a:cs typeface="Montserrat" pitchFamily="34" charset="-120"/>
                        </a:rPr>
                        <a:t>14,384</a:t>
                      </a:r>
                      <a:endParaRPr lang="en-US" sz="1000" dirty="0">
                        <a:latin typeface="Montserrat" charset="0"/>
                        <a:ea typeface="Montserrat" charset="0"/>
                        <a:cs typeface="Montserrat" charset="0"/>
                      </a:endParaRPr>
                    </a:p>
                  </a:txBody>
                  <a:tcPr marL="91440" marR="91440" marT="45720" marB="45720" anchor="ctr">
                    <a:lnL w="12700" cap="flat" cmpd="sng" algn="ctr">
                      <a:solidFill>
                        <a:srgbClr val="DCE2EF"/>
                      </a:solidFill>
                      <a:prstDash val="solid"/>
                      <a:round/>
                      <a:headEnd type="none" w="med" len="med"/>
                      <a:tailEnd type="none" w="med" len="med"/>
                    </a:lnL>
                    <a:lnR w="12700" cap="flat" cmpd="sng" algn="ctr">
                      <a:solidFill>
                        <a:srgbClr val="DCE2EF"/>
                      </a:solidFill>
                      <a:prstDash val="solid"/>
                      <a:round/>
                      <a:headEnd type="none" w="med" len="med"/>
                      <a:tailEnd type="none" w="med" len="med"/>
                    </a:lnR>
                    <a:lnT w="12700" cap="flat" cmpd="sng" algn="ctr">
                      <a:solidFill>
                        <a:srgbClr val="DCE2EF"/>
                      </a:solidFill>
                      <a:prstDash val="solid"/>
                      <a:round/>
                      <a:headEnd type="none" w="med" len="med"/>
                      <a:tailEnd type="none" w="med" len="med"/>
                    </a:lnT>
                    <a:lnB w="12700" cap="flat" cmpd="sng" algn="ctr">
                      <a:solidFill>
                        <a:srgbClr val="DCE2EF"/>
                      </a:solidFill>
                      <a:prstDash val="solid"/>
                      <a:round/>
                      <a:headEnd type="none" w="med" len="med"/>
                      <a:tailEnd type="none" w="med" len="med"/>
                    </a:lnB>
                    <a:solidFill>
                      <a:srgbClr val="F4F6FB"/>
                    </a:solidFill>
                  </a:tcPr>
                </a:tc>
                <a:tc>
                  <a:txBody>
                    <a:bodyPr/>
                    <a:lstStyle/>
                    <a:p>
                      <a:pPr indent="0" marL="0">
                        <a:buNone/>
                      </a:pPr>
                      <a:r>
                        <a:rPr lang="en-US" sz="1000" dirty="0">
                          <a:solidFill>
                            <a:srgbClr val="16181D"/>
                          </a:solidFill>
                          <a:latin typeface="Montserrat" pitchFamily="34" charset="0"/>
                          <a:ea typeface="Montserrat" pitchFamily="34" charset="-122"/>
                          <a:cs typeface="Montserrat" pitchFamily="34" charset="-120"/>
                        </a:rPr>
                        <a:t>39.9</a:t>
                      </a:r>
                      <a:endParaRPr lang="en-US" sz="1000" dirty="0">
                        <a:latin typeface="Montserrat" charset="0"/>
                        <a:ea typeface="Montserrat" charset="0"/>
                        <a:cs typeface="Montserrat" charset="0"/>
                      </a:endParaRPr>
                    </a:p>
                  </a:txBody>
                  <a:tcPr marL="91440" marR="91440" marT="45720" marB="45720" anchor="ctr">
                    <a:lnL w="12700" cap="flat" cmpd="sng" algn="ctr">
                      <a:solidFill>
                        <a:srgbClr val="DCE2EF"/>
                      </a:solidFill>
                      <a:prstDash val="solid"/>
                      <a:round/>
                      <a:headEnd type="none" w="med" len="med"/>
                      <a:tailEnd type="none" w="med" len="med"/>
                    </a:lnL>
                    <a:lnR w="12700" cap="flat" cmpd="sng" algn="ctr">
                      <a:solidFill>
                        <a:srgbClr val="DCE2EF"/>
                      </a:solidFill>
                      <a:prstDash val="solid"/>
                      <a:round/>
                      <a:headEnd type="none" w="med" len="med"/>
                      <a:tailEnd type="none" w="med" len="med"/>
                    </a:lnR>
                    <a:lnT w="12700" cap="flat" cmpd="sng" algn="ctr">
                      <a:solidFill>
                        <a:srgbClr val="DCE2EF"/>
                      </a:solidFill>
                      <a:prstDash val="solid"/>
                      <a:round/>
                      <a:headEnd type="none" w="med" len="med"/>
                      <a:tailEnd type="none" w="med" len="med"/>
                    </a:lnT>
                    <a:lnB w="12700" cap="flat" cmpd="sng" algn="ctr">
                      <a:solidFill>
                        <a:srgbClr val="DCE2EF"/>
                      </a:solidFill>
                      <a:prstDash val="solid"/>
                      <a:round/>
                      <a:headEnd type="none" w="med" len="med"/>
                      <a:tailEnd type="none" w="med" len="med"/>
                    </a:lnB>
                    <a:solidFill>
                      <a:srgbClr val="F4F6FB"/>
                    </a:solidFill>
                  </a:tcPr>
                </a:tc>
                <a:tc>
                  <a:txBody>
                    <a:bodyPr/>
                    <a:lstStyle/>
                    <a:p>
                      <a:pPr indent="0" marL="0">
                        <a:buNone/>
                      </a:pPr>
                      <a:r>
                        <a:rPr lang="en-US" sz="1000" dirty="0">
                          <a:solidFill>
                            <a:srgbClr val="16181D"/>
                          </a:solidFill>
                          <a:latin typeface="Montserrat" pitchFamily="34" charset="0"/>
                          <a:ea typeface="Montserrat" pitchFamily="34" charset="-122"/>
                          <a:cs typeface="Montserrat" pitchFamily="34" charset="-120"/>
                        </a:rPr>
                        <a:t>2.88</a:t>
                      </a:r>
                      <a:endParaRPr lang="en-US" sz="1000" dirty="0">
                        <a:latin typeface="Montserrat" charset="0"/>
                        <a:ea typeface="Montserrat" charset="0"/>
                        <a:cs typeface="Montserrat" charset="0"/>
                      </a:endParaRPr>
                    </a:p>
                  </a:txBody>
                  <a:tcPr marL="91440" marR="91440" marT="45720" marB="45720" anchor="ctr">
                    <a:lnL w="12700" cap="flat" cmpd="sng" algn="ctr">
                      <a:solidFill>
                        <a:srgbClr val="DCE2EF"/>
                      </a:solidFill>
                      <a:prstDash val="solid"/>
                      <a:round/>
                      <a:headEnd type="none" w="med" len="med"/>
                      <a:tailEnd type="none" w="med" len="med"/>
                    </a:lnL>
                    <a:lnR w="12700" cap="flat" cmpd="sng" algn="ctr">
                      <a:solidFill>
                        <a:srgbClr val="DCE2EF"/>
                      </a:solidFill>
                      <a:prstDash val="solid"/>
                      <a:round/>
                      <a:headEnd type="none" w="med" len="med"/>
                      <a:tailEnd type="none" w="med" len="med"/>
                    </a:lnR>
                    <a:lnT w="12700" cap="flat" cmpd="sng" algn="ctr">
                      <a:solidFill>
                        <a:srgbClr val="DCE2EF"/>
                      </a:solidFill>
                      <a:prstDash val="solid"/>
                      <a:round/>
                      <a:headEnd type="none" w="med" len="med"/>
                      <a:tailEnd type="none" w="med" len="med"/>
                    </a:lnT>
                    <a:lnB w="12700" cap="flat" cmpd="sng" algn="ctr">
                      <a:solidFill>
                        <a:srgbClr val="DCE2EF"/>
                      </a:solidFill>
                      <a:prstDash val="solid"/>
                      <a:round/>
                      <a:headEnd type="none" w="med" len="med"/>
                      <a:tailEnd type="none" w="med" len="med"/>
                    </a:lnB>
                    <a:solidFill>
                      <a:srgbClr val="F4F6FB"/>
                    </a:solidFill>
                  </a:tcPr>
                </a:tc>
              </a:tr>
              <a:tr h="384048">
                <a:tc>
                  <a:txBody>
                    <a:bodyPr/>
                    <a:lstStyle/>
                    <a:p>
                      <a:pPr indent="0" marL="0">
                        <a:buNone/>
                      </a:pPr>
                      <a:r>
                        <a:rPr lang="en-US" sz="1000" b="1" dirty="0">
                          <a:solidFill>
                            <a:srgbClr val="16181D"/>
                          </a:solidFill>
                          <a:latin typeface="Montserrat" pitchFamily="34" charset="0"/>
                          <a:ea typeface="Montserrat" pitchFamily="34" charset="-122"/>
                          <a:cs typeface="Montserrat" pitchFamily="34" charset="-120"/>
                        </a:rPr>
                        <a:t>4 chunks (paper)</a:t>
                      </a:r>
                      <a:endParaRPr lang="en-US" sz="1000" dirty="0">
                        <a:latin typeface="Montserrat" charset="0"/>
                        <a:ea typeface="Montserrat" charset="0"/>
                        <a:cs typeface="Montserrat" charset="0"/>
                      </a:endParaRPr>
                    </a:p>
                  </a:txBody>
                  <a:tcPr marL="91440" marR="91440" marT="45720" marB="45720" anchor="ctr">
                    <a:lnL w="12700" cap="flat" cmpd="sng" algn="ctr">
                      <a:solidFill>
                        <a:srgbClr val="DCE2EF"/>
                      </a:solidFill>
                      <a:prstDash val="solid"/>
                      <a:round/>
                      <a:headEnd type="none" w="med" len="med"/>
                      <a:tailEnd type="none" w="med" len="med"/>
                    </a:lnL>
                    <a:lnR w="12700" cap="flat" cmpd="sng" algn="ctr">
                      <a:solidFill>
                        <a:srgbClr val="DCE2EF"/>
                      </a:solidFill>
                      <a:prstDash val="solid"/>
                      <a:round/>
                      <a:headEnd type="none" w="med" len="med"/>
                      <a:tailEnd type="none" w="med" len="med"/>
                    </a:lnR>
                    <a:lnT w="12700" cap="flat" cmpd="sng" algn="ctr">
                      <a:solidFill>
                        <a:srgbClr val="DCE2EF"/>
                      </a:solidFill>
                      <a:prstDash val="solid"/>
                      <a:round/>
                      <a:headEnd type="none" w="med" len="med"/>
                      <a:tailEnd type="none" w="med" len="med"/>
                    </a:lnT>
                    <a:lnB w="12700" cap="flat" cmpd="sng" algn="ctr">
                      <a:solidFill>
                        <a:srgbClr val="DCE2EF"/>
                      </a:solidFill>
                      <a:prstDash val="solid"/>
                      <a:round/>
                      <a:headEnd type="none" w="med" len="med"/>
                      <a:tailEnd type="none" w="med" len="med"/>
                    </a:lnB>
                    <a:solidFill>
                      <a:srgbClr val="FFFFFF"/>
                    </a:solidFill>
                  </a:tcPr>
                </a:tc>
                <a:tc>
                  <a:txBody>
                    <a:bodyPr/>
                    <a:lstStyle/>
                    <a:p>
                      <a:pPr indent="0" marL="0">
                        <a:buNone/>
                      </a:pPr>
                      <a:r>
                        <a:rPr lang="en-US" sz="1000" dirty="0">
                          <a:solidFill>
                            <a:srgbClr val="16181D"/>
                          </a:solidFill>
                          <a:latin typeface="Montserrat" pitchFamily="34" charset="0"/>
                          <a:ea typeface="Montserrat" pitchFamily="34" charset="-122"/>
                          <a:cs typeface="Montserrat" pitchFamily="34" charset="-120"/>
                        </a:rPr>
                        <a:t>8,565</a:t>
                      </a:r>
                      <a:endParaRPr lang="en-US" sz="1000" dirty="0">
                        <a:latin typeface="Montserrat" charset="0"/>
                        <a:ea typeface="Montserrat" charset="0"/>
                        <a:cs typeface="Montserrat" charset="0"/>
                      </a:endParaRPr>
                    </a:p>
                  </a:txBody>
                  <a:tcPr marL="91440" marR="91440" marT="45720" marB="45720" anchor="ctr">
                    <a:lnL w="12700" cap="flat" cmpd="sng" algn="ctr">
                      <a:solidFill>
                        <a:srgbClr val="DCE2EF"/>
                      </a:solidFill>
                      <a:prstDash val="solid"/>
                      <a:round/>
                      <a:headEnd type="none" w="med" len="med"/>
                      <a:tailEnd type="none" w="med" len="med"/>
                    </a:lnL>
                    <a:lnR w="12700" cap="flat" cmpd="sng" algn="ctr">
                      <a:solidFill>
                        <a:srgbClr val="DCE2EF"/>
                      </a:solidFill>
                      <a:prstDash val="solid"/>
                      <a:round/>
                      <a:headEnd type="none" w="med" len="med"/>
                      <a:tailEnd type="none" w="med" len="med"/>
                    </a:lnR>
                    <a:lnT w="12700" cap="flat" cmpd="sng" algn="ctr">
                      <a:solidFill>
                        <a:srgbClr val="DCE2EF"/>
                      </a:solidFill>
                      <a:prstDash val="solid"/>
                      <a:round/>
                      <a:headEnd type="none" w="med" len="med"/>
                      <a:tailEnd type="none" w="med" len="med"/>
                    </a:lnT>
                    <a:lnB w="12700" cap="flat" cmpd="sng" algn="ctr">
                      <a:solidFill>
                        <a:srgbClr val="DCE2EF"/>
                      </a:solidFill>
                      <a:prstDash val="solid"/>
                      <a:round/>
                      <a:headEnd type="none" w="med" len="med"/>
                      <a:tailEnd type="none" w="med" len="med"/>
                    </a:lnB>
                    <a:solidFill>
                      <a:srgbClr val="FFFFFF"/>
                    </a:solidFill>
                  </a:tcPr>
                </a:tc>
                <a:tc>
                  <a:txBody>
                    <a:bodyPr/>
                    <a:lstStyle/>
                    <a:p>
                      <a:pPr indent="0" marL="0">
                        <a:buNone/>
                      </a:pPr>
                      <a:r>
                        <a:rPr lang="en-US" sz="1000" dirty="0">
                          <a:solidFill>
                            <a:srgbClr val="16181D"/>
                          </a:solidFill>
                          <a:latin typeface="Montserrat" pitchFamily="34" charset="0"/>
                          <a:ea typeface="Montserrat" pitchFamily="34" charset="-122"/>
                          <a:cs typeface="Montserrat" pitchFamily="34" charset="-120"/>
                        </a:rPr>
                        <a:t>19.9</a:t>
                      </a:r>
                      <a:endParaRPr lang="en-US" sz="1000" dirty="0">
                        <a:latin typeface="Montserrat" charset="0"/>
                        <a:ea typeface="Montserrat" charset="0"/>
                        <a:cs typeface="Montserrat" charset="0"/>
                      </a:endParaRPr>
                    </a:p>
                  </a:txBody>
                  <a:tcPr marL="91440" marR="91440" marT="45720" marB="45720" anchor="ctr">
                    <a:lnL w="12700" cap="flat" cmpd="sng" algn="ctr">
                      <a:solidFill>
                        <a:srgbClr val="DCE2EF"/>
                      </a:solidFill>
                      <a:prstDash val="solid"/>
                      <a:round/>
                      <a:headEnd type="none" w="med" len="med"/>
                      <a:tailEnd type="none" w="med" len="med"/>
                    </a:lnL>
                    <a:lnR w="12700" cap="flat" cmpd="sng" algn="ctr">
                      <a:solidFill>
                        <a:srgbClr val="DCE2EF"/>
                      </a:solidFill>
                      <a:prstDash val="solid"/>
                      <a:round/>
                      <a:headEnd type="none" w="med" len="med"/>
                      <a:tailEnd type="none" w="med" len="med"/>
                    </a:lnR>
                    <a:lnT w="12700" cap="flat" cmpd="sng" algn="ctr">
                      <a:solidFill>
                        <a:srgbClr val="DCE2EF"/>
                      </a:solidFill>
                      <a:prstDash val="solid"/>
                      <a:round/>
                      <a:headEnd type="none" w="med" len="med"/>
                      <a:tailEnd type="none" w="med" len="med"/>
                    </a:lnT>
                    <a:lnB w="12700" cap="flat" cmpd="sng" algn="ctr">
                      <a:solidFill>
                        <a:srgbClr val="DCE2EF"/>
                      </a:solidFill>
                      <a:prstDash val="solid"/>
                      <a:round/>
                      <a:headEnd type="none" w="med" len="med"/>
                      <a:tailEnd type="none" w="med" len="med"/>
                    </a:lnB>
                    <a:solidFill>
                      <a:srgbClr val="FFFFFF"/>
                    </a:solidFill>
                  </a:tcPr>
                </a:tc>
                <a:tc>
                  <a:txBody>
                    <a:bodyPr/>
                    <a:lstStyle/>
                    <a:p>
                      <a:pPr indent="0" marL="0">
                        <a:buNone/>
                      </a:pPr>
                      <a:r>
                        <a:rPr lang="en-US" sz="1000" dirty="0">
                          <a:solidFill>
                            <a:srgbClr val="16181D"/>
                          </a:solidFill>
                          <a:latin typeface="Montserrat" pitchFamily="34" charset="0"/>
                          <a:ea typeface="Montserrat" pitchFamily="34" charset="-122"/>
                          <a:cs typeface="Montserrat" pitchFamily="34" charset="-120"/>
                        </a:rPr>
                        <a:t>3.20</a:t>
                      </a:r>
                      <a:endParaRPr lang="en-US" sz="1000" dirty="0">
                        <a:latin typeface="Montserrat" charset="0"/>
                        <a:ea typeface="Montserrat" charset="0"/>
                        <a:cs typeface="Montserrat" charset="0"/>
                      </a:endParaRPr>
                    </a:p>
                  </a:txBody>
                  <a:tcPr marL="91440" marR="91440" marT="45720" marB="45720" anchor="ctr">
                    <a:lnL w="12700" cap="flat" cmpd="sng" algn="ctr">
                      <a:solidFill>
                        <a:srgbClr val="DCE2EF"/>
                      </a:solidFill>
                      <a:prstDash val="solid"/>
                      <a:round/>
                      <a:headEnd type="none" w="med" len="med"/>
                      <a:tailEnd type="none" w="med" len="med"/>
                    </a:lnL>
                    <a:lnR w="12700" cap="flat" cmpd="sng" algn="ctr">
                      <a:solidFill>
                        <a:srgbClr val="DCE2EF"/>
                      </a:solidFill>
                      <a:prstDash val="solid"/>
                      <a:round/>
                      <a:headEnd type="none" w="med" len="med"/>
                      <a:tailEnd type="none" w="med" len="med"/>
                    </a:lnR>
                    <a:lnT w="12700" cap="flat" cmpd="sng" algn="ctr">
                      <a:solidFill>
                        <a:srgbClr val="DCE2EF"/>
                      </a:solidFill>
                      <a:prstDash val="solid"/>
                      <a:round/>
                      <a:headEnd type="none" w="med" len="med"/>
                      <a:tailEnd type="none" w="med" len="med"/>
                    </a:lnT>
                    <a:lnB w="12700" cap="flat" cmpd="sng" algn="ctr">
                      <a:solidFill>
                        <a:srgbClr val="DCE2EF"/>
                      </a:solidFill>
                      <a:prstDash val="solid"/>
                      <a:round/>
                      <a:headEnd type="none" w="med" len="med"/>
                      <a:tailEnd type="none" w="med" len="med"/>
                    </a:lnB>
                    <a:solidFill>
                      <a:srgbClr val="FFFFFF"/>
                    </a:solidFill>
                  </a:tcPr>
                </a:tc>
              </a:tr>
              <a:tr h="384048">
                <a:tc>
                  <a:txBody>
                    <a:bodyPr/>
                    <a:lstStyle/>
                    <a:p>
                      <a:pPr indent="0" marL="0">
                        <a:buNone/>
                      </a:pPr>
                      <a:r>
                        <a:rPr lang="en-US" sz="1000" b="1" dirty="0">
                          <a:solidFill>
                            <a:srgbClr val="16181D"/>
                          </a:solidFill>
                          <a:latin typeface="Montserrat" pitchFamily="34" charset="0"/>
                          <a:ea typeface="Montserrat" pitchFamily="34" charset="-122"/>
                          <a:cs typeface="Montserrat" pitchFamily="34" charset="-120"/>
                        </a:rPr>
                        <a:t>2 chunks</a:t>
                      </a:r>
                      <a:endParaRPr lang="en-US" sz="1000" dirty="0">
                        <a:latin typeface="Montserrat" charset="0"/>
                        <a:ea typeface="Montserrat" charset="0"/>
                        <a:cs typeface="Montserrat" charset="0"/>
                      </a:endParaRPr>
                    </a:p>
                  </a:txBody>
                  <a:tcPr marL="91440" marR="91440" marT="45720" marB="45720" anchor="ctr">
                    <a:lnL w="12700" cap="flat" cmpd="sng" algn="ctr">
                      <a:solidFill>
                        <a:srgbClr val="DCE2EF"/>
                      </a:solidFill>
                      <a:prstDash val="solid"/>
                      <a:round/>
                      <a:headEnd type="none" w="med" len="med"/>
                      <a:tailEnd type="none" w="med" len="med"/>
                    </a:lnL>
                    <a:lnR w="12700" cap="flat" cmpd="sng" algn="ctr">
                      <a:solidFill>
                        <a:srgbClr val="DCE2EF"/>
                      </a:solidFill>
                      <a:prstDash val="solid"/>
                      <a:round/>
                      <a:headEnd type="none" w="med" len="med"/>
                      <a:tailEnd type="none" w="med" len="med"/>
                    </a:lnR>
                    <a:lnT w="12700" cap="flat" cmpd="sng" algn="ctr">
                      <a:solidFill>
                        <a:srgbClr val="DCE2EF"/>
                      </a:solidFill>
                      <a:prstDash val="solid"/>
                      <a:round/>
                      <a:headEnd type="none" w="med" len="med"/>
                      <a:tailEnd type="none" w="med" len="med"/>
                    </a:lnT>
                    <a:lnB w="12700" cap="flat" cmpd="sng" algn="ctr">
                      <a:solidFill>
                        <a:srgbClr val="DCE2EF"/>
                      </a:solidFill>
                      <a:prstDash val="solid"/>
                      <a:round/>
                      <a:headEnd type="none" w="med" len="med"/>
                      <a:tailEnd type="none" w="med" len="med"/>
                    </a:lnB>
                    <a:solidFill>
                      <a:srgbClr val="F4F6FB"/>
                    </a:solidFill>
                  </a:tcPr>
                </a:tc>
                <a:tc>
                  <a:txBody>
                    <a:bodyPr/>
                    <a:lstStyle/>
                    <a:p>
                      <a:pPr indent="0" marL="0">
                        <a:buNone/>
                      </a:pPr>
                      <a:r>
                        <a:rPr lang="en-US" sz="1000" dirty="0">
                          <a:solidFill>
                            <a:srgbClr val="16181D"/>
                          </a:solidFill>
                          <a:latin typeface="Montserrat" pitchFamily="34" charset="0"/>
                          <a:ea typeface="Montserrat" pitchFamily="34" charset="-122"/>
                          <a:cs typeface="Montserrat" pitchFamily="34" charset="-120"/>
                        </a:rPr>
                        <a:t>5,163</a:t>
                      </a:r>
                      <a:endParaRPr lang="en-US" sz="1000" dirty="0">
                        <a:latin typeface="Montserrat" charset="0"/>
                        <a:ea typeface="Montserrat" charset="0"/>
                        <a:cs typeface="Montserrat" charset="0"/>
                      </a:endParaRPr>
                    </a:p>
                  </a:txBody>
                  <a:tcPr marL="91440" marR="91440" marT="45720" marB="45720" anchor="ctr">
                    <a:lnL w="12700" cap="flat" cmpd="sng" algn="ctr">
                      <a:solidFill>
                        <a:srgbClr val="DCE2EF"/>
                      </a:solidFill>
                      <a:prstDash val="solid"/>
                      <a:round/>
                      <a:headEnd type="none" w="med" len="med"/>
                      <a:tailEnd type="none" w="med" len="med"/>
                    </a:lnL>
                    <a:lnR w="12700" cap="flat" cmpd="sng" algn="ctr">
                      <a:solidFill>
                        <a:srgbClr val="DCE2EF"/>
                      </a:solidFill>
                      <a:prstDash val="solid"/>
                      <a:round/>
                      <a:headEnd type="none" w="med" len="med"/>
                      <a:tailEnd type="none" w="med" len="med"/>
                    </a:lnR>
                    <a:lnT w="12700" cap="flat" cmpd="sng" algn="ctr">
                      <a:solidFill>
                        <a:srgbClr val="DCE2EF"/>
                      </a:solidFill>
                      <a:prstDash val="solid"/>
                      <a:round/>
                      <a:headEnd type="none" w="med" len="med"/>
                      <a:tailEnd type="none" w="med" len="med"/>
                    </a:lnT>
                    <a:lnB w="12700" cap="flat" cmpd="sng" algn="ctr">
                      <a:solidFill>
                        <a:srgbClr val="DCE2EF"/>
                      </a:solidFill>
                      <a:prstDash val="solid"/>
                      <a:round/>
                      <a:headEnd type="none" w="med" len="med"/>
                      <a:tailEnd type="none" w="med" len="med"/>
                    </a:lnB>
                    <a:solidFill>
                      <a:srgbClr val="F4F6FB"/>
                    </a:solidFill>
                  </a:tcPr>
                </a:tc>
                <a:tc>
                  <a:txBody>
                    <a:bodyPr/>
                    <a:lstStyle/>
                    <a:p>
                      <a:pPr indent="0" marL="0">
                        <a:buNone/>
                      </a:pPr>
                      <a:r>
                        <a:rPr lang="en-US" sz="1000" dirty="0">
                          <a:solidFill>
                            <a:srgbClr val="16181D"/>
                          </a:solidFill>
                          <a:latin typeface="Montserrat" pitchFamily="34" charset="0"/>
                          <a:ea typeface="Montserrat" pitchFamily="34" charset="-122"/>
                          <a:cs typeface="Montserrat" pitchFamily="34" charset="-120"/>
                        </a:rPr>
                        <a:t>9.9</a:t>
                      </a:r>
                      <a:endParaRPr lang="en-US" sz="1000" dirty="0">
                        <a:latin typeface="Montserrat" charset="0"/>
                        <a:ea typeface="Montserrat" charset="0"/>
                        <a:cs typeface="Montserrat" charset="0"/>
                      </a:endParaRPr>
                    </a:p>
                  </a:txBody>
                  <a:tcPr marL="91440" marR="91440" marT="45720" marB="45720" anchor="ctr">
                    <a:lnL w="12700" cap="flat" cmpd="sng" algn="ctr">
                      <a:solidFill>
                        <a:srgbClr val="DCE2EF"/>
                      </a:solidFill>
                      <a:prstDash val="solid"/>
                      <a:round/>
                      <a:headEnd type="none" w="med" len="med"/>
                      <a:tailEnd type="none" w="med" len="med"/>
                    </a:lnL>
                    <a:lnR w="12700" cap="flat" cmpd="sng" algn="ctr">
                      <a:solidFill>
                        <a:srgbClr val="DCE2EF"/>
                      </a:solidFill>
                      <a:prstDash val="solid"/>
                      <a:round/>
                      <a:headEnd type="none" w="med" len="med"/>
                      <a:tailEnd type="none" w="med" len="med"/>
                    </a:lnR>
                    <a:lnT w="12700" cap="flat" cmpd="sng" algn="ctr">
                      <a:solidFill>
                        <a:srgbClr val="DCE2EF"/>
                      </a:solidFill>
                      <a:prstDash val="solid"/>
                      <a:round/>
                      <a:headEnd type="none" w="med" len="med"/>
                      <a:tailEnd type="none" w="med" len="med"/>
                    </a:lnT>
                    <a:lnB w="12700" cap="flat" cmpd="sng" algn="ctr">
                      <a:solidFill>
                        <a:srgbClr val="DCE2EF"/>
                      </a:solidFill>
                      <a:prstDash val="solid"/>
                      <a:round/>
                      <a:headEnd type="none" w="med" len="med"/>
                      <a:tailEnd type="none" w="med" len="med"/>
                    </a:lnB>
                    <a:solidFill>
                      <a:srgbClr val="F4F6FB"/>
                    </a:solidFill>
                  </a:tcPr>
                </a:tc>
                <a:tc>
                  <a:txBody>
                    <a:bodyPr/>
                    <a:lstStyle/>
                    <a:p>
                      <a:pPr indent="0" marL="0">
                        <a:buNone/>
                      </a:pPr>
                      <a:r>
                        <a:rPr lang="en-US" sz="1000" dirty="0">
                          <a:solidFill>
                            <a:srgbClr val="16181D"/>
                          </a:solidFill>
                          <a:latin typeface="Montserrat" pitchFamily="34" charset="0"/>
                          <a:ea typeface="Montserrat" pitchFamily="34" charset="-122"/>
                          <a:cs typeface="Montserrat" pitchFamily="34" charset="-120"/>
                        </a:rPr>
                        <a:t>3.38</a:t>
                      </a:r>
                      <a:endParaRPr lang="en-US" sz="1000" dirty="0">
                        <a:latin typeface="Montserrat" charset="0"/>
                        <a:ea typeface="Montserrat" charset="0"/>
                        <a:cs typeface="Montserrat" charset="0"/>
                      </a:endParaRPr>
                    </a:p>
                  </a:txBody>
                  <a:tcPr marL="91440" marR="91440" marT="45720" marB="45720" anchor="ctr">
                    <a:lnL w="12700" cap="flat" cmpd="sng" algn="ctr">
                      <a:solidFill>
                        <a:srgbClr val="DCE2EF"/>
                      </a:solidFill>
                      <a:prstDash val="solid"/>
                      <a:round/>
                      <a:headEnd type="none" w="med" len="med"/>
                      <a:tailEnd type="none" w="med" len="med"/>
                    </a:lnL>
                    <a:lnR w="12700" cap="flat" cmpd="sng" algn="ctr">
                      <a:solidFill>
                        <a:srgbClr val="DCE2EF"/>
                      </a:solidFill>
                      <a:prstDash val="solid"/>
                      <a:round/>
                      <a:headEnd type="none" w="med" len="med"/>
                      <a:tailEnd type="none" w="med" len="med"/>
                    </a:lnR>
                    <a:lnT w="12700" cap="flat" cmpd="sng" algn="ctr">
                      <a:solidFill>
                        <a:srgbClr val="DCE2EF"/>
                      </a:solidFill>
                      <a:prstDash val="solid"/>
                      <a:round/>
                      <a:headEnd type="none" w="med" len="med"/>
                      <a:tailEnd type="none" w="med" len="med"/>
                    </a:lnT>
                    <a:lnB w="12700" cap="flat" cmpd="sng" algn="ctr">
                      <a:solidFill>
                        <a:srgbClr val="DCE2EF"/>
                      </a:solidFill>
                      <a:prstDash val="solid"/>
                      <a:round/>
                      <a:headEnd type="none" w="med" len="med"/>
                      <a:tailEnd type="none" w="med" len="med"/>
                    </a:lnB>
                    <a:solidFill>
                      <a:srgbClr val="F4F6FB"/>
                    </a:solidFill>
                  </a:tcPr>
                </a:tc>
              </a:tr>
              <a:tr h="384048">
                <a:tc>
                  <a:txBody>
                    <a:bodyPr/>
                    <a:lstStyle/>
                    <a:p>
                      <a:pPr indent="0" marL="0">
                        <a:buNone/>
                      </a:pPr>
                      <a:r>
                        <a:rPr lang="en-US" sz="1000" b="1" dirty="0">
                          <a:solidFill>
                            <a:srgbClr val="D98A1F"/>
                          </a:solidFill>
                          <a:latin typeface="Montserrat" pitchFamily="34" charset="0"/>
                          <a:ea typeface="Montserrat" pitchFamily="34" charset="-122"/>
                          <a:cs typeface="Montserrat" pitchFamily="34" charset="-120"/>
                        </a:rPr>
                        <a:t>stripped down</a:t>
                      </a:r>
                      <a:endParaRPr lang="en-US" sz="1000" dirty="0">
                        <a:latin typeface="Montserrat" charset="0"/>
                        <a:ea typeface="Montserrat" charset="0"/>
                        <a:cs typeface="Montserrat" charset="0"/>
                      </a:endParaRPr>
                    </a:p>
                  </a:txBody>
                  <a:tcPr marL="91440" marR="91440" marT="45720" marB="45720" anchor="ctr">
                    <a:lnL w="12700" cap="flat" cmpd="sng" algn="ctr">
                      <a:solidFill>
                        <a:srgbClr val="DCE2EF"/>
                      </a:solidFill>
                      <a:prstDash val="solid"/>
                      <a:round/>
                      <a:headEnd type="none" w="med" len="med"/>
                      <a:tailEnd type="none" w="med" len="med"/>
                    </a:lnL>
                    <a:lnR w="12700" cap="flat" cmpd="sng" algn="ctr">
                      <a:solidFill>
                        <a:srgbClr val="DCE2EF"/>
                      </a:solidFill>
                      <a:prstDash val="solid"/>
                      <a:round/>
                      <a:headEnd type="none" w="med" len="med"/>
                      <a:tailEnd type="none" w="med" len="med"/>
                    </a:lnR>
                    <a:lnT w="12700" cap="flat" cmpd="sng" algn="ctr">
                      <a:solidFill>
                        <a:srgbClr val="DCE2EF"/>
                      </a:solidFill>
                      <a:prstDash val="solid"/>
                      <a:round/>
                      <a:headEnd type="none" w="med" len="med"/>
                      <a:tailEnd type="none" w="med" len="med"/>
                    </a:lnT>
                    <a:lnB w="12700" cap="flat" cmpd="sng" algn="ctr">
                      <a:solidFill>
                        <a:srgbClr val="DCE2EF"/>
                      </a:solidFill>
                      <a:prstDash val="solid"/>
                      <a:round/>
                      <a:headEnd type="none" w="med" len="med"/>
                      <a:tailEnd type="none" w="med" len="med"/>
                    </a:lnB>
                    <a:solidFill>
                      <a:srgbClr val="FDF3E3"/>
                    </a:solidFill>
                  </a:tcPr>
                </a:tc>
                <a:tc>
                  <a:txBody>
                    <a:bodyPr/>
                    <a:lstStyle/>
                    <a:p>
                      <a:pPr indent="0" marL="0">
                        <a:buNone/>
                      </a:pPr>
                      <a:r>
                        <a:rPr lang="en-US" sz="1000" b="1" dirty="0">
                          <a:solidFill>
                            <a:srgbClr val="D98A1F"/>
                          </a:solidFill>
                          <a:latin typeface="Montserrat" pitchFamily="34" charset="0"/>
                          <a:ea typeface="Montserrat" pitchFamily="34" charset="-122"/>
                          <a:cs typeface="Montserrat" pitchFamily="34" charset="-120"/>
                        </a:rPr>
                        <a:t>950</a:t>
                      </a:r>
                      <a:endParaRPr lang="en-US" sz="1000" dirty="0">
                        <a:latin typeface="Montserrat" charset="0"/>
                        <a:ea typeface="Montserrat" charset="0"/>
                        <a:cs typeface="Montserrat" charset="0"/>
                      </a:endParaRPr>
                    </a:p>
                  </a:txBody>
                  <a:tcPr marL="91440" marR="91440" marT="45720" marB="45720" anchor="ctr">
                    <a:lnL w="12700" cap="flat" cmpd="sng" algn="ctr">
                      <a:solidFill>
                        <a:srgbClr val="DCE2EF"/>
                      </a:solidFill>
                      <a:prstDash val="solid"/>
                      <a:round/>
                      <a:headEnd type="none" w="med" len="med"/>
                      <a:tailEnd type="none" w="med" len="med"/>
                    </a:lnL>
                    <a:lnR w="12700" cap="flat" cmpd="sng" algn="ctr">
                      <a:solidFill>
                        <a:srgbClr val="DCE2EF"/>
                      </a:solidFill>
                      <a:prstDash val="solid"/>
                      <a:round/>
                      <a:headEnd type="none" w="med" len="med"/>
                      <a:tailEnd type="none" w="med" len="med"/>
                    </a:lnR>
                    <a:lnT w="12700" cap="flat" cmpd="sng" algn="ctr">
                      <a:solidFill>
                        <a:srgbClr val="DCE2EF"/>
                      </a:solidFill>
                      <a:prstDash val="solid"/>
                      <a:round/>
                      <a:headEnd type="none" w="med" len="med"/>
                      <a:tailEnd type="none" w="med" len="med"/>
                    </a:lnT>
                    <a:lnB w="12700" cap="flat" cmpd="sng" algn="ctr">
                      <a:solidFill>
                        <a:srgbClr val="DCE2EF"/>
                      </a:solidFill>
                      <a:prstDash val="solid"/>
                      <a:round/>
                      <a:headEnd type="none" w="med" len="med"/>
                      <a:tailEnd type="none" w="med" len="med"/>
                    </a:lnB>
                    <a:solidFill>
                      <a:srgbClr val="FDF3E3"/>
                    </a:solidFill>
                  </a:tcPr>
                </a:tc>
                <a:tc>
                  <a:txBody>
                    <a:bodyPr/>
                    <a:lstStyle/>
                    <a:p>
                      <a:pPr indent="0" marL="0">
                        <a:buNone/>
                      </a:pPr>
                      <a:r>
                        <a:rPr lang="en-US" sz="1000" b="1" dirty="0">
                          <a:solidFill>
                            <a:srgbClr val="D98A1F"/>
                          </a:solidFill>
                          <a:latin typeface="Montserrat" pitchFamily="34" charset="0"/>
                          <a:ea typeface="Montserrat" pitchFamily="34" charset="-122"/>
                          <a:cs typeface="Montserrat" pitchFamily="34" charset="-120"/>
                        </a:rPr>
                        <a:t>8.0</a:t>
                      </a:r>
                      <a:endParaRPr lang="en-US" sz="1000" dirty="0">
                        <a:latin typeface="Montserrat" charset="0"/>
                        <a:ea typeface="Montserrat" charset="0"/>
                        <a:cs typeface="Montserrat" charset="0"/>
                      </a:endParaRPr>
                    </a:p>
                  </a:txBody>
                  <a:tcPr marL="91440" marR="91440" marT="45720" marB="45720" anchor="ctr">
                    <a:lnL w="12700" cap="flat" cmpd="sng" algn="ctr">
                      <a:solidFill>
                        <a:srgbClr val="DCE2EF"/>
                      </a:solidFill>
                      <a:prstDash val="solid"/>
                      <a:round/>
                      <a:headEnd type="none" w="med" len="med"/>
                      <a:tailEnd type="none" w="med" len="med"/>
                    </a:lnL>
                    <a:lnR w="12700" cap="flat" cmpd="sng" algn="ctr">
                      <a:solidFill>
                        <a:srgbClr val="DCE2EF"/>
                      </a:solidFill>
                      <a:prstDash val="solid"/>
                      <a:round/>
                      <a:headEnd type="none" w="med" len="med"/>
                      <a:tailEnd type="none" w="med" len="med"/>
                    </a:lnR>
                    <a:lnT w="12700" cap="flat" cmpd="sng" algn="ctr">
                      <a:solidFill>
                        <a:srgbClr val="DCE2EF"/>
                      </a:solidFill>
                      <a:prstDash val="solid"/>
                      <a:round/>
                      <a:headEnd type="none" w="med" len="med"/>
                      <a:tailEnd type="none" w="med" len="med"/>
                    </a:lnT>
                    <a:lnB w="12700" cap="flat" cmpd="sng" algn="ctr">
                      <a:solidFill>
                        <a:srgbClr val="DCE2EF"/>
                      </a:solidFill>
                      <a:prstDash val="solid"/>
                      <a:round/>
                      <a:headEnd type="none" w="med" len="med"/>
                      <a:tailEnd type="none" w="med" len="med"/>
                    </a:lnB>
                    <a:solidFill>
                      <a:srgbClr val="FDF3E3"/>
                    </a:solidFill>
                  </a:tcPr>
                </a:tc>
                <a:tc>
                  <a:txBody>
                    <a:bodyPr/>
                    <a:lstStyle/>
                    <a:p>
                      <a:pPr indent="0" marL="0">
                        <a:buNone/>
                      </a:pPr>
                      <a:r>
                        <a:rPr lang="en-US" sz="1000" b="1" dirty="0">
                          <a:solidFill>
                            <a:srgbClr val="D98A1F"/>
                          </a:solidFill>
                          <a:latin typeface="Montserrat" pitchFamily="34" charset="0"/>
                          <a:ea typeface="Montserrat" pitchFamily="34" charset="-122"/>
                          <a:cs typeface="Montserrat" pitchFamily="34" charset="-120"/>
                        </a:rPr>
                        <a:t>10.50</a:t>
                      </a:r>
                      <a:endParaRPr lang="en-US" sz="1000" dirty="0">
                        <a:latin typeface="Montserrat" charset="0"/>
                        <a:ea typeface="Montserrat" charset="0"/>
                        <a:cs typeface="Montserrat" charset="0"/>
                      </a:endParaRPr>
                    </a:p>
                  </a:txBody>
                  <a:tcPr marL="91440" marR="91440" marT="45720" marB="45720" anchor="ctr">
                    <a:lnL w="12700" cap="flat" cmpd="sng" algn="ctr">
                      <a:solidFill>
                        <a:srgbClr val="DCE2EF"/>
                      </a:solidFill>
                      <a:prstDash val="solid"/>
                      <a:round/>
                      <a:headEnd type="none" w="med" len="med"/>
                      <a:tailEnd type="none" w="med" len="med"/>
                    </a:lnL>
                    <a:lnR w="12700" cap="flat" cmpd="sng" algn="ctr">
                      <a:solidFill>
                        <a:srgbClr val="DCE2EF"/>
                      </a:solidFill>
                      <a:prstDash val="solid"/>
                      <a:round/>
                      <a:headEnd type="none" w="med" len="med"/>
                      <a:tailEnd type="none" w="med" len="med"/>
                    </a:lnR>
                    <a:lnT w="12700" cap="flat" cmpd="sng" algn="ctr">
                      <a:solidFill>
                        <a:srgbClr val="DCE2EF"/>
                      </a:solidFill>
                      <a:prstDash val="solid"/>
                      <a:round/>
                      <a:headEnd type="none" w="med" len="med"/>
                      <a:tailEnd type="none" w="med" len="med"/>
                    </a:lnT>
                    <a:lnB w="12700" cap="flat" cmpd="sng" algn="ctr">
                      <a:solidFill>
                        <a:srgbClr val="DCE2EF"/>
                      </a:solidFill>
                      <a:prstDash val="solid"/>
                      <a:round/>
                      <a:headEnd type="none" w="med" len="med"/>
                      <a:tailEnd type="none" w="med" len="med"/>
                    </a:lnB>
                    <a:solidFill>
                      <a:srgbClr val="FDF3E3"/>
                    </a:solidFill>
                  </a:tcPr>
                </a:tc>
              </a:tr>
            </a:tbl>
          </a:graphicData>
        </a:graphic>
      </p:graphicFrame>
      <p:sp>
        <p:nvSpPr>
          <p:cNvPr id="12" name="Shape 9"/>
          <p:cNvSpPr/>
          <p:nvPr/>
        </p:nvSpPr>
        <p:spPr>
          <a:xfrm>
            <a:off x="685800" y="3520440"/>
            <a:ext cx="5760720" cy="1005840"/>
          </a:xfrm>
          <a:prstGeom prst="roundRect">
            <a:avLst>
              <a:gd name="adj" fmla="val 4545"/>
            </a:avLst>
          </a:prstGeom>
          <a:solidFill>
            <a:srgbClr val="FBEBE9"/>
          </a:solidFill>
          <a:ln w="12700">
            <a:solidFill>
              <a:srgbClr val="D8DEEC"/>
            </a:solidFill>
            <a:prstDash val="solid"/>
          </a:ln>
        </p:spPr>
      </p:sp>
      <p:sp>
        <p:nvSpPr>
          <p:cNvPr id="13" name="Text 10"/>
          <p:cNvSpPr txBox="1"/>
          <p:nvPr/>
        </p:nvSpPr>
        <p:spPr>
          <a:xfrm>
            <a:off x="914400" y="3675888"/>
            <a:ext cx="5303520" cy="731520"/>
          </a:xfrm>
          <a:prstGeom prst="rect">
            <a:avLst/>
          </a:prstGeom>
          <a:noFill/>
          <a:ln/>
        </p:spPr>
        <p:txBody>
          <a:bodyPr wrap="square" lIns="0" tIns="0" rIns="0" bIns="0" rtlCol="0" anchor="ctr"/>
          <a:lstStyle/>
          <a:p>
            <a:pPr indent="0" marL="0">
              <a:buNone/>
            </a:pPr>
            <a:r>
              <a:rPr lang="en-US" sz="1050" b="1" dirty="0">
                <a:solidFill>
                  <a:srgbClr val="C0392B"/>
                </a:solidFill>
                <a:latin typeface="Montserrat" pitchFamily="34" charset="0"/>
                <a:ea typeface="Montserrat" pitchFamily="34" charset="-122"/>
                <a:cs typeface="Montserrat" pitchFamily="34" charset="-120"/>
              </a:rPr>
              <a:t>Reducing cost ninefold raises the error to 10.50 - worse than using no reasoning structure at all, where direct prompting scores 9.83.</a:t>
            </a:r>
            <a:endParaRPr lang="en-US" sz="1050" dirty="0"/>
          </a:p>
        </p:txBody>
      </p:sp>
      <p:sp>
        <p:nvSpPr>
          <p:cNvPr id="14" name="Text 11"/>
          <p:cNvSpPr txBox="1"/>
          <p:nvPr/>
        </p:nvSpPr>
        <p:spPr>
          <a:xfrm>
            <a:off x="685800" y="4663440"/>
            <a:ext cx="5760720" cy="1188720"/>
          </a:xfrm>
          <a:prstGeom prst="rect">
            <a:avLst/>
          </a:prstGeom>
          <a:noFill/>
          <a:ln/>
        </p:spPr>
        <p:txBody>
          <a:bodyPr wrap="square" lIns="0" tIns="0" rIns="0" bIns="0" rtlCol="0" anchor="ctr"/>
          <a:lstStyle/>
          <a:p>
            <a:pPr indent="0" marL="0">
              <a:lnSpc>
                <a:spcPct val="112000"/>
              </a:lnSpc>
              <a:buNone/>
            </a:pPr>
            <a:r>
              <a:rPr lang="en-US" sz="1050" dirty="0">
                <a:solidFill>
                  <a:srgbClr val="16181D"/>
                </a:solidFill>
                <a:latin typeface="Montserrat" pitchFamily="34" charset="0"/>
                <a:ea typeface="Montserrat" pitchFamily="34" charset="-122"/>
                <a:cs typeface="Montserrat" pitchFamily="34" charset="-120"/>
              </a:rPr>
              <a:t>Uniform pruning is structure-blind: lowering k or the chunk count removes useful and redundant computation at the same rate. Cost and quality stay coupled, so no setting of the existing knobs reaches the Tree of Thoughts frontier.</a:t>
            </a:r>
            <a:endParaRPr lang="en-US" sz="1050" dirty="0"/>
          </a:p>
        </p:txBody>
      </p:sp>
      <p:sp>
        <p:nvSpPr>
          <p:cNvPr id="15" name="Shape 12"/>
          <p:cNvSpPr/>
          <p:nvPr/>
        </p:nvSpPr>
        <p:spPr>
          <a:xfrm>
            <a:off x="6766560" y="1572768"/>
            <a:ext cx="4754880" cy="4297680"/>
          </a:xfrm>
          <a:prstGeom prst="roundRect">
            <a:avLst>
              <a:gd name="adj" fmla="val 1064"/>
            </a:avLst>
          </a:prstGeom>
          <a:solidFill>
            <a:srgbClr val="F4F6FB"/>
          </a:solidFill>
          <a:ln w="12700">
            <a:solidFill>
              <a:srgbClr val="D8DEEC"/>
            </a:solidFill>
            <a:prstDash val="solid"/>
          </a:ln>
        </p:spPr>
      </p:sp>
      <p:sp>
        <p:nvSpPr>
          <p:cNvPr id="16" name="Text 13"/>
          <p:cNvSpPr txBox="1"/>
          <p:nvPr/>
        </p:nvSpPr>
        <p:spPr>
          <a:xfrm>
            <a:off x="6995160" y="1737360"/>
            <a:ext cx="4297680" cy="274320"/>
          </a:xfrm>
          <a:prstGeom prst="rect">
            <a:avLst/>
          </a:prstGeom>
          <a:noFill/>
          <a:ln/>
        </p:spPr>
        <p:txBody>
          <a:bodyPr wrap="square" lIns="0" tIns="0" rIns="0" bIns="0" rtlCol="0" anchor="ctr"/>
          <a:lstStyle/>
          <a:p>
            <a:pPr indent="0" marL="0">
              <a:buNone/>
            </a:pPr>
            <a:r>
              <a:rPr lang="en-US" sz="1150" b="1" dirty="0">
                <a:solidFill>
                  <a:srgbClr val="23408E"/>
                </a:solidFill>
                <a:latin typeface="Montserrat" pitchFamily="34" charset="0"/>
                <a:ea typeface="Montserrat" pitchFamily="34" charset="-122"/>
                <a:cs typeface="Montserrat" pitchFamily="34" charset="-120"/>
              </a:rPr>
              <a:t>Where the cost accumulates</a:t>
            </a:r>
            <a:endParaRPr lang="en-US" sz="1150" dirty="0"/>
          </a:p>
        </p:txBody>
      </p:sp>
      <p:sp>
        <p:nvSpPr>
          <p:cNvPr id="17" name="Text 14"/>
          <p:cNvSpPr txBox="1"/>
          <p:nvPr/>
        </p:nvSpPr>
        <p:spPr>
          <a:xfrm>
            <a:off x="6995160" y="2212848"/>
            <a:ext cx="1691640" cy="237744"/>
          </a:xfrm>
          <a:prstGeom prst="rect">
            <a:avLst/>
          </a:prstGeom>
          <a:noFill/>
          <a:ln/>
        </p:spPr>
        <p:txBody>
          <a:bodyPr wrap="square" lIns="0" tIns="0" rIns="0" bIns="0" rtlCol="0" anchor="ctr"/>
          <a:lstStyle/>
          <a:p>
            <a:pPr indent="0" marL="0">
              <a:buNone/>
            </a:pPr>
            <a:r>
              <a:rPr lang="en-US" sz="950" dirty="0">
                <a:solidFill>
                  <a:srgbClr val="16181D"/>
                </a:solidFill>
                <a:latin typeface="Montserrat" pitchFamily="34" charset="0"/>
                <a:ea typeface="Montserrat" pitchFamily="34" charset="-122"/>
                <a:cs typeface="Montserrat" pitchFamily="34" charset="-120"/>
              </a:rPr>
              <a:t>Chunk sorting</a:t>
            </a:r>
            <a:endParaRPr lang="en-US" sz="950" dirty="0"/>
          </a:p>
        </p:txBody>
      </p:sp>
      <p:sp>
        <p:nvSpPr>
          <p:cNvPr id="18" name="Shape 15"/>
          <p:cNvSpPr/>
          <p:nvPr/>
        </p:nvSpPr>
        <p:spPr>
          <a:xfrm>
            <a:off x="8732520" y="2212848"/>
            <a:ext cx="939089" cy="237744"/>
          </a:xfrm>
          <a:prstGeom prst="roundRect">
            <a:avLst>
              <a:gd name="adj" fmla="val 11538"/>
            </a:avLst>
          </a:prstGeom>
          <a:solidFill>
            <a:srgbClr val="23408E"/>
          </a:solidFill>
          <a:ln w="12700">
            <a:solidFill>
              <a:srgbClr val="333333"/>
            </a:solidFill>
            <a:prstDash val="solid"/>
          </a:ln>
        </p:spPr>
      </p:sp>
      <p:sp>
        <p:nvSpPr>
          <p:cNvPr id="19" name="Text 16"/>
          <p:cNvSpPr txBox="1"/>
          <p:nvPr/>
        </p:nvSpPr>
        <p:spPr>
          <a:xfrm>
            <a:off x="9726473" y="2212848"/>
            <a:ext cx="777240" cy="237744"/>
          </a:xfrm>
          <a:prstGeom prst="rect">
            <a:avLst/>
          </a:prstGeom>
          <a:noFill/>
          <a:ln/>
        </p:spPr>
        <p:txBody>
          <a:bodyPr wrap="square" lIns="0" tIns="0" rIns="0" bIns="0" rtlCol="0" anchor="ctr"/>
          <a:lstStyle/>
          <a:p>
            <a:pPr indent="0" marL="0">
              <a:buNone/>
            </a:pPr>
            <a:r>
              <a:rPr lang="en-US" sz="850" dirty="0">
                <a:solidFill>
                  <a:srgbClr val="63697A"/>
                </a:solidFill>
                <a:latin typeface="Montserrat" pitchFamily="34" charset="0"/>
                <a:ea typeface="Montserrat" pitchFamily="34" charset="-122"/>
                <a:cs typeface="Montserrat" pitchFamily="34" charset="-120"/>
              </a:rPr>
              <a:t>1580</a:t>
            </a:r>
            <a:endParaRPr lang="en-US" sz="850" dirty="0"/>
          </a:p>
        </p:txBody>
      </p:sp>
      <p:sp>
        <p:nvSpPr>
          <p:cNvPr id="20" name="Text 17"/>
          <p:cNvSpPr txBox="1"/>
          <p:nvPr/>
        </p:nvSpPr>
        <p:spPr>
          <a:xfrm>
            <a:off x="6995160" y="2898648"/>
            <a:ext cx="1691640" cy="237744"/>
          </a:xfrm>
          <a:prstGeom prst="rect">
            <a:avLst/>
          </a:prstGeom>
          <a:noFill/>
          <a:ln/>
        </p:spPr>
        <p:txBody>
          <a:bodyPr wrap="square" lIns="0" tIns="0" rIns="0" bIns="0" rtlCol="0" anchor="ctr"/>
          <a:lstStyle/>
          <a:p>
            <a:pPr indent="0" marL="0">
              <a:buNone/>
            </a:pPr>
            <a:r>
              <a:rPr lang="en-US" sz="950" dirty="0">
                <a:solidFill>
                  <a:srgbClr val="16181D"/>
                </a:solidFill>
                <a:latin typeface="Montserrat" pitchFamily="34" charset="0"/>
                <a:ea typeface="Montserrat" pitchFamily="34" charset="-122"/>
                <a:cs typeface="Montserrat" pitchFamily="34" charset="-120"/>
              </a:rPr>
              <a:t>Merge level 1</a:t>
            </a:r>
            <a:endParaRPr lang="en-US" sz="950" dirty="0"/>
          </a:p>
        </p:txBody>
      </p:sp>
      <p:sp>
        <p:nvSpPr>
          <p:cNvPr id="21" name="Shape 18"/>
          <p:cNvSpPr/>
          <p:nvPr/>
        </p:nvSpPr>
        <p:spPr>
          <a:xfrm>
            <a:off x="8732520" y="2898648"/>
            <a:ext cx="1717700" cy="237744"/>
          </a:xfrm>
          <a:prstGeom prst="roundRect">
            <a:avLst>
              <a:gd name="adj" fmla="val 11538"/>
            </a:avLst>
          </a:prstGeom>
          <a:solidFill>
            <a:srgbClr val="D98A1F"/>
          </a:solidFill>
          <a:ln w="12700">
            <a:solidFill>
              <a:srgbClr val="333333"/>
            </a:solidFill>
            <a:prstDash val="solid"/>
          </a:ln>
        </p:spPr>
      </p:sp>
      <p:sp>
        <p:nvSpPr>
          <p:cNvPr id="22" name="Text 19"/>
          <p:cNvSpPr txBox="1"/>
          <p:nvPr/>
        </p:nvSpPr>
        <p:spPr>
          <a:xfrm>
            <a:off x="10505084" y="2898648"/>
            <a:ext cx="777240" cy="237744"/>
          </a:xfrm>
          <a:prstGeom prst="rect">
            <a:avLst/>
          </a:prstGeom>
          <a:noFill/>
          <a:ln/>
        </p:spPr>
        <p:txBody>
          <a:bodyPr wrap="square" lIns="0" tIns="0" rIns="0" bIns="0" rtlCol="0" anchor="ctr"/>
          <a:lstStyle/>
          <a:p>
            <a:pPr indent="0" marL="0">
              <a:buNone/>
            </a:pPr>
            <a:r>
              <a:rPr lang="en-US" sz="850" dirty="0">
                <a:solidFill>
                  <a:srgbClr val="63697A"/>
                </a:solidFill>
                <a:latin typeface="Montserrat" pitchFamily="34" charset="0"/>
                <a:ea typeface="Montserrat" pitchFamily="34" charset="-122"/>
                <a:cs typeface="Montserrat" pitchFamily="34" charset="-120"/>
              </a:rPr>
              <a:t>2890</a:t>
            </a:r>
            <a:endParaRPr lang="en-US" sz="850" dirty="0"/>
          </a:p>
        </p:txBody>
      </p:sp>
      <p:sp>
        <p:nvSpPr>
          <p:cNvPr id="23" name="Text 20"/>
          <p:cNvSpPr txBox="1"/>
          <p:nvPr/>
        </p:nvSpPr>
        <p:spPr>
          <a:xfrm>
            <a:off x="6995160" y="3584448"/>
            <a:ext cx="1691640" cy="237744"/>
          </a:xfrm>
          <a:prstGeom prst="rect">
            <a:avLst/>
          </a:prstGeom>
          <a:noFill/>
          <a:ln/>
        </p:spPr>
        <p:txBody>
          <a:bodyPr wrap="square" lIns="0" tIns="0" rIns="0" bIns="0" rtlCol="0" anchor="ctr"/>
          <a:lstStyle/>
          <a:p>
            <a:pPr indent="0" marL="0">
              <a:buNone/>
            </a:pPr>
            <a:r>
              <a:rPr lang="en-US" sz="950" dirty="0">
                <a:solidFill>
                  <a:srgbClr val="16181D"/>
                </a:solidFill>
                <a:latin typeface="Montserrat" pitchFamily="34" charset="0"/>
                <a:ea typeface="Montserrat" pitchFamily="34" charset="-122"/>
                <a:cs typeface="Montserrat" pitchFamily="34" charset="-120"/>
              </a:rPr>
              <a:t>Merge level 2</a:t>
            </a:r>
            <a:endParaRPr lang="en-US" sz="950" dirty="0"/>
          </a:p>
        </p:txBody>
      </p:sp>
      <p:sp>
        <p:nvSpPr>
          <p:cNvPr id="24" name="Shape 21"/>
          <p:cNvSpPr/>
          <p:nvPr/>
        </p:nvSpPr>
        <p:spPr>
          <a:xfrm>
            <a:off x="8732520" y="3584448"/>
            <a:ext cx="1313536" cy="237744"/>
          </a:xfrm>
          <a:prstGeom prst="roundRect">
            <a:avLst>
              <a:gd name="adj" fmla="val 11538"/>
            </a:avLst>
          </a:prstGeom>
          <a:solidFill>
            <a:srgbClr val="D98A1F"/>
          </a:solidFill>
          <a:ln w="12700">
            <a:solidFill>
              <a:srgbClr val="333333"/>
            </a:solidFill>
            <a:prstDash val="solid"/>
          </a:ln>
        </p:spPr>
      </p:sp>
      <p:sp>
        <p:nvSpPr>
          <p:cNvPr id="25" name="Text 22"/>
          <p:cNvSpPr txBox="1"/>
          <p:nvPr/>
        </p:nvSpPr>
        <p:spPr>
          <a:xfrm>
            <a:off x="10100920" y="3584448"/>
            <a:ext cx="777240" cy="237744"/>
          </a:xfrm>
          <a:prstGeom prst="rect">
            <a:avLst/>
          </a:prstGeom>
          <a:noFill/>
          <a:ln/>
        </p:spPr>
        <p:txBody>
          <a:bodyPr wrap="square" lIns="0" tIns="0" rIns="0" bIns="0" rtlCol="0" anchor="ctr"/>
          <a:lstStyle/>
          <a:p>
            <a:pPr indent="0" marL="0">
              <a:buNone/>
            </a:pPr>
            <a:r>
              <a:rPr lang="en-US" sz="850" dirty="0">
                <a:solidFill>
                  <a:srgbClr val="63697A"/>
                </a:solidFill>
                <a:latin typeface="Montserrat" pitchFamily="34" charset="0"/>
                <a:ea typeface="Montserrat" pitchFamily="34" charset="-122"/>
                <a:cs typeface="Montserrat" pitchFamily="34" charset="-120"/>
              </a:rPr>
              <a:t>2210</a:t>
            </a:r>
            <a:endParaRPr lang="en-US" sz="850" dirty="0"/>
          </a:p>
        </p:txBody>
      </p:sp>
      <p:sp>
        <p:nvSpPr>
          <p:cNvPr id="26" name="Text 23"/>
          <p:cNvSpPr txBox="1"/>
          <p:nvPr/>
        </p:nvSpPr>
        <p:spPr>
          <a:xfrm>
            <a:off x="6995160" y="4270248"/>
            <a:ext cx="1691640" cy="237744"/>
          </a:xfrm>
          <a:prstGeom prst="rect">
            <a:avLst/>
          </a:prstGeom>
          <a:noFill/>
          <a:ln/>
        </p:spPr>
        <p:txBody>
          <a:bodyPr wrap="square" lIns="0" tIns="0" rIns="0" bIns="0" rtlCol="0" anchor="ctr"/>
          <a:lstStyle/>
          <a:p>
            <a:pPr indent="0" marL="0">
              <a:buNone/>
            </a:pPr>
            <a:r>
              <a:rPr lang="en-US" sz="950" dirty="0">
                <a:solidFill>
                  <a:srgbClr val="16181D"/>
                </a:solidFill>
                <a:latin typeface="Montserrat" pitchFamily="34" charset="0"/>
                <a:ea typeface="Montserrat" pitchFamily="34" charset="-122"/>
                <a:cs typeface="Montserrat" pitchFamily="34" charset="-120"/>
              </a:rPr>
              <a:t>Final refinement</a:t>
            </a:r>
            <a:endParaRPr lang="en-US" sz="950" dirty="0"/>
          </a:p>
        </p:txBody>
      </p:sp>
      <p:sp>
        <p:nvSpPr>
          <p:cNvPr id="27" name="Shape 24"/>
          <p:cNvSpPr/>
          <p:nvPr/>
        </p:nvSpPr>
        <p:spPr>
          <a:xfrm>
            <a:off x="8732520" y="4270248"/>
            <a:ext cx="731063" cy="237744"/>
          </a:xfrm>
          <a:prstGeom prst="roundRect">
            <a:avLst>
              <a:gd name="adj" fmla="val 11538"/>
            </a:avLst>
          </a:prstGeom>
          <a:solidFill>
            <a:srgbClr val="23408E"/>
          </a:solidFill>
          <a:ln w="12700">
            <a:solidFill>
              <a:srgbClr val="333333"/>
            </a:solidFill>
            <a:prstDash val="solid"/>
          </a:ln>
        </p:spPr>
      </p:sp>
      <p:sp>
        <p:nvSpPr>
          <p:cNvPr id="28" name="Text 25"/>
          <p:cNvSpPr txBox="1"/>
          <p:nvPr/>
        </p:nvSpPr>
        <p:spPr>
          <a:xfrm>
            <a:off x="9518447" y="4270248"/>
            <a:ext cx="777240" cy="237744"/>
          </a:xfrm>
          <a:prstGeom prst="rect">
            <a:avLst/>
          </a:prstGeom>
          <a:noFill/>
          <a:ln/>
        </p:spPr>
        <p:txBody>
          <a:bodyPr wrap="square" lIns="0" tIns="0" rIns="0" bIns="0" rtlCol="0" anchor="ctr"/>
          <a:lstStyle/>
          <a:p>
            <a:pPr indent="0" marL="0">
              <a:buNone/>
            </a:pPr>
            <a:r>
              <a:rPr lang="en-US" sz="850" dirty="0">
                <a:solidFill>
                  <a:srgbClr val="63697A"/>
                </a:solidFill>
                <a:latin typeface="Montserrat" pitchFamily="34" charset="0"/>
                <a:ea typeface="Montserrat" pitchFamily="34" charset="-122"/>
                <a:cs typeface="Montserrat" pitchFamily="34" charset="-120"/>
              </a:rPr>
              <a:t>1230</a:t>
            </a:r>
            <a:endParaRPr lang="en-US" sz="850" dirty="0"/>
          </a:p>
        </p:txBody>
      </p:sp>
      <p:sp>
        <p:nvSpPr>
          <p:cNvPr id="29" name="Text 26"/>
          <p:cNvSpPr txBox="1"/>
          <p:nvPr/>
        </p:nvSpPr>
        <p:spPr>
          <a:xfrm>
            <a:off x="6995160" y="5029200"/>
            <a:ext cx="4297680" cy="731520"/>
          </a:xfrm>
          <a:prstGeom prst="rect">
            <a:avLst/>
          </a:prstGeom>
          <a:noFill/>
          <a:ln/>
        </p:spPr>
        <p:txBody>
          <a:bodyPr wrap="square" lIns="0" tIns="0" rIns="0" bIns="0" rtlCol="0" anchor="ctr"/>
          <a:lstStyle/>
          <a:p>
            <a:pPr indent="0" marL="0">
              <a:buNone/>
            </a:pPr>
            <a:r>
              <a:rPr lang="en-US" sz="1000" b="1" dirty="0">
                <a:solidFill>
                  <a:srgbClr val="D98A1F"/>
                </a:solidFill>
                <a:latin typeface="Montserrat" pitchFamily="34" charset="0"/>
                <a:ea typeface="Montserrat" pitchFamily="34" charset="-122"/>
                <a:cs typeface="Montserrat" pitchFamily="34" charset="-120"/>
              </a:rPr>
              <a:t>Aggregation consumes roughly 65% of the budget - each merge emits a full-length list, and there are fifteen of them.</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0149840" y="-502920"/>
            <a:ext cx="2377440" cy="960120"/>
          </a:xfrm>
          <a:prstGeom prst="roundRect">
            <a:avLst>
              <a:gd name="adj" fmla="val 38095"/>
            </a:avLst>
          </a:prstGeom>
          <a:solidFill>
            <a:srgbClr val="C9D8F5"/>
          </a:solidFill>
          <a:ln w="12700">
            <a:solidFill>
              <a:srgbClr val="333333"/>
            </a:solidFill>
            <a:prstDash val="solid"/>
          </a:ln>
        </p:spPr>
      </p:sp>
      <p:sp>
        <p:nvSpPr>
          <p:cNvPr id="3" name="Shape 1"/>
          <p:cNvSpPr/>
          <p:nvPr/>
        </p:nvSpPr>
        <p:spPr>
          <a:xfrm>
            <a:off x="10881360" y="0"/>
            <a:ext cx="2011680" cy="566928"/>
          </a:xfrm>
          <a:prstGeom prst="roundRect">
            <a:avLst>
              <a:gd name="adj" fmla="val 48387"/>
            </a:avLst>
          </a:prstGeom>
          <a:solidFill>
            <a:srgbClr val="23408E"/>
          </a:solidFill>
          <a:ln w="12700">
            <a:solidFill>
              <a:srgbClr val="333333"/>
            </a:solidFill>
            <a:prstDash val="solid"/>
          </a:ln>
        </p:spPr>
      </p:sp>
      <p:sp>
        <p:nvSpPr>
          <p:cNvPr id="4" name="Shape 2"/>
          <p:cNvSpPr/>
          <p:nvPr/>
        </p:nvSpPr>
        <p:spPr>
          <a:xfrm>
            <a:off x="-731520" y="6355080"/>
            <a:ext cx="1828800" cy="822960"/>
          </a:xfrm>
          <a:prstGeom prst="roundRect">
            <a:avLst>
              <a:gd name="adj" fmla="val 38889"/>
            </a:avLst>
          </a:prstGeom>
          <a:solidFill>
            <a:srgbClr val="23408E"/>
          </a:solidFill>
          <a:ln w="12700">
            <a:solidFill>
              <a:srgbClr val="333333"/>
            </a:solidFill>
            <a:prstDash val="solid"/>
          </a:ln>
        </p:spPr>
      </p:sp>
      <p:sp>
        <p:nvSpPr>
          <p:cNvPr id="5" name="Shape 3"/>
          <p:cNvSpPr/>
          <p:nvPr/>
        </p:nvSpPr>
        <p:spPr>
          <a:xfrm>
            <a:off x="320040" y="6583680"/>
            <a:ext cx="2743200" cy="731520"/>
          </a:xfrm>
          <a:prstGeom prst="roundRect">
            <a:avLst>
              <a:gd name="adj" fmla="val 43750"/>
            </a:avLst>
          </a:prstGeom>
          <a:solidFill>
            <a:srgbClr val="C9D8F5"/>
          </a:solidFill>
          <a:ln w="12700">
            <a:solidFill>
              <a:srgbClr val="333333"/>
            </a:solidFill>
            <a:prstDash val="solid"/>
          </a:ln>
        </p:spPr>
      </p:sp>
      <p:sp>
        <p:nvSpPr>
          <p:cNvPr id="6" name="Text 4"/>
          <p:cNvSpPr txBox="1"/>
          <p:nvPr/>
        </p:nvSpPr>
        <p:spPr>
          <a:xfrm>
            <a:off x="566928" y="237744"/>
            <a:ext cx="9052560" cy="603504"/>
          </a:xfrm>
          <a:prstGeom prst="rect">
            <a:avLst/>
          </a:prstGeom>
          <a:noFill/>
          <a:ln/>
        </p:spPr>
        <p:txBody>
          <a:bodyPr wrap="square" lIns="0" tIns="0" rIns="0" bIns="0" rtlCol="0" anchor="ctr"/>
          <a:lstStyle/>
          <a:p>
            <a:pPr indent="0" marL="0">
              <a:buNone/>
            </a:pPr>
            <a:r>
              <a:rPr lang="en-US" sz="3000" b="1" dirty="0">
                <a:solidFill>
                  <a:srgbClr val="23408E"/>
                </a:solidFill>
                <a:latin typeface="Montserrat" pitchFamily="34" charset="0"/>
                <a:ea typeface="Montserrat" pitchFamily="34" charset="-122"/>
                <a:cs typeface="Montserrat" pitchFamily="34" charset="-120"/>
              </a:rPr>
              <a:t>Proposed Approach</a:t>
            </a:r>
            <a:endParaRPr lang="en-US" sz="3000" dirty="0"/>
          </a:p>
        </p:txBody>
      </p:sp>
      <p:sp>
        <p:nvSpPr>
          <p:cNvPr id="7" name="Shape 5"/>
          <p:cNvSpPr/>
          <p:nvPr/>
        </p:nvSpPr>
        <p:spPr>
          <a:xfrm>
            <a:off x="621792" y="914400"/>
            <a:ext cx="5669280" cy="0"/>
          </a:xfrm>
          <a:prstGeom prst="line">
            <a:avLst/>
          </a:prstGeom>
          <a:noFill/>
          <a:ln w="20320">
            <a:solidFill>
              <a:srgbClr val="16181D"/>
            </a:solidFill>
            <a:prstDash val="solid"/>
          </a:ln>
        </p:spPr>
      </p:sp>
      <p:sp>
        <p:nvSpPr>
          <p:cNvPr id="8" name="Shape 6"/>
          <p:cNvSpPr/>
          <p:nvPr/>
        </p:nvSpPr>
        <p:spPr>
          <a:xfrm>
            <a:off x="548640" y="859536"/>
            <a:ext cx="118872" cy="118872"/>
          </a:xfrm>
          <a:prstGeom prst="ellipse">
            <a:avLst/>
          </a:prstGeom>
          <a:solidFill>
            <a:srgbClr val="16181D"/>
          </a:solidFill>
          <a:ln w="12700">
            <a:solidFill>
              <a:srgbClr val="333333"/>
            </a:solidFill>
            <a:prstDash val="solid"/>
          </a:ln>
        </p:spPr>
      </p:sp>
      <p:sp>
        <p:nvSpPr>
          <p:cNvPr id="9" name="Shape 7"/>
          <p:cNvSpPr/>
          <p:nvPr/>
        </p:nvSpPr>
        <p:spPr>
          <a:xfrm>
            <a:off x="6236208" y="859536"/>
            <a:ext cx="118872" cy="118872"/>
          </a:xfrm>
          <a:prstGeom prst="ellipse">
            <a:avLst/>
          </a:prstGeom>
          <a:solidFill>
            <a:srgbClr val="16181D"/>
          </a:solidFill>
          <a:ln w="12700">
            <a:solidFill>
              <a:srgbClr val="333333"/>
            </a:solidFill>
            <a:prstDash val="solid"/>
          </a:ln>
        </p:spPr>
      </p:sp>
      <p:sp>
        <p:nvSpPr>
          <p:cNvPr id="10" name="Text 8"/>
          <p:cNvSpPr txBox="1"/>
          <p:nvPr/>
        </p:nvSpPr>
        <p:spPr>
          <a:xfrm>
            <a:off x="685800" y="1188720"/>
            <a:ext cx="10058400" cy="310896"/>
          </a:xfrm>
          <a:prstGeom prst="rect">
            <a:avLst/>
          </a:prstGeom>
          <a:noFill/>
          <a:ln/>
        </p:spPr>
        <p:txBody>
          <a:bodyPr wrap="square" lIns="0" tIns="0" rIns="0" bIns="0" rtlCol="0" anchor="ctr"/>
          <a:lstStyle/>
          <a:p>
            <a:pPr indent="0" marL="0">
              <a:buNone/>
            </a:pPr>
            <a:r>
              <a:rPr lang="en-US" sz="1450" b="1" dirty="0">
                <a:solidFill>
                  <a:srgbClr val="23408E"/>
                </a:solidFill>
                <a:latin typeface="Montserrat" pitchFamily="34" charset="0"/>
                <a:ea typeface="Montserrat" pitchFamily="34" charset="-122"/>
                <a:cs typeface="Montserrat" pitchFamily="34" charset="-120"/>
              </a:rPr>
              <a:t>Transferring chain compression to a reasoning graph</a:t>
            </a:r>
            <a:endParaRPr lang="en-US" sz="145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685800" y="1572768"/>
          <a:ext cx="6949440" cy="914400"/>
        </p:xfrm>
        <a:graphic>
          <a:graphicData uri="http://schemas.openxmlformats.org/drawingml/2006/table">
            <a:tbl>
              <a:tblPr/>
              <a:tblGrid>
                <a:gridCol w="1554480"/>
                <a:gridCol w="3154680"/>
                <a:gridCol w="2240280"/>
              </a:tblGrid>
              <a:tr h="676656">
                <a:tc>
                  <a:txBody>
                    <a:bodyPr/>
                    <a:lstStyle/>
                    <a:p>
                      <a:pPr indent="0" marL="0">
                        <a:buNone/>
                      </a:pPr>
                      <a:r>
                        <a:rPr lang="en-US" sz="950" b="1" dirty="0">
                          <a:solidFill>
                            <a:srgbClr val="FFFFFF"/>
                          </a:solidFill>
                          <a:latin typeface="Montserrat" pitchFamily="34" charset="0"/>
                          <a:ea typeface="Montserrat" pitchFamily="34" charset="-122"/>
                          <a:cs typeface="Montserrat" pitchFamily="34" charset="-120"/>
                        </a:rPr>
                        <a:t>Chain technique</a:t>
                      </a:r>
                      <a:endParaRPr lang="en-US" sz="950" dirty="0">
                        <a:latin typeface="Montserrat" charset="0"/>
                        <a:ea typeface="Montserrat" charset="0"/>
                        <a:cs typeface="Montserrat" charset="0"/>
                      </a:endParaRPr>
                    </a:p>
                  </a:txBody>
                  <a:tcPr marL="91440" marR="91440" marT="45720" marB="45720" anchor="ctr">
                    <a:lnL w="12700" cap="flat" cmpd="sng" algn="ctr">
                      <a:solidFill>
                        <a:srgbClr val="DCE2EF"/>
                      </a:solidFill>
                      <a:prstDash val="solid"/>
                      <a:round/>
                      <a:headEnd type="none" w="med" len="med"/>
                      <a:tailEnd type="none" w="med" len="med"/>
                    </a:lnL>
                    <a:lnR w="12700" cap="flat" cmpd="sng" algn="ctr">
                      <a:solidFill>
                        <a:srgbClr val="DCE2EF"/>
                      </a:solidFill>
                      <a:prstDash val="solid"/>
                      <a:round/>
                      <a:headEnd type="none" w="med" len="med"/>
                      <a:tailEnd type="none" w="med" len="med"/>
                    </a:lnR>
                    <a:lnT w="12700" cap="flat" cmpd="sng" algn="ctr">
                      <a:solidFill>
                        <a:srgbClr val="DCE2EF"/>
                      </a:solidFill>
                      <a:prstDash val="solid"/>
                      <a:round/>
                      <a:headEnd type="none" w="med" len="med"/>
                      <a:tailEnd type="none" w="med" len="med"/>
                    </a:lnT>
                    <a:lnB w="12700" cap="flat" cmpd="sng" algn="ctr">
                      <a:solidFill>
                        <a:srgbClr val="DCE2EF"/>
                      </a:solidFill>
                      <a:prstDash val="solid"/>
                      <a:round/>
                      <a:headEnd type="none" w="med" len="med"/>
                      <a:tailEnd type="none" w="med" len="med"/>
                    </a:lnB>
                    <a:solidFill>
                      <a:srgbClr val="23408E"/>
                    </a:solidFill>
                  </a:tcPr>
                </a:tc>
                <a:tc>
                  <a:txBody>
                    <a:bodyPr/>
                    <a:lstStyle/>
                    <a:p>
                      <a:pPr indent="0" marL="0">
                        <a:buNone/>
                      </a:pPr>
                      <a:r>
                        <a:rPr lang="en-US" sz="950" b="1" dirty="0">
                          <a:solidFill>
                            <a:srgbClr val="FFFFFF"/>
                          </a:solidFill>
                          <a:latin typeface="Montserrat" pitchFamily="34" charset="0"/>
                          <a:ea typeface="Montserrat" pitchFamily="34" charset="-122"/>
                          <a:cs typeface="Montserrat" pitchFamily="34" charset="-120"/>
                        </a:rPr>
                        <a:t>Graph analogue we propose</a:t>
                      </a:r>
                      <a:endParaRPr lang="en-US" sz="950" dirty="0">
                        <a:latin typeface="Montserrat" charset="0"/>
                        <a:ea typeface="Montserrat" charset="0"/>
                        <a:cs typeface="Montserrat" charset="0"/>
                      </a:endParaRPr>
                    </a:p>
                  </a:txBody>
                  <a:tcPr marL="91440" marR="91440" marT="45720" marB="45720" anchor="ctr">
                    <a:lnL w="12700" cap="flat" cmpd="sng" algn="ctr">
                      <a:solidFill>
                        <a:srgbClr val="DCE2EF"/>
                      </a:solidFill>
                      <a:prstDash val="solid"/>
                      <a:round/>
                      <a:headEnd type="none" w="med" len="med"/>
                      <a:tailEnd type="none" w="med" len="med"/>
                    </a:lnL>
                    <a:lnR w="12700" cap="flat" cmpd="sng" algn="ctr">
                      <a:solidFill>
                        <a:srgbClr val="DCE2EF"/>
                      </a:solidFill>
                      <a:prstDash val="solid"/>
                      <a:round/>
                      <a:headEnd type="none" w="med" len="med"/>
                      <a:tailEnd type="none" w="med" len="med"/>
                    </a:lnR>
                    <a:lnT w="12700" cap="flat" cmpd="sng" algn="ctr">
                      <a:solidFill>
                        <a:srgbClr val="DCE2EF"/>
                      </a:solidFill>
                      <a:prstDash val="solid"/>
                      <a:round/>
                      <a:headEnd type="none" w="med" len="med"/>
                      <a:tailEnd type="none" w="med" len="med"/>
                    </a:lnT>
                    <a:lnB w="12700" cap="flat" cmpd="sng" algn="ctr">
                      <a:solidFill>
                        <a:srgbClr val="DCE2EF"/>
                      </a:solidFill>
                      <a:prstDash val="solid"/>
                      <a:round/>
                      <a:headEnd type="none" w="med" len="med"/>
                      <a:tailEnd type="none" w="med" len="med"/>
                    </a:lnB>
                    <a:solidFill>
                      <a:srgbClr val="23408E"/>
                    </a:solidFill>
                  </a:tcPr>
                </a:tc>
                <a:tc>
                  <a:txBody>
                    <a:bodyPr/>
                    <a:lstStyle/>
                    <a:p>
                      <a:pPr indent="0" marL="0">
                        <a:buNone/>
                      </a:pPr>
                      <a:r>
                        <a:rPr lang="en-US" sz="950" b="1" dirty="0">
                          <a:solidFill>
                            <a:srgbClr val="FFFFFF"/>
                          </a:solidFill>
                          <a:latin typeface="Montserrat" pitchFamily="34" charset="0"/>
                          <a:ea typeface="Montserrat" pitchFamily="34" charset="-122"/>
                          <a:cs typeface="Montserrat" pitchFamily="34" charset="-120"/>
                        </a:rPr>
                        <a:t>Expected effect</a:t>
                      </a:r>
                      <a:endParaRPr lang="en-US" sz="950" dirty="0">
                        <a:latin typeface="Montserrat" charset="0"/>
                        <a:ea typeface="Montserrat" charset="0"/>
                        <a:cs typeface="Montserrat" charset="0"/>
                      </a:endParaRPr>
                    </a:p>
                  </a:txBody>
                  <a:tcPr marL="91440" marR="91440" marT="45720" marB="45720" anchor="ctr">
                    <a:lnL w="12700" cap="flat" cmpd="sng" algn="ctr">
                      <a:solidFill>
                        <a:srgbClr val="DCE2EF"/>
                      </a:solidFill>
                      <a:prstDash val="solid"/>
                      <a:round/>
                      <a:headEnd type="none" w="med" len="med"/>
                      <a:tailEnd type="none" w="med" len="med"/>
                    </a:lnL>
                    <a:lnR w="12700" cap="flat" cmpd="sng" algn="ctr">
                      <a:solidFill>
                        <a:srgbClr val="DCE2EF"/>
                      </a:solidFill>
                      <a:prstDash val="solid"/>
                      <a:round/>
                      <a:headEnd type="none" w="med" len="med"/>
                      <a:tailEnd type="none" w="med" len="med"/>
                    </a:lnR>
                    <a:lnT w="12700" cap="flat" cmpd="sng" algn="ctr">
                      <a:solidFill>
                        <a:srgbClr val="DCE2EF"/>
                      </a:solidFill>
                      <a:prstDash val="solid"/>
                      <a:round/>
                      <a:headEnd type="none" w="med" len="med"/>
                      <a:tailEnd type="none" w="med" len="med"/>
                    </a:lnT>
                    <a:lnB w="12700" cap="flat" cmpd="sng" algn="ctr">
                      <a:solidFill>
                        <a:srgbClr val="DCE2EF"/>
                      </a:solidFill>
                      <a:prstDash val="solid"/>
                      <a:round/>
                      <a:headEnd type="none" w="med" len="med"/>
                      <a:tailEnd type="none" w="med" len="med"/>
                    </a:lnB>
                    <a:solidFill>
                      <a:srgbClr val="23408E"/>
                    </a:solidFill>
                  </a:tcPr>
                </a:tc>
              </a:tr>
              <a:tr h="676656">
                <a:tc>
                  <a:txBody>
                    <a:bodyPr/>
                    <a:lstStyle/>
                    <a:p>
                      <a:pPr indent="0" marL="0">
                        <a:buNone/>
                      </a:pPr>
                      <a:r>
                        <a:rPr lang="en-US" sz="950" b="1" dirty="0">
                          <a:solidFill>
                            <a:srgbClr val="16181D"/>
                          </a:solidFill>
                          <a:latin typeface="Montserrat" pitchFamily="34" charset="0"/>
                          <a:ea typeface="Montserrat" pitchFamily="34" charset="-122"/>
                          <a:cs typeface="Montserrat" pitchFamily="34" charset="-120"/>
                        </a:rPr>
                        <a:t>Chain of Draft</a:t>
                      </a:r>
                      <a:endParaRPr lang="en-US" sz="950" dirty="0">
                        <a:latin typeface="Montserrat" charset="0"/>
                        <a:ea typeface="Montserrat" charset="0"/>
                        <a:cs typeface="Montserrat" charset="0"/>
                      </a:endParaRPr>
                    </a:p>
                  </a:txBody>
                  <a:tcPr marL="91440" marR="91440" marT="45720" marB="45720" anchor="ctr">
                    <a:lnL w="12700" cap="flat" cmpd="sng" algn="ctr">
                      <a:solidFill>
                        <a:srgbClr val="DCE2EF"/>
                      </a:solidFill>
                      <a:prstDash val="solid"/>
                      <a:round/>
                      <a:headEnd type="none" w="med" len="med"/>
                      <a:tailEnd type="none" w="med" len="med"/>
                    </a:lnL>
                    <a:lnR w="12700" cap="flat" cmpd="sng" algn="ctr">
                      <a:solidFill>
                        <a:srgbClr val="DCE2EF"/>
                      </a:solidFill>
                      <a:prstDash val="solid"/>
                      <a:round/>
                      <a:headEnd type="none" w="med" len="med"/>
                      <a:tailEnd type="none" w="med" len="med"/>
                    </a:lnR>
                    <a:lnT w="12700" cap="flat" cmpd="sng" algn="ctr">
                      <a:solidFill>
                        <a:srgbClr val="DCE2EF"/>
                      </a:solidFill>
                      <a:prstDash val="solid"/>
                      <a:round/>
                      <a:headEnd type="none" w="med" len="med"/>
                      <a:tailEnd type="none" w="med" len="med"/>
                    </a:lnT>
                    <a:lnB w="12700" cap="flat" cmpd="sng" algn="ctr">
                      <a:solidFill>
                        <a:srgbClr val="DCE2EF"/>
                      </a:solidFill>
                      <a:prstDash val="solid"/>
                      <a:round/>
                      <a:headEnd type="none" w="med" len="med"/>
                      <a:tailEnd type="none" w="med" len="med"/>
                    </a:lnB>
                    <a:solidFill>
                      <a:srgbClr val="F4F6FB"/>
                    </a:solidFill>
                  </a:tcPr>
                </a:tc>
                <a:tc>
                  <a:txBody>
                    <a:bodyPr/>
                    <a:lstStyle/>
                    <a:p>
                      <a:pPr indent="0" marL="0">
                        <a:buNone/>
                      </a:pPr>
                      <a:r>
                        <a:rPr lang="en-US" sz="950" dirty="0">
                          <a:solidFill>
                            <a:srgbClr val="16181D"/>
                          </a:solidFill>
                          <a:latin typeface="Montserrat" pitchFamily="34" charset="0"/>
                          <a:ea typeface="Montserrat" pitchFamily="34" charset="-122"/>
                          <a:cs typeface="Montserrat" pitchFamily="34" charset="-120"/>
                        </a:rPr>
                        <a:t>Encode each vertex compactly - a sorted chunk as run-length pairs rather than a literal list</a:t>
                      </a:r>
                      <a:endParaRPr lang="en-US" sz="950" dirty="0">
                        <a:latin typeface="Montserrat" charset="0"/>
                        <a:ea typeface="Montserrat" charset="0"/>
                        <a:cs typeface="Montserrat" charset="0"/>
                      </a:endParaRPr>
                    </a:p>
                  </a:txBody>
                  <a:tcPr marL="91440" marR="91440" marT="45720" marB="45720" anchor="ctr">
                    <a:lnL w="12700" cap="flat" cmpd="sng" algn="ctr">
                      <a:solidFill>
                        <a:srgbClr val="DCE2EF"/>
                      </a:solidFill>
                      <a:prstDash val="solid"/>
                      <a:round/>
                      <a:headEnd type="none" w="med" len="med"/>
                      <a:tailEnd type="none" w="med" len="med"/>
                    </a:lnL>
                    <a:lnR w="12700" cap="flat" cmpd="sng" algn="ctr">
                      <a:solidFill>
                        <a:srgbClr val="DCE2EF"/>
                      </a:solidFill>
                      <a:prstDash val="solid"/>
                      <a:round/>
                      <a:headEnd type="none" w="med" len="med"/>
                      <a:tailEnd type="none" w="med" len="med"/>
                    </a:lnR>
                    <a:lnT w="12700" cap="flat" cmpd="sng" algn="ctr">
                      <a:solidFill>
                        <a:srgbClr val="DCE2EF"/>
                      </a:solidFill>
                      <a:prstDash val="solid"/>
                      <a:round/>
                      <a:headEnd type="none" w="med" len="med"/>
                      <a:tailEnd type="none" w="med" len="med"/>
                    </a:lnT>
                    <a:lnB w="12700" cap="flat" cmpd="sng" algn="ctr">
                      <a:solidFill>
                        <a:srgbClr val="DCE2EF"/>
                      </a:solidFill>
                      <a:prstDash val="solid"/>
                      <a:round/>
                      <a:headEnd type="none" w="med" len="med"/>
                      <a:tailEnd type="none" w="med" len="med"/>
                    </a:lnB>
                    <a:solidFill>
                      <a:srgbClr val="F4F6FB"/>
                    </a:solidFill>
                  </a:tcPr>
                </a:tc>
                <a:tc>
                  <a:txBody>
                    <a:bodyPr/>
                    <a:lstStyle/>
                    <a:p>
                      <a:pPr indent="0" marL="0">
                        <a:buNone/>
                      </a:pPr>
                      <a:r>
                        <a:rPr lang="en-US" sz="950" dirty="0">
                          <a:solidFill>
                            <a:srgbClr val="16181D"/>
                          </a:solidFill>
                          <a:latin typeface="Montserrat" pitchFamily="34" charset="0"/>
                          <a:ea typeface="Montserrat" pitchFamily="34" charset="-122"/>
                          <a:cs typeface="Montserrat" pitchFamily="34" charset="-120"/>
                        </a:rPr>
                        <a:t>Lossless here; 3.8x fewer tokens per vertex (measured)</a:t>
                      </a:r>
                      <a:endParaRPr lang="en-US" sz="950" dirty="0">
                        <a:latin typeface="Montserrat" charset="0"/>
                        <a:ea typeface="Montserrat" charset="0"/>
                        <a:cs typeface="Montserrat" charset="0"/>
                      </a:endParaRPr>
                    </a:p>
                  </a:txBody>
                  <a:tcPr marL="91440" marR="91440" marT="45720" marB="45720" anchor="ctr">
                    <a:lnL w="12700" cap="flat" cmpd="sng" algn="ctr">
                      <a:solidFill>
                        <a:srgbClr val="DCE2EF"/>
                      </a:solidFill>
                      <a:prstDash val="solid"/>
                      <a:round/>
                      <a:headEnd type="none" w="med" len="med"/>
                      <a:tailEnd type="none" w="med" len="med"/>
                    </a:lnL>
                    <a:lnR w="12700" cap="flat" cmpd="sng" algn="ctr">
                      <a:solidFill>
                        <a:srgbClr val="DCE2EF"/>
                      </a:solidFill>
                      <a:prstDash val="solid"/>
                      <a:round/>
                      <a:headEnd type="none" w="med" len="med"/>
                      <a:tailEnd type="none" w="med" len="med"/>
                    </a:lnR>
                    <a:lnT w="12700" cap="flat" cmpd="sng" algn="ctr">
                      <a:solidFill>
                        <a:srgbClr val="DCE2EF"/>
                      </a:solidFill>
                      <a:prstDash val="solid"/>
                      <a:round/>
                      <a:headEnd type="none" w="med" len="med"/>
                      <a:tailEnd type="none" w="med" len="med"/>
                    </a:lnT>
                    <a:lnB w="12700" cap="flat" cmpd="sng" algn="ctr">
                      <a:solidFill>
                        <a:srgbClr val="DCE2EF"/>
                      </a:solidFill>
                      <a:prstDash val="solid"/>
                      <a:round/>
                      <a:headEnd type="none" w="med" len="med"/>
                      <a:tailEnd type="none" w="med" len="med"/>
                    </a:lnB>
                    <a:solidFill>
                      <a:srgbClr val="F4F6FB"/>
                    </a:solidFill>
                  </a:tcPr>
                </a:tc>
              </a:tr>
              <a:tr h="676656">
                <a:tc>
                  <a:txBody>
                    <a:bodyPr/>
                    <a:lstStyle/>
                    <a:p>
                      <a:pPr indent="0" marL="0">
                        <a:buNone/>
                      </a:pPr>
                      <a:r>
                        <a:rPr lang="en-US" sz="950" b="1" dirty="0">
                          <a:solidFill>
                            <a:srgbClr val="16181D"/>
                          </a:solidFill>
                          <a:latin typeface="Montserrat" pitchFamily="34" charset="0"/>
                          <a:ea typeface="Montserrat" pitchFamily="34" charset="-122"/>
                          <a:cs typeface="Montserrat" pitchFamily="34" charset="-120"/>
                        </a:rPr>
                        <a:t>TokenSkip</a:t>
                      </a:r>
                      <a:endParaRPr lang="en-US" sz="950" dirty="0">
                        <a:latin typeface="Montserrat" charset="0"/>
                        <a:ea typeface="Montserrat" charset="0"/>
                        <a:cs typeface="Montserrat" charset="0"/>
                      </a:endParaRPr>
                    </a:p>
                  </a:txBody>
                  <a:tcPr marL="91440" marR="91440" marT="45720" marB="45720" anchor="ctr">
                    <a:lnL w="12700" cap="flat" cmpd="sng" algn="ctr">
                      <a:solidFill>
                        <a:srgbClr val="DCE2EF"/>
                      </a:solidFill>
                      <a:prstDash val="solid"/>
                      <a:round/>
                      <a:headEnd type="none" w="med" len="med"/>
                      <a:tailEnd type="none" w="med" len="med"/>
                    </a:lnL>
                    <a:lnR w="12700" cap="flat" cmpd="sng" algn="ctr">
                      <a:solidFill>
                        <a:srgbClr val="DCE2EF"/>
                      </a:solidFill>
                      <a:prstDash val="solid"/>
                      <a:round/>
                      <a:headEnd type="none" w="med" len="med"/>
                      <a:tailEnd type="none" w="med" len="med"/>
                    </a:lnR>
                    <a:lnT w="12700" cap="flat" cmpd="sng" algn="ctr">
                      <a:solidFill>
                        <a:srgbClr val="DCE2EF"/>
                      </a:solidFill>
                      <a:prstDash val="solid"/>
                      <a:round/>
                      <a:headEnd type="none" w="med" len="med"/>
                      <a:tailEnd type="none" w="med" len="med"/>
                    </a:lnT>
                    <a:lnB w="12700" cap="flat" cmpd="sng" algn="ctr">
                      <a:solidFill>
                        <a:srgbClr val="DCE2EF"/>
                      </a:solidFill>
                      <a:prstDash val="solid"/>
                      <a:round/>
                      <a:headEnd type="none" w="med" len="med"/>
                      <a:tailEnd type="none" w="med" len="med"/>
                    </a:lnB>
                    <a:solidFill>
                      <a:srgbClr val="FFFFFF"/>
                    </a:solidFill>
                  </a:tcPr>
                </a:tc>
                <a:tc>
                  <a:txBody>
                    <a:bodyPr/>
                    <a:lstStyle/>
                    <a:p>
                      <a:pPr indent="0" marL="0">
                        <a:buNone/>
                      </a:pPr>
                      <a:r>
                        <a:rPr lang="en-US" sz="950" dirty="0">
                          <a:solidFill>
                            <a:srgbClr val="16181D"/>
                          </a:solidFill>
                          <a:latin typeface="Montserrat" pitchFamily="34" charset="0"/>
                          <a:ea typeface="Montserrat" pitchFamily="34" charset="-122"/>
                          <a:cs typeface="Montserrat" pitchFamily="34" charset="-120"/>
                        </a:rPr>
                        <a:t>Ablate each vertex; drop those whose removal does not change the answer</a:t>
                      </a:r>
                      <a:endParaRPr lang="en-US" sz="950" dirty="0">
                        <a:latin typeface="Montserrat" charset="0"/>
                        <a:ea typeface="Montserrat" charset="0"/>
                        <a:cs typeface="Montserrat" charset="0"/>
                      </a:endParaRPr>
                    </a:p>
                  </a:txBody>
                  <a:tcPr marL="91440" marR="91440" marT="45720" marB="45720" anchor="ctr">
                    <a:lnL w="12700" cap="flat" cmpd="sng" algn="ctr">
                      <a:solidFill>
                        <a:srgbClr val="DCE2EF"/>
                      </a:solidFill>
                      <a:prstDash val="solid"/>
                      <a:round/>
                      <a:headEnd type="none" w="med" len="med"/>
                      <a:tailEnd type="none" w="med" len="med"/>
                    </a:lnL>
                    <a:lnR w="12700" cap="flat" cmpd="sng" algn="ctr">
                      <a:solidFill>
                        <a:srgbClr val="DCE2EF"/>
                      </a:solidFill>
                      <a:prstDash val="solid"/>
                      <a:round/>
                      <a:headEnd type="none" w="med" len="med"/>
                      <a:tailEnd type="none" w="med" len="med"/>
                    </a:lnR>
                    <a:lnT w="12700" cap="flat" cmpd="sng" algn="ctr">
                      <a:solidFill>
                        <a:srgbClr val="DCE2EF"/>
                      </a:solidFill>
                      <a:prstDash val="solid"/>
                      <a:round/>
                      <a:headEnd type="none" w="med" len="med"/>
                      <a:tailEnd type="none" w="med" len="med"/>
                    </a:lnT>
                    <a:lnB w="12700" cap="flat" cmpd="sng" algn="ctr">
                      <a:solidFill>
                        <a:srgbClr val="DCE2EF"/>
                      </a:solidFill>
                      <a:prstDash val="solid"/>
                      <a:round/>
                      <a:headEnd type="none" w="med" len="med"/>
                      <a:tailEnd type="none" w="med" len="med"/>
                    </a:lnB>
                    <a:solidFill>
                      <a:srgbClr val="FFFFFF"/>
                    </a:solidFill>
                  </a:tcPr>
                </a:tc>
                <a:tc>
                  <a:txBody>
                    <a:bodyPr/>
                    <a:lstStyle/>
                    <a:p>
                      <a:pPr indent="0" marL="0">
                        <a:buNone/>
                      </a:pPr>
                      <a:r>
                        <a:rPr lang="en-US" sz="950" dirty="0">
                          <a:solidFill>
                            <a:srgbClr val="16181D"/>
                          </a:solidFill>
                          <a:latin typeface="Montserrat" pitchFamily="34" charset="0"/>
                          <a:ea typeface="Montserrat" pitchFamily="34" charset="-122"/>
                          <a:cs typeface="Montserrat" pitchFamily="34" charset="-120"/>
                        </a:rPr>
                        <a:t>Reduces |V| directly</a:t>
                      </a:r>
                      <a:endParaRPr lang="en-US" sz="950" dirty="0">
                        <a:latin typeface="Montserrat" charset="0"/>
                        <a:ea typeface="Montserrat" charset="0"/>
                        <a:cs typeface="Montserrat" charset="0"/>
                      </a:endParaRPr>
                    </a:p>
                  </a:txBody>
                  <a:tcPr marL="91440" marR="91440" marT="45720" marB="45720" anchor="ctr">
                    <a:lnL w="12700" cap="flat" cmpd="sng" algn="ctr">
                      <a:solidFill>
                        <a:srgbClr val="DCE2EF"/>
                      </a:solidFill>
                      <a:prstDash val="solid"/>
                      <a:round/>
                      <a:headEnd type="none" w="med" len="med"/>
                      <a:tailEnd type="none" w="med" len="med"/>
                    </a:lnL>
                    <a:lnR w="12700" cap="flat" cmpd="sng" algn="ctr">
                      <a:solidFill>
                        <a:srgbClr val="DCE2EF"/>
                      </a:solidFill>
                      <a:prstDash val="solid"/>
                      <a:round/>
                      <a:headEnd type="none" w="med" len="med"/>
                      <a:tailEnd type="none" w="med" len="med"/>
                    </a:lnR>
                    <a:lnT w="12700" cap="flat" cmpd="sng" algn="ctr">
                      <a:solidFill>
                        <a:srgbClr val="DCE2EF"/>
                      </a:solidFill>
                      <a:prstDash val="solid"/>
                      <a:round/>
                      <a:headEnd type="none" w="med" len="med"/>
                      <a:tailEnd type="none" w="med" len="med"/>
                    </a:lnT>
                    <a:lnB w="12700" cap="flat" cmpd="sng" algn="ctr">
                      <a:solidFill>
                        <a:srgbClr val="DCE2EF"/>
                      </a:solidFill>
                      <a:prstDash val="solid"/>
                      <a:round/>
                      <a:headEnd type="none" w="med" len="med"/>
                      <a:tailEnd type="none" w="med" len="med"/>
                    </a:lnB>
                    <a:solidFill>
                      <a:srgbClr val="FFFFFF"/>
                    </a:solidFill>
                  </a:tcPr>
                </a:tc>
              </a:tr>
              <a:tr h="676656">
                <a:tc>
                  <a:txBody>
                    <a:bodyPr/>
                    <a:lstStyle/>
                    <a:p>
                      <a:pPr indent="0" marL="0">
                        <a:buNone/>
                      </a:pPr>
                      <a:r>
                        <a:rPr lang="en-US" sz="950" b="1" dirty="0">
                          <a:solidFill>
                            <a:srgbClr val="16181D"/>
                          </a:solidFill>
                          <a:latin typeface="Montserrat" pitchFamily="34" charset="0"/>
                          <a:ea typeface="Montserrat" pitchFamily="34" charset="-122"/>
                          <a:cs typeface="Montserrat" pitchFamily="34" charset="-120"/>
                        </a:rPr>
                        <a:t>Coconut</a:t>
                      </a:r>
                      <a:endParaRPr lang="en-US" sz="950" dirty="0">
                        <a:latin typeface="Montserrat" charset="0"/>
                        <a:ea typeface="Montserrat" charset="0"/>
                        <a:cs typeface="Montserrat" charset="0"/>
                      </a:endParaRPr>
                    </a:p>
                  </a:txBody>
                  <a:tcPr marL="91440" marR="91440" marT="45720" marB="45720" anchor="ctr">
                    <a:lnL w="12700" cap="flat" cmpd="sng" algn="ctr">
                      <a:solidFill>
                        <a:srgbClr val="DCE2EF"/>
                      </a:solidFill>
                      <a:prstDash val="solid"/>
                      <a:round/>
                      <a:headEnd type="none" w="med" len="med"/>
                      <a:tailEnd type="none" w="med" len="med"/>
                    </a:lnL>
                    <a:lnR w="12700" cap="flat" cmpd="sng" algn="ctr">
                      <a:solidFill>
                        <a:srgbClr val="DCE2EF"/>
                      </a:solidFill>
                      <a:prstDash val="solid"/>
                      <a:round/>
                      <a:headEnd type="none" w="med" len="med"/>
                      <a:tailEnd type="none" w="med" len="med"/>
                    </a:lnR>
                    <a:lnT w="12700" cap="flat" cmpd="sng" algn="ctr">
                      <a:solidFill>
                        <a:srgbClr val="DCE2EF"/>
                      </a:solidFill>
                      <a:prstDash val="solid"/>
                      <a:round/>
                      <a:headEnd type="none" w="med" len="med"/>
                      <a:tailEnd type="none" w="med" len="med"/>
                    </a:lnT>
                    <a:lnB w="12700" cap="flat" cmpd="sng" algn="ctr">
                      <a:solidFill>
                        <a:srgbClr val="DCE2EF"/>
                      </a:solidFill>
                      <a:prstDash val="solid"/>
                      <a:round/>
                      <a:headEnd type="none" w="med" len="med"/>
                      <a:tailEnd type="none" w="med" len="med"/>
                    </a:lnB>
                    <a:solidFill>
                      <a:srgbClr val="F4F6FB"/>
                    </a:solidFill>
                  </a:tcPr>
                </a:tc>
                <a:tc>
                  <a:txBody>
                    <a:bodyPr/>
                    <a:lstStyle/>
                    <a:p>
                      <a:pPr indent="0" marL="0">
                        <a:buNone/>
                      </a:pPr>
                      <a:r>
                        <a:rPr lang="en-US" sz="950" dirty="0">
                          <a:solidFill>
                            <a:srgbClr val="16181D"/>
                          </a:solidFill>
                          <a:latin typeface="Montserrat" pitchFamily="34" charset="0"/>
                          <a:ea typeface="Montserrat" pitchFamily="34" charset="-122"/>
                          <a:cs typeface="Montserrat" pitchFamily="34" charset="-120"/>
                        </a:rPr>
                        <a:t>Aggregate in latent space - merge hidden states without decoding to text</a:t>
                      </a:r>
                      <a:endParaRPr lang="en-US" sz="950" dirty="0">
                        <a:latin typeface="Montserrat" charset="0"/>
                        <a:ea typeface="Montserrat" charset="0"/>
                        <a:cs typeface="Montserrat" charset="0"/>
                      </a:endParaRPr>
                    </a:p>
                  </a:txBody>
                  <a:tcPr marL="91440" marR="91440" marT="45720" marB="45720" anchor="ctr">
                    <a:lnL w="12700" cap="flat" cmpd="sng" algn="ctr">
                      <a:solidFill>
                        <a:srgbClr val="DCE2EF"/>
                      </a:solidFill>
                      <a:prstDash val="solid"/>
                      <a:round/>
                      <a:headEnd type="none" w="med" len="med"/>
                      <a:tailEnd type="none" w="med" len="med"/>
                    </a:lnL>
                    <a:lnR w="12700" cap="flat" cmpd="sng" algn="ctr">
                      <a:solidFill>
                        <a:srgbClr val="DCE2EF"/>
                      </a:solidFill>
                      <a:prstDash val="solid"/>
                      <a:round/>
                      <a:headEnd type="none" w="med" len="med"/>
                      <a:tailEnd type="none" w="med" len="med"/>
                    </a:lnR>
                    <a:lnT w="12700" cap="flat" cmpd="sng" algn="ctr">
                      <a:solidFill>
                        <a:srgbClr val="DCE2EF"/>
                      </a:solidFill>
                      <a:prstDash val="solid"/>
                      <a:round/>
                      <a:headEnd type="none" w="med" len="med"/>
                      <a:tailEnd type="none" w="med" len="med"/>
                    </a:lnT>
                    <a:lnB w="12700" cap="flat" cmpd="sng" algn="ctr">
                      <a:solidFill>
                        <a:srgbClr val="DCE2EF"/>
                      </a:solidFill>
                      <a:prstDash val="solid"/>
                      <a:round/>
                      <a:headEnd type="none" w="med" len="med"/>
                      <a:tailEnd type="none" w="med" len="med"/>
                    </a:lnB>
                    <a:solidFill>
                      <a:srgbClr val="F4F6FB"/>
                    </a:solidFill>
                  </a:tcPr>
                </a:tc>
                <a:tc>
                  <a:txBody>
                    <a:bodyPr/>
                    <a:lstStyle/>
                    <a:p>
                      <a:pPr indent="0" marL="0">
                        <a:buNone/>
                      </a:pPr>
                      <a:r>
                        <a:rPr lang="en-US" sz="950" dirty="0">
                          <a:solidFill>
                            <a:srgbClr val="16181D"/>
                          </a:solidFill>
                          <a:latin typeface="Montserrat" pitchFamily="34" charset="0"/>
                          <a:ea typeface="Montserrat" pitchFamily="34" charset="-122"/>
                          <a:cs typeface="Montserrat" pitchFamily="34" charset="-120"/>
                        </a:rPr>
                        <a:t>Removes decode cost at the 15 merge steps</a:t>
                      </a:r>
                      <a:endParaRPr lang="en-US" sz="950" dirty="0">
                        <a:latin typeface="Montserrat" charset="0"/>
                        <a:ea typeface="Montserrat" charset="0"/>
                        <a:cs typeface="Montserrat" charset="0"/>
                      </a:endParaRPr>
                    </a:p>
                  </a:txBody>
                  <a:tcPr marL="91440" marR="91440" marT="45720" marB="45720" anchor="ctr">
                    <a:lnL w="12700" cap="flat" cmpd="sng" algn="ctr">
                      <a:solidFill>
                        <a:srgbClr val="DCE2EF"/>
                      </a:solidFill>
                      <a:prstDash val="solid"/>
                      <a:round/>
                      <a:headEnd type="none" w="med" len="med"/>
                      <a:tailEnd type="none" w="med" len="med"/>
                    </a:lnL>
                    <a:lnR w="12700" cap="flat" cmpd="sng" algn="ctr">
                      <a:solidFill>
                        <a:srgbClr val="DCE2EF"/>
                      </a:solidFill>
                      <a:prstDash val="solid"/>
                      <a:round/>
                      <a:headEnd type="none" w="med" len="med"/>
                      <a:tailEnd type="none" w="med" len="med"/>
                    </a:lnR>
                    <a:lnT w="12700" cap="flat" cmpd="sng" algn="ctr">
                      <a:solidFill>
                        <a:srgbClr val="DCE2EF"/>
                      </a:solidFill>
                      <a:prstDash val="solid"/>
                      <a:round/>
                      <a:headEnd type="none" w="med" len="med"/>
                      <a:tailEnd type="none" w="med" len="med"/>
                    </a:lnT>
                    <a:lnB w="12700" cap="flat" cmpd="sng" algn="ctr">
                      <a:solidFill>
                        <a:srgbClr val="DCE2EF"/>
                      </a:solidFill>
                      <a:prstDash val="solid"/>
                      <a:round/>
                      <a:headEnd type="none" w="med" len="med"/>
                      <a:tailEnd type="none" w="med" len="med"/>
                    </a:lnB>
                    <a:solidFill>
                      <a:srgbClr val="F4F6FB"/>
                    </a:solidFill>
                  </a:tcPr>
                </a:tc>
              </a:tr>
              <a:tr h="676656">
                <a:tc>
                  <a:txBody>
                    <a:bodyPr/>
                    <a:lstStyle/>
                    <a:p>
                      <a:pPr indent="0" marL="0">
                        <a:buNone/>
                      </a:pPr>
                      <a:r>
                        <a:rPr lang="en-US" sz="950" b="1" dirty="0">
                          <a:solidFill>
                            <a:srgbClr val="16181D"/>
                          </a:solidFill>
                          <a:latin typeface="Montserrat" pitchFamily="34" charset="0"/>
                          <a:ea typeface="Montserrat" pitchFamily="34" charset="-122"/>
                          <a:cs typeface="Montserrat" pitchFamily="34" charset="-120"/>
                        </a:rPr>
                        <a:t>Token budgeting</a:t>
                      </a:r>
                      <a:endParaRPr lang="en-US" sz="950" dirty="0">
                        <a:latin typeface="Montserrat" charset="0"/>
                        <a:ea typeface="Montserrat" charset="0"/>
                        <a:cs typeface="Montserrat" charset="0"/>
                      </a:endParaRPr>
                    </a:p>
                  </a:txBody>
                  <a:tcPr marL="91440" marR="91440" marT="45720" marB="45720" anchor="ctr">
                    <a:lnL w="12700" cap="flat" cmpd="sng" algn="ctr">
                      <a:solidFill>
                        <a:srgbClr val="DCE2EF"/>
                      </a:solidFill>
                      <a:prstDash val="solid"/>
                      <a:round/>
                      <a:headEnd type="none" w="med" len="med"/>
                      <a:tailEnd type="none" w="med" len="med"/>
                    </a:lnL>
                    <a:lnR w="12700" cap="flat" cmpd="sng" algn="ctr">
                      <a:solidFill>
                        <a:srgbClr val="DCE2EF"/>
                      </a:solidFill>
                      <a:prstDash val="solid"/>
                      <a:round/>
                      <a:headEnd type="none" w="med" len="med"/>
                      <a:tailEnd type="none" w="med" len="med"/>
                    </a:lnR>
                    <a:lnT w="12700" cap="flat" cmpd="sng" algn="ctr">
                      <a:solidFill>
                        <a:srgbClr val="DCE2EF"/>
                      </a:solidFill>
                      <a:prstDash val="solid"/>
                      <a:round/>
                      <a:headEnd type="none" w="med" len="med"/>
                      <a:tailEnd type="none" w="med" len="med"/>
                    </a:lnT>
                    <a:lnB w="12700" cap="flat" cmpd="sng" algn="ctr">
                      <a:solidFill>
                        <a:srgbClr val="DCE2EF"/>
                      </a:solidFill>
                      <a:prstDash val="solid"/>
                      <a:round/>
                      <a:headEnd type="none" w="med" len="med"/>
                      <a:tailEnd type="none" w="med" len="med"/>
                    </a:lnB>
                    <a:solidFill>
                      <a:srgbClr val="FFFFFF"/>
                    </a:solidFill>
                  </a:tcPr>
                </a:tc>
                <a:tc>
                  <a:txBody>
                    <a:bodyPr/>
                    <a:lstStyle/>
                    <a:p>
                      <a:pPr indent="0" marL="0">
                        <a:buNone/>
                      </a:pPr>
                      <a:r>
                        <a:rPr lang="en-US" sz="950" dirty="0">
                          <a:solidFill>
                            <a:srgbClr val="16181D"/>
                          </a:solidFill>
                          <a:latin typeface="Montserrat" pitchFamily="34" charset="0"/>
                          <a:ea typeface="Montserrat" pitchFamily="34" charset="-122"/>
                          <a:cs typeface="Montserrat" pitchFamily="34" charset="-120"/>
                        </a:rPr>
                        <a:t>Allocate k per vertex by measured difficulty rather than uniformly</a:t>
                      </a:r>
                      <a:endParaRPr lang="en-US" sz="950" dirty="0">
                        <a:latin typeface="Montserrat" charset="0"/>
                        <a:ea typeface="Montserrat" charset="0"/>
                        <a:cs typeface="Montserrat" charset="0"/>
                      </a:endParaRPr>
                    </a:p>
                  </a:txBody>
                  <a:tcPr marL="91440" marR="91440" marT="45720" marB="45720" anchor="ctr">
                    <a:lnL w="12700" cap="flat" cmpd="sng" algn="ctr">
                      <a:solidFill>
                        <a:srgbClr val="DCE2EF"/>
                      </a:solidFill>
                      <a:prstDash val="solid"/>
                      <a:round/>
                      <a:headEnd type="none" w="med" len="med"/>
                      <a:tailEnd type="none" w="med" len="med"/>
                    </a:lnL>
                    <a:lnR w="12700" cap="flat" cmpd="sng" algn="ctr">
                      <a:solidFill>
                        <a:srgbClr val="DCE2EF"/>
                      </a:solidFill>
                      <a:prstDash val="solid"/>
                      <a:round/>
                      <a:headEnd type="none" w="med" len="med"/>
                      <a:tailEnd type="none" w="med" len="med"/>
                    </a:lnR>
                    <a:lnT w="12700" cap="flat" cmpd="sng" algn="ctr">
                      <a:solidFill>
                        <a:srgbClr val="DCE2EF"/>
                      </a:solidFill>
                      <a:prstDash val="solid"/>
                      <a:round/>
                      <a:headEnd type="none" w="med" len="med"/>
                      <a:tailEnd type="none" w="med" len="med"/>
                    </a:lnT>
                    <a:lnB w="12700" cap="flat" cmpd="sng" algn="ctr">
                      <a:solidFill>
                        <a:srgbClr val="DCE2EF"/>
                      </a:solidFill>
                      <a:prstDash val="solid"/>
                      <a:round/>
                      <a:headEnd type="none" w="med" len="med"/>
                      <a:tailEnd type="none" w="med" len="med"/>
                    </a:lnB>
                    <a:solidFill>
                      <a:srgbClr val="FFFFFF"/>
                    </a:solidFill>
                  </a:tcPr>
                </a:tc>
                <a:tc>
                  <a:txBody>
                    <a:bodyPr/>
                    <a:lstStyle/>
                    <a:p>
                      <a:pPr indent="0" marL="0">
                        <a:buNone/>
                      </a:pPr>
                      <a:r>
                        <a:rPr lang="en-US" sz="950" dirty="0">
                          <a:solidFill>
                            <a:srgbClr val="16181D"/>
                          </a:solidFill>
                          <a:latin typeface="Montserrat" pitchFamily="34" charset="0"/>
                          <a:ea typeface="Montserrat" pitchFamily="34" charset="-122"/>
                          <a:cs typeface="Montserrat" pitchFamily="34" charset="-120"/>
                        </a:rPr>
                        <a:t>Spend where errors concentrate</a:t>
                      </a:r>
                      <a:endParaRPr lang="en-US" sz="950" dirty="0">
                        <a:latin typeface="Montserrat" charset="0"/>
                        <a:ea typeface="Montserrat" charset="0"/>
                        <a:cs typeface="Montserrat" charset="0"/>
                      </a:endParaRPr>
                    </a:p>
                  </a:txBody>
                  <a:tcPr marL="91440" marR="91440" marT="45720" marB="45720" anchor="ctr">
                    <a:lnL w="12700" cap="flat" cmpd="sng" algn="ctr">
                      <a:solidFill>
                        <a:srgbClr val="DCE2EF"/>
                      </a:solidFill>
                      <a:prstDash val="solid"/>
                      <a:round/>
                      <a:headEnd type="none" w="med" len="med"/>
                      <a:tailEnd type="none" w="med" len="med"/>
                    </a:lnL>
                    <a:lnR w="12700" cap="flat" cmpd="sng" algn="ctr">
                      <a:solidFill>
                        <a:srgbClr val="DCE2EF"/>
                      </a:solidFill>
                      <a:prstDash val="solid"/>
                      <a:round/>
                      <a:headEnd type="none" w="med" len="med"/>
                      <a:tailEnd type="none" w="med" len="med"/>
                    </a:lnR>
                    <a:lnT w="12700" cap="flat" cmpd="sng" algn="ctr">
                      <a:solidFill>
                        <a:srgbClr val="DCE2EF"/>
                      </a:solidFill>
                      <a:prstDash val="solid"/>
                      <a:round/>
                      <a:headEnd type="none" w="med" len="med"/>
                      <a:tailEnd type="none" w="med" len="med"/>
                    </a:lnT>
                    <a:lnB w="12700" cap="flat" cmpd="sng" algn="ctr">
                      <a:solidFill>
                        <a:srgbClr val="DCE2EF"/>
                      </a:solidFill>
                      <a:prstDash val="solid"/>
                      <a:round/>
                      <a:headEnd type="none" w="med" len="med"/>
                      <a:tailEnd type="none" w="med" len="med"/>
                    </a:lnB>
                    <a:solidFill>
                      <a:srgbClr val="FFFFFF"/>
                    </a:solidFill>
                  </a:tcPr>
                </a:tc>
              </a:tr>
            </a:tbl>
          </a:graphicData>
        </a:graphic>
      </p:graphicFrame>
      <p:sp>
        <p:nvSpPr>
          <p:cNvPr id="12" name="Shape 9"/>
          <p:cNvSpPr/>
          <p:nvPr/>
        </p:nvSpPr>
        <p:spPr>
          <a:xfrm>
            <a:off x="685800" y="4434840"/>
            <a:ext cx="6949440" cy="1005840"/>
          </a:xfrm>
          <a:prstGeom prst="roundRect">
            <a:avLst>
              <a:gd name="adj" fmla="val 4545"/>
            </a:avLst>
          </a:prstGeom>
          <a:solidFill>
            <a:srgbClr val="FDF3E3"/>
          </a:solidFill>
          <a:ln w="12700">
            <a:solidFill>
              <a:srgbClr val="D8DEEC"/>
            </a:solidFill>
            <a:prstDash val="solid"/>
          </a:ln>
        </p:spPr>
      </p:sp>
      <p:sp>
        <p:nvSpPr>
          <p:cNvPr id="13" name="Text 10"/>
          <p:cNvSpPr txBox="1"/>
          <p:nvPr/>
        </p:nvSpPr>
        <p:spPr>
          <a:xfrm>
            <a:off x="914400" y="4590288"/>
            <a:ext cx="6492240" cy="731520"/>
          </a:xfrm>
          <a:prstGeom prst="rect">
            <a:avLst/>
          </a:prstGeom>
          <a:noFill/>
          <a:ln/>
        </p:spPr>
        <p:txBody>
          <a:bodyPr wrap="square" lIns="0" tIns="0" rIns="0" bIns="0" rtlCol="0" anchor="ctr"/>
          <a:lstStyle/>
          <a:p>
            <a:pPr indent="0" marL="0">
              <a:buNone/>
            </a:pPr>
            <a:r>
              <a:rPr lang="en-US" sz="1000" b="1" dirty="0">
                <a:solidFill>
                  <a:srgbClr val="16181D"/>
                </a:solidFill>
                <a:latin typeface="Montserrat" pitchFamily="34" charset="0"/>
                <a:ea typeface="Montserrat" pitchFamily="34" charset="-122"/>
                <a:cs typeface="Montserrat" pitchFamily="34" charset="-120"/>
              </a:rPr>
              <a:t>The causality constraint decides which of these are safe: an edge means one thought was literally the input that produced another, so every vertex on a path to the answer must retain one.</a:t>
            </a:r>
            <a:endParaRPr lang="en-US" sz="1000" dirty="0"/>
          </a:p>
        </p:txBody>
      </p:sp>
      <p:sp>
        <p:nvSpPr>
          <p:cNvPr id="14" name="Shape 11"/>
          <p:cNvSpPr/>
          <p:nvPr/>
        </p:nvSpPr>
        <p:spPr>
          <a:xfrm>
            <a:off x="7909560" y="1572768"/>
            <a:ext cx="3611880" cy="3867912"/>
          </a:xfrm>
          <a:prstGeom prst="roundRect">
            <a:avLst>
              <a:gd name="adj" fmla="val 1266"/>
            </a:avLst>
          </a:prstGeom>
          <a:solidFill>
            <a:srgbClr val="F4F6FB"/>
          </a:solidFill>
          <a:ln w="12700">
            <a:solidFill>
              <a:srgbClr val="D8DEEC"/>
            </a:solidFill>
            <a:prstDash val="solid"/>
          </a:ln>
        </p:spPr>
      </p:sp>
      <p:sp>
        <p:nvSpPr>
          <p:cNvPr id="15" name="Text 12"/>
          <p:cNvSpPr txBox="1"/>
          <p:nvPr/>
        </p:nvSpPr>
        <p:spPr>
          <a:xfrm>
            <a:off x="8138160" y="1737360"/>
            <a:ext cx="3154680" cy="256032"/>
          </a:xfrm>
          <a:prstGeom prst="rect">
            <a:avLst/>
          </a:prstGeom>
          <a:noFill/>
          <a:ln/>
        </p:spPr>
        <p:txBody>
          <a:bodyPr wrap="square" lIns="0" tIns="0" rIns="0" bIns="0" rtlCol="0" anchor="ctr"/>
          <a:lstStyle/>
          <a:p>
            <a:pPr indent="0" marL="0">
              <a:buNone/>
            </a:pPr>
            <a:r>
              <a:rPr lang="en-US" sz="1150" b="1" dirty="0">
                <a:solidFill>
                  <a:srgbClr val="23408E"/>
                </a:solidFill>
                <a:latin typeface="Montserrat" pitchFamily="34" charset="0"/>
                <a:ea typeface="Montserrat" pitchFamily="34" charset="-122"/>
                <a:cs typeface="Montserrat" pitchFamily="34" charset="-120"/>
              </a:rPr>
              <a:t>Pipeline</a:t>
            </a:r>
            <a:endParaRPr lang="en-US" sz="1150" dirty="0"/>
          </a:p>
        </p:txBody>
      </p:sp>
      <p:sp>
        <p:nvSpPr>
          <p:cNvPr id="16" name="Shape 13"/>
          <p:cNvSpPr/>
          <p:nvPr/>
        </p:nvSpPr>
        <p:spPr>
          <a:xfrm>
            <a:off x="8138160" y="2121408"/>
            <a:ext cx="265176" cy="265176"/>
          </a:xfrm>
          <a:prstGeom prst="ellipse">
            <a:avLst/>
          </a:prstGeom>
          <a:solidFill>
            <a:srgbClr val="23408E"/>
          </a:solidFill>
          <a:ln w="12700">
            <a:solidFill>
              <a:srgbClr val="333333"/>
            </a:solidFill>
            <a:prstDash val="solid"/>
          </a:ln>
        </p:spPr>
      </p:sp>
      <p:sp>
        <p:nvSpPr>
          <p:cNvPr id="17" name="Text 14"/>
          <p:cNvSpPr txBox="1"/>
          <p:nvPr/>
        </p:nvSpPr>
        <p:spPr>
          <a:xfrm>
            <a:off x="8138160" y="2148840"/>
            <a:ext cx="265176" cy="219456"/>
          </a:xfrm>
          <a:prstGeom prst="rect">
            <a:avLst/>
          </a:prstGeom>
          <a:noFill/>
          <a:ln/>
        </p:spPr>
        <p:txBody>
          <a:bodyPr wrap="square" lIns="0" tIns="0" rIns="0" bIns="0" rtlCol="0" anchor="ctr"/>
          <a:lstStyle/>
          <a:p>
            <a:pPr algn="ctr" indent="0" marL="0">
              <a:buNone/>
            </a:pPr>
            <a:r>
              <a:rPr lang="en-US" sz="950" b="1" dirty="0">
                <a:solidFill>
                  <a:srgbClr val="FFFFFF"/>
                </a:solidFill>
                <a:latin typeface="Montserrat" pitchFamily="34" charset="0"/>
                <a:ea typeface="Montserrat" pitchFamily="34" charset="-122"/>
                <a:cs typeface="Montserrat" pitchFamily="34" charset="-120"/>
              </a:rPr>
              <a:t>1</a:t>
            </a:r>
            <a:endParaRPr lang="en-US" sz="950" dirty="0"/>
          </a:p>
        </p:txBody>
      </p:sp>
      <p:sp>
        <p:nvSpPr>
          <p:cNvPr id="18" name="Text 15"/>
          <p:cNvSpPr txBox="1"/>
          <p:nvPr/>
        </p:nvSpPr>
        <p:spPr>
          <a:xfrm>
            <a:off x="8503920" y="2103120"/>
            <a:ext cx="2788920" cy="566928"/>
          </a:xfrm>
          <a:prstGeom prst="rect">
            <a:avLst/>
          </a:prstGeom>
          <a:noFill/>
          <a:ln/>
        </p:spPr>
        <p:txBody>
          <a:bodyPr wrap="square" lIns="0" tIns="0" rIns="0" bIns="0" rtlCol="0" anchor="ctr"/>
          <a:lstStyle/>
          <a:p>
            <a:pPr indent="0" marL="0">
              <a:buNone/>
            </a:pPr>
            <a:r>
              <a:rPr lang="en-US" sz="900" dirty="0">
                <a:solidFill>
                  <a:srgbClr val="16181D"/>
                </a:solidFill>
                <a:latin typeface="Montserrat" pitchFamily="34" charset="0"/>
                <a:ea typeface="Montserrat" pitchFamily="34" charset="-122"/>
                <a:cs typeface="Montserrat" pitchFamily="34" charset="-120"/>
              </a:rPr>
              <a:t>Instrument: per-vertex token cost and marginal contribution</a:t>
            </a:r>
            <a:endParaRPr lang="en-US" sz="900" dirty="0"/>
          </a:p>
        </p:txBody>
      </p:sp>
      <p:sp>
        <p:nvSpPr>
          <p:cNvPr id="19" name="Shape 16"/>
          <p:cNvSpPr/>
          <p:nvPr/>
        </p:nvSpPr>
        <p:spPr>
          <a:xfrm>
            <a:off x="8138160" y="2761488"/>
            <a:ext cx="265176" cy="265176"/>
          </a:xfrm>
          <a:prstGeom prst="ellipse">
            <a:avLst/>
          </a:prstGeom>
          <a:solidFill>
            <a:srgbClr val="23408E"/>
          </a:solidFill>
          <a:ln w="12700">
            <a:solidFill>
              <a:srgbClr val="333333"/>
            </a:solidFill>
            <a:prstDash val="solid"/>
          </a:ln>
        </p:spPr>
      </p:sp>
      <p:sp>
        <p:nvSpPr>
          <p:cNvPr id="20" name="Text 17"/>
          <p:cNvSpPr txBox="1"/>
          <p:nvPr/>
        </p:nvSpPr>
        <p:spPr>
          <a:xfrm>
            <a:off x="8138160" y="2788920"/>
            <a:ext cx="265176" cy="219456"/>
          </a:xfrm>
          <a:prstGeom prst="rect">
            <a:avLst/>
          </a:prstGeom>
          <a:noFill/>
          <a:ln/>
        </p:spPr>
        <p:txBody>
          <a:bodyPr wrap="square" lIns="0" tIns="0" rIns="0" bIns="0" rtlCol="0" anchor="ctr"/>
          <a:lstStyle/>
          <a:p>
            <a:pPr algn="ctr" indent="0" marL="0">
              <a:buNone/>
            </a:pPr>
            <a:r>
              <a:rPr lang="en-US" sz="950" b="1" dirty="0">
                <a:solidFill>
                  <a:srgbClr val="FFFFFF"/>
                </a:solidFill>
                <a:latin typeface="Montserrat" pitchFamily="34" charset="0"/>
                <a:ea typeface="Montserrat" pitchFamily="34" charset="-122"/>
                <a:cs typeface="Montserrat" pitchFamily="34" charset="-120"/>
              </a:rPr>
              <a:t>2</a:t>
            </a:r>
            <a:endParaRPr lang="en-US" sz="950" dirty="0"/>
          </a:p>
        </p:txBody>
      </p:sp>
      <p:sp>
        <p:nvSpPr>
          <p:cNvPr id="21" name="Text 18"/>
          <p:cNvSpPr txBox="1"/>
          <p:nvPr/>
        </p:nvSpPr>
        <p:spPr>
          <a:xfrm>
            <a:off x="8503920" y="2743200"/>
            <a:ext cx="2788920" cy="566928"/>
          </a:xfrm>
          <a:prstGeom prst="rect">
            <a:avLst/>
          </a:prstGeom>
          <a:noFill/>
          <a:ln/>
        </p:spPr>
        <p:txBody>
          <a:bodyPr wrap="square" lIns="0" tIns="0" rIns="0" bIns="0" rtlCol="0" anchor="ctr"/>
          <a:lstStyle/>
          <a:p>
            <a:pPr indent="0" marL="0">
              <a:buNone/>
            </a:pPr>
            <a:r>
              <a:rPr lang="en-US" sz="900" dirty="0">
                <a:solidFill>
                  <a:srgbClr val="16181D"/>
                </a:solidFill>
                <a:latin typeface="Montserrat" pitchFamily="34" charset="0"/>
                <a:ea typeface="Montserrat" pitchFamily="34" charset="-122"/>
                <a:cs typeface="Montserrat" pitchFamily="34" charset="-120"/>
              </a:rPr>
              <a:t>Compress vertex content with a compact encoding</a:t>
            </a:r>
            <a:endParaRPr lang="en-US" sz="900" dirty="0"/>
          </a:p>
        </p:txBody>
      </p:sp>
      <p:sp>
        <p:nvSpPr>
          <p:cNvPr id="22" name="Shape 19"/>
          <p:cNvSpPr/>
          <p:nvPr/>
        </p:nvSpPr>
        <p:spPr>
          <a:xfrm>
            <a:off x="8138160" y="3401568"/>
            <a:ext cx="265176" cy="265176"/>
          </a:xfrm>
          <a:prstGeom prst="ellipse">
            <a:avLst/>
          </a:prstGeom>
          <a:solidFill>
            <a:srgbClr val="D98A1F"/>
          </a:solidFill>
          <a:ln w="12700">
            <a:solidFill>
              <a:srgbClr val="333333"/>
            </a:solidFill>
            <a:prstDash val="solid"/>
          </a:ln>
        </p:spPr>
      </p:sp>
      <p:sp>
        <p:nvSpPr>
          <p:cNvPr id="23" name="Text 20"/>
          <p:cNvSpPr txBox="1"/>
          <p:nvPr/>
        </p:nvSpPr>
        <p:spPr>
          <a:xfrm>
            <a:off x="8138160" y="3429000"/>
            <a:ext cx="265176" cy="219456"/>
          </a:xfrm>
          <a:prstGeom prst="rect">
            <a:avLst/>
          </a:prstGeom>
          <a:noFill/>
          <a:ln/>
        </p:spPr>
        <p:txBody>
          <a:bodyPr wrap="square" lIns="0" tIns="0" rIns="0" bIns="0" rtlCol="0" anchor="ctr"/>
          <a:lstStyle/>
          <a:p>
            <a:pPr algn="ctr" indent="0" marL="0">
              <a:buNone/>
            </a:pPr>
            <a:r>
              <a:rPr lang="en-US" sz="950" b="1" dirty="0">
                <a:solidFill>
                  <a:srgbClr val="FFFFFF"/>
                </a:solidFill>
                <a:latin typeface="Montserrat" pitchFamily="34" charset="0"/>
                <a:ea typeface="Montserrat" pitchFamily="34" charset="-122"/>
                <a:cs typeface="Montserrat" pitchFamily="34" charset="-120"/>
              </a:rPr>
              <a:t>3</a:t>
            </a:r>
            <a:endParaRPr lang="en-US" sz="950" dirty="0"/>
          </a:p>
        </p:txBody>
      </p:sp>
      <p:sp>
        <p:nvSpPr>
          <p:cNvPr id="24" name="Text 21"/>
          <p:cNvSpPr txBox="1"/>
          <p:nvPr/>
        </p:nvSpPr>
        <p:spPr>
          <a:xfrm>
            <a:off x="8503920" y="3383280"/>
            <a:ext cx="2788920" cy="566928"/>
          </a:xfrm>
          <a:prstGeom prst="rect">
            <a:avLst/>
          </a:prstGeom>
          <a:noFill/>
          <a:ln/>
        </p:spPr>
        <p:txBody>
          <a:bodyPr wrap="square" lIns="0" tIns="0" rIns="0" bIns="0" rtlCol="0" anchor="ctr"/>
          <a:lstStyle/>
          <a:p>
            <a:pPr indent="0" marL="0">
              <a:buNone/>
            </a:pPr>
            <a:r>
              <a:rPr lang="en-US" sz="900" dirty="0">
                <a:solidFill>
                  <a:srgbClr val="16181D"/>
                </a:solidFill>
                <a:latin typeface="Montserrat" pitchFamily="34" charset="0"/>
                <a:ea typeface="Montserrat" pitchFamily="34" charset="-122"/>
                <a:cs typeface="Montserrat" pitchFamily="34" charset="-120"/>
              </a:rPr>
              <a:t>Coarsen: merge or drop low-contribution vertices</a:t>
            </a:r>
            <a:endParaRPr lang="en-US" sz="900" dirty="0"/>
          </a:p>
        </p:txBody>
      </p:sp>
      <p:sp>
        <p:nvSpPr>
          <p:cNvPr id="25" name="Shape 22"/>
          <p:cNvSpPr/>
          <p:nvPr/>
        </p:nvSpPr>
        <p:spPr>
          <a:xfrm>
            <a:off x="8138160" y="4041648"/>
            <a:ext cx="265176" cy="265176"/>
          </a:xfrm>
          <a:prstGeom prst="ellipse">
            <a:avLst/>
          </a:prstGeom>
          <a:solidFill>
            <a:srgbClr val="D98A1F"/>
          </a:solidFill>
          <a:ln w="12700">
            <a:solidFill>
              <a:srgbClr val="333333"/>
            </a:solidFill>
            <a:prstDash val="solid"/>
          </a:ln>
        </p:spPr>
      </p:sp>
      <p:sp>
        <p:nvSpPr>
          <p:cNvPr id="26" name="Text 23"/>
          <p:cNvSpPr txBox="1"/>
          <p:nvPr/>
        </p:nvSpPr>
        <p:spPr>
          <a:xfrm>
            <a:off x="8138160" y="4069080"/>
            <a:ext cx="265176" cy="219456"/>
          </a:xfrm>
          <a:prstGeom prst="rect">
            <a:avLst/>
          </a:prstGeom>
          <a:noFill/>
          <a:ln/>
        </p:spPr>
        <p:txBody>
          <a:bodyPr wrap="square" lIns="0" tIns="0" rIns="0" bIns="0" rtlCol="0" anchor="ctr"/>
          <a:lstStyle/>
          <a:p>
            <a:pPr algn="ctr" indent="0" marL="0">
              <a:buNone/>
            </a:pPr>
            <a:r>
              <a:rPr lang="en-US" sz="950" b="1" dirty="0">
                <a:solidFill>
                  <a:srgbClr val="FFFFFF"/>
                </a:solidFill>
                <a:latin typeface="Montserrat" pitchFamily="34" charset="0"/>
                <a:ea typeface="Montserrat" pitchFamily="34" charset="-122"/>
                <a:cs typeface="Montserrat" pitchFamily="34" charset="-120"/>
              </a:rPr>
              <a:t>4</a:t>
            </a:r>
            <a:endParaRPr lang="en-US" sz="950" dirty="0"/>
          </a:p>
        </p:txBody>
      </p:sp>
      <p:sp>
        <p:nvSpPr>
          <p:cNvPr id="27" name="Text 24"/>
          <p:cNvSpPr txBox="1"/>
          <p:nvPr/>
        </p:nvSpPr>
        <p:spPr>
          <a:xfrm>
            <a:off x="8503920" y="4023360"/>
            <a:ext cx="2788920" cy="566928"/>
          </a:xfrm>
          <a:prstGeom prst="rect">
            <a:avLst/>
          </a:prstGeom>
          <a:noFill/>
          <a:ln/>
        </p:spPr>
        <p:txBody>
          <a:bodyPr wrap="square" lIns="0" tIns="0" rIns="0" bIns="0" rtlCol="0" anchor="ctr"/>
          <a:lstStyle/>
          <a:p>
            <a:pPr indent="0" marL="0">
              <a:buNone/>
            </a:pPr>
            <a:r>
              <a:rPr lang="en-US" sz="900" dirty="0">
                <a:solidFill>
                  <a:srgbClr val="16181D"/>
                </a:solidFill>
                <a:latin typeface="Montserrat" pitchFamily="34" charset="0"/>
                <a:ea typeface="Montserrat" pitchFamily="34" charset="-122"/>
                <a:cs typeface="Montserrat" pitchFamily="34" charset="-120"/>
              </a:rPr>
              <a:t>Verify reachability to the final thought is preserved</a:t>
            </a:r>
            <a:endParaRPr lang="en-US" sz="900" dirty="0"/>
          </a:p>
        </p:txBody>
      </p:sp>
      <p:sp>
        <p:nvSpPr>
          <p:cNvPr id="28" name="Shape 25"/>
          <p:cNvSpPr/>
          <p:nvPr/>
        </p:nvSpPr>
        <p:spPr>
          <a:xfrm>
            <a:off x="8138160" y="4681728"/>
            <a:ext cx="265176" cy="265176"/>
          </a:xfrm>
          <a:prstGeom prst="ellipse">
            <a:avLst/>
          </a:prstGeom>
          <a:solidFill>
            <a:srgbClr val="D98A1F"/>
          </a:solidFill>
          <a:ln w="12700">
            <a:solidFill>
              <a:srgbClr val="333333"/>
            </a:solidFill>
            <a:prstDash val="solid"/>
          </a:ln>
        </p:spPr>
      </p:sp>
      <p:sp>
        <p:nvSpPr>
          <p:cNvPr id="29" name="Text 26"/>
          <p:cNvSpPr txBox="1"/>
          <p:nvPr/>
        </p:nvSpPr>
        <p:spPr>
          <a:xfrm>
            <a:off x="8138160" y="4709160"/>
            <a:ext cx="265176" cy="219456"/>
          </a:xfrm>
          <a:prstGeom prst="rect">
            <a:avLst/>
          </a:prstGeom>
          <a:noFill/>
          <a:ln/>
        </p:spPr>
        <p:txBody>
          <a:bodyPr wrap="square" lIns="0" tIns="0" rIns="0" bIns="0" rtlCol="0" anchor="ctr"/>
          <a:lstStyle/>
          <a:p>
            <a:pPr algn="ctr" indent="0" marL="0">
              <a:buNone/>
            </a:pPr>
            <a:r>
              <a:rPr lang="en-US" sz="950" b="1" dirty="0">
                <a:solidFill>
                  <a:srgbClr val="FFFFFF"/>
                </a:solidFill>
                <a:latin typeface="Montserrat" pitchFamily="34" charset="0"/>
                <a:ea typeface="Montserrat" pitchFamily="34" charset="-122"/>
                <a:cs typeface="Montserrat" pitchFamily="34" charset="-120"/>
              </a:rPr>
              <a:t>5</a:t>
            </a:r>
            <a:endParaRPr lang="en-US" sz="950" dirty="0"/>
          </a:p>
        </p:txBody>
      </p:sp>
      <p:sp>
        <p:nvSpPr>
          <p:cNvPr id="30" name="Text 27"/>
          <p:cNvSpPr txBox="1"/>
          <p:nvPr/>
        </p:nvSpPr>
        <p:spPr>
          <a:xfrm>
            <a:off x="8503920" y="4663440"/>
            <a:ext cx="2788920" cy="566928"/>
          </a:xfrm>
          <a:prstGeom prst="rect">
            <a:avLst/>
          </a:prstGeom>
          <a:noFill/>
          <a:ln/>
        </p:spPr>
        <p:txBody>
          <a:bodyPr wrap="square" lIns="0" tIns="0" rIns="0" bIns="0" rtlCol="0" anchor="ctr"/>
          <a:lstStyle/>
          <a:p>
            <a:pPr indent="0" marL="0">
              <a:buNone/>
            </a:pPr>
            <a:r>
              <a:rPr lang="en-US" sz="900" dirty="0">
                <a:solidFill>
                  <a:srgbClr val="16181D"/>
                </a:solidFill>
                <a:latin typeface="Montserrat" pitchFamily="34" charset="0"/>
                <a:ea typeface="Montserrat" pitchFamily="34" charset="-122"/>
                <a:cs typeface="Montserrat" pitchFamily="34" charset="-120"/>
              </a:rPr>
              <a:t>Evaluate against the ToT cost-quality frontier</a:t>
            </a:r>
            <a:endParaRPr lang="en-US" sz="900" dirty="0"/>
          </a:p>
        </p:txBody>
      </p:sp>
      <p:sp>
        <p:nvSpPr>
          <p:cNvPr id="31" name="Shape 28"/>
          <p:cNvSpPr/>
          <p:nvPr/>
        </p:nvSpPr>
        <p:spPr>
          <a:xfrm>
            <a:off x="685800" y="5577840"/>
            <a:ext cx="10835640" cy="640080"/>
          </a:xfrm>
          <a:prstGeom prst="roundRect">
            <a:avLst>
              <a:gd name="adj" fmla="val 7143"/>
            </a:avLst>
          </a:prstGeom>
          <a:solidFill>
            <a:srgbClr val="E8F4F1"/>
          </a:solidFill>
          <a:ln w="12700">
            <a:solidFill>
              <a:srgbClr val="D8DEEC"/>
            </a:solidFill>
            <a:prstDash val="solid"/>
          </a:ln>
        </p:spPr>
      </p:sp>
      <p:sp>
        <p:nvSpPr>
          <p:cNvPr id="32" name="Text 29"/>
          <p:cNvSpPr txBox="1"/>
          <p:nvPr/>
        </p:nvSpPr>
        <p:spPr>
          <a:xfrm>
            <a:off x="914400" y="5705856"/>
            <a:ext cx="10424160" cy="402336"/>
          </a:xfrm>
          <a:prstGeom prst="rect">
            <a:avLst/>
          </a:prstGeom>
          <a:noFill/>
          <a:ln/>
        </p:spPr>
        <p:txBody>
          <a:bodyPr wrap="square" lIns="0" tIns="0" rIns="0" bIns="0" rtlCol="0" anchor="ctr"/>
          <a:lstStyle/>
          <a:p>
            <a:pPr indent="0" marL="0">
              <a:buNone/>
            </a:pPr>
            <a:r>
              <a:rPr lang="en-US" sz="1050" b="1" dirty="0">
                <a:solidFill>
                  <a:srgbClr val="0F7B6C"/>
                </a:solidFill>
                <a:latin typeface="Montserrat" pitchFamily="34" charset="0"/>
                <a:ea typeface="Montserrat" pitchFamily="34" charset="-122"/>
                <a:cs typeface="Montserrat" pitchFamily="34" charset="-120"/>
              </a:rPr>
              <a:t>Target, set by our own measurement:  reach error 7.45 at 2,185 tokens - where Tree of Thoughts sits today. Graph of Thoughts is currently at 8.28 error and 7,910 tokens.</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0149840" y="-502920"/>
            <a:ext cx="2377440" cy="960120"/>
          </a:xfrm>
          <a:prstGeom prst="roundRect">
            <a:avLst>
              <a:gd name="adj" fmla="val 38095"/>
            </a:avLst>
          </a:prstGeom>
          <a:solidFill>
            <a:srgbClr val="C9D8F5"/>
          </a:solidFill>
          <a:ln w="12700">
            <a:solidFill>
              <a:srgbClr val="333333"/>
            </a:solidFill>
            <a:prstDash val="solid"/>
          </a:ln>
        </p:spPr>
      </p:sp>
      <p:sp>
        <p:nvSpPr>
          <p:cNvPr id="3" name="Shape 1"/>
          <p:cNvSpPr/>
          <p:nvPr/>
        </p:nvSpPr>
        <p:spPr>
          <a:xfrm>
            <a:off x="10881360" y="0"/>
            <a:ext cx="2011680" cy="566928"/>
          </a:xfrm>
          <a:prstGeom prst="roundRect">
            <a:avLst>
              <a:gd name="adj" fmla="val 48387"/>
            </a:avLst>
          </a:prstGeom>
          <a:solidFill>
            <a:srgbClr val="23408E"/>
          </a:solidFill>
          <a:ln w="12700">
            <a:solidFill>
              <a:srgbClr val="333333"/>
            </a:solidFill>
            <a:prstDash val="solid"/>
          </a:ln>
        </p:spPr>
      </p:sp>
      <p:sp>
        <p:nvSpPr>
          <p:cNvPr id="4" name="Shape 2"/>
          <p:cNvSpPr/>
          <p:nvPr/>
        </p:nvSpPr>
        <p:spPr>
          <a:xfrm>
            <a:off x="-731520" y="6355080"/>
            <a:ext cx="1828800" cy="822960"/>
          </a:xfrm>
          <a:prstGeom prst="roundRect">
            <a:avLst>
              <a:gd name="adj" fmla="val 38889"/>
            </a:avLst>
          </a:prstGeom>
          <a:solidFill>
            <a:srgbClr val="23408E"/>
          </a:solidFill>
          <a:ln w="12700">
            <a:solidFill>
              <a:srgbClr val="333333"/>
            </a:solidFill>
            <a:prstDash val="solid"/>
          </a:ln>
        </p:spPr>
      </p:sp>
      <p:sp>
        <p:nvSpPr>
          <p:cNvPr id="5" name="Shape 3"/>
          <p:cNvSpPr/>
          <p:nvPr/>
        </p:nvSpPr>
        <p:spPr>
          <a:xfrm>
            <a:off x="320040" y="6583680"/>
            <a:ext cx="2743200" cy="731520"/>
          </a:xfrm>
          <a:prstGeom prst="roundRect">
            <a:avLst>
              <a:gd name="adj" fmla="val 43750"/>
            </a:avLst>
          </a:prstGeom>
          <a:solidFill>
            <a:srgbClr val="C9D8F5"/>
          </a:solidFill>
          <a:ln w="12700">
            <a:solidFill>
              <a:srgbClr val="333333"/>
            </a:solidFill>
            <a:prstDash val="solid"/>
          </a:ln>
        </p:spPr>
      </p:sp>
      <p:sp>
        <p:nvSpPr>
          <p:cNvPr id="6" name="Text 4"/>
          <p:cNvSpPr txBox="1"/>
          <p:nvPr/>
        </p:nvSpPr>
        <p:spPr>
          <a:xfrm>
            <a:off x="566928" y="237744"/>
            <a:ext cx="9052560" cy="603504"/>
          </a:xfrm>
          <a:prstGeom prst="rect">
            <a:avLst/>
          </a:prstGeom>
          <a:noFill/>
          <a:ln/>
        </p:spPr>
        <p:txBody>
          <a:bodyPr wrap="square" lIns="0" tIns="0" rIns="0" bIns="0" rtlCol="0" anchor="ctr"/>
          <a:lstStyle/>
          <a:p>
            <a:pPr indent="0" marL="0">
              <a:buNone/>
            </a:pPr>
            <a:r>
              <a:rPr lang="en-US" sz="3000" b="1" dirty="0">
                <a:solidFill>
                  <a:srgbClr val="23408E"/>
                </a:solidFill>
                <a:latin typeface="Montserrat" pitchFamily="34" charset="0"/>
                <a:ea typeface="Montserrat" pitchFamily="34" charset="-122"/>
                <a:cs typeface="Montserrat" pitchFamily="34" charset="-120"/>
              </a:rPr>
              <a:t>Future Plan</a:t>
            </a:r>
            <a:endParaRPr lang="en-US" sz="3000" dirty="0"/>
          </a:p>
        </p:txBody>
      </p:sp>
      <p:sp>
        <p:nvSpPr>
          <p:cNvPr id="7" name="Shape 5"/>
          <p:cNvSpPr/>
          <p:nvPr/>
        </p:nvSpPr>
        <p:spPr>
          <a:xfrm>
            <a:off x="621792" y="914400"/>
            <a:ext cx="4023360" cy="0"/>
          </a:xfrm>
          <a:prstGeom prst="line">
            <a:avLst/>
          </a:prstGeom>
          <a:noFill/>
          <a:ln w="20320">
            <a:solidFill>
              <a:srgbClr val="16181D"/>
            </a:solidFill>
            <a:prstDash val="solid"/>
          </a:ln>
        </p:spPr>
      </p:sp>
      <p:sp>
        <p:nvSpPr>
          <p:cNvPr id="8" name="Shape 6"/>
          <p:cNvSpPr/>
          <p:nvPr/>
        </p:nvSpPr>
        <p:spPr>
          <a:xfrm>
            <a:off x="548640" y="859536"/>
            <a:ext cx="118872" cy="118872"/>
          </a:xfrm>
          <a:prstGeom prst="ellipse">
            <a:avLst/>
          </a:prstGeom>
          <a:solidFill>
            <a:srgbClr val="16181D"/>
          </a:solidFill>
          <a:ln w="12700">
            <a:solidFill>
              <a:srgbClr val="333333"/>
            </a:solidFill>
            <a:prstDash val="solid"/>
          </a:ln>
        </p:spPr>
      </p:sp>
      <p:sp>
        <p:nvSpPr>
          <p:cNvPr id="9" name="Shape 7"/>
          <p:cNvSpPr/>
          <p:nvPr/>
        </p:nvSpPr>
        <p:spPr>
          <a:xfrm>
            <a:off x="4590288" y="859536"/>
            <a:ext cx="118872" cy="118872"/>
          </a:xfrm>
          <a:prstGeom prst="ellipse">
            <a:avLst/>
          </a:prstGeom>
          <a:solidFill>
            <a:srgbClr val="16181D"/>
          </a:solidFill>
          <a:ln w="12700">
            <a:solidFill>
              <a:srgbClr val="333333"/>
            </a:solidFill>
            <a:prstDash val="solid"/>
          </a:ln>
        </p:spPr>
      </p:sp>
      <p:sp>
        <p:nvSpPr>
          <p:cNvPr id="10" name="Text 8"/>
          <p:cNvSpPr txBox="1"/>
          <p:nvPr/>
        </p:nvSpPr>
        <p:spPr>
          <a:xfrm>
            <a:off x="822960" y="1371600"/>
            <a:ext cx="6766560" cy="3931920"/>
          </a:xfrm>
          <a:prstGeom prst="rect">
            <a:avLst/>
          </a:prstGeom>
          <a:noFill/>
          <a:ln/>
        </p:spPr>
        <p:txBody>
          <a:bodyPr wrap="square" lIns="0" tIns="0" rIns="0" bIns="0" rtlCol="0" anchor="ctr"/>
          <a:lstStyle/>
          <a:p>
            <a:pPr marL="342900" indent="-342900">
              <a:lnSpc>
                <a:spcPct val="110000"/>
              </a:lnSpc>
              <a:spcAft>
                <a:spcPts val="700"/>
              </a:spcAft>
              <a:buSzPct val="100000"/>
              <a:buChar char="•"/>
            </a:pPr>
            <a:r>
              <a:rPr lang="en-US" sz="1250" dirty="0">
                <a:solidFill>
                  <a:srgbClr val="16181D"/>
                </a:solidFill>
                <a:latin typeface="Montserrat" pitchFamily="34" charset="0"/>
                <a:ea typeface="Montserrat" pitchFamily="34" charset="-122"/>
                <a:cs typeface="Montserrat" pitchFamily="34" charset="-120"/>
              </a:rPr>
              <a:t>Complete the sweeps now running - aggregation attempts and chunk count across 32, 64 and 128 elements</a:t>
            </a:r>
            <a:endParaRPr lang="en-US" sz="1250" dirty="0"/>
          </a:p>
          <a:p>
            <a:pPr marL="342900" indent="-342900">
              <a:lnSpc>
                <a:spcPct val="110000"/>
              </a:lnSpc>
              <a:spcAft>
                <a:spcPts val="700"/>
              </a:spcAft>
              <a:buSzPct val="100000"/>
              <a:buChar char="•"/>
            </a:pPr>
            <a:r>
              <a:rPr lang="en-US" sz="1250" dirty="0">
                <a:solidFill>
                  <a:srgbClr val="16181D"/>
                </a:solidFill>
                <a:latin typeface="Montserrat" pitchFamily="34" charset="0"/>
                <a:ea typeface="Montserrat" pitchFamily="34" charset="-122"/>
                <a:cs typeface="Montserrat" pitchFamily="34" charset="-120"/>
              </a:rPr>
              <a:t>Implement compact vertex encoding and measure its accuracy cost</a:t>
            </a:r>
            <a:endParaRPr lang="en-US" sz="1250" dirty="0"/>
          </a:p>
          <a:p>
            <a:pPr marL="342900" indent="-342900">
              <a:lnSpc>
                <a:spcPct val="110000"/>
              </a:lnSpc>
              <a:spcAft>
                <a:spcPts val="700"/>
              </a:spcAft>
              <a:buSzPct val="100000"/>
              <a:buChar char="•"/>
            </a:pPr>
            <a:r>
              <a:rPr lang="en-US" sz="1250" dirty="0">
                <a:solidFill>
                  <a:srgbClr val="16181D"/>
                </a:solidFill>
                <a:latin typeface="Montserrat" pitchFamily="34" charset="0"/>
                <a:ea typeface="Montserrat" pitchFamily="34" charset="-122"/>
                <a:cs typeface="Montserrat" pitchFamily="34" charset="-120"/>
              </a:rPr>
              <a:t>Define the coarsening operator formally, with reachability to the final thought as the preserved invariant</a:t>
            </a:r>
            <a:endParaRPr lang="en-US" sz="1250" dirty="0"/>
          </a:p>
          <a:p>
            <a:pPr marL="342900" indent="-342900">
              <a:lnSpc>
                <a:spcPct val="110000"/>
              </a:lnSpc>
              <a:spcAft>
                <a:spcPts val="700"/>
              </a:spcAft>
              <a:buSzPct val="100000"/>
              <a:buChar char="•"/>
            </a:pPr>
            <a:r>
              <a:rPr lang="en-US" sz="1250" dirty="0">
                <a:solidFill>
                  <a:srgbClr val="16181D"/>
                </a:solidFill>
                <a:latin typeface="Montserrat" pitchFamily="34" charset="0"/>
                <a:ea typeface="Montserrat" pitchFamily="34" charset="-122"/>
                <a:cs typeface="Montserrat" pitchFamily="34" charset="-120"/>
              </a:rPr>
              <a:t>Establish whether coarsening and vertex compression compose as predicted, or interact</a:t>
            </a:r>
            <a:endParaRPr lang="en-US" sz="1250" dirty="0"/>
          </a:p>
          <a:p>
            <a:pPr marL="342900" indent="-342900">
              <a:lnSpc>
                <a:spcPct val="110000"/>
              </a:lnSpc>
              <a:spcAft>
                <a:spcPts val="700"/>
              </a:spcAft>
              <a:buSzPct val="100000"/>
              <a:buChar char="•"/>
            </a:pPr>
            <a:r>
              <a:rPr lang="en-US" sz="1250" dirty="0">
                <a:solidFill>
                  <a:srgbClr val="16181D"/>
                </a:solidFill>
                <a:latin typeface="Montserrat" pitchFamily="34" charset="0"/>
                <a:ea typeface="Montserrat" pitchFamily="34" charset="-122"/>
                <a:cs typeface="Montserrat" pitchFamily="34" charset="-120"/>
              </a:rPr>
              <a:t>Repeat at a larger model scale, to separate scale effects from structural ones</a:t>
            </a:r>
            <a:endParaRPr lang="en-US" sz="1250" dirty="0"/>
          </a:p>
          <a:p>
            <a:pPr marL="342900" indent="-342900">
              <a:lnSpc>
                <a:spcPct val="110000"/>
              </a:lnSpc>
              <a:spcAft>
                <a:spcPts val="700"/>
              </a:spcAft>
              <a:buSzPct val="100000"/>
              <a:buChar char="•"/>
            </a:pPr>
            <a:r>
              <a:rPr lang="en-US" sz="1250" dirty="0">
                <a:solidFill>
                  <a:srgbClr val="16181D"/>
                </a:solidFill>
                <a:latin typeface="Montserrat" pitchFamily="34" charset="0"/>
                <a:ea typeface="Montserrat" pitchFamily="34" charset="-122"/>
                <a:cs typeface="Montserrat" pitchFamily="34" charset="-120"/>
              </a:rPr>
              <a:t>Extend beyond sorting to set intersection, where aggregation is a union rather than a merge</a:t>
            </a:r>
            <a:endParaRPr lang="en-US" sz="1250" dirty="0"/>
          </a:p>
        </p:txBody>
      </p:sp>
      <p:sp>
        <p:nvSpPr>
          <p:cNvPr id="11" name="Shape 9"/>
          <p:cNvSpPr/>
          <p:nvPr/>
        </p:nvSpPr>
        <p:spPr>
          <a:xfrm>
            <a:off x="7955280" y="1371600"/>
            <a:ext cx="3566160" cy="4206240"/>
          </a:xfrm>
          <a:prstGeom prst="roundRect">
            <a:avLst>
              <a:gd name="adj" fmla="val 1282"/>
            </a:avLst>
          </a:prstGeom>
          <a:solidFill>
            <a:srgbClr val="F4F6FB"/>
          </a:solidFill>
          <a:ln w="12700">
            <a:solidFill>
              <a:srgbClr val="D8DEEC"/>
            </a:solidFill>
            <a:prstDash val="solid"/>
          </a:ln>
        </p:spPr>
      </p:sp>
      <p:sp>
        <p:nvSpPr>
          <p:cNvPr id="12" name="Text 10"/>
          <p:cNvSpPr txBox="1"/>
          <p:nvPr/>
        </p:nvSpPr>
        <p:spPr>
          <a:xfrm>
            <a:off x="8183880" y="1536192"/>
            <a:ext cx="3108960" cy="274320"/>
          </a:xfrm>
          <a:prstGeom prst="rect">
            <a:avLst/>
          </a:prstGeom>
          <a:noFill/>
          <a:ln/>
        </p:spPr>
        <p:txBody>
          <a:bodyPr wrap="square" lIns="0" tIns="0" rIns="0" bIns="0" rtlCol="0" anchor="ctr"/>
          <a:lstStyle/>
          <a:p>
            <a:pPr indent="0" marL="0">
              <a:buNone/>
            </a:pPr>
            <a:r>
              <a:rPr lang="en-US" sz="1150" b="1" dirty="0">
                <a:solidFill>
                  <a:srgbClr val="23408E"/>
                </a:solidFill>
                <a:latin typeface="Montserrat" pitchFamily="34" charset="0"/>
                <a:ea typeface="Montserrat" pitchFamily="34" charset="-122"/>
                <a:cs typeface="Montserrat" pitchFamily="34" charset="-120"/>
              </a:rPr>
              <a:t>Open questions</a:t>
            </a:r>
            <a:endParaRPr lang="en-US" sz="1150" dirty="0"/>
          </a:p>
        </p:txBody>
      </p:sp>
      <p:sp>
        <p:nvSpPr>
          <p:cNvPr id="13" name="Text 11"/>
          <p:cNvSpPr txBox="1"/>
          <p:nvPr/>
        </p:nvSpPr>
        <p:spPr>
          <a:xfrm>
            <a:off x="8183880" y="1965960"/>
            <a:ext cx="274320" cy="274320"/>
          </a:xfrm>
          <a:prstGeom prst="rect">
            <a:avLst/>
          </a:prstGeom>
          <a:noFill/>
          <a:ln/>
        </p:spPr>
        <p:txBody>
          <a:bodyPr wrap="square" lIns="0" tIns="0" rIns="0" bIns="0" rtlCol="0" anchor="ctr"/>
          <a:lstStyle/>
          <a:p>
            <a:pPr indent="0" marL="0">
              <a:buNone/>
            </a:pPr>
            <a:r>
              <a:rPr lang="en-US" sz="1250" b="1" dirty="0">
                <a:solidFill>
                  <a:srgbClr val="D98A1F"/>
                </a:solidFill>
                <a:latin typeface="Montserrat" pitchFamily="34" charset="0"/>
                <a:ea typeface="Montserrat" pitchFamily="34" charset="-122"/>
                <a:cs typeface="Montserrat" pitchFamily="34" charset="-120"/>
              </a:rPr>
              <a:t>1</a:t>
            </a:r>
            <a:endParaRPr lang="en-US" sz="1250" dirty="0"/>
          </a:p>
        </p:txBody>
      </p:sp>
      <p:sp>
        <p:nvSpPr>
          <p:cNvPr id="14" name="Text 12"/>
          <p:cNvSpPr txBox="1"/>
          <p:nvPr/>
        </p:nvSpPr>
        <p:spPr>
          <a:xfrm>
            <a:off x="8485632" y="1965960"/>
            <a:ext cx="2807208" cy="1097280"/>
          </a:xfrm>
          <a:prstGeom prst="rect">
            <a:avLst/>
          </a:prstGeom>
          <a:noFill/>
          <a:ln/>
        </p:spPr>
        <p:txBody>
          <a:bodyPr wrap="square" lIns="0" tIns="0" rIns="0" bIns="0" rtlCol="0" anchor="ctr"/>
          <a:lstStyle/>
          <a:p>
            <a:pPr indent="0" marL="0">
              <a:buNone/>
            </a:pPr>
            <a:r>
              <a:rPr lang="en-US" sz="950" dirty="0">
                <a:solidFill>
                  <a:srgbClr val="16181D"/>
                </a:solidFill>
                <a:latin typeface="Montserrat" pitchFamily="34" charset="0"/>
                <a:ea typeface="Montserrat" pitchFamily="34" charset="-122"/>
                <a:cs typeface="Montserrat" pitchFamily="34" charset="-120"/>
              </a:rPr>
              <a:t>Does latent aggregation preserve causality in any meaningful sense, or dissolve the edge semantics entirely?</a:t>
            </a:r>
            <a:endParaRPr lang="en-US" sz="950" dirty="0"/>
          </a:p>
        </p:txBody>
      </p:sp>
      <p:sp>
        <p:nvSpPr>
          <p:cNvPr id="15" name="Text 13"/>
          <p:cNvSpPr txBox="1"/>
          <p:nvPr/>
        </p:nvSpPr>
        <p:spPr>
          <a:xfrm>
            <a:off x="8183880" y="3172968"/>
            <a:ext cx="274320" cy="274320"/>
          </a:xfrm>
          <a:prstGeom prst="rect">
            <a:avLst/>
          </a:prstGeom>
          <a:noFill/>
          <a:ln/>
        </p:spPr>
        <p:txBody>
          <a:bodyPr wrap="square" lIns="0" tIns="0" rIns="0" bIns="0" rtlCol="0" anchor="ctr"/>
          <a:lstStyle/>
          <a:p>
            <a:pPr indent="0" marL="0">
              <a:buNone/>
            </a:pPr>
            <a:r>
              <a:rPr lang="en-US" sz="1250" b="1" dirty="0">
                <a:solidFill>
                  <a:srgbClr val="D98A1F"/>
                </a:solidFill>
                <a:latin typeface="Montserrat" pitchFamily="34" charset="0"/>
                <a:ea typeface="Montserrat" pitchFamily="34" charset="-122"/>
                <a:cs typeface="Montserrat" pitchFamily="34" charset="-120"/>
              </a:rPr>
              <a:t>2</a:t>
            </a:r>
            <a:endParaRPr lang="en-US" sz="1250" dirty="0"/>
          </a:p>
        </p:txBody>
      </p:sp>
      <p:sp>
        <p:nvSpPr>
          <p:cNvPr id="16" name="Text 14"/>
          <p:cNvSpPr txBox="1"/>
          <p:nvPr/>
        </p:nvSpPr>
        <p:spPr>
          <a:xfrm>
            <a:off x="8485632" y="3172968"/>
            <a:ext cx="2807208" cy="1097280"/>
          </a:xfrm>
          <a:prstGeom prst="rect">
            <a:avLst/>
          </a:prstGeom>
          <a:noFill/>
          <a:ln/>
        </p:spPr>
        <p:txBody>
          <a:bodyPr wrap="square" lIns="0" tIns="0" rIns="0" bIns="0" rtlCol="0" anchor="ctr"/>
          <a:lstStyle/>
          <a:p>
            <a:pPr indent="0" marL="0">
              <a:buNone/>
            </a:pPr>
            <a:r>
              <a:rPr lang="en-US" sz="950" dirty="0">
                <a:solidFill>
                  <a:srgbClr val="16181D"/>
                </a:solidFill>
                <a:latin typeface="Montserrat" pitchFamily="34" charset="0"/>
                <a:ea typeface="Montserrat" pitchFamily="34" charset="-122"/>
                <a:cs typeface="Montserrat" pitchFamily="34" charset="-120"/>
              </a:rPr>
              <a:t>Is there a principled criterion for vertex removal, or must it be learned per task?</a:t>
            </a:r>
            <a:endParaRPr lang="en-US" sz="950" dirty="0"/>
          </a:p>
        </p:txBody>
      </p:sp>
      <p:sp>
        <p:nvSpPr>
          <p:cNvPr id="17" name="Text 15"/>
          <p:cNvSpPr txBox="1"/>
          <p:nvPr/>
        </p:nvSpPr>
        <p:spPr>
          <a:xfrm>
            <a:off x="8183880" y="4379976"/>
            <a:ext cx="274320" cy="274320"/>
          </a:xfrm>
          <a:prstGeom prst="rect">
            <a:avLst/>
          </a:prstGeom>
          <a:noFill/>
          <a:ln/>
        </p:spPr>
        <p:txBody>
          <a:bodyPr wrap="square" lIns="0" tIns="0" rIns="0" bIns="0" rtlCol="0" anchor="ctr"/>
          <a:lstStyle/>
          <a:p>
            <a:pPr indent="0" marL="0">
              <a:buNone/>
            </a:pPr>
            <a:r>
              <a:rPr lang="en-US" sz="1250" b="1" dirty="0">
                <a:solidFill>
                  <a:srgbClr val="D98A1F"/>
                </a:solidFill>
                <a:latin typeface="Montserrat" pitchFamily="34" charset="0"/>
                <a:ea typeface="Montserrat" pitchFamily="34" charset="-122"/>
                <a:cs typeface="Montserrat" pitchFamily="34" charset="-120"/>
              </a:rPr>
              <a:t>3</a:t>
            </a:r>
            <a:endParaRPr lang="en-US" sz="1250" dirty="0"/>
          </a:p>
        </p:txBody>
      </p:sp>
      <p:sp>
        <p:nvSpPr>
          <p:cNvPr id="18" name="Text 16"/>
          <p:cNvSpPr txBox="1"/>
          <p:nvPr/>
        </p:nvSpPr>
        <p:spPr>
          <a:xfrm>
            <a:off x="8485632" y="4379976"/>
            <a:ext cx="2807208" cy="1097280"/>
          </a:xfrm>
          <a:prstGeom prst="rect">
            <a:avLst/>
          </a:prstGeom>
          <a:noFill/>
          <a:ln/>
        </p:spPr>
        <p:txBody>
          <a:bodyPr wrap="square" lIns="0" tIns="0" rIns="0" bIns="0" rtlCol="0" anchor="ctr"/>
          <a:lstStyle/>
          <a:p>
            <a:pPr indent="0" marL="0">
              <a:buNone/>
            </a:pPr>
            <a:r>
              <a:rPr lang="en-US" sz="950" dirty="0">
                <a:solidFill>
                  <a:srgbClr val="16181D"/>
                </a:solidFill>
                <a:latin typeface="Montserrat" pitchFamily="34" charset="0"/>
                <a:ea typeface="Montserrat" pitchFamily="34" charset="-122"/>
                <a:cs typeface="Montserrat" pitchFamily="34" charset="-120"/>
              </a:rPr>
              <a:t>Does GoT's disadvantage at 7B close with scale, or is aggregation intrinsically fragile?</a:t>
            </a:r>
            <a:endParaRPr lang="en-US" sz="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0149840" y="-502920"/>
            <a:ext cx="2377440" cy="960120"/>
          </a:xfrm>
          <a:prstGeom prst="roundRect">
            <a:avLst>
              <a:gd name="adj" fmla="val 38095"/>
            </a:avLst>
          </a:prstGeom>
          <a:solidFill>
            <a:srgbClr val="C9D8F5"/>
          </a:solidFill>
          <a:ln w="12700">
            <a:solidFill>
              <a:srgbClr val="333333"/>
            </a:solidFill>
            <a:prstDash val="solid"/>
          </a:ln>
        </p:spPr>
      </p:sp>
      <p:sp>
        <p:nvSpPr>
          <p:cNvPr id="3" name="Shape 1"/>
          <p:cNvSpPr/>
          <p:nvPr/>
        </p:nvSpPr>
        <p:spPr>
          <a:xfrm>
            <a:off x="10881360" y="0"/>
            <a:ext cx="2011680" cy="566928"/>
          </a:xfrm>
          <a:prstGeom prst="roundRect">
            <a:avLst>
              <a:gd name="adj" fmla="val 48387"/>
            </a:avLst>
          </a:prstGeom>
          <a:solidFill>
            <a:srgbClr val="23408E"/>
          </a:solidFill>
          <a:ln w="12700">
            <a:solidFill>
              <a:srgbClr val="333333"/>
            </a:solidFill>
            <a:prstDash val="solid"/>
          </a:ln>
        </p:spPr>
      </p:sp>
      <p:sp>
        <p:nvSpPr>
          <p:cNvPr id="4" name="Shape 2"/>
          <p:cNvSpPr/>
          <p:nvPr/>
        </p:nvSpPr>
        <p:spPr>
          <a:xfrm>
            <a:off x="-731520" y="6355080"/>
            <a:ext cx="1828800" cy="822960"/>
          </a:xfrm>
          <a:prstGeom prst="roundRect">
            <a:avLst>
              <a:gd name="adj" fmla="val 38889"/>
            </a:avLst>
          </a:prstGeom>
          <a:solidFill>
            <a:srgbClr val="23408E"/>
          </a:solidFill>
          <a:ln w="12700">
            <a:solidFill>
              <a:srgbClr val="333333"/>
            </a:solidFill>
            <a:prstDash val="solid"/>
          </a:ln>
        </p:spPr>
      </p:sp>
      <p:sp>
        <p:nvSpPr>
          <p:cNvPr id="5" name="Shape 3"/>
          <p:cNvSpPr/>
          <p:nvPr/>
        </p:nvSpPr>
        <p:spPr>
          <a:xfrm>
            <a:off x="320040" y="6583680"/>
            <a:ext cx="2743200" cy="731520"/>
          </a:xfrm>
          <a:prstGeom prst="roundRect">
            <a:avLst>
              <a:gd name="adj" fmla="val 43750"/>
            </a:avLst>
          </a:prstGeom>
          <a:solidFill>
            <a:srgbClr val="C9D8F5"/>
          </a:solidFill>
          <a:ln w="12700">
            <a:solidFill>
              <a:srgbClr val="333333"/>
            </a:solidFill>
            <a:prstDash val="solid"/>
          </a:ln>
        </p:spPr>
      </p:sp>
      <p:sp>
        <p:nvSpPr>
          <p:cNvPr id="6" name="Text 4"/>
          <p:cNvSpPr txBox="1"/>
          <p:nvPr/>
        </p:nvSpPr>
        <p:spPr>
          <a:xfrm>
            <a:off x="566928" y="237744"/>
            <a:ext cx="9052560" cy="603504"/>
          </a:xfrm>
          <a:prstGeom prst="rect">
            <a:avLst/>
          </a:prstGeom>
          <a:noFill/>
          <a:ln/>
        </p:spPr>
        <p:txBody>
          <a:bodyPr wrap="square" lIns="0" tIns="0" rIns="0" bIns="0" rtlCol="0" anchor="ctr"/>
          <a:lstStyle/>
          <a:p>
            <a:pPr indent="0" marL="0">
              <a:buNone/>
            </a:pPr>
            <a:r>
              <a:rPr lang="en-US" sz="3000" b="1" dirty="0">
                <a:solidFill>
                  <a:srgbClr val="23408E"/>
                </a:solidFill>
                <a:latin typeface="Montserrat" pitchFamily="34" charset="0"/>
                <a:ea typeface="Montserrat" pitchFamily="34" charset="-122"/>
                <a:cs typeface="Montserrat" pitchFamily="34" charset="-120"/>
              </a:rPr>
              <a:t>References</a:t>
            </a:r>
            <a:endParaRPr lang="en-US" sz="3000" dirty="0"/>
          </a:p>
        </p:txBody>
      </p:sp>
      <p:sp>
        <p:nvSpPr>
          <p:cNvPr id="7" name="Shape 5"/>
          <p:cNvSpPr/>
          <p:nvPr/>
        </p:nvSpPr>
        <p:spPr>
          <a:xfrm>
            <a:off x="621792" y="914400"/>
            <a:ext cx="3749040" cy="0"/>
          </a:xfrm>
          <a:prstGeom prst="line">
            <a:avLst/>
          </a:prstGeom>
          <a:noFill/>
          <a:ln w="20320">
            <a:solidFill>
              <a:srgbClr val="16181D"/>
            </a:solidFill>
            <a:prstDash val="solid"/>
          </a:ln>
        </p:spPr>
      </p:sp>
      <p:sp>
        <p:nvSpPr>
          <p:cNvPr id="8" name="Shape 6"/>
          <p:cNvSpPr/>
          <p:nvPr/>
        </p:nvSpPr>
        <p:spPr>
          <a:xfrm>
            <a:off x="548640" y="859536"/>
            <a:ext cx="118872" cy="118872"/>
          </a:xfrm>
          <a:prstGeom prst="ellipse">
            <a:avLst/>
          </a:prstGeom>
          <a:solidFill>
            <a:srgbClr val="16181D"/>
          </a:solidFill>
          <a:ln w="12700">
            <a:solidFill>
              <a:srgbClr val="333333"/>
            </a:solidFill>
            <a:prstDash val="solid"/>
          </a:ln>
        </p:spPr>
      </p:sp>
      <p:sp>
        <p:nvSpPr>
          <p:cNvPr id="9" name="Shape 7"/>
          <p:cNvSpPr/>
          <p:nvPr/>
        </p:nvSpPr>
        <p:spPr>
          <a:xfrm>
            <a:off x="4315968" y="859536"/>
            <a:ext cx="118872" cy="118872"/>
          </a:xfrm>
          <a:prstGeom prst="ellipse">
            <a:avLst/>
          </a:prstGeom>
          <a:solidFill>
            <a:srgbClr val="16181D"/>
          </a:solidFill>
          <a:ln w="12700">
            <a:solidFill>
              <a:srgbClr val="333333"/>
            </a:solidFill>
            <a:prstDash val="solid"/>
          </a:ln>
        </p:spPr>
      </p:sp>
      <p:sp>
        <p:nvSpPr>
          <p:cNvPr id="10" name="Text 8"/>
          <p:cNvSpPr txBox="1"/>
          <p:nvPr/>
        </p:nvSpPr>
        <p:spPr>
          <a:xfrm>
            <a:off x="731520" y="1207008"/>
            <a:ext cx="10607040" cy="502920"/>
          </a:xfrm>
          <a:prstGeom prst="rect">
            <a:avLst/>
          </a:prstGeom>
          <a:noFill/>
          <a:ln/>
        </p:spPr>
        <p:txBody>
          <a:bodyPr wrap="square" lIns="0" tIns="0" rIns="0" bIns="0" rtlCol="0" anchor="ctr"/>
          <a:lstStyle/>
          <a:p>
            <a:pPr indent="0" marL="0">
              <a:lnSpc>
                <a:spcPct val="110000"/>
              </a:lnSpc>
              <a:buNone/>
            </a:pPr>
            <a:r>
              <a:rPr lang="en-US" sz="900" dirty="0">
                <a:solidFill>
                  <a:srgbClr val="16181D"/>
                </a:solidFill>
                <a:latin typeface="Montserrat" pitchFamily="34" charset="0"/>
                <a:ea typeface="Montserrat" pitchFamily="34" charset="-122"/>
                <a:cs typeface="Montserrat" pitchFamily="34" charset="-120"/>
              </a:rPr>
              <a:t>[1] M. Besta, N. Blach, A. Kubicek, et al., "Graph of Thoughts: Solving elaborate problems with large language models," in Proc. AAAI Conf. Artif. Intell., vol. 38, 2024, arXiv:2308.09687.</a:t>
            </a:r>
            <a:endParaRPr lang="en-US" sz="900" dirty="0"/>
          </a:p>
        </p:txBody>
      </p:sp>
      <p:sp>
        <p:nvSpPr>
          <p:cNvPr id="11" name="Text 9"/>
          <p:cNvSpPr txBox="1"/>
          <p:nvPr/>
        </p:nvSpPr>
        <p:spPr>
          <a:xfrm>
            <a:off x="731520" y="1741932"/>
            <a:ext cx="10607040" cy="502920"/>
          </a:xfrm>
          <a:prstGeom prst="rect">
            <a:avLst/>
          </a:prstGeom>
          <a:noFill/>
          <a:ln/>
        </p:spPr>
        <p:txBody>
          <a:bodyPr wrap="square" lIns="0" tIns="0" rIns="0" bIns="0" rtlCol="0" anchor="ctr"/>
          <a:lstStyle/>
          <a:p>
            <a:pPr indent="0" marL="0">
              <a:lnSpc>
                <a:spcPct val="110000"/>
              </a:lnSpc>
              <a:buNone/>
            </a:pPr>
            <a:r>
              <a:rPr lang="en-US" sz="900" dirty="0">
                <a:solidFill>
                  <a:srgbClr val="16181D"/>
                </a:solidFill>
                <a:latin typeface="Montserrat" pitchFamily="34" charset="0"/>
                <a:ea typeface="Montserrat" pitchFamily="34" charset="-122"/>
                <a:cs typeface="Montserrat" pitchFamily="34" charset="-120"/>
              </a:rPr>
              <a:t>[2] S. Yao, D. Yu, J. Zhao, et al., "Tree of Thoughts: Deliberate problem solving with large language models," in Adv. Neural Inf. Process. Syst. (NeurIPS), 2023, arXiv:2305.10601.</a:t>
            </a:r>
            <a:endParaRPr lang="en-US" sz="900" dirty="0"/>
          </a:p>
        </p:txBody>
      </p:sp>
      <p:sp>
        <p:nvSpPr>
          <p:cNvPr id="12" name="Text 10"/>
          <p:cNvSpPr txBox="1"/>
          <p:nvPr/>
        </p:nvSpPr>
        <p:spPr>
          <a:xfrm>
            <a:off x="731520" y="2276856"/>
            <a:ext cx="10607040" cy="502920"/>
          </a:xfrm>
          <a:prstGeom prst="rect">
            <a:avLst/>
          </a:prstGeom>
          <a:noFill/>
          <a:ln/>
        </p:spPr>
        <p:txBody>
          <a:bodyPr wrap="square" lIns="0" tIns="0" rIns="0" bIns="0" rtlCol="0" anchor="ctr"/>
          <a:lstStyle/>
          <a:p>
            <a:pPr indent="0" marL="0">
              <a:lnSpc>
                <a:spcPct val="110000"/>
              </a:lnSpc>
              <a:buNone/>
            </a:pPr>
            <a:r>
              <a:rPr lang="en-US" sz="900" dirty="0">
                <a:solidFill>
                  <a:srgbClr val="16181D"/>
                </a:solidFill>
                <a:latin typeface="Montserrat" pitchFamily="34" charset="0"/>
                <a:ea typeface="Montserrat" pitchFamily="34" charset="-122"/>
                <a:cs typeface="Montserrat" pitchFamily="34" charset="-120"/>
              </a:rPr>
              <a:t>[3] J. Wei, X. Wang, D. Schuurmans, et al., "Chain-of-thought prompting elicits reasoning in large language models," in Adv. Neural Inf. Process. Syst. (NeurIPS), 2022, arXiv:2201.11903.</a:t>
            </a:r>
            <a:endParaRPr lang="en-US" sz="900" dirty="0"/>
          </a:p>
        </p:txBody>
      </p:sp>
      <p:sp>
        <p:nvSpPr>
          <p:cNvPr id="13" name="Text 11"/>
          <p:cNvSpPr txBox="1"/>
          <p:nvPr/>
        </p:nvSpPr>
        <p:spPr>
          <a:xfrm>
            <a:off x="731520" y="2811780"/>
            <a:ext cx="10607040" cy="502920"/>
          </a:xfrm>
          <a:prstGeom prst="rect">
            <a:avLst/>
          </a:prstGeom>
          <a:noFill/>
          <a:ln/>
        </p:spPr>
        <p:txBody>
          <a:bodyPr wrap="square" lIns="0" tIns="0" rIns="0" bIns="0" rtlCol="0" anchor="ctr"/>
          <a:lstStyle/>
          <a:p>
            <a:pPr indent="0" marL="0">
              <a:lnSpc>
                <a:spcPct val="110000"/>
              </a:lnSpc>
              <a:buNone/>
            </a:pPr>
            <a:r>
              <a:rPr lang="en-US" sz="900" dirty="0">
                <a:solidFill>
                  <a:srgbClr val="16181D"/>
                </a:solidFill>
                <a:latin typeface="Montserrat" pitchFamily="34" charset="0"/>
                <a:ea typeface="Montserrat" pitchFamily="34" charset="-122"/>
                <a:cs typeface="Montserrat" pitchFamily="34" charset="-120"/>
              </a:rPr>
              <a:t>[4] X. Wang, J. Wei, D. Schuurmans, et al., "Self-consistency improves chain of thought reasoning in language models," in Proc. Int. Conf. Learn. Represent. (ICLR), 2023, arXiv:2203.11171.</a:t>
            </a:r>
            <a:endParaRPr lang="en-US" sz="900" dirty="0"/>
          </a:p>
        </p:txBody>
      </p:sp>
      <p:sp>
        <p:nvSpPr>
          <p:cNvPr id="14" name="Text 12"/>
          <p:cNvSpPr txBox="1"/>
          <p:nvPr/>
        </p:nvSpPr>
        <p:spPr>
          <a:xfrm>
            <a:off x="731520" y="3346704"/>
            <a:ext cx="10607040" cy="502920"/>
          </a:xfrm>
          <a:prstGeom prst="rect">
            <a:avLst/>
          </a:prstGeom>
          <a:noFill/>
          <a:ln/>
        </p:spPr>
        <p:txBody>
          <a:bodyPr wrap="square" lIns="0" tIns="0" rIns="0" bIns="0" rtlCol="0" anchor="ctr"/>
          <a:lstStyle/>
          <a:p>
            <a:pPr indent="0" marL="0">
              <a:lnSpc>
                <a:spcPct val="110000"/>
              </a:lnSpc>
              <a:buNone/>
            </a:pPr>
            <a:r>
              <a:rPr lang="en-US" sz="900" dirty="0">
                <a:solidFill>
                  <a:srgbClr val="16181D"/>
                </a:solidFill>
                <a:latin typeface="Montserrat" pitchFamily="34" charset="0"/>
                <a:ea typeface="Montserrat" pitchFamily="34" charset="-122"/>
                <a:cs typeface="Montserrat" pitchFamily="34" charset="-120"/>
              </a:rPr>
              <a:t>[5] S. Xu, W. Xie, L. Zhao, and P. He, "Chain of Draft: Thinking faster by writing less," 2025, arXiv:2502.18600.</a:t>
            </a:r>
            <a:endParaRPr lang="en-US" sz="900" dirty="0"/>
          </a:p>
        </p:txBody>
      </p:sp>
      <p:sp>
        <p:nvSpPr>
          <p:cNvPr id="15" name="Text 13"/>
          <p:cNvSpPr txBox="1"/>
          <p:nvPr/>
        </p:nvSpPr>
        <p:spPr>
          <a:xfrm>
            <a:off x="731520" y="3881628"/>
            <a:ext cx="10607040" cy="502920"/>
          </a:xfrm>
          <a:prstGeom prst="rect">
            <a:avLst/>
          </a:prstGeom>
          <a:noFill/>
          <a:ln/>
        </p:spPr>
        <p:txBody>
          <a:bodyPr wrap="square" lIns="0" tIns="0" rIns="0" bIns="0" rtlCol="0" anchor="ctr"/>
          <a:lstStyle/>
          <a:p>
            <a:pPr indent="0" marL="0">
              <a:lnSpc>
                <a:spcPct val="110000"/>
              </a:lnSpc>
              <a:buNone/>
            </a:pPr>
            <a:r>
              <a:rPr lang="en-US" sz="900" dirty="0">
                <a:solidFill>
                  <a:srgbClr val="16181D"/>
                </a:solidFill>
                <a:latin typeface="Montserrat" pitchFamily="34" charset="0"/>
                <a:ea typeface="Montserrat" pitchFamily="34" charset="-122"/>
                <a:cs typeface="Montserrat" pitchFamily="34" charset="-120"/>
              </a:rPr>
              <a:t>[6] H. Xia, Y. Li, C. T. Leong, et al., "TokenSkip: Controllable chain-of-thought compression in LLMs," 2025, arXiv:2502.12067.</a:t>
            </a:r>
            <a:endParaRPr lang="en-US" sz="900" dirty="0"/>
          </a:p>
        </p:txBody>
      </p:sp>
      <p:sp>
        <p:nvSpPr>
          <p:cNvPr id="16" name="Text 14"/>
          <p:cNvSpPr txBox="1"/>
          <p:nvPr/>
        </p:nvSpPr>
        <p:spPr>
          <a:xfrm>
            <a:off x="731520" y="4416552"/>
            <a:ext cx="10607040" cy="502920"/>
          </a:xfrm>
          <a:prstGeom prst="rect">
            <a:avLst/>
          </a:prstGeom>
          <a:noFill/>
          <a:ln/>
        </p:spPr>
        <p:txBody>
          <a:bodyPr wrap="square" lIns="0" tIns="0" rIns="0" bIns="0" rtlCol="0" anchor="ctr"/>
          <a:lstStyle/>
          <a:p>
            <a:pPr indent="0" marL="0">
              <a:lnSpc>
                <a:spcPct val="110000"/>
              </a:lnSpc>
              <a:buNone/>
            </a:pPr>
            <a:r>
              <a:rPr lang="en-US" sz="900" dirty="0">
                <a:solidFill>
                  <a:srgbClr val="16181D"/>
                </a:solidFill>
                <a:latin typeface="Montserrat" pitchFamily="34" charset="0"/>
                <a:ea typeface="Montserrat" pitchFamily="34" charset="-122"/>
                <a:cs typeface="Montserrat" pitchFamily="34" charset="-120"/>
              </a:rPr>
              <a:t>[7] S. Hao, S. Sukhbaatar, D. Su, et al., "Training large language models to reason in a continuous latent space," 2024, arXiv:2412.06769.</a:t>
            </a:r>
            <a:endParaRPr lang="en-US" sz="900" dirty="0"/>
          </a:p>
        </p:txBody>
      </p:sp>
      <p:sp>
        <p:nvSpPr>
          <p:cNvPr id="17" name="Text 15"/>
          <p:cNvSpPr txBox="1"/>
          <p:nvPr/>
        </p:nvSpPr>
        <p:spPr>
          <a:xfrm>
            <a:off x="731520" y="4951476"/>
            <a:ext cx="10607040" cy="502920"/>
          </a:xfrm>
          <a:prstGeom prst="rect">
            <a:avLst/>
          </a:prstGeom>
          <a:noFill/>
          <a:ln/>
        </p:spPr>
        <p:txBody>
          <a:bodyPr wrap="square" lIns="0" tIns="0" rIns="0" bIns="0" rtlCol="0" anchor="ctr"/>
          <a:lstStyle/>
          <a:p>
            <a:pPr indent="0" marL="0">
              <a:lnSpc>
                <a:spcPct val="110000"/>
              </a:lnSpc>
              <a:buNone/>
            </a:pPr>
            <a:r>
              <a:rPr lang="en-US" sz="900" dirty="0">
                <a:solidFill>
                  <a:srgbClr val="16181D"/>
                </a:solidFill>
                <a:latin typeface="Montserrat" pitchFamily="34" charset="0"/>
                <a:ea typeface="Montserrat" pitchFamily="34" charset="-122"/>
                <a:cs typeface="Montserrat" pitchFamily="34" charset="-120"/>
              </a:rPr>
              <a:t>[8] A. Loukas, "Graph reduction with spectral and cut guarantees," J. Mach. Learn. Res., vol. 20, no. 116, pp. 1-42, 2019.</a:t>
            </a:r>
            <a:endParaRPr lang="en-US" sz="900" dirty="0"/>
          </a:p>
        </p:txBody>
      </p:sp>
      <p:sp>
        <p:nvSpPr>
          <p:cNvPr id="18" name="Text 16"/>
          <p:cNvSpPr txBox="1"/>
          <p:nvPr/>
        </p:nvSpPr>
        <p:spPr>
          <a:xfrm>
            <a:off x="731520" y="5486400"/>
            <a:ext cx="10607040" cy="502920"/>
          </a:xfrm>
          <a:prstGeom prst="rect">
            <a:avLst/>
          </a:prstGeom>
          <a:noFill/>
          <a:ln/>
        </p:spPr>
        <p:txBody>
          <a:bodyPr wrap="square" lIns="0" tIns="0" rIns="0" bIns="0" rtlCol="0" anchor="ctr"/>
          <a:lstStyle/>
          <a:p>
            <a:pPr indent="0" marL="0">
              <a:lnSpc>
                <a:spcPct val="110000"/>
              </a:lnSpc>
              <a:buNone/>
            </a:pPr>
            <a:r>
              <a:rPr lang="en-US" sz="900" dirty="0">
                <a:solidFill>
                  <a:srgbClr val="16181D"/>
                </a:solidFill>
                <a:latin typeface="Montserrat" pitchFamily="34" charset="0"/>
                <a:ea typeface="Montserrat" pitchFamily="34" charset="-122"/>
                <a:cs typeface="Montserrat" pitchFamily="34" charset="-120"/>
              </a:rPr>
              <a:t>[9] W. Kwon, Z. Li, S. Zhuang, et al., "Efficient memory management for large language model serving with PagedAttention," in Proc. ACM SOSP, 2023, arXiv:2309.06180.</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0149840" y="-502920"/>
            <a:ext cx="2377440" cy="960120"/>
          </a:xfrm>
          <a:prstGeom prst="roundRect">
            <a:avLst>
              <a:gd name="adj" fmla="val 38095"/>
            </a:avLst>
          </a:prstGeom>
          <a:solidFill>
            <a:srgbClr val="C9D8F5"/>
          </a:solidFill>
          <a:ln w="12700">
            <a:solidFill>
              <a:srgbClr val="333333"/>
            </a:solidFill>
            <a:prstDash val="solid"/>
          </a:ln>
        </p:spPr>
      </p:sp>
      <p:sp>
        <p:nvSpPr>
          <p:cNvPr id="3" name="Shape 1"/>
          <p:cNvSpPr/>
          <p:nvPr/>
        </p:nvSpPr>
        <p:spPr>
          <a:xfrm>
            <a:off x="10881360" y="0"/>
            <a:ext cx="2011680" cy="566928"/>
          </a:xfrm>
          <a:prstGeom prst="roundRect">
            <a:avLst>
              <a:gd name="adj" fmla="val 48387"/>
            </a:avLst>
          </a:prstGeom>
          <a:solidFill>
            <a:srgbClr val="23408E"/>
          </a:solidFill>
          <a:ln w="12700">
            <a:solidFill>
              <a:srgbClr val="333333"/>
            </a:solidFill>
            <a:prstDash val="solid"/>
          </a:ln>
        </p:spPr>
      </p:sp>
      <p:sp>
        <p:nvSpPr>
          <p:cNvPr id="4" name="Shape 2"/>
          <p:cNvSpPr/>
          <p:nvPr/>
        </p:nvSpPr>
        <p:spPr>
          <a:xfrm>
            <a:off x="-731520" y="6355080"/>
            <a:ext cx="1828800" cy="822960"/>
          </a:xfrm>
          <a:prstGeom prst="roundRect">
            <a:avLst>
              <a:gd name="adj" fmla="val 38889"/>
            </a:avLst>
          </a:prstGeom>
          <a:solidFill>
            <a:srgbClr val="23408E"/>
          </a:solidFill>
          <a:ln w="12700">
            <a:solidFill>
              <a:srgbClr val="333333"/>
            </a:solidFill>
            <a:prstDash val="solid"/>
          </a:ln>
        </p:spPr>
      </p:sp>
      <p:sp>
        <p:nvSpPr>
          <p:cNvPr id="5" name="Shape 3"/>
          <p:cNvSpPr/>
          <p:nvPr/>
        </p:nvSpPr>
        <p:spPr>
          <a:xfrm>
            <a:off x="320040" y="6583680"/>
            <a:ext cx="2743200" cy="731520"/>
          </a:xfrm>
          <a:prstGeom prst="roundRect">
            <a:avLst>
              <a:gd name="adj" fmla="val 43750"/>
            </a:avLst>
          </a:prstGeom>
          <a:solidFill>
            <a:srgbClr val="C9D8F5"/>
          </a:solidFill>
          <a:ln w="12700">
            <a:solidFill>
              <a:srgbClr val="333333"/>
            </a:solidFill>
            <a:prstDash val="solid"/>
          </a:ln>
        </p:spPr>
      </p:sp>
      <p:sp>
        <p:nvSpPr>
          <p:cNvPr id="6" name="Text 4"/>
          <p:cNvSpPr txBox="1"/>
          <p:nvPr/>
        </p:nvSpPr>
        <p:spPr>
          <a:xfrm>
            <a:off x="502920" y="219456"/>
            <a:ext cx="2377440" cy="274320"/>
          </a:xfrm>
          <a:prstGeom prst="rect">
            <a:avLst/>
          </a:prstGeom>
          <a:noFill/>
          <a:ln/>
        </p:spPr>
        <p:txBody>
          <a:bodyPr wrap="square" lIns="0" tIns="0" rIns="0" bIns="0" rtlCol="0" anchor="ctr"/>
          <a:lstStyle/>
          <a:p>
            <a:pPr indent="0" marL="0">
              <a:buNone/>
            </a:pPr>
            <a:r>
              <a:rPr lang="en-US" sz="1400" b="1" spc="200" kern="0" dirty="0">
                <a:solidFill>
                  <a:srgbClr val="23408E"/>
                </a:solidFill>
                <a:latin typeface="Montserrat" pitchFamily="34" charset="0"/>
                <a:ea typeface="Montserrat" pitchFamily="34" charset="-122"/>
                <a:cs typeface="Montserrat" pitchFamily="34" charset="-120"/>
              </a:rPr>
              <a:t>IIT DELHI</a:t>
            </a:r>
            <a:endParaRPr lang="en-US" sz="1400" dirty="0"/>
          </a:p>
        </p:txBody>
      </p:sp>
      <p:sp>
        <p:nvSpPr>
          <p:cNvPr id="7" name="Text 5"/>
          <p:cNvSpPr txBox="1"/>
          <p:nvPr/>
        </p:nvSpPr>
        <p:spPr>
          <a:xfrm>
            <a:off x="502920" y="512064"/>
            <a:ext cx="3108960" cy="237744"/>
          </a:xfrm>
          <a:prstGeom prst="rect">
            <a:avLst/>
          </a:prstGeom>
          <a:noFill/>
          <a:ln/>
        </p:spPr>
        <p:txBody>
          <a:bodyPr wrap="square" lIns="0" tIns="0" rIns="0" bIns="0" rtlCol="0" anchor="ctr"/>
          <a:lstStyle/>
          <a:p>
            <a:pPr indent="0" marL="0">
              <a:buNone/>
            </a:pPr>
            <a:r>
              <a:rPr lang="en-US" sz="850" dirty="0">
                <a:solidFill>
                  <a:srgbClr val="63697A"/>
                </a:solidFill>
                <a:latin typeface="Montserrat" pitchFamily="34" charset="0"/>
                <a:ea typeface="Montserrat" pitchFamily="34" charset="-122"/>
                <a:cs typeface="Montserrat" pitchFamily="34" charset="-120"/>
              </a:rPr>
              <a:t>Department of Electrical Engineering</a:t>
            </a:r>
            <a:endParaRPr lang="en-US" sz="850" dirty="0"/>
          </a:p>
        </p:txBody>
      </p:sp>
      <p:sp>
        <p:nvSpPr>
          <p:cNvPr id="8" name="Shape 6"/>
          <p:cNvSpPr/>
          <p:nvPr/>
        </p:nvSpPr>
        <p:spPr>
          <a:xfrm>
            <a:off x="2560320" y="2240280"/>
            <a:ext cx="7040880" cy="2286000"/>
          </a:xfrm>
          <a:prstGeom prst="roundRect">
            <a:avLst>
              <a:gd name="adj" fmla="val 2400"/>
            </a:avLst>
          </a:prstGeom>
          <a:solidFill>
            <a:srgbClr val="FFFFFF"/>
          </a:solidFill>
          <a:ln w="15240">
            <a:solidFill>
              <a:srgbClr val="16181D"/>
            </a:solidFill>
            <a:prstDash val="solid"/>
          </a:ln>
        </p:spPr>
      </p:sp>
      <p:sp>
        <p:nvSpPr>
          <p:cNvPr id="9" name="Text 7"/>
          <p:cNvSpPr txBox="1"/>
          <p:nvPr/>
        </p:nvSpPr>
        <p:spPr>
          <a:xfrm>
            <a:off x="2560320" y="2926080"/>
            <a:ext cx="7040880" cy="914400"/>
          </a:xfrm>
          <a:prstGeom prst="rect">
            <a:avLst/>
          </a:prstGeom>
          <a:noFill/>
          <a:ln/>
        </p:spPr>
        <p:txBody>
          <a:bodyPr wrap="square" lIns="0" tIns="0" rIns="0" bIns="0" rtlCol="0" anchor="ctr"/>
          <a:lstStyle/>
          <a:p>
            <a:pPr algn="ctr" indent="0" marL="0">
              <a:buNone/>
            </a:pPr>
            <a:r>
              <a:rPr lang="en-US" sz="4400" b="1" dirty="0">
                <a:solidFill>
                  <a:srgbClr val="23408E"/>
                </a:solidFill>
                <a:latin typeface="Montserrat" pitchFamily="34" charset="0"/>
                <a:ea typeface="Montserrat" pitchFamily="34" charset="-122"/>
                <a:cs typeface="Montserrat" pitchFamily="34" charset="-120"/>
              </a:rPr>
              <a:t>Thank You</a:t>
            </a:r>
            <a:endParaRPr lang="en-US" sz="4400" dirty="0"/>
          </a:p>
        </p:txBody>
      </p:sp>
      <p:sp>
        <p:nvSpPr>
          <p:cNvPr id="10" name="Text 8"/>
          <p:cNvSpPr txBox="1"/>
          <p:nvPr/>
        </p:nvSpPr>
        <p:spPr>
          <a:xfrm>
            <a:off x="2560320" y="4800600"/>
            <a:ext cx="7040880" cy="292608"/>
          </a:xfrm>
          <a:prstGeom prst="rect">
            <a:avLst/>
          </a:prstGeom>
          <a:noFill/>
          <a:ln/>
        </p:spPr>
        <p:txBody>
          <a:bodyPr wrap="square" lIns="0" tIns="0" rIns="0" bIns="0" rtlCol="0" anchor="ctr"/>
          <a:lstStyle/>
          <a:p>
            <a:pPr algn="ctr" indent="0" marL="0">
              <a:buNone/>
            </a:pPr>
            <a:r>
              <a:rPr lang="en-US" sz="1050" dirty="0">
                <a:solidFill>
                  <a:srgbClr val="63697A"/>
                </a:solidFill>
                <a:latin typeface="Montserrat" pitchFamily="34" charset="0"/>
                <a:ea typeface="Montserrat" pitchFamily="34" charset="-122"/>
                <a:cs typeface="Montserrat" pitchFamily="34" charset="-120"/>
              </a:rPr>
              <a:t>github.com/TREX4096/Graph_of_Thought</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Causality-Preserving Graph Coarsening for Efficient LLM Reasoning</dc:title>
  <dc:subject>PptxGenJS Presentation</dc:subject>
  <dc:creator>Prasoon Raj, Nikhil Bansal</dc:creator>
  <cp:lastModifiedBy>Prasoon Raj, Nikhil Bansal</cp:lastModifiedBy>
  <cp:revision>1</cp:revision>
  <dcterms:created xsi:type="dcterms:W3CDTF">2026-09-25T18:59:13Z</dcterms:created>
  <dcterms:modified xsi:type="dcterms:W3CDTF">2026-09-25T18:59:13Z</dcterms:modified>
</cp:coreProperties>
</file>